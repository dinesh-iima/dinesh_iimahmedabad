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Series 1</c:v>
                </c:pt>
              </c:strCache>
            </c:strRef>
          </c:tx>
          <c:spPr>
            <a:solidFill>
              <a:srgbClr val="112F52"/>
            </a:solidFill>
          </c:spPr>
          <c:dPt>
            <c:idx val="0"/>
            <c:spPr>
              <a:solidFill>
                <a:srgbClr val="89A3C2"/>
              </a:solidFill>
            </c:spPr>
          </c:dPt>
          <c:dPt>
            <c:idx val="1"/>
            <c:spPr>
              <a:solidFill>
                <a:srgbClr val="112F52"/>
              </a:solidFill>
            </c:spPr>
          </c:dPt>
          <c:cat>
            <c:strRef>
              <c:f>Sheet1!$A$2:$A$3</c:f>
              <c:strCache>
                <c:ptCount val="2"/>
                <c:pt idx="0">
                  <c:v>Rahul T. (HbA1c 6.9%)</c:v>
                </c:pt>
                <c:pt idx="1">
                  <c:v>Bhavna N. (HbA1c 7.0%)</c:v>
                </c:pt>
              </c:strCache>
            </c:strRef>
          </c:cat>
          <c:val>
            <c:numRef>
              <c:f>Sheet1!$B$2:$B$3</c:f>
              <c:numCache>
                <c:formatCode>General</c:formatCode>
                <c:ptCount val="2"/>
                <c:pt idx="0">
                  <c:v>11.1</c:v>
                </c:pt>
                <c:pt idx="1">
                  <c:v>24.0</c:v>
                </c:pt>
              </c:numCache>
            </c:numRef>
          </c:val>
        </c:ser>
        <c:dLbls>
          <c:numFmt formatCode="0&quot;%&quot;" sourceLinked="0"/>
          <c:txPr>
            <a:bodyPr/>
            <a:lstStyle/>
            <a:p>
              <a:pPr>
                <a:defRPr sz="1000">
                  <a:latin typeface="Aria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none"/>
        <c:minorTickMark val="none"/>
        <c:tickLblPos val="nextTo"/>
        <c:spPr>
          <a:ln>
            <a:solidFill>
              <a:srgbClr val="BFBFBF"/>
            </a:solidFill>
          </a:ln>
        </c:spPr>
        <c:txPr>
          <a:bodyPr/>
          <a:lstStyle/>
          <a:p>
            <a:pPr>
              <a:defRPr sz="1000"/>
            </a:pPr>
          </a:p>
        </c:txPr>
        <c:crossAx val="-2113994440"/>
        <c:crosses val="autoZero"/>
        <c:auto val="1"/>
        <c:lblAlgn val="ctr"/>
        <c:lblOffset val="100"/>
        <c:noMultiLvlLbl val="0"/>
      </c:catAx>
      <c:valAx>
        <c:axId val="-2113994440"/>
        <c:scaling>
          <c:min val="0.0"/>
        </c:scaling>
        <c:delete/>
        <c:axPos val="b"/>
        <c:majorTickMark val="out"/>
        <c:minorTickMark val="none"/>
        <c:tickLblPos val="nextTo"/>
        <c:txPr>
          <a:bodyPr/>
          <a:lstStyle/>
          <a:p>
            <a:pPr>
              <a:defRPr sz="1000"/>
            </a:pPr>
          </a:p>
        </c:txPr>
        <c:crossAx val="-2068027336"/>
        <c:crosses val="autoZero"/>
      </c:valAx>
    </c:plotArea>
    <c:dispBlanksAs val="gap"/>
  </c:chart>
  <c:txPr>
    <a:bodyPr/>
    <a:lstStyle/>
    <a:p>
      <a:pPr>
        <a:defRPr sz="1000">
          <a:solidFill>
            <a:srgbClr val="1A1A1A"/>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Series 1</c:v>
                </c:pt>
              </c:strCache>
            </c:strRef>
          </c:tx>
          <c:spPr>
            <a:solidFill>
              <a:srgbClr val="112F52"/>
            </a:solidFill>
          </c:spPr>
          <c:dPt>
            <c:idx val="0"/>
            <c:spPr>
              <a:solidFill>
                <a:srgbClr val="A9BCD2"/>
              </a:solidFill>
            </c:spPr>
          </c:dPt>
          <c:dPt>
            <c:idx val="1"/>
            <c:spPr>
              <a:solidFill>
                <a:srgbClr val="112F52"/>
              </a:solidFill>
            </c:spPr>
          </c:dPt>
          <c:cat>
            <c:strRef>
              <c:f>Sheet1!$A$2:$A$3</c:f>
              <c:strCache>
                <c:ptCount val="2"/>
                <c:pt idx="0">
                  <c:v>CGM trend alarm</c:v>
                </c:pt>
                <c:pt idx="1">
                  <c:v>GlucoSentinel</c:v>
                </c:pt>
              </c:strCache>
            </c:strRef>
          </c:cat>
          <c:val>
            <c:numRef>
              <c:f>Sheet1!$B$2:$B$3</c:f>
              <c:numCache>
                <c:formatCode>General</c:formatCode>
                <c:ptCount val="2"/>
                <c:pt idx="0">
                  <c:v>27.5</c:v>
                </c:pt>
                <c:pt idx="1">
                  <c:v>84.7</c:v>
                </c:pt>
              </c:numCache>
            </c:numRef>
          </c:val>
        </c:ser>
        <c:dLbls>
          <c:numFmt formatCode="0&quot;%&quot;" sourceLinked="0"/>
          <c:txPr>
            <a:bodyPr/>
            <a:lstStyle/>
            <a:p>
              <a:pPr>
                <a:defRPr sz="1000">
                  <a:latin typeface="Aria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none"/>
        <c:minorTickMark val="none"/>
        <c:tickLblPos val="nextTo"/>
        <c:spPr>
          <a:ln>
            <a:solidFill>
              <a:srgbClr val="BFBFBF"/>
            </a:solidFill>
          </a:ln>
        </c:spPr>
        <c:txPr>
          <a:bodyPr/>
          <a:lstStyle/>
          <a:p>
            <a:pPr>
              <a:defRPr sz="1000"/>
            </a:pPr>
          </a:p>
        </c:txPr>
        <c:crossAx val="-2113994440"/>
        <c:crosses val="autoZero"/>
        <c:auto val="1"/>
        <c:lblAlgn val="ctr"/>
        <c:lblOffset val="100"/>
        <c:noMultiLvlLbl val="0"/>
      </c:catAx>
      <c:valAx>
        <c:axId val="-2113994440"/>
        <c:scaling>
          <c:min val="0.0"/>
        </c:scaling>
        <c:delete/>
        <c:axPos val="b"/>
        <c:majorTickMark val="out"/>
        <c:minorTickMark val="none"/>
        <c:tickLblPos val="nextTo"/>
        <c:txPr>
          <a:bodyPr/>
          <a:lstStyle/>
          <a:p>
            <a:pPr>
              <a:defRPr sz="1000"/>
            </a:pPr>
          </a:p>
        </c:txPr>
        <c:crossAx val="-2068027336"/>
        <c:crosses val="autoZero"/>
      </c:valAx>
    </c:plotArea>
    <c:dispBlanksAs val="gap"/>
  </c:chart>
  <c:txPr>
    <a:bodyPr/>
    <a:lstStyle/>
    <a:p>
      <a:pPr>
        <a:defRPr sz="1000">
          <a:solidFill>
            <a:srgbClr val="1A1A1A"/>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c:v>
                </c:pt>
              </c:strCache>
            </c:strRef>
          </c:tx>
          <c:dPt>
            <c:idx val="0"/>
            <c:spPr>
              <a:solidFill>
                <a:srgbClr val="112F52"/>
              </a:solidFill>
              <a:ln>
                <a:solidFill>
                  <a:srgbClr val="FFFFFF"/>
                </a:solidFill>
              </a:ln>
            </c:spPr>
          </c:dPt>
          <c:dPt>
            <c:idx val="1"/>
            <c:spPr>
              <a:solidFill>
                <a:srgbClr val="1D4E89"/>
              </a:solidFill>
              <a:ln>
                <a:solidFill>
                  <a:srgbClr val="FFFFFF"/>
                </a:solidFill>
              </a:ln>
            </c:spPr>
          </c:dPt>
          <c:dPt>
            <c:idx val="2"/>
            <c:spPr>
              <a:solidFill>
                <a:srgbClr val="6587AF"/>
              </a:solidFill>
              <a:ln>
                <a:solidFill>
                  <a:srgbClr val="FFFFFF"/>
                </a:solidFill>
              </a:ln>
            </c:spPr>
          </c:dPt>
          <c:dPt>
            <c:idx val="3"/>
            <c:spPr>
              <a:solidFill>
                <a:srgbClr val="89A3C2"/>
              </a:solidFill>
              <a:ln>
                <a:solidFill>
                  <a:srgbClr val="FFFFFF"/>
                </a:solidFill>
              </a:ln>
            </c:spPr>
          </c:dPt>
          <c:cat>
            <c:strRef>
              <c:f>Sheet1!$A$2:$A$5</c:f>
              <c:strCache>
                <c:ptCount val="4"/>
                <c:pt idx="0">
                  <c:v>Routine</c:v>
                </c:pt>
                <c:pt idx="1">
                  <c:v>Twin</c:v>
                </c:pt>
                <c:pt idx="2">
                  <c:v>Wearables</c:v>
                </c:pt>
                <c:pt idx="3">
                  <c:v>EHR</c:v>
                </c:pt>
              </c:strCache>
            </c:strRef>
          </c:cat>
          <c:val>
            <c:numRef>
              <c:f>Sheet1!$B$2:$B$5</c:f>
              <c:numCache>
                <c:formatCode>General</c:formatCode>
                <c:ptCount val="4"/>
                <c:pt idx="0">
                  <c:v>50.2</c:v>
                </c:pt>
                <c:pt idx="1">
                  <c:v>26.2</c:v>
                </c:pt>
                <c:pt idx="2">
                  <c:v>20.2</c:v>
                </c:pt>
                <c:pt idx="3">
                  <c:v>3.5</c:v>
                </c:pt>
              </c:numCache>
            </c:numRef>
          </c:val>
        </c:ser>
        <c:dLbls>
          <c:numFmt formatCode="0%" sourceLinked="0"/>
          <c:txPr>
            <a:bodyPr/>
            <a:lstStyle/>
            <a:p>
              <a:pPr>
                <a:defRPr sz="1000" b="1">
                  <a:solidFill>
                    <a:srgbClr val="FFFFFF"/>
                  </a:solidFill>
                </a:defRPr>
              </a:pPr>
            </a:p>
          </c:txPr>
          <c:showLegendKey val="0"/>
          <c:showVal val="0"/>
          <c:showCatName val="0"/>
          <c:showSerName val="0"/>
          <c:showPercent val="1"/>
          <c:showBubbleSize val="0"/>
          <c:showLeaderLines val="1"/>
        </c:dLbls>
        <c:firstSliceAng val="0"/>
        <c:holeSize val="58"/>
      </c:doughnutChart>
    </c:plotArea>
    <c:legend>
      <c:legendPos val="b"/>
      <c:layout/>
      <c:overlay val="0"/>
      <c:txPr>
        <a:bodyPr/>
        <a:lstStyle/>
        <a:p>
          <a:pPr>
            <a:defRPr sz="1000"/>
          </a:pPr>
        </a:p>
      </c:txPr>
    </c:legend>
    <c:plotVisOnly val="1"/>
    <c:dispBlanksAs val="gap"/>
    <c:showDLblsOverMax val="0"/>
  </c:chart>
  <c:txPr>
    <a:bodyPr/>
    <a:lstStyle/>
    <a:p>
      <a:pPr>
        <a:defRPr sz="1000">
          <a:solidFill>
            <a:srgbClr val="1A1A1A"/>
          </a:solidFill>
          <a:latin typeface="Arial"/>
        </a:defRPr>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I am Dinesh D S from IIM Ahmedabad. This is GlucoSentinel. A sentinel is a guard who warns before danger arrives, and that is what this digital twin does for type 2 diabetes. It fuses a patient's health record with five-minute wearable data, builds a calibrated virtual copy of that patient, and warns of a glucose spike up to two hours before it happens. On 24 unseen test patients it reaches an AUROC of 0.961, warns 85 percent of spikes at least 30 minutes ahead, gives a median warning of 95 minutes, and sends fewer than one false alert a 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story on one slide. The problem: 101 million Indians have diabetes and 136 million prediabetes. Post-meal spikes do the damage between visits, but HbA1c averages them away: two of our patients share an HbA1c of 7 percent, yet one spends twice as long above 180. Today's CGM trend alarm warns only 28 percent of spikes thirty minutes ahead, and doctors face four thousand readings per patient per fortnight. Our solution starts from the EHR, calibrates a personal physiological twin over seven days, keeps it in sync with every CGM reading, and puts a LightGBM model on 81 fused features, with SHAP explanations, a what-if lab and a doctor console. The outcome on 24 unseen patients: AUROC 0.961, 85 percent of spikes warned thirty minutes ahead, a 95-minute median lead, 0.82 false alerts a day, and one meal swap lowering a predicted peak by 108 mg/dL.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ICMR-INDIAB survey of 113,043 adults found 101 million Indians with diabetes, 136 million with prediabetes and 315 million with hypertension. Indians develop diabetes at lower BMI and younger ages, on carb-heavy plates. HbA1c, reviewed every three months, is an average, so it hides spikes: Rahul and Bhavna both sit near 7 percent, but Bhavna spends 24 percent of her day above 180 versus 11 for Rahul. Current CGM alarms only see the rise once it starts: 28 percent of spikes warned thirty minutes ahead, a 15-minute median lead and 1.6 false alerts a day. The anatomy of a missed spike: a 90-gram carb lunch, glucose climbs, the alarm fires at 180 after the meal is absorbed, the peak reaches 250 to 330, and it repeats daily. The gap we fill: overload, no look-ahead, silos and no what-if.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GlucoSentinel is a hybrid. The twin loop: the EHR sets a day-one physiology; a seven-day onboarding week calibrates insulin sensitivity, beta-cell response, basal glucose and the dawn effect; every CGM reading nudges the twin; and the twin can be run forward under any plan. The patient receives a doctor-approved nudge before the meal, and the doctor gets a risk card, forecast, why panel, what-if lab and weekly review. Compared with a CGM app or a pure ML model, only GlucoSentinel combines EHR and genetics, personal physiology, a two-hour warning, explanations, what-if and Indian meals. The ablation proves the twin matters: without it AUROC falls from 0.961 to 0.930 and the median lead from 95 to 75 minutes.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streams the brief asks for are here. The static stream is one HL7 FHIR R4 bundle per patient, the format Synthea produces and ABDM uses: ICD-10 diagnoses, LOINC labs including three HbA1c values, RxNorm medications, family history and two genetic markers, the TCF7L2 risk allele and a polygenic risk score. The dynamic stream is five-minute CGM, steps, heart rate, HRV and sleep stages plus a meal log. All of it is synthetic: hidden physiology tied to the EHR, regional Indian daily life, a one-minute glucose-insulin simulation and a realistic sensor model with lag, noise, dropouts and imperfect logging. 120 patients, 483,840 readings, 5,200 logged meals from 32 Indian dishes.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engine is an extended Bergman minimal model: glucose, insulin action and insulin release, a two-pool gut driven by each dish's GI, exercise uptake, the dawn effect, and sleep debt and stress lowering insulin sensitivity. In the onboarding week we simulate 625 candidate physiologies in one vectorised pass, zoom into 256 more, and score each on forecasting the patient's own CGM, with a penalty for straying from the EHR prior: about 5.5 CPU-seconds per patient. Recovered insulin sensitivity correlates 0.92 with the hidden truth. Live, each reading nudges the twin, so its 60-minute error is 27 mg/dL against 43 for no change, and the twin alone reaches AUROC 0.921. For this patient a rice lunch peaks at 328, bajra roti at 220, and a walk alone only to 313.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five minutes we build 81 features: 23 from the EHR, 40 from wearables and CGM, 5 on the patient's routine learned in week one, and 13 from the twin. Evaluation is strict: 84 training, 12 validation and 24 unseen test patients; week one only calibrates the twin and learns routine; models train and score on week two. LightGBM with early stopping predicts the spike, four forecasters draw the glucose path, and the alert threshold of 0.75 was chosen on validation patients to keep false alerts at about one a day. Routine and twin carry 76 percent of the SHAP signal; the EHR looks small directly because its value flows through the twin's prior.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on 24 test patients. Ablation: EHR plus time of day 0.904 AUROC, wearables alone 0.930, fused 0.930, and adding the twin and routine lifts it to 0.961, AUPRC from 0.848 to 0.908; today's CGM trend alarm reaches 0.642. Across 582 spike episodes, 85 percent are warned thirty minutes ahead versus 28, the median lead is 95 minutes versus 15, and false alerts are 0.82 a day versus 1.62. At 60 minutes the forecast error is 19 mg/dL versus 43 for no change and 27 for the twin alone; 93.5 percent of forecasts sit in Clarke zone A and 99.6 in A plus B. Performance holds across sex, region and diagnosis.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test patient, Gurpreet, 47, with diabetes for twelve and a half years. Dark is his CGM, light is the forecast made sixty minutes earlier, and the strip below is risk against the threshold. Three alerts: 8:20, an hour before breakfast; 12:30, 105 minutes before lunch; 20:35, 70 minutes before a dinner he never logged. The 12:30 alert fired because this is his usual spike hour on five of seven days and the twin predicts 262 if he eats his usual lunch. The doctor tests millet khichdi plus a walk, sees the peak fall from 279 to 211, and sends the nudge. Honestly, 8 percent of spikes are never warned, mostly off-routine meals and festival sweets.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doctor console; I will demo it live next. The FHIR record, the virtual-patient card with insulin sensitivity and beta-cell response as cohort percentiles, the risk card, twelve hours of CGM with the twin path and forecast, and the why panel. The workflow takes about a minute: pick a patient, read the risk, see why, test a plan, send the nudge, and review the week with the ambulatory glucose profile and time in range.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impact pathway: an alert about 95 minutes ahead gives time to swap, eat less or walk; in the twin one swap cut the peak by 108 mg/dL; less time above range follows. Long-term benefits need a trial, and we say so. Patients get advice before the meal, doctors one screen instead of four thousand readings, insurers a measurable outcome, and ABDM a FHIR-native service. Privacy, fairness and a doctor in the loop are built in, and we state the limits: synthetic data flatters accuracy, routine needs a stable week, there is no hypoglycaemia module yet, and medication what-ifs are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roadmap: test on real CGM datasets for external validity; add a hypoglycaemia module and photo and voice meal logging; get ethics approval; run a 50-patient, three-month clinic pilot; then integrate with ABDM and prepare for the software-as-a-medical-device pathway. The CGM sensor dominates cost at about 3,100 to 4,600 rupees for fifteen days at Indian retail. The AI is nearly free: 120 twins calibrated in 331 seconds on two cores, 20,000 readings scored in 53 milliseconds. Routes to market are clinics, insurers and employers, or CGM makers. Thank you; everything is in the public GitHub repository under the MIT licence.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annexure has the full metric tables, the four commands to reproduce everything, and a map of the repository.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notesSlide" Target="../notesSlides/notesSlide2.xml"/><Relationship Id="rId14" Type="http://schemas.openxmlformats.org/officeDocument/2006/relationships/slide" Target="slide3.xml"/><Relationship Id="rId15" Type="http://schemas.openxmlformats.org/officeDocument/2006/relationships/slide" Target="slide4.xml"/><Relationship Id="rId16" Type="http://schemas.openxmlformats.org/officeDocument/2006/relationships/slide" Target="slide5.xml"/><Relationship Id="rId17" Type="http://schemas.openxmlformats.org/officeDocument/2006/relationships/slide" Target="slide6.xml"/><Relationship Id="rId18" Type="http://schemas.openxmlformats.org/officeDocument/2006/relationships/slide" Target="slide7.xml"/><Relationship Id="rId19" Type="http://schemas.openxmlformats.org/officeDocument/2006/relationships/slide" Target="slide8.xml"/><Relationship Id="rId20" Type="http://schemas.openxmlformats.org/officeDocument/2006/relationships/slide" Target="slide10.xml"/><Relationship Id="rId21" Type="http://schemas.openxmlformats.org/officeDocument/2006/relationships/slide" Target="slide11.xml"/><Relationship Id="rId22" Type="http://schemas.openxmlformats.org/officeDocument/2006/relationships/slide" Target="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chart" Target="../charts/chart1.xml"/><Relationship Id="rId5" Type="http://schemas.openxmlformats.org/officeDocument/2006/relationships/image" Target="../media/image15.png"/><Relationship Id="rId6" Type="http://schemas.openxmlformats.org/officeDocument/2006/relationships/chart" Target="../charts/chart2.xml"/><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 Id="rId11" Type="http://schemas.openxmlformats.org/officeDocument/2006/relationships/image" Target="../media/image20.png"/><Relationship Id="rId12" Type="http://schemas.openxmlformats.org/officeDocument/2006/relationships/image" Target="../media/image21.png"/><Relationship Id="rId13" Type="http://schemas.openxmlformats.org/officeDocument/2006/relationships/image" Target="../media/image22.png"/><Relationship Id="rId14" Type="http://schemas.openxmlformats.org/officeDocument/2006/relationships/image" Target="../media/image23.png"/><Relationship Id="rId15" Type="http://schemas.openxmlformats.org/officeDocument/2006/relationships/image" Target="../media/image24.png"/><Relationship Id="rId16" Type="http://schemas.openxmlformats.org/officeDocument/2006/relationships/image" Target="../media/image25.png"/><Relationship Id="rId17" Type="http://schemas.openxmlformats.org/officeDocument/2006/relationships/image" Target="../media/image26.png"/><Relationship Id="rId18" Type="http://schemas.openxmlformats.org/officeDocument/2006/relationships/notesSlide" Target="../notesSlides/notesSlide3.xml"/><Relationship Id="rId19" Type="http://schemas.openxmlformats.org/officeDocument/2006/relationships/slide" Target="slide2.xml"/><Relationship Id="rId20" Type="http://schemas.openxmlformats.org/officeDocument/2006/relationships/slide" Target="slide4.xml"/><Relationship Id="rId21" Type="http://schemas.openxmlformats.org/officeDocument/2006/relationships/slide" Target="slide5.xml"/><Relationship Id="rId22" Type="http://schemas.openxmlformats.org/officeDocument/2006/relationships/slide" Target="slide6.xml"/><Relationship Id="rId23" Type="http://schemas.openxmlformats.org/officeDocument/2006/relationships/slide" Target="slide7.xml"/><Relationship Id="rId24" Type="http://schemas.openxmlformats.org/officeDocument/2006/relationships/slide" Target="slide8.xml"/><Relationship Id="rId25" Type="http://schemas.openxmlformats.org/officeDocument/2006/relationships/slide" Target="slide10.xml"/><Relationship Id="rId26" Type="http://schemas.openxmlformats.org/officeDocument/2006/relationships/slide" Target="slide11.xml"/><Relationship Id="rId27" Type="http://schemas.openxmlformats.org/officeDocument/2006/relationships/slide" Target="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26.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notesSlide" Target="../notesSlides/notesSlide4.xml"/><Relationship Id="rId11" Type="http://schemas.openxmlformats.org/officeDocument/2006/relationships/slide" Target="slide2.xml"/><Relationship Id="rId12" Type="http://schemas.openxmlformats.org/officeDocument/2006/relationships/slide" Target="slide3.xml"/><Relationship Id="rId13" Type="http://schemas.openxmlformats.org/officeDocument/2006/relationships/slide" Target="slide5.xml"/><Relationship Id="rId14" Type="http://schemas.openxmlformats.org/officeDocument/2006/relationships/slide" Target="slide6.xml"/><Relationship Id="rId15" Type="http://schemas.openxmlformats.org/officeDocument/2006/relationships/slide" Target="slide7.xml"/><Relationship Id="rId16" Type="http://schemas.openxmlformats.org/officeDocument/2006/relationships/slide" Target="slide8.xml"/><Relationship Id="rId17" Type="http://schemas.openxmlformats.org/officeDocument/2006/relationships/slide" Target="slide10.xml"/><Relationship Id="rId18" Type="http://schemas.openxmlformats.org/officeDocument/2006/relationships/slide" Target="slide11.xml"/><Relationship Id="rId19" Type="http://schemas.openxmlformats.org/officeDocument/2006/relationships/slide" Target="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41.png"/><Relationship Id="rId10" Type="http://schemas.openxmlformats.org/officeDocument/2006/relationships/image" Target="../media/image42.png"/><Relationship Id="rId11" Type="http://schemas.openxmlformats.org/officeDocument/2006/relationships/image" Target="../media/image43.png"/><Relationship Id="rId12" Type="http://schemas.openxmlformats.org/officeDocument/2006/relationships/image" Target="../media/image44.png"/><Relationship Id="rId13" Type="http://schemas.openxmlformats.org/officeDocument/2006/relationships/image" Target="../media/image45.png"/><Relationship Id="rId14" Type="http://schemas.openxmlformats.org/officeDocument/2006/relationships/image" Target="../media/image46.png"/><Relationship Id="rId15" Type="http://schemas.openxmlformats.org/officeDocument/2006/relationships/image" Target="../media/image47.png"/><Relationship Id="rId16" Type="http://schemas.openxmlformats.org/officeDocument/2006/relationships/notesSlide" Target="../notesSlides/notesSlide5.xml"/><Relationship Id="rId17" Type="http://schemas.openxmlformats.org/officeDocument/2006/relationships/slide" Target="slide2.xml"/><Relationship Id="rId18" Type="http://schemas.openxmlformats.org/officeDocument/2006/relationships/slide" Target="slide3.xml"/><Relationship Id="rId19" Type="http://schemas.openxmlformats.org/officeDocument/2006/relationships/slide" Target="slide4.xml"/><Relationship Id="rId20" Type="http://schemas.openxmlformats.org/officeDocument/2006/relationships/slide" Target="slide6.xml"/><Relationship Id="rId21" Type="http://schemas.openxmlformats.org/officeDocument/2006/relationships/slide" Target="slide7.xml"/><Relationship Id="rId22" Type="http://schemas.openxmlformats.org/officeDocument/2006/relationships/slide" Target="slide8.xml"/><Relationship Id="rId23" Type="http://schemas.openxmlformats.org/officeDocument/2006/relationships/slide" Target="slide10.xml"/><Relationship Id="rId24" Type="http://schemas.openxmlformats.org/officeDocument/2006/relationships/slide" Target="slide11.xml"/><Relationship Id="rId25" Type="http://schemas.openxmlformats.org/officeDocument/2006/relationships/slide" Target="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image" Target="../media/image22.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image" Target="../media/image52.png"/><Relationship Id="rId8" Type="http://schemas.openxmlformats.org/officeDocument/2006/relationships/image" Target="../media/image53.png"/><Relationship Id="rId9" Type="http://schemas.openxmlformats.org/officeDocument/2006/relationships/image" Target="../media/image54.png"/><Relationship Id="rId10" Type="http://schemas.openxmlformats.org/officeDocument/2006/relationships/image" Target="../media/image55.png"/><Relationship Id="rId11" Type="http://schemas.openxmlformats.org/officeDocument/2006/relationships/image" Target="../media/image56.png"/><Relationship Id="rId12" Type="http://schemas.openxmlformats.org/officeDocument/2006/relationships/image" Target="../media/image57.png"/><Relationship Id="rId13" Type="http://schemas.openxmlformats.org/officeDocument/2006/relationships/image" Target="../media/image17.png"/><Relationship Id="rId14" Type="http://schemas.openxmlformats.org/officeDocument/2006/relationships/image" Target="../media/image58.png"/><Relationship Id="rId15" Type="http://schemas.openxmlformats.org/officeDocument/2006/relationships/notesSlide" Target="../notesSlides/notesSlide6.xml"/><Relationship Id="rId16" Type="http://schemas.openxmlformats.org/officeDocument/2006/relationships/slide" Target="slide2.xml"/><Relationship Id="rId17" Type="http://schemas.openxmlformats.org/officeDocument/2006/relationships/slide" Target="slide3.xml"/><Relationship Id="rId18" Type="http://schemas.openxmlformats.org/officeDocument/2006/relationships/slide" Target="slide4.xml"/><Relationship Id="rId19" Type="http://schemas.openxmlformats.org/officeDocument/2006/relationships/slide" Target="slide5.xml"/><Relationship Id="rId20" Type="http://schemas.openxmlformats.org/officeDocument/2006/relationships/slide" Target="slide7.xml"/><Relationship Id="rId21" Type="http://schemas.openxmlformats.org/officeDocument/2006/relationships/slide" Target="slide8.xml"/><Relationship Id="rId22" Type="http://schemas.openxmlformats.org/officeDocument/2006/relationships/slide" Target="slide10.xml"/><Relationship Id="rId23" Type="http://schemas.openxmlformats.org/officeDocument/2006/relationships/slide" Target="slide11.xml"/><Relationship Id="rId24" Type="http://schemas.openxmlformats.org/officeDocument/2006/relationships/slide" Target="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49.png"/><Relationship Id="rId8" Type="http://schemas.openxmlformats.org/officeDocument/2006/relationships/image" Target="../media/image64.png"/><Relationship Id="rId9" Type="http://schemas.openxmlformats.org/officeDocument/2006/relationships/image" Target="../media/image65.png"/><Relationship Id="rId10" Type="http://schemas.openxmlformats.org/officeDocument/2006/relationships/chart" Target="../charts/chart3.xml"/><Relationship Id="rId11" Type="http://schemas.openxmlformats.org/officeDocument/2006/relationships/image" Target="../media/image66.png"/><Relationship Id="rId12" Type="http://schemas.openxmlformats.org/officeDocument/2006/relationships/image" Target="../media/image67.png"/><Relationship Id="rId13" Type="http://schemas.openxmlformats.org/officeDocument/2006/relationships/notesSlide" Target="../notesSlides/notesSlide7.xml"/><Relationship Id="rId14" Type="http://schemas.openxmlformats.org/officeDocument/2006/relationships/slide" Target="slide2.xml"/><Relationship Id="rId15" Type="http://schemas.openxmlformats.org/officeDocument/2006/relationships/slide" Target="slide3.xml"/><Relationship Id="rId16" Type="http://schemas.openxmlformats.org/officeDocument/2006/relationships/slide" Target="slide4.xml"/><Relationship Id="rId17" Type="http://schemas.openxmlformats.org/officeDocument/2006/relationships/slide" Target="slide5.xml"/><Relationship Id="rId18" Type="http://schemas.openxmlformats.org/officeDocument/2006/relationships/slide" Target="slide6.xml"/><Relationship Id="rId19" Type="http://schemas.openxmlformats.org/officeDocument/2006/relationships/slide" Target="slide8.xml"/><Relationship Id="rId20" Type="http://schemas.openxmlformats.org/officeDocument/2006/relationships/slide" Target="slide10.xml"/><Relationship Id="rId21" Type="http://schemas.openxmlformats.org/officeDocument/2006/relationships/slide" Target="slide11.xml"/><Relationship Id="rId22" Type="http://schemas.openxmlformats.org/officeDocument/2006/relationships/slide" Target="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68.png"/><Relationship Id="rId4" Type="http://schemas.openxmlformats.org/officeDocument/2006/relationships/image" Target="../media/image19.png"/><Relationship Id="rId5" Type="http://schemas.openxmlformats.org/officeDocument/2006/relationships/image" Target="../media/image69.png"/><Relationship Id="rId6" Type="http://schemas.openxmlformats.org/officeDocument/2006/relationships/image" Target="../media/image11.png"/><Relationship Id="rId7" Type="http://schemas.openxmlformats.org/officeDocument/2006/relationships/image" Target="../media/image70.png"/><Relationship Id="rId8" Type="http://schemas.openxmlformats.org/officeDocument/2006/relationships/image" Target="../media/image71.png"/><Relationship Id="rId9" Type="http://schemas.openxmlformats.org/officeDocument/2006/relationships/image" Target="../media/image72.png"/><Relationship Id="rId10" Type="http://schemas.openxmlformats.org/officeDocument/2006/relationships/image" Target="../media/image73.png"/><Relationship Id="rId11" Type="http://schemas.openxmlformats.org/officeDocument/2006/relationships/notesSlide" Target="../notesSlides/notesSlide8.xml"/><Relationship Id="rId12" Type="http://schemas.openxmlformats.org/officeDocument/2006/relationships/slide" Target="slide2.xml"/><Relationship Id="rId13" Type="http://schemas.openxmlformats.org/officeDocument/2006/relationships/slide" Target="slide3.xml"/><Relationship Id="rId14" Type="http://schemas.openxmlformats.org/officeDocument/2006/relationships/slide" Target="slide4.xml"/><Relationship Id="rId15" Type="http://schemas.openxmlformats.org/officeDocument/2006/relationships/slide" Target="slide5.xml"/><Relationship Id="rId16" Type="http://schemas.openxmlformats.org/officeDocument/2006/relationships/slide" Target="slide6.xml"/><Relationship Id="rId17" Type="http://schemas.openxmlformats.org/officeDocument/2006/relationships/slide" Target="slide7.xml"/><Relationship Id="rId18" Type="http://schemas.openxmlformats.org/officeDocument/2006/relationships/slide" Target="slide10.xml"/><Relationship Id="rId19" Type="http://schemas.openxmlformats.org/officeDocument/2006/relationships/slide" Target="slide11.xml"/><Relationship Id="rId20" Type="http://schemas.openxmlformats.org/officeDocument/2006/relationships/slide" Target="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png"/><Relationship Id="rId6" Type="http://schemas.openxmlformats.org/officeDocument/2006/relationships/image" Target="../media/image77.png"/><Relationship Id="rId7" Type="http://schemas.openxmlformats.org/officeDocument/2006/relationships/notesSlide" Target="../notesSlides/notesSlide9.xml"/><Relationship Id="rId8" Type="http://schemas.openxmlformats.org/officeDocument/2006/relationships/slide" Target="slide2.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5.xml"/><Relationship Id="rId12" Type="http://schemas.openxmlformats.org/officeDocument/2006/relationships/slide" Target="slide6.xml"/><Relationship Id="rId13" Type="http://schemas.openxmlformats.org/officeDocument/2006/relationships/slide" Target="slide7.xml"/><Relationship Id="rId14" Type="http://schemas.openxmlformats.org/officeDocument/2006/relationships/slide" Target="slide8.xml"/><Relationship Id="rId15" Type="http://schemas.openxmlformats.org/officeDocument/2006/relationships/slide" Target="slide10.xml"/><Relationship Id="rId16" Type="http://schemas.openxmlformats.org/officeDocument/2006/relationships/slide" Target="slide11.xml"/><Relationship Id="rId17" Type="http://schemas.openxmlformats.org/officeDocument/2006/relationships/slide" Target="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image" Target="../media/image79.png"/><Relationship Id="rId4" Type="http://schemas.openxmlformats.org/officeDocument/2006/relationships/image" Target="../media/image56.png"/><Relationship Id="rId5" Type="http://schemas.openxmlformats.org/officeDocument/2006/relationships/image" Target="../media/image80.png"/><Relationship Id="rId6" Type="http://schemas.openxmlformats.org/officeDocument/2006/relationships/image" Target="../media/image81.png"/><Relationship Id="rId7" Type="http://schemas.openxmlformats.org/officeDocument/2006/relationships/image" Target="../media/image82.png"/><Relationship Id="rId8" Type="http://schemas.openxmlformats.org/officeDocument/2006/relationships/notesSlide" Target="../notesSlides/notesSlide10.xml"/><Relationship Id="rId9" Type="http://schemas.openxmlformats.org/officeDocument/2006/relationships/slide" Target="slide2.xm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5.xml"/><Relationship Id="rId13" Type="http://schemas.openxmlformats.org/officeDocument/2006/relationships/slide" Target="slide6.xml"/><Relationship Id="rId14" Type="http://schemas.openxmlformats.org/officeDocument/2006/relationships/slide" Target="slide7.xml"/><Relationship Id="rId15" Type="http://schemas.openxmlformats.org/officeDocument/2006/relationships/slide" Target="slide8.xml"/><Relationship Id="rId16" Type="http://schemas.openxmlformats.org/officeDocument/2006/relationships/slide" Target="slide11.xml"/><Relationship Id="rId17" Type="http://schemas.openxmlformats.org/officeDocument/2006/relationships/slide" Target="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64.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41.png"/><Relationship Id="rId8" Type="http://schemas.openxmlformats.org/officeDocument/2006/relationships/image" Target="../media/image86.png"/><Relationship Id="rId9" Type="http://schemas.openxmlformats.org/officeDocument/2006/relationships/image" Target="../media/image87.png"/><Relationship Id="rId10" Type="http://schemas.openxmlformats.org/officeDocument/2006/relationships/image" Target="../media/image23.png"/><Relationship Id="rId11" Type="http://schemas.openxmlformats.org/officeDocument/2006/relationships/image" Target="../media/image88.png"/><Relationship Id="rId12" Type="http://schemas.openxmlformats.org/officeDocument/2006/relationships/image" Target="../media/image89.png"/><Relationship Id="rId13" Type="http://schemas.openxmlformats.org/officeDocument/2006/relationships/image" Target="../media/image90.png"/><Relationship Id="rId14" Type="http://schemas.openxmlformats.org/officeDocument/2006/relationships/image" Target="../media/image91.png"/><Relationship Id="rId15" Type="http://schemas.openxmlformats.org/officeDocument/2006/relationships/image" Target="../media/image92.png"/><Relationship Id="rId16" Type="http://schemas.openxmlformats.org/officeDocument/2006/relationships/image" Target="../media/image93.png"/><Relationship Id="rId17" Type="http://schemas.openxmlformats.org/officeDocument/2006/relationships/image" Target="../media/image94.png"/><Relationship Id="rId18" Type="http://schemas.openxmlformats.org/officeDocument/2006/relationships/image" Target="../media/image2.png"/><Relationship Id="rId19" Type="http://schemas.openxmlformats.org/officeDocument/2006/relationships/notesSlide" Target="../notesSlides/notesSlide11.xml"/><Relationship Id="rId20" Type="http://schemas.openxmlformats.org/officeDocument/2006/relationships/slide" Target="slide2.xml"/><Relationship Id="rId21" Type="http://schemas.openxmlformats.org/officeDocument/2006/relationships/slide" Target="slide3.xml"/><Relationship Id="rId22" Type="http://schemas.openxmlformats.org/officeDocument/2006/relationships/slide" Target="slide4.xml"/><Relationship Id="rId23" Type="http://schemas.openxmlformats.org/officeDocument/2006/relationships/slide" Target="slide5.xml"/><Relationship Id="rId24" Type="http://schemas.openxmlformats.org/officeDocument/2006/relationships/slide" Target="slide6.xml"/><Relationship Id="rId25" Type="http://schemas.openxmlformats.org/officeDocument/2006/relationships/slide" Target="slide7.xml"/><Relationship Id="rId26" Type="http://schemas.openxmlformats.org/officeDocument/2006/relationships/slide" Target="slide8.xml"/><Relationship Id="rId27" Type="http://schemas.openxmlformats.org/officeDocument/2006/relationships/slide" Target="slide10.xml"/><Relationship Id="rId28" Type="http://schemas.openxmlformats.org/officeDocument/2006/relationships/slide" Target="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98.png"/><Relationship Id="rId6" Type="http://schemas.openxmlformats.org/officeDocument/2006/relationships/image" Target="../media/image99.png"/><Relationship Id="rId7" Type="http://schemas.openxmlformats.org/officeDocument/2006/relationships/image" Target="../media/image88.png"/><Relationship Id="rId8" Type="http://schemas.openxmlformats.org/officeDocument/2006/relationships/image" Target="../media/image40.png"/><Relationship Id="rId9" Type="http://schemas.openxmlformats.org/officeDocument/2006/relationships/notesSlide" Target="../notesSlides/notesSlide12.xm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4.xml"/><Relationship Id="rId13" Type="http://schemas.openxmlformats.org/officeDocument/2006/relationships/slide" Target="slide5.xml"/><Relationship Id="rId14" Type="http://schemas.openxmlformats.org/officeDocument/2006/relationships/slide" Target="slide6.xml"/><Relationship Id="rId15" Type="http://schemas.openxmlformats.org/officeDocument/2006/relationships/slide" Target="slide7.xml"/><Relationship Id="rId16" Type="http://schemas.openxmlformats.org/officeDocument/2006/relationships/slide" Target="slide8.xml"/><Relationship Id="rId17" Type="http://schemas.openxmlformats.org/officeDocument/2006/relationships/slide" Target="slide10.xml"/><Relationship Id="rId18" Type="http://schemas.openxmlformats.org/officeDocument/2006/relationships/slide" Target="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 Id="rId3"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notesSlide" Target="../notesSlides/notesSlide13.xml"/><Relationship Id="rId6" Type="http://schemas.openxmlformats.org/officeDocument/2006/relationships/slide" Target="slide2.xml"/><Relationship Id="rId7" Type="http://schemas.openxmlformats.org/officeDocument/2006/relationships/slide" Target="slide3.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slide" Target="slide6.xml"/><Relationship Id="rId11" Type="http://schemas.openxmlformats.org/officeDocument/2006/relationships/slide" Target="slide7.xml"/><Relationship Id="rId12" Type="http://schemas.openxmlformats.org/officeDocument/2006/relationships/slide" Target="slide8.xml"/><Relationship Id="rId13" Type="http://schemas.openxmlformats.org/officeDocument/2006/relationships/slide" Target="slide10.xml"/><Relationship Id="rId14" Type="http://schemas.openxmlformats.org/officeDocument/2006/relationships/slide" Target="slide11.xml"/><Relationship Id="rId15"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D4E89"/>
          </a:solidFill>
          <a:ln>
            <a:noFill/>
          </a:ln>
        </p:spPr>
        <p:txBody>
          <a:bodyPr rtlCol="0" anchor="ctr"/>
          <a:lstStyle/>
          <a:p/>
        </p:txBody>
      </p:sp>
      <p:sp>
        <p:nvSpPr>
          <p:cNvPr id="3" name="Freeform 2"/>
          <p:cNvSpPr/>
          <p:nvPr/>
        </p:nvSpPr>
        <p:spPr>
          <a:xfrm>
            <a:off x="0" y="2880360"/>
            <a:ext cx="12191695" cy="3977640"/>
          </a:xfrm>
          <a:custGeom>
            <a:avLst/>
            <a:gdLst/>
            <a:ahLst/>
            <a:cxnLst/>
            <a:rect l="l" t="t" r="r" b="b"/>
            <a:pathLst>
              <a:path w="12191695" h="3977640">
                <a:moveTo>
                  <a:pt x="0" y="2331720"/>
                </a:moveTo>
                <a:lnTo>
                  <a:pt x="9021854" y="2331720"/>
                </a:lnTo>
                <a:lnTo>
                  <a:pt x="12191695" y="0"/>
                </a:lnTo>
                <a:lnTo>
                  <a:pt x="12191695" y="3977640"/>
                </a:lnTo>
                <a:lnTo>
                  <a:pt x="0" y="3977640"/>
                </a:lnTo>
                <a:close/>
              </a:path>
            </a:pathLst>
          </a:custGeom>
          <a:solidFill>
            <a:srgbClr val="FFFFFF"/>
          </a:solidFill>
          <a:ln>
            <a:noFill/>
          </a:ln>
        </p:spPr>
        <p:txBody>
          <a:bodyPr rtlCol="0" anchor="ctr"/>
          <a:lstStyle/>
          <a:p>
            <a:pPr algn="ctr"/>
          </a:p>
        </p:txBody>
      </p:sp>
      <p:sp>
        <p:nvSpPr>
          <p:cNvPr id="4" name="Freeform 3"/>
          <p:cNvSpPr/>
          <p:nvPr/>
        </p:nvSpPr>
        <p:spPr>
          <a:xfrm>
            <a:off x="9021854" y="2880360"/>
            <a:ext cx="3169841" cy="2331720"/>
          </a:xfrm>
          <a:custGeom>
            <a:avLst/>
            <a:gdLst/>
            <a:ahLst/>
            <a:cxnLst/>
            <a:rect l="l" t="t" r="r" b="b"/>
            <a:pathLst>
              <a:path w="3169841" h="2331720">
                <a:moveTo>
                  <a:pt x="0" y="2331720"/>
                </a:moveTo>
                <a:lnTo>
                  <a:pt x="3169841" y="0"/>
                </a:lnTo>
                <a:lnTo>
                  <a:pt x="3169841" y="82296"/>
                </a:lnTo>
                <a:lnTo>
                  <a:pt x="64008" y="2331720"/>
                </a:lnTo>
                <a:close/>
              </a:path>
            </a:pathLst>
          </a:custGeom>
          <a:solidFill>
            <a:srgbClr val="89A3C2"/>
          </a:solidFill>
          <a:ln>
            <a:noFill/>
          </a:ln>
        </p:spPr>
        <p:txBody>
          <a:bodyPr rtlCol="0" anchor="ctr"/>
          <a:lstStyle/>
          <a:p>
            <a:pPr algn="ctr"/>
          </a:p>
        </p:txBody>
      </p:sp>
      <p:sp>
        <p:nvSpPr>
          <p:cNvPr id="5" name="TextBox 4"/>
          <p:cNvSpPr txBox="1"/>
          <p:nvPr/>
        </p:nvSpPr>
        <p:spPr>
          <a:xfrm>
            <a:off x="502920" y="365760"/>
            <a:ext cx="7772400" cy="365760"/>
          </a:xfrm>
          <a:prstGeom prst="rect">
            <a:avLst/>
          </a:prstGeom>
          <a:noFill/>
        </p:spPr>
        <p:txBody>
          <a:bodyPr wrap="square" lIns="45720" rIns="45720" tIns="27432" bIns="27432" anchor="t">
            <a:noAutofit/>
          </a:bodyPr>
          <a:lstStyle/>
          <a:p>
            <a:pPr algn="l"/>
            <a:r>
              <a:rPr sz="1500" b="1" i="0">
                <a:solidFill>
                  <a:srgbClr val="C9D5E3"/>
                </a:solidFill>
                <a:latin typeface="Arial"/>
              </a:rPr>
              <a:t>HAPPIEST HEALTH DIGITAL TWIN CHALLENGE 2026</a:t>
            </a:r>
          </a:p>
        </p:txBody>
      </p:sp>
      <p:sp>
        <p:nvSpPr>
          <p:cNvPr id="6" name="TextBox 5"/>
          <p:cNvSpPr txBox="1"/>
          <p:nvPr/>
        </p:nvSpPr>
        <p:spPr>
          <a:xfrm>
            <a:off x="502920" y="777240"/>
            <a:ext cx="7863840" cy="1783080"/>
          </a:xfrm>
          <a:prstGeom prst="rect">
            <a:avLst/>
          </a:prstGeom>
          <a:noFill/>
        </p:spPr>
        <p:txBody>
          <a:bodyPr wrap="square" lIns="45720" rIns="45720" tIns="27432" bIns="27432" anchor="b">
            <a:noAutofit/>
          </a:bodyPr>
          <a:lstStyle/>
          <a:p>
            <a:pPr algn="l"/>
            <a:r>
              <a:rPr sz="3600" b="1" i="0">
                <a:solidFill>
                  <a:srgbClr val="FFFFFF"/>
                </a:solidFill>
                <a:latin typeface="Arial"/>
              </a:rPr>
              <a:t>GlucoSentinel: a digital twin that warns of glucose spikes 2 hours before they happen</a:t>
            </a:r>
          </a:p>
        </p:txBody>
      </p:sp>
      <p:sp>
        <p:nvSpPr>
          <p:cNvPr id="7" name="TextBox 6"/>
          <p:cNvSpPr txBox="1"/>
          <p:nvPr/>
        </p:nvSpPr>
        <p:spPr>
          <a:xfrm>
            <a:off x="502920" y="2606040"/>
            <a:ext cx="7863840" cy="777240"/>
          </a:xfrm>
          <a:prstGeom prst="rect">
            <a:avLst/>
          </a:prstGeom>
          <a:noFill/>
        </p:spPr>
        <p:txBody>
          <a:bodyPr wrap="square" lIns="45720" rIns="45720" tIns="27432" bIns="27432" anchor="t">
            <a:noAutofit/>
          </a:bodyPr>
          <a:lstStyle/>
          <a:p>
            <a:pPr algn="l"/>
            <a:r>
              <a:rPr sz="1700" b="0" i="0">
                <a:solidFill>
                  <a:srgbClr val="CDD8E5"/>
                </a:solidFill>
                <a:latin typeface="Arial"/>
              </a:rPr>
              <a:t>Type 2 diabetes proof of concept fusing FHIR health records with 5-minute wearable data</a:t>
            </a:r>
          </a:p>
        </p:txBody>
      </p:sp>
      <p:sp>
        <p:nvSpPr>
          <p:cNvPr id="8" name="Rounded Rectangle 7"/>
          <p:cNvSpPr/>
          <p:nvPr/>
        </p:nvSpPr>
        <p:spPr>
          <a:xfrm>
            <a:off x="502920" y="3520440"/>
            <a:ext cx="1828800" cy="868680"/>
          </a:xfrm>
          <a:prstGeom prst="roundRect">
            <a:avLst>
              <a:gd name="adj" fmla="val 6315"/>
            </a:avLst>
          </a:prstGeom>
          <a:solidFill>
            <a:srgbClr val="386397"/>
          </a:solidFill>
          <a:ln w="9525">
            <a:solidFill>
              <a:srgbClr val="6C8CB2"/>
            </a:solidFill>
          </a:ln>
        </p:spPr>
        <p:txBody>
          <a:bodyPr rtlCol="0" anchor="ctr"/>
          <a:lstStyle/>
          <a:p/>
        </p:txBody>
      </p:sp>
      <p:sp>
        <p:nvSpPr>
          <p:cNvPr id="9" name="TextBox 8"/>
          <p:cNvSpPr txBox="1"/>
          <p:nvPr/>
        </p:nvSpPr>
        <p:spPr>
          <a:xfrm>
            <a:off x="502920" y="3547872"/>
            <a:ext cx="1828800" cy="457200"/>
          </a:xfrm>
          <a:prstGeom prst="rect">
            <a:avLst/>
          </a:prstGeom>
          <a:noFill/>
        </p:spPr>
        <p:txBody>
          <a:bodyPr wrap="square" lIns="18288" rIns="18288" tIns="18288" bIns="18288" anchor="ctr">
            <a:noAutofit/>
          </a:bodyPr>
          <a:lstStyle/>
          <a:p>
            <a:pPr algn="ctr"/>
            <a:r>
              <a:rPr sz="2000" b="1" i="0">
                <a:solidFill>
                  <a:srgbClr val="FFFFFF"/>
                </a:solidFill>
                <a:latin typeface="Arial"/>
              </a:rPr>
              <a:t>0.961</a:t>
            </a:r>
          </a:p>
        </p:txBody>
      </p:sp>
      <p:sp>
        <p:nvSpPr>
          <p:cNvPr id="10" name="TextBox 9"/>
          <p:cNvSpPr txBox="1"/>
          <p:nvPr/>
        </p:nvSpPr>
        <p:spPr>
          <a:xfrm>
            <a:off x="548640" y="3986784"/>
            <a:ext cx="1737360" cy="384048"/>
          </a:xfrm>
          <a:prstGeom prst="rect">
            <a:avLst/>
          </a:prstGeom>
          <a:noFill/>
        </p:spPr>
        <p:txBody>
          <a:bodyPr wrap="square" lIns="9144" rIns="9144" tIns="9144" bIns="9144" anchor="t">
            <a:noAutofit/>
          </a:bodyPr>
          <a:lstStyle/>
          <a:p>
            <a:pPr algn="ctr"/>
            <a:r>
              <a:rPr sz="1000" b="0" i="0">
                <a:solidFill>
                  <a:srgbClr val="D2DCE7"/>
                </a:solidFill>
                <a:latin typeface="Arial"/>
              </a:rPr>
              <a:t>test AUROC</a:t>
            </a:r>
          </a:p>
        </p:txBody>
      </p:sp>
      <p:sp>
        <p:nvSpPr>
          <p:cNvPr id="11" name="Rounded Rectangle 10"/>
          <p:cNvSpPr/>
          <p:nvPr/>
        </p:nvSpPr>
        <p:spPr>
          <a:xfrm>
            <a:off x="2441448" y="3520440"/>
            <a:ext cx="1828800" cy="868680"/>
          </a:xfrm>
          <a:prstGeom prst="roundRect">
            <a:avLst>
              <a:gd name="adj" fmla="val 6315"/>
            </a:avLst>
          </a:prstGeom>
          <a:solidFill>
            <a:srgbClr val="386397"/>
          </a:solidFill>
          <a:ln w="9525">
            <a:solidFill>
              <a:srgbClr val="6C8CB2"/>
            </a:solidFill>
          </a:ln>
        </p:spPr>
        <p:txBody>
          <a:bodyPr rtlCol="0" anchor="ctr"/>
          <a:lstStyle/>
          <a:p/>
        </p:txBody>
      </p:sp>
      <p:sp>
        <p:nvSpPr>
          <p:cNvPr id="12" name="TextBox 11"/>
          <p:cNvSpPr txBox="1"/>
          <p:nvPr/>
        </p:nvSpPr>
        <p:spPr>
          <a:xfrm>
            <a:off x="2441448" y="3547872"/>
            <a:ext cx="1828800" cy="457200"/>
          </a:xfrm>
          <a:prstGeom prst="rect">
            <a:avLst/>
          </a:prstGeom>
          <a:noFill/>
        </p:spPr>
        <p:txBody>
          <a:bodyPr wrap="square" lIns="18288" rIns="18288" tIns="18288" bIns="18288" anchor="ctr">
            <a:noAutofit/>
          </a:bodyPr>
          <a:lstStyle/>
          <a:p>
            <a:pPr algn="ctr"/>
            <a:r>
              <a:rPr sz="2000" b="1" i="0">
                <a:solidFill>
                  <a:srgbClr val="FFFFFF"/>
                </a:solidFill>
                <a:latin typeface="Arial"/>
              </a:rPr>
              <a:t>95 min</a:t>
            </a:r>
          </a:p>
        </p:txBody>
      </p:sp>
      <p:sp>
        <p:nvSpPr>
          <p:cNvPr id="13" name="TextBox 12"/>
          <p:cNvSpPr txBox="1"/>
          <p:nvPr/>
        </p:nvSpPr>
        <p:spPr>
          <a:xfrm>
            <a:off x="2487168" y="3986784"/>
            <a:ext cx="1737360" cy="384048"/>
          </a:xfrm>
          <a:prstGeom prst="rect">
            <a:avLst/>
          </a:prstGeom>
          <a:noFill/>
        </p:spPr>
        <p:txBody>
          <a:bodyPr wrap="square" lIns="9144" rIns="9144" tIns="9144" bIns="9144" anchor="t">
            <a:noAutofit/>
          </a:bodyPr>
          <a:lstStyle/>
          <a:p>
            <a:pPr algn="ctr"/>
            <a:r>
              <a:rPr sz="1000" b="0" i="0">
                <a:solidFill>
                  <a:srgbClr val="D2DCE7"/>
                </a:solidFill>
                <a:latin typeface="Arial"/>
              </a:rPr>
              <a:t>median warning lead</a:t>
            </a:r>
          </a:p>
        </p:txBody>
      </p:sp>
      <p:sp>
        <p:nvSpPr>
          <p:cNvPr id="14" name="Rounded Rectangle 13"/>
          <p:cNvSpPr/>
          <p:nvPr/>
        </p:nvSpPr>
        <p:spPr>
          <a:xfrm>
            <a:off x="4379976" y="3520440"/>
            <a:ext cx="1828800" cy="868680"/>
          </a:xfrm>
          <a:prstGeom prst="roundRect">
            <a:avLst>
              <a:gd name="adj" fmla="val 6315"/>
            </a:avLst>
          </a:prstGeom>
          <a:solidFill>
            <a:srgbClr val="386397"/>
          </a:solidFill>
          <a:ln w="9525">
            <a:solidFill>
              <a:srgbClr val="6C8CB2"/>
            </a:solidFill>
          </a:ln>
        </p:spPr>
        <p:txBody>
          <a:bodyPr rtlCol="0" anchor="ctr"/>
          <a:lstStyle/>
          <a:p/>
        </p:txBody>
      </p:sp>
      <p:sp>
        <p:nvSpPr>
          <p:cNvPr id="15" name="TextBox 14"/>
          <p:cNvSpPr txBox="1"/>
          <p:nvPr/>
        </p:nvSpPr>
        <p:spPr>
          <a:xfrm>
            <a:off x="4379976" y="3547872"/>
            <a:ext cx="1828800" cy="457200"/>
          </a:xfrm>
          <a:prstGeom prst="rect">
            <a:avLst/>
          </a:prstGeom>
          <a:noFill/>
        </p:spPr>
        <p:txBody>
          <a:bodyPr wrap="square" lIns="18288" rIns="18288" tIns="18288" bIns="18288" anchor="ctr">
            <a:noAutofit/>
          </a:bodyPr>
          <a:lstStyle/>
          <a:p>
            <a:pPr algn="ctr"/>
            <a:r>
              <a:rPr sz="2000" b="1" i="0">
                <a:solidFill>
                  <a:srgbClr val="FFFFFF"/>
                </a:solidFill>
                <a:latin typeface="Arial"/>
              </a:rPr>
              <a:t>85%</a:t>
            </a:r>
          </a:p>
        </p:txBody>
      </p:sp>
      <p:sp>
        <p:nvSpPr>
          <p:cNvPr id="16" name="TextBox 15"/>
          <p:cNvSpPr txBox="1"/>
          <p:nvPr/>
        </p:nvSpPr>
        <p:spPr>
          <a:xfrm>
            <a:off x="4425696" y="3986784"/>
            <a:ext cx="1737360" cy="384048"/>
          </a:xfrm>
          <a:prstGeom prst="rect">
            <a:avLst/>
          </a:prstGeom>
          <a:noFill/>
        </p:spPr>
        <p:txBody>
          <a:bodyPr wrap="square" lIns="9144" rIns="9144" tIns="9144" bIns="9144" anchor="t">
            <a:noAutofit/>
          </a:bodyPr>
          <a:lstStyle/>
          <a:p>
            <a:pPr algn="ctr"/>
            <a:r>
              <a:rPr sz="1000" b="0" i="0">
                <a:solidFill>
                  <a:srgbClr val="D2DCE7"/>
                </a:solidFill>
                <a:latin typeface="Arial"/>
              </a:rPr>
              <a:t>spikes warned 30+ min ahead</a:t>
            </a:r>
          </a:p>
        </p:txBody>
      </p:sp>
      <p:sp>
        <p:nvSpPr>
          <p:cNvPr id="17" name="Rounded Rectangle 16"/>
          <p:cNvSpPr/>
          <p:nvPr/>
        </p:nvSpPr>
        <p:spPr>
          <a:xfrm>
            <a:off x="6318504" y="3520440"/>
            <a:ext cx="1828800" cy="868680"/>
          </a:xfrm>
          <a:prstGeom prst="roundRect">
            <a:avLst>
              <a:gd name="adj" fmla="val 6315"/>
            </a:avLst>
          </a:prstGeom>
          <a:solidFill>
            <a:srgbClr val="386397"/>
          </a:solidFill>
          <a:ln w="9525">
            <a:solidFill>
              <a:srgbClr val="6C8CB2"/>
            </a:solidFill>
          </a:ln>
        </p:spPr>
        <p:txBody>
          <a:bodyPr rtlCol="0" anchor="ctr"/>
          <a:lstStyle/>
          <a:p/>
        </p:txBody>
      </p:sp>
      <p:sp>
        <p:nvSpPr>
          <p:cNvPr id="18" name="TextBox 17"/>
          <p:cNvSpPr txBox="1"/>
          <p:nvPr/>
        </p:nvSpPr>
        <p:spPr>
          <a:xfrm>
            <a:off x="6318504" y="3547872"/>
            <a:ext cx="1828800" cy="457200"/>
          </a:xfrm>
          <a:prstGeom prst="rect">
            <a:avLst/>
          </a:prstGeom>
          <a:noFill/>
        </p:spPr>
        <p:txBody>
          <a:bodyPr wrap="square" lIns="18288" rIns="18288" tIns="18288" bIns="18288" anchor="ctr">
            <a:noAutofit/>
          </a:bodyPr>
          <a:lstStyle/>
          <a:p>
            <a:pPr algn="ctr"/>
            <a:r>
              <a:rPr sz="2000" b="1" i="0">
                <a:solidFill>
                  <a:srgbClr val="FFFFFF"/>
                </a:solidFill>
                <a:latin typeface="Arial"/>
              </a:rPr>
              <a:t>0.82</a:t>
            </a:r>
          </a:p>
        </p:txBody>
      </p:sp>
      <p:sp>
        <p:nvSpPr>
          <p:cNvPr id="19" name="TextBox 18"/>
          <p:cNvSpPr txBox="1"/>
          <p:nvPr/>
        </p:nvSpPr>
        <p:spPr>
          <a:xfrm>
            <a:off x="6364224" y="3986784"/>
            <a:ext cx="1737360" cy="384048"/>
          </a:xfrm>
          <a:prstGeom prst="rect">
            <a:avLst/>
          </a:prstGeom>
          <a:noFill/>
        </p:spPr>
        <p:txBody>
          <a:bodyPr wrap="square" lIns="9144" rIns="9144" tIns="9144" bIns="9144" anchor="t">
            <a:noAutofit/>
          </a:bodyPr>
          <a:lstStyle/>
          <a:p>
            <a:pPr algn="ctr"/>
            <a:r>
              <a:rPr sz="1000" b="0" i="0">
                <a:solidFill>
                  <a:srgbClr val="D2DCE7"/>
                </a:solidFill>
                <a:latin typeface="Arial"/>
              </a:rPr>
              <a:t>false alerts a day</a:t>
            </a:r>
          </a:p>
        </p:txBody>
      </p:sp>
      <p:sp>
        <p:nvSpPr>
          <p:cNvPr id="20" name="Oval 19"/>
          <p:cNvSpPr/>
          <p:nvPr/>
        </p:nvSpPr>
        <p:spPr>
          <a:xfrm>
            <a:off x="932688" y="4633722"/>
            <a:ext cx="1051560" cy="1051560"/>
          </a:xfrm>
          <a:prstGeom prst="ellipse">
            <a:avLst/>
          </a:prstGeom>
          <a:solidFill>
            <a:srgbClr val="6587AF"/>
          </a:solidFill>
          <a:ln w="31750">
            <a:solidFill>
              <a:srgbClr val="FFFFFF"/>
            </a:solidFill>
          </a:ln>
        </p:spPr>
        <p:txBody>
          <a:bodyPr rtlCol="0" anchor="ctr" wrap="none" lIns="0" rIns="0" tIns="0" bIns="0">
            <a:noAutofit/>
          </a:bodyPr>
          <a:lstStyle/>
          <a:p>
            <a:pPr algn="ctr"/>
            <a:r>
              <a:rPr sz="2400" b="1" i="0">
                <a:solidFill>
                  <a:srgbClr val="FFFFFF"/>
                </a:solidFill>
                <a:latin typeface="Arial"/>
              </a:rPr>
              <a:t>DD</a:t>
            </a:r>
          </a:p>
        </p:txBody>
      </p:sp>
      <p:sp>
        <p:nvSpPr>
          <p:cNvPr id="21" name="TextBox 20"/>
          <p:cNvSpPr txBox="1"/>
          <p:nvPr/>
        </p:nvSpPr>
        <p:spPr>
          <a:xfrm>
            <a:off x="502920" y="5737860"/>
            <a:ext cx="1920240" cy="329184"/>
          </a:xfrm>
          <a:prstGeom prst="rect">
            <a:avLst/>
          </a:prstGeom>
          <a:noFill/>
        </p:spPr>
        <p:txBody>
          <a:bodyPr wrap="square" lIns="45720" rIns="45720" tIns="27432" bIns="27432" anchor="t">
            <a:noAutofit/>
          </a:bodyPr>
          <a:lstStyle/>
          <a:p>
            <a:pPr algn="ctr"/>
            <a:r>
              <a:rPr sz="1300" b="1" i="0">
                <a:solidFill>
                  <a:srgbClr val="1A1A1A"/>
                </a:solidFill>
                <a:latin typeface="Arial"/>
              </a:rPr>
              <a:t>Dinesh D S</a:t>
            </a:r>
          </a:p>
        </p:txBody>
      </p:sp>
      <p:sp>
        <p:nvSpPr>
          <p:cNvPr id="22" name="TextBox 21"/>
          <p:cNvSpPr txBox="1"/>
          <p:nvPr/>
        </p:nvSpPr>
        <p:spPr>
          <a:xfrm>
            <a:off x="7071183" y="5806440"/>
            <a:ext cx="4876678" cy="502920"/>
          </a:xfrm>
          <a:prstGeom prst="rect">
            <a:avLst/>
          </a:prstGeom>
          <a:noFill/>
        </p:spPr>
        <p:txBody>
          <a:bodyPr wrap="square" lIns="45720" rIns="45720" tIns="27432" bIns="27432" anchor="ctr">
            <a:noAutofit/>
          </a:bodyPr>
          <a:lstStyle/>
          <a:p>
            <a:pPr algn="r"/>
            <a:r>
              <a:rPr sz="2400" b="1" i="0">
                <a:solidFill>
                  <a:srgbClr val="1D4E89"/>
                </a:solidFill>
                <a:latin typeface="Arial"/>
              </a:rPr>
              <a:t>Team Dinesh</a:t>
            </a:r>
          </a:p>
        </p:txBody>
      </p:sp>
      <p:sp>
        <p:nvSpPr>
          <p:cNvPr id="23" name="TextBox 22"/>
          <p:cNvSpPr txBox="1"/>
          <p:nvPr/>
        </p:nvSpPr>
        <p:spPr>
          <a:xfrm>
            <a:off x="7071183" y="6309360"/>
            <a:ext cx="4876678" cy="365760"/>
          </a:xfrm>
          <a:prstGeom prst="rect">
            <a:avLst/>
          </a:prstGeom>
          <a:noFill/>
        </p:spPr>
        <p:txBody>
          <a:bodyPr wrap="square" lIns="45720" rIns="45720" tIns="27432" bIns="27432" anchor="t">
            <a:noAutofit/>
          </a:bodyPr>
          <a:lstStyle/>
          <a:p>
            <a:pPr algn="r"/>
            <a:r>
              <a:rPr sz="1300" b="0" i="0">
                <a:solidFill>
                  <a:srgbClr val="4A5168"/>
                </a:solidFill>
                <a:latin typeface="Arial"/>
              </a:rPr>
              <a:t>IIM Ahmedabad, PGP-FABM 2025-27</a:t>
            </a:r>
          </a:p>
        </p:txBody>
      </p:sp>
      <p:pic>
        <p:nvPicPr>
          <p:cNvPr id="24" name="Picture 23" descr="hero.png"/>
          <p:cNvPicPr>
            <a:picLocks noChangeAspect="1"/>
          </p:cNvPicPr>
          <p:nvPr/>
        </p:nvPicPr>
        <p:blipFill>
          <a:blip r:embed="rId2"/>
          <a:stretch>
            <a:fillRect/>
          </a:stretch>
        </p:blipFill>
        <p:spPr>
          <a:xfrm>
            <a:off x="8503920" y="611845"/>
            <a:ext cx="3474720" cy="3256869"/>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v:0"/>
          <p:cNvSpPr/>
          <p:nvPr/>
        </p:nvSpPr>
        <p:spPr>
          <a:xfrm>
            <a:off x="0" y="0"/>
            <a:ext cx="1359073" cy="457200"/>
          </a:xfrm>
          <a:prstGeom prst="homePlate">
            <a:avLst>
              <a:gd name="adj" fmla="val 34000"/>
            </a:avLst>
          </a:prstGeom>
          <a:solidFill>
            <a:srgbClr val="112F52"/>
          </a:solidFill>
          <a:ln w="12700">
            <a:solidFill>
              <a:srgbClr val="FFFFFF"/>
            </a:solidFill>
          </a:ln>
        </p:spPr>
        <p:txBody>
          <a:bodyPr rtlCol="0" anchor="ctr"/>
          <a:lstStyle/>
          <a:p/>
        </p:txBody>
      </p:sp>
      <p:sp>
        <p:nvSpPr>
          <p:cNvPr id="3" name="nav:t0"/>
          <p:cNvSpPr txBox="1"/>
          <p:nvPr/>
        </p:nvSpPr>
        <p:spPr>
          <a:xfrm>
            <a:off x="64008" y="0"/>
            <a:ext cx="1121329" cy="457200"/>
          </a:xfrm>
          <a:prstGeom prst="rect">
            <a:avLst/>
          </a:prstGeom>
          <a:noFill/>
        </p:spPr>
        <p:txBody>
          <a:bodyPr wrap="square" lIns="9144" rIns="9144" tIns="9144" bIns="9144" anchor="ctr">
            <a:noAutofit/>
          </a:bodyPr>
          <a:lstStyle/>
          <a:p>
            <a:pPr algn="ctr"/>
            <a:r>
              <a:rPr sz="1000" b="1" i="0">
                <a:solidFill>
                  <a:srgbClr val="FFFFFF"/>
                </a:solidFill>
                <a:latin typeface="Arial"/>
              </a:rPr>
              <a:t>Executive Summary</a:t>
            </a:r>
          </a:p>
        </p:txBody>
      </p:sp>
      <p:sp>
        <p:nvSpPr>
          <p:cNvPr id="4" name="nav:1">
            <a:hlinkClick action="ppaction://hlinksldjump" r:id="rId14"/>
          </p:cNvPr>
          <p:cNvSpPr/>
          <p:nvPr/>
        </p:nvSpPr>
        <p:spPr>
          <a:xfrm>
            <a:off x="1203625"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5" name="nav:t1">
            <a:hlinkClick action="ppaction://hlinksldjump" r:id="rId14"/>
          </p:cNvPr>
          <p:cNvSpPr txBox="1"/>
          <p:nvPr/>
        </p:nvSpPr>
        <p:spPr>
          <a:xfrm>
            <a:off x="1386505"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Problem</a:t>
            </a:r>
          </a:p>
        </p:txBody>
      </p:sp>
      <p:sp>
        <p:nvSpPr>
          <p:cNvPr id="6" name="nav:2">
            <a:hlinkClick action="ppaction://hlinksldjump" r:id="rId15"/>
          </p:cNvPr>
          <p:cNvSpPr/>
          <p:nvPr/>
        </p:nvSpPr>
        <p:spPr>
          <a:xfrm>
            <a:off x="2407249"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7" name="nav:t2">
            <a:hlinkClick action="ppaction://hlinksldjump" r:id="rId15"/>
          </p:cNvPr>
          <p:cNvSpPr txBox="1"/>
          <p:nvPr/>
        </p:nvSpPr>
        <p:spPr>
          <a:xfrm>
            <a:off x="2590129"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Solution</a:t>
            </a:r>
          </a:p>
        </p:txBody>
      </p:sp>
      <p:sp>
        <p:nvSpPr>
          <p:cNvPr id="8" name="nav:3">
            <a:hlinkClick action="ppaction://hlinksldjump" r:id="rId16"/>
          </p:cNvPr>
          <p:cNvSpPr/>
          <p:nvPr/>
        </p:nvSpPr>
        <p:spPr>
          <a:xfrm>
            <a:off x="3610874"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9" name="nav:t3">
            <a:hlinkClick action="ppaction://hlinksldjump" r:id="rId16"/>
          </p:cNvPr>
          <p:cNvSpPr txBox="1"/>
          <p:nvPr/>
        </p:nvSpPr>
        <p:spPr>
          <a:xfrm>
            <a:off x="3793754"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Data</a:t>
            </a:r>
          </a:p>
        </p:txBody>
      </p:sp>
      <p:sp>
        <p:nvSpPr>
          <p:cNvPr id="10" name="nav:4">
            <a:hlinkClick action="ppaction://hlinksldjump" r:id="rId17"/>
          </p:cNvPr>
          <p:cNvSpPr/>
          <p:nvPr/>
        </p:nvSpPr>
        <p:spPr>
          <a:xfrm>
            <a:off x="4814499"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1" name="nav:t4">
            <a:hlinkClick action="ppaction://hlinksldjump" r:id="rId17"/>
          </p:cNvPr>
          <p:cNvSpPr txBox="1"/>
          <p:nvPr/>
        </p:nvSpPr>
        <p:spPr>
          <a:xfrm>
            <a:off x="4997379"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Twin Engine</a:t>
            </a:r>
          </a:p>
        </p:txBody>
      </p:sp>
      <p:sp>
        <p:nvSpPr>
          <p:cNvPr id="12" name="nav:5">
            <a:hlinkClick action="ppaction://hlinksldjump" r:id="rId18"/>
          </p:cNvPr>
          <p:cNvSpPr/>
          <p:nvPr/>
        </p:nvSpPr>
        <p:spPr>
          <a:xfrm>
            <a:off x="6018124"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3" name="nav:t5">
            <a:hlinkClick action="ppaction://hlinksldjump" r:id="rId18"/>
          </p:cNvPr>
          <p:cNvSpPr txBox="1"/>
          <p:nvPr/>
        </p:nvSpPr>
        <p:spPr>
          <a:xfrm>
            <a:off x="6201004"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AI Model</a:t>
            </a:r>
          </a:p>
        </p:txBody>
      </p:sp>
      <p:sp>
        <p:nvSpPr>
          <p:cNvPr id="14" name="nav:6">
            <a:hlinkClick action="ppaction://hlinksldjump" r:id="rId19"/>
          </p:cNvPr>
          <p:cNvSpPr/>
          <p:nvPr/>
        </p:nvSpPr>
        <p:spPr>
          <a:xfrm>
            <a:off x="7221748"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5" name="nav:t6">
            <a:hlinkClick action="ppaction://hlinksldjump" r:id="rId19"/>
          </p:cNvPr>
          <p:cNvSpPr txBox="1"/>
          <p:nvPr/>
        </p:nvSpPr>
        <p:spPr>
          <a:xfrm>
            <a:off x="7404628"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Results</a:t>
            </a:r>
          </a:p>
        </p:txBody>
      </p:sp>
      <p:sp>
        <p:nvSpPr>
          <p:cNvPr id="16" name="nav:7">
            <a:hlinkClick action="ppaction://hlinksldjump" r:id="rId20"/>
          </p:cNvPr>
          <p:cNvSpPr/>
          <p:nvPr/>
        </p:nvSpPr>
        <p:spPr>
          <a:xfrm>
            <a:off x="8425373"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7" name="nav:t7">
            <a:hlinkClick action="ppaction://hlinksldjump" r:id="rId20"/>
          </p:cNvPr>
          <p:cNvSpPr txBox="1"/>
          <p:nvPr/>
        </p:nvSpPr>
        <p:spPr>
          <a:xfrm>
            <a:off x="8608253"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Dashboard</a:t>
            </a:r>
          </a:p>
        </p:txBody>
      </p:sp>
      <p:sp>
        <p:nvSpPr>
          <p:cNvPr id="18" name="nav:8">
            <a:hlinkClick action="ppaction://hlinksldjump" r:id="rId21"/>
          </p:cNvPr>
          <p:cNvSpPr/>
          <p:nvPr/>
        </p:nvSpPr>
        <p:spPr>
          <a:xfrm>
            <a:off x="9628998"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9" name="nav:t8">
            <a:hlinkClick action="ppaction://hlinksldjump" r:id="rId21"/>
          </p:cNvPr>
          <p:cNvSpPr txBox="1"/>
          <p:nvPr/>
        </p:nvSpPr>
        <p:spPr>
          <a:xfrm>
            <a:off x="9811878"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Impact</a:t>
            </a:r>
          </a:p>
        </p:txBody>
      </p:sp>
      <p:sp>
        <p:nvSpPr>
          <p:cNvPr id="20" name="nav:9">
            <a:hlinkClick action="ppaction://hlinksldjump" r:id="rId22"/>
          </p:cNvPr>
          <p:cNvSpPr/>
          <p:nvPr/>
        </p:nvSpPr>
        <p:spPr>
          <a:xfrm>
            <a:off x="10832622"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21" name="nav:t9">
            <a:hlinkClick action="ppaction://hlinksldjump" r:id="rId22"/>
          </p:cNvPr>
          <p:cNvSpPr txBox="1"/>
          <p:nvPr/>
        </p:nvSpPr>
        <p:spPr>
          <a:xfrm>
            <a:off x="11015502"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Roadmap &amp; Cost</a:t>
            </a:r>
          </a:p>
        </p:txBody>
      </p:sp>
      <p:sp>
        <p:nvSpPr>
          <p:cNvPr id="22" name="TextBox 21"/>
          <p:cNvSpPr txBox="1"/>
          <p:nvPr/>
        </p:nvSpPr>
        <p:spPr>
          <a:xfrm>
            <a:off x="73152" y="502920"/>
            <a:ext cx="12045391" cy="329184"/>
          </a:xfrm>
          <a:prstGeom prst="rect">
            <a:avLst/>
          </a:prstGeom>
          <a:noFill/>
        </p:spPr>
        <p:txBody>
          <a:bodyPr wrap="square" lIns="18288" rIns="18288" tIns="18288" bIns="18288" anchor="ctr">
            <a:noAutofit/>
          </a:bodyPr>
          <a:lstStyle/>
          <a:p>
            <a:pPr algn="l"/>
            <a:r>
              <a:rPr sz="1600" b="1" i="0">
                <a:solidFill>
                  <a:srgbClr val="1D4E89"/>
                </a:solidFill>
                <a:latin typeface="Arial"/>
              </a:rPr>
              <a:t>A virtual copy of each patient warns of 85% of glucose spikes at least 30 minutes ahead</a:t>
            </a:r>
          </a:p>
        </p:txBody>
      </p:sp>
      <p:sp>
        <p:nvSpPr>
          <p:cNvPr id="23" name="TextBox 22"/>
          <p:cNvSpPr txBox="1"/>
          <p:nvPr/>
        </p:nvSpPr>
        <p:spPr>
          <a:xfrm>
            <a:off x="73152" y="795528"/>
            <a:ext cx="12045391" cy="237744"/>
          </a:xfrm>
          <a:prstGeom prst="rect">
            <a:avLst/>
          </a:prstGeom>
          <a:noFill/>
        </p:spPr>
        <p:txBody>
          <a:bodyPr wrap="square" lIns="18288" rIns="18288" tIns="18288" bIns="18288" anchor="ctr">
            <a:noAutofit/>
          </a:bodyPr>
          <a:lstStyle/>
          <a:p>
            <a:pPr algn="l"/>
            <a:r>
              <a:rPr sz="1200" b="1" i="0">
                <a:solidFill>
                  <a:srgbClr val="4A5168"/>
                </a:solidFill>
                <a:latin typeface="Arial"/>
              </a:rPr>
              <a:t>Built and tested end to end on synthetic FHIR and wearable data for 120 Indian patients; open source and reproducible</a:t>
            </a:r>
          </a:p>
        </p:txBody>
      </p:sp>
      <p:cxnSp>
        <p:nvCxnSpPr>
          <p:cNvPr id="24" name="Connector 23"/>
          <p:cNvCxnSpPr/>
          <p:nvPr/>
        </p:nvCxnSpPr>
        <p:spPr>
          <a:xfrm>
            <a:off x="73152" y="1042416"/>
            <a:ext cx="12045391" cy="0"/>
          </a:xfrm>
          <a:prstGeom prst="line">
            <a:avLst/>
          </a:prstGeom>
          <a:ln w="19050">
            <a:solidFill>
              <a:srgbClr val="1D4E89"/>
            </a:solidFill>
          </a:ln>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73152" y="1097280"/>
            <a:ext cx="3499732" cy="5191432"/>
            <a:chOff x="73152" y="1097280"/>
            <a:chExt cx="3499732" cy="5191432"/>
          </a:xfrm>
        </p:grpSpPr>
        <p:sp>
          <p:nvSpPr>
            <p:cNvPr id="26" name="frame:Problem"/>
            <p:cNvSpPr/>
            <p:nvPr/>
          </p:nvSpPr>
          <p:spPr>
            <a:xfrm>
              <a:off x="73152" y="1234440"/>
              <a:ext cx="3499732" cy="5054272"/>
            </a:xfrm>
            <a:prstGeom prst="roundRect">
              <a:avLst>
                <a:gd name="adj" fmla="val 1306"/>
              </a:avLst>
            </a:prstGeom>
            <a:solidFill>
              <a:srgbClr val="F1F4F8"/>
            </a:solidFill>
            <a:ln w="15875">
              <a:solidFill>
                <a:srgbClr val="466E9E"/>
              </a:solidFill>
              <a:prstDash val="sysDot"/>
            </a:ln>
          </p:spPr>
          <p:txBody>
            <a:bodyPr rtlCol="0" anchor="ctr"/>
            <a:lstStyle/>
            <a:p/>
          </p:txBody>
        </p:sp>
        <p:sp>
          <p:nvSpPr>
            <p:cNvPr id="27" name="Rounded Rectangle 26"/>
            <p:cNvSpPr/>
            <p:nvPr/>
          </p:nvSpPr>
          <p:spPr>
            <a:xfrm>
              <a:off x="73152" y="1097280"/>
              <a:ext cx="1121823" cy="274320"/>
            </a:xfrm>
            <a:prstGeom prst="roundRect">
              <a:avLst>
                <a:gd name="adj" fmla="val 13333"/>
              </a:avLst>
            </a:prstGeom>
            <a:solidFill>
              <a:srgbClr val="1D4E89"/>
            </a:solidFill>
            <a:ln>
              <a:noFill/>
            </a:ln>
          </p:spPr>
          <p:txBody>
            <a:bodyPr rtlCol="0" anchor="ctr"/>
            <a:lstStyle/>
            <a:p/>
          </p:txBody>
        </p:sp>
        <p:pic>
          <p:nvPicPr>
            <p:cNvPr id="28" name="Picture 27" descr="ic_fa6_FaTriangleExclamation_FFFFFF.png"/>
            <p:cNvPicPr>
              <a:picLocks noChangeAspect="1"/>
            </p:cNvPicPr>
            <p:nvPr/>
          </p:nvPicPr>
          <p:blipFill>
            <a:blip r:embed="rId2"/>
            <a:stretch>
              <a:fillRect/>
            </a:stretch>
          </p:blipFill>
          <p:spPr>
            <a:xfrm>
              <a:off x="128016" y="1133856"/>
              <a:ext cx="201168" cy="201168"/>
            </a:xfrm>
            <a:prstGeom prst="rect">
              <a:avLst/>
            </a:prstGeom>
          </p:spPr>
        </p:pic>
        <p:sp>
          <p:nvSpPr>
            <p:cNvPr id="29" name="TextBox 28"/>
            <p:cNvSpPr txBox="1"/>
            <p:nvPr/>
          </p:nvSpPr>
          <p:spPr>
            <a:xfrm>
              <a:off x="374904" y="1097280"/>
              <a:ext cx="792639" cy="274320"/>
            </a:xfrm>
            <a:prstGeom prst="rect">
              <a:avLst/>
            </a:prstGeom>
            <a:noFill/>
          </p:spPr>
          <p:txBody>
            <a:bodyPr wrap="square" lIns="9144" rIns="9144" tIns="9144" bIns="9144" anchor="ctr">
              <a:noAutofit/>
            </a:bodyPr>
            <a:lstStyle/>
            <a:p>
              <a:pPr algn="l"/>
              <a:r>
                <a:rPr sz="1200" b="1" i="0">
                  <a:solidFill>
                    <a:srgbClr val="FFFFFF"/>
                  </a:solidFill>
                  <a:latin typeface="Arial"/>
                </a:rPr>
                <a:t>Problem</a:t>
              </a:r>
            </a:p>
          </p:txBody>
        </p:sp>
        <p:sp>
          <p:nvSpPr>
            <p:cNvPr id="30" name="ig:arrow_stats"/>
            <p:cNvSpPr/>
            <p:nvPr/>
          </p:nvSpPr>
          <p:spPr>
            <a:xfrm>
              <a:off x="164592" y="1427359"/>
              <a:ext cx="926601" cy="331757"/>
            </a:xfrm>
            <a:prstGeom prst="homePlate">
              <a:avLst>
                <a:gd name="adj" fmla="val 35000"/>
              </a:avLst>
            </a:prstGeom>
            <a:solidFill>
              <a:srgbClr val="89A3C2"/>
            </a:solidFill>
            <a:ln>
              <a:noFill/>
            </a:ln>
          </p:spPr>
          <p:txBody>
            <a:bodyPr rtlCol="0" anchor="ctr"/>
            <a:lstStyle/>
            <a:p/>
          </p:txBody>
        </p:sp>
        <p:sp>
          <p:nvSpPr>
            <p:cNvPr id="31" name="TextBox 30"/>
            <p:cNvSpPr txBox="1"/>
            <p:nvPr/>
          </p:nvSpPr>
          <p:spPr>
            <a:xfrm>
              <a:off x="201168" y="1427359"/>
              <a:ext cx="773910" cy="331757"/>
            </a:xfrm>
            <a:prstGeom prst="rect">
              <a:avLst/>
            </a:prstGeom>
            <a:noFill/>
          </p:spPr>
          <p:txBody>
            <a:bodyPr wrap="square" lIns="0" rIns="0" tIns="0" bIns="0" anchor="ctr">
              <a:noAutofit/>
            </a:bodyPr>
            <a:lstStyle/>
            <a:p>
              <a:pPr algn="ctr"/>
              <a:r>
                <a:rPr sz="1800" b="1" i="0">
                  <a:solidFill>
                    <a:srgbClr val="FFFFFF"/>
                  </a:solidFill>
                  <a:latin typeface="Arial"/>
                </a:rPr>
                <a:t>101 M</a:t>
              </a:r>
            </a:p>
          </p:txBody>
        </p:sp>
        <p:sp>
          <p:nvSpPr>
            <p:cNvPr id="32" name="TextBox 31"/>
            <p:cNvSpPr txBox="1"/>
            <p:nvPr/>
          </p:nvSpPr>
          <p:spPr>
            <a:xfrm>
              <a:off x="164592" y="1786548"/>
              <a:ext cx="1056849" cy="658368"/>
            </a:xfrm>
            <a:prstGeom prst="rect">
              <a:avLst/>
            </a:prstGeom>
            <a:noFill/>
          </p:spPr>
          <p:txBody>
            <a:bodyPr wrap="square" lIns="9144" rIns="9144" tIns="9144" bIns="9144" anchor="t">
              <a:noAutofit/>
            </a:bodyPr>
            <a:lstStyle/>
            <a:p>
              <a:pPr algn="l"/>
              <a:r>
                <a:rPr sz="1000" b="0" i="0">
                  <a:solidFill>
                    <a:srgbClr val="1A1A1A"/>
                  </a:solidFill>
                  <a:latin typeface="Arial"/>
                </a:rPr>
                <a:t>with diabetes</a:t>
              </a:r>
            </a:p>
          </p:txBody>
        </p:sp>
        <p:sp>
          <p:nvSpPr>
            <p:cNvPr id="33" name="Pentagon 32"/>
            <p:cNvSpPr/>
            <p:nvPr/>
          </p:nvSpPr>
          <p:spPr>
            <a:xfrm>
              <a:off x="1294593" y="1417768"/>
              <a:ext cx="926601" cy="331757"/>
            </a:xfrm>
            <a:prstGeom prst="homePlate">
              <a:avLst>
                <a:gd name="adj" fmla="val 35000"/>
              </a:avLst>
            </a:prstGeom>
            <a:solidFill>
              <a:srgbClr val="6587AF"/>
            </a:solidFill>
            <a:ln>
              <a:noFill/>
            </a:ln>
          </p:spPr>
          <p:txBody>
            <a:bodyPr rtlCol="0" anchor="ctr"/>
            <a:lstStyle/>
            <a:p/>
          </p:txBody>
        </p:sp>
        <p:sp>
          <p:nvSpPr>
            <p:cNvPr id="34" name="TextBox 33"/>
            <p:cNvSpPr txBox="1"/>
            <p:nvPr/>
          </p:nvSpPr>
          <p:spPr>
            <a:xfrm>
              <a:off x="1331169" y="1417768"/>
              <a:ext cx="773910" cy="331757"/>
            </a:xfrm>
            <a:prstGeom prst="rect">
              <a:avLst/>
            </a:prstGeom>
            <a:noFill/>
          </p:spPr>
          <p:txBody>
            <a:bodyPr wrap="square" lIns="0" rIns="0" tIns="0" bIns="0" anchor="ctr">
              <a:noAutofit/>
            </a:bodyPr>
            <a:lstStyle/>
            <a:p>
              <a:pPr algn="ctr"/>
              <a:r>
                <a:rPr sz="1800" b="1" i="0">
                  <a:solidFill>
                    <a:srgbClr val="FFFFFF"/>
                  </a:solidFill>
                  <a:latin typeface="Arial"/>
                </a:rPr>
                <a:t>136 M</a:t>
              </a:r>
            </a:p>
          </p:txBody>
        </p:sp>
        <p:sp>
          <p:nvSpPr>
            <p:cNvPr id="35" name="TextBox 34"/>
            <p:cNvSpPr txBox="1"/>
            <p:nvPr/>
          </p:nvSpPr>
          <p:spPr>
            <a:xfrm>
              <a:off x="1294593" y="1776956"/>
              <a:ext cx="1056849" cy="667960"/>
            </a:xfrm>
            <a:prstGeom prst="rect">
              <a:avLst/>
            </a:prstGeom>
            <a:noFill/>
          </p:spPr>
          <p:txBody>
            <a:bodyPr wrap="square" lIns="9144" rIns="9144" tIns="9144" bIns="9144" anchor="t">
              <a:noAutofit/>
            </a:bodyPr>
            <a:lstStyle/>
            <a:p>
              <a:pPr algn="l"/>
              <a:r>
                <a:rPr sz="1000" b="0" i="0">
                  <a:solidFill>
                    <a:srgbClr val="1A1A1A"/>
                  </a:solidFill>
                  <a:latin typeface="Arial"/>
                </a:rPr>
                <a:t>prediabetes</a:t>
              </a:r>
            </a:p>
          </p:txBody>
        </p:sp>
        <p:sp>
          <p:nvSpPr>
            <p:cNvPr id="36" name="Pentagon 35"/>
            <p:cNvSpPr/>
            <p:nvPr/>
          </p:nvSpPr>
          <p:spPr>
            <a:xfrm>
              <a:off x="2424594" y="1408176"/>
              <a:ext cx="926601" cy="331757"/>
            </a:xfrm>
            <a:prstGeom prst="homePlate">
              <a:avLst>
                <a:gd name="adj" fmla="val 35000"/>
              </a:avLst>
            </a:prstGeom>
            <a:solidFill>
              <a:srgbClr val="466E9E"/>
            </a:solidFill>
            <a:ln>
              <a:noFill/>
            </a:ln>
          </p:spPr>
          <p:txBody>
            <a:bodyPr rtlCol="0" anchor="ctr"/>
            <a:lstStyle/>
            <a:p/>
          </p:txBody>
        </p:sp>
        <p:sp>
          <p:nvSpPr>
            <p:cNvPr id="37" name="TextBox 36"/>
            <p:cNvSpPr txBox="1"/>
            <p:nvPr/>
          </p:nvSpPr>
          <p:spPr>
            <a:xfrm>
              <a:off x="2461170" y="1408176"/>
              <a:ext cx="773910" cy="331757"/>
            </a:xfrm>
            <a:prstGeom prst="rect">
              <a:avLst/>
            </a:prstGeom>
            <a:noFill/>
          </p:spPr>
          <p:txBody>
            <a:bodyPr wrap="square" lIns="0" rIns="0" tIns="0" bIns="0" anchor="ctr">
              <a:noAutofit/>
            </a:bodyPr>
            <a:lstStyle/>
            <a:p>
              <a:pPr algn="ctr"/>
              <a:r>
                <a:rPr sz="1800" b="1" i="0">
                  <a:solidFill>
                    <a:srgbClr val="FFFFFF"/>
                  </a:solidFill>
                  <a:latin typeface="Arial"/>
                </a:rPr>
                <a:t>315 M</a:t>
              </a:r>
            </a:p>
          </p:txBody>
        </p:sp>
        <p:sp>
          <p:nvSpPr>
            <p:cNvPr id="38" name="TextBox 37"/>
            <p:cNvSpPr txBox="1"/>
            <p:nvPr/>
          </p:nvSpPr>
          <p:spPr>
            <a:xfrm>
              <a:off x="2424594" y="1767365"/>
              <a:ext cx="1056849" cy="677551"/>
            </a:xfrm>
            <a:prstGeom prst="rect">
              <a:avLst/>
            </a:prstGeom>
            <a:noFill/>
          </p:spPr>
          <p:txBody>
            <a:bodyPr wrap="square" lIns="9144" rIns="9144" tIns="9144" bIns="9144" anchor="t">
              <a:noAutofit/>
            </a:bodyPr>
            <a:lstStyle/>
            <a:p>
              <a:pPr algn="l"/>
              <a:r>
                <a:rPr sz="1000" b="0" i="0">
                  <a:solidFill>
                    <a:srgbClr val="1A1A1A"/>
                  </a:solidFill>
                  <a:latin typeface="Arial"/>
                </a:rPr>
                <a:t>hypertension</a:t>
              </a:r>
            </a:p>
          </p:txBody>
        </p:sp>
        <p:sp>
          <p:nvSpPr>
            <p:cNvPr id="39" name="ig:icon_card"/>
            <p:cNvSpPr/>
            <p:nvPr/>
          </p:nvSpPr>
          <p:spPr>
            <a:xfrm>
              <a:off x="128016" y="2490636"/>
              <a:ext cx="3390004" cy="901513"/>
            </a:xfrm>
            <a:prstGeom prst="roundRect">
              <a:avLst>
                <a:gd name="adj" fmla="val 5071"/>
              </a:avLst>
            </a:prstGeom>
            <a:solidFill>
              <a:srgbClr val="FFFFFF"/>
            </a:solidFill>
            <a:ln w="9525">
              <a:solidFill>
                <a:srgbClr val="466E9E"/>
              </a:solidFill>
              <a:prstDash val="sysDot"/>
            </a:ln>
          </p:spPr>
          <p:txBody>
            <a:bodyPr rtlCol="0" anchor="ctr"/>
            <a:lstStyle/>
            <a:p/>
          </p:txBody>
        </p:sp>
        <p:pic>
          <p:nvPicPr>
            <p:cNvPr id="40" name="Picture 39" descr="ic_fa6_FaEyeSlash_1D4E89.png"/>
            <p:cNvPicPr>
              <a:picLocks noChangeAspect="1"/>
            </p:cNvPicPr>
            <p:nvPr/>
          </p:nvPicPr>
          <p:blipFill>
            <a:blip r:embed="rId3"/>
            <a:stretch>
              <a:fillRect/>
            </a:stretch>
          </p:blipFill>
          <p:spPr>
            <a:xfrm>
              <a:off x="192024" y="2689933"/>
              <a:ext cx="502920" cy="502920"/>
            </a:xfrm>
            <a:prstGeom prst="rect">
              <a:avLst/>
            </a:prstGeom>
          </p:spPr>
        </p:pic>
        <p:sp>
          <p:nvSpPr>
            <p:cNvPr id="41" name="TextBox 40"/>
            <p:cNvSpPr txBox="1"/>
            <p:nvPr/>
          </p:nvSpPr>
          <p:spPr>
            <a:xfrm>
              <a:off x="740664" y="2508924"/>
              <a:ext cx="2740780" cy="864937"/>
            </a:xfrm>
            <a:prstGeom prst="rect">
              <a:avLst/>
            </a:prstGeom>
            <a:noFill/>
          </p:spPr>
          <p:txBody>
            <a:bodyPr wrap="square" lIns="27432" rIns="27432" tIns="27432" bIns="27432" anchor="ctr">
              <a:noAutofit/>
            </a:bodyPr>
            <a:lstStyle/>
            <a:p>
              <a:pPr algn="l"/>
              <a:r>
                <a:rPr sz="1200" b="1" i="0">
                  <a:solidFill>
                    <a:srgbClr val="1A1A1A"/>
                  </a:solidFill>
                  <a:latin typeface="Arial"/>
                </a:rPr>
                <a:t>HbA1c hides spikes</a:t>
              </a:r>
            </a:p>
            <a:p>
              <a:pPr algn="l"/>
              <a:r>
                <a:rPr sz="1200" b="0" i="0">
                  <a:solidFill>
                    <a:srgbClr val="1A1A1A"/>
                  </a:solidFill>
                  <a:latin typeface="Arial"/>
                </a:rPr>
                <a:t>Same </a:t>
              </a:r>
              <a:r>
                <a:rPr sz="1200" b="1" i="0">
                  <a:solidFill>
                    <a:srgbClr val="1A1A1A"/>
                  </a:solidFill>
                  <a:latin typeface="Arial"/>
                </a:rPr>
                <a:t>7.0%</a:t>
              </a:r>
              <a:r>
                <a:rPr sz="1200" b="0" i="0">
                  <a:solidFill>
                    <a:srgbClr val="1A1A1A"/>
                  </a:solidFill>
                  <a:latin typeface="Arial"/>
                </a:rPr>
                <a:t> HbA1c, yet </a:t>
              </a:r>
              <a:r>
                <a:rPr sz="1200" b="1" i="0">
                  <a:solidFill>
                    <a:srgbClr val="1A1A1A"/>
                  </a:solidFill>
                  <a:latin typeface="Arial"/>
                </a:rPr>
                <a:t>11%</a:t>
              </a:r>
              <a:r>
                <a:rPr sz="1200" b="0" i="0">
                  <a:solidFill>
                    <a:srgbClr val="1A1A1A"/>
                  </a:solidFill>
                  <a:latin typeface="Arial"/>
                </a:rPr>
                <a:t> vs </a:t>
              </a:r>
              <a:r>
                <a:rPr sz="1200" b="1" i="0">
                  <a:solidFill>
                    <a:srgbClr val="1A1A1A"/>
                  </a:solidFill>
                  <a:latin typeface="Arial"/>
                </a:rPr>
                <a:t>24%</a:t>
              </a:r>
              <a:r>
                <a:rPr sz="1200" b="0" i="0">
                  <a:solidFill>
                    <a:srgbClr val="1A1A1A"/>
                  </a:solidFill>
                  <a:latin typeface="Arial"/>
                </a:rPr>
                <a:t> of the day above 180 mg/dL</a:t>
              </a:r>
            </a:p>
          </p:txBody>
        </p:sp>
        <p:sp>
          <p:nvSpPr>
            <p:cNvPr id="42" name="ig:icon_card"/>
            <p:cNvSpPr/>
            <p:nvPr/>
          </p:nvSpPr>
          <p:spPr>
            <a:xfrm>
              <a:off x="128016" y="3437869"/>
              <a:ext cx="3390004" cy="901513"/>
            </a:xfrm>
            <a:prstGeom prst="roundRect">
              <a:avLst>
                <a:gd name="adj" fmla="val 5071"/>
              </a:avLst>
            </a:prstGeom>
            <a:solidFill>
              <a:srgbClr val="FFFFFF"/>
            </a:solidFill>
            <a:ln w="9525">
              <a:solidFill>
                <a:srgbClr val="466E9E"/>
              </a:solidFill>
              <a:prstDash val="sysDot"/>
            </a:ln>
          </p:spPr>
          <p:txBody>
            <a:bodyPr rtlCol="0" anchor="ctr"/>
            <a:lstStyle/>
            <a:p/>
          </p:txBody>
        </p:sp>
        <p:pic>
          <p:nvPicPr>
            <p:cNvPr id="43" name="Picture 42" descr="ic_fa6_FaBellSlash_1D4E89.png"/>
            <p:cNvPicPr>
              <a:picLocks noChangeAspect="1"/>
            </p:cNvPicPr>
            <p:nvPr/>
          </p:nvPicPr>
          <p:blipFill>
            <a:blip r:embed="rId4"/>
            <a:stretch>
              <a:fillRect/>
            </a:stretch>
          </p:blipFill>
          <p:spPr>
            <a:xfrm>
              <a:off x="192024" y="3637166"/>
              <a:ext cx="502920" cy="502920"/>
            </a:xfrm>
            <a:prstGeom prst="rect">
              <a:avLst/>
            </a:prstGeom>
          </p:spPr>
        </p:pic>
        <p:sp>
          <p:nvSpPr>
            <p:cNvPr id="44" name="TextBox 43"/>
            <p:cNvSpPr txBox="1"/>
            <p:nvPr/>
          </p:nvSpPr>
          <p:spPr>
            <a:xfrm>
              <a:off x="740664" y="3456157"/>
              <a:ext cx="2740780" cy="864937"/>
            </a:xfrm>
            <a:prstGeom prst="rect">
              <a:avLst/>
            </a:prstGeom>
            <a:noFill/>
          </p:spPr>
          <p:txBody>
            <a:bodyPr wrap="square" lIns="27432" rIns="27432" tIns="27432" bIns="27432" anchor="ctr">
              <a:noAutofit/>
            </a:bodyPr>
            <a:lstStyle/>
            <a:p>
              <a:pPr algn="l"/>
              <a:r>
                <a:rPr sz="1200" b="1" i="0">
                  <a:solidFill>
                    <a:srgbClr val="1A1A1A"/>
                  </a:solidFill>
                  <a:latin typeface="Arial"/>
                </a:rPr>
                <a:t>Alarms react late</a:t>
              </a:r>
            </a:p>
            <a:p>
              <a:pPr algn="l"/>
              <a:r>
                <a:rPr sz="1200" b="0" i="0">
                  <a:solidFill>
                    <a:srgbClr val="1A1A1A"/>
                  </a:solidFill>
                  <a:latin typeface="Arial"/>
                </a:rPr>
                <a:t>CGM trend alarm warns only </a:t>
              </a:r>
              <a:r>
                <a:rPr sz="1200" b="1" i="0">
                  <a:solidFill>
                    <a:srgbClr val="1A1A1A"/>
                  </a:solidFill>
                  <a:latin typeface="Arial"/>
                </a:rPr>
                <a:t>28%</a:t>
              </a:r>
              <a:r>
                <a:rPr sz="1200" b="0" i="0">
                  <a:solidFill>
                    <a:srgbClr val="1A1A1A"/>
                  </a:solidFill>
                  <a:latin typeface="Arial"/>
                </a:rPr>
                <a:t> of spikes 30+ min ahead; median lead </a:t>
              </a:r>
              <a:r>
                <a:rPr sz="1200" b="1" i="0">
                  <a:solidFill>
                    <a:srgbClr val="1A1A1A"/>
                  </a:solidFill>
                  <a:latin typeface="Arial"/>
                </a:rPr>
                <a:t>15 min</a:t>
              </a:r>
            </a:p>
          </p:txBody>
        </p:sp>
        <p:sp>
          <p:nvSpPr>
            <p:cNvPr id="45" name="ig:icon_card"/>
            <p:cNvSpPr/>
            <p:nvPr/>
          </p:nvSpPr>
          <p:spPr>
            <a:xfrm>
              <a:off x="128016" y="4385102"/>
              <a:ext cx="3390004" cy="901513"/>
            </a:xfrm>
            <a:prstGeom prst="roundRect">
              <a:avLst>
                <a:gd name="adj" fmla="val 5071"/>
              </a:avLst>
            </a:prstGeom>
            <a:solidFill>
              <a:srgbClr val="FFFFFF"/>
            </a:solidFill>
            <a:ln w="9525">
              <a:solidFill>
                <a:srgbClr val="466E9E"/>
              </a:solidFill>
              <a:prstDash val="sysDot"/>
            </a:ln>
          </p:spPr>
          <p:txBody>
            <a:bodyPr rtlCol="0" anchor="ctr"/>
            <a:lstStyle/>
            <a:p/>
          </p:txBody>
        </p:sp>
        <p:pic>
          <p:nvPicPr>
            <p:cNvPr id="46" name="Picture 45" descr="ic_fa6_FaLayerGroup_1D4E89.png"/>
            <p:cNvPicPr>
              <a:picLocks noChangeAspect="1"/>
            </p:cNvPicPr>
            <p:nvPr/>
          </p:nvPicPr>
          <p:blipFill>
            <a:blip r:embed="rId5"/>
            <a:stretch>
              <a:fillRect/>
            </a:stretch>
          </p:blipFill>
          <p:spPr>
            <a:xfrm>
              <a:off x="192024" y="4584399"/>
              <a:ext cx="502920" cy="502920"/>
            </a:xfrm>
            <a:prstGeom prst="rect">
              <a:avLst/>
            </a:prstGeom>
          </p:spPr>
        </p:pic>
        <p:sp>
          <p:nvSpPr>
            <p:cNvPr id="47" name="TextBox 46"/>
            <p:cNvSpPr txBox="1"/>
            <p:nvPr/>
          </p:nvSpPr>
          <p:spPr>
            <a:xfrm>
              <a:off x="740664" y="4403390"/>
              <a:ext cx="2740780" cy="864937"/>
            </a:xfrm>
            <a:prstGeom prst="rect">
              <a:avLst/>
            </a:prstGeom>
            <a:noFill/>
          </p:spPr>
          <p:txBody>
            <a:bodyPr wrap="square" lIns="27432" rIns="27432" tIns="27432" bIns="27432" anchor="ctr">
              <a:noAutofit/>
            </a:bodyPr>
            <a:lstStyle/>
            <a:p>
              <a:pPr algn="l"/>
              <a:r>
                <a:rPr sz="1200" b="1" i="0">
                  <a:solidFill>
                    <a:srgbClr val="1A1A1A"/>
                  </a:solidFill>
                  <a:latin typeface="Arial"/>
                </a:rPr>
                <a:t>Overload and silos</a:t>
              </a:r>
            </a:p>
            <a:p>
              <a:pPr algn="l"/>
              <a:r>
                <a:rPr sz="1200" b="1" i="0">
                  <a:solidFill>
                    <a:srgbClr val="1A1A1A"/>
                  </a:solidFill>
                  <a:latin typeface="Arial"/>
                </a:rPr>
                <a:t>4,032</a:t>
              </a:r>
              <a:r>
                <a:rPr sz="1200" b="0" i="0">
                  <a:solidFill>
                    <a:srgbClr val="1A1A1A"/>
                  </a:solidFill>
                  <a:latin typeface="Arial"/>
                </a:rPr>
                <a:t> CGM points per patient per fortnight; EHR and phone never meet</a:t>
              </a:r>
            </a:p>
          </p:txBody>
        </p:sp>
        <p:sp>
          <p:nvSpPr>
            <p:cNvPr id="48" name="ig:icon_card"/>
            <p:cNvSpPr/>
            <p:nvPr/>
          </p:nvSpPr>
          <p:spPr>
            <a:xfrm>
              <a:off x="128016" y="5332335"/>
              <a:ext cx="3390004" cy="901513"/>
            </a:xfrm>
            <a:prstGeom prst="roundRect">
              <a:avLst>
                <a:gd name="adj" fmla="val 5071"/>
              </a:avLst>
            </a:prstGeom>
            <a:solidFill>
              <a:srgbClr val="FFFFFF"/>
            </a:solidFill>
            <a:ln w="9525">
              <a:solidFill>
                <a:srgbClr val="466E9E"/>
              </a:solidFill>
              <a:prstDash val="sysDot"/>
            </a:ln>
          </p:spPr>
          <p:txBody>
            <a:bodyPr rtlCol="0" anchor="ctr"/>
            <a:lstStyle/>
            <a:p/>
          </p:txBody>
        </p:sp>
        <p:pic>
          <p:nvPicPr>
            <p:cNvPr id="49" name="Picture 48" descr="ic_fa6_FaBowlRice_1D4E89.png"/>
            <p:cNvPicPr>
              <a:picLocks noChangeAspect="1"/>
            </p:cNvPicPr>
            <p:nvPr/>
          </p:nvPicPr>
          <p:blipFill>
            <a:blip r:embed="rId6"/>
            <a:stretch>
              <a:fillRect/>
            </a:stretch>
          </p:blipFill>
          <p:spPr>
            <a:xfrm>
              <a:off x="192024" y="5531632"/>
              <a:ext cx="502920" cy="502920"/>
            </a:xfrm>
            <a:prstGeom prst="rect">
              <a:avLst/>
            </a:prstGeom>
          </p:spPr>
        </p:pic>
        <p:sp>
          <p:nvSpPr>
            <p:cNvPr id="50" name="TextBox 49"/>
            <p:cNvSpPr txBox="1"/>
            <p:nvPr/>
          </p:nvSpPr>
          <p:spPr>
            <a:xfrm>
              <a:off x="740664" y="5350623"/>
              <a:ext cx="2740780" cy="864937"/>
            </a:xfrm>
            <a:prstGeom prst="rect">
              <a:avLst/>
            </a:prstGeom>
            <a:noFill/>
          </p:spPr>
          <p:txBody>
            <a:bodyPr wrap="square" lIns="27432" rIns="27432" tIns="27432" bIns="27432" anchor="ctr">
              <a:noAutofit/>
            </a:bodyPr>
            <a:lstStyle/>
            <a:p>
              <a:pPr algn="l"/>
              <a:r>
                <a:rPr sz="1200" b="1" i="0">
                  <a:solidFill>
                    <a:srgbClr val="1A1A1A"/>
                  </a:solidFill>
                  <a:latin typeface="Arial"/>
                </a:rPr>
                <a:t>Indian risk</a:t>
              </a:r>
            </a:p>
            <a:p>
              <a:pPr algn="l"/>
              <a:r>
                <a:rPr sz="1200" b="0" i="0">
                  <a:solidFill>
                    <a:srgbClr val="1A1A1A"/>
                  </a:solidFill>
                  <a:latin typeface="Arial"/>
                </a:rPr>
                <a:t>diabetes at </a:t>
              </a:r>
              <a:r>
                <a:rPr sz="1200" b="1" i="0">
                  <a:solidFill>
                    <a:srgbClr val="1A1A1A"/>
                  </a:solidFill>
                  <a:latin typeface="Arial"/>
                </a:rPr>
                <a:t>lower BMI</a:t>
              </a:r>
              <a:r>
                <a:rPr sz="1200" b="0" i="0">
                  <a:solidFill>
                    <a:srgbClr val="1A1A1A"/>
                  </a:solidFill>
                  <a:latin typeface="Arial"/>
                </a:rPr>
                <a:t>, younger age, on </a:t>
              </a:r>
              <a:r>
                <a:rPr sz="1200" b="1" i="0">
                  <a:solidFill>
                    <a:srgbClr val="1A1A1A"/>
                  </a:solidFill>
                  <a:latin typeface="Arial"/>
                </a:rPr>
                <a:t>carb-heavy</a:t>
              </a:r>
              <a:r>
                <a:rPr sz="1200" b="0" i="0">
                  <a:solidFill>
                    <a:srgbClr val="1A1A1A"/>
                  </a:solidFill>
                  <a:latin typeface="Arial"/>
                </a:rPr>
                <a:t> plates</a:t>
              </a:r>
            </a:p>
          </p:txBody>
        </p:sp>
      </p:grpSp>
      <p:grpSp>
        <p:nvGrpSpPr>
          <p:cNvPr id="51" name="Group 50"/>
          <p:cNvGrpSpPr/>
          <p:nvPr/>
        </p:nvGrpSpPr>
        <p:grpSpPr>
          <a:xfrm>
            <a:off x="3646036" y="1097280"/>
            <a:ext cx="4619646" cy="5191432"/>
            <a:chOff x="3646036" y="1097280"/>
            <a:chExt cx="4619646" cy="5191432"/>
          </a:xfrm>
        </p:grpSpPr>
        <p:sp>
          <p:nvSpPr>
            <p:cNvPr id="52" name="frame:Solution: GlucoSenti"/>
            <p:cNvSpPr/>
            <p:nvPr/>
          </p:nvSpPr>
          <p:spPr>
            <a:xfrm>
              <a:off x="3646036" y="1234440"/>
              <a:ext cx="4619646" cy="5054272"/>
            </a:xfrm>
            <a:prstGeom prst="roundRect">
              <a:avLst>
                <a:gd name="adj" fmla="val 989"/>
              </a:avLst>
            </a:prstGeom>
            <a:solidFill>
              <a:srgbClr val="F1F4F8"/>
            </a:solidFill>
            <a:ln w="15875">
              <a:solidFill>
                <a:srgbClr val="466E9E"/>
              </a:solidFill>
              <a:prstDash val="sysDot"/>
            </a:ln>
          </p:spPr>
          <p:txBody>
            <a:bodyPr rtlCol="0" anchor="ctr"/>
            <a:lstStyle/>
            <a:p/>
          </p:txBody>
        </p:sp>
        <p:sp>
          <p:nvSpPr>
            <p:cNvPr id="53" name="Rounded Rectangle 52"/>
            <p:cNvSpPr/>
            <p:nvPr/>
          </p:nvSpPr>
          <p:spPr>
            <a:xfrm>
              <a:off x="3646036" y="1097280"/>
              <a:ext cx="2239244" cy="274320"/>
            </a:xfrm>
            <a:prstGeom prst="roundRect">
              <a:avLst>
                <a:gd name="adj" fmla="val 13333"/>
              </a:avLst>
            </a:prstGeom>
            <a:solidFill>
              <a:srgbClr val="1D4E89"/>
            </a:solidFill>
            <a:ln>
              <a:noFill/>
            </a:ln>
          </p:spPr>
          <p:txBody>
            <a:bodyPr rtlCol="0" anchor="ctr"/>
            <a:lstStyle/>
            <a:p/>
          </p:txBody>
        </p:sp>
        <p:pic>
          <p:nvPicPr>
            <p:cNvPr id="54" name="Picture 53" descr="ic_fa6_FaUserDoctor_FFFFFF.png"/>
            <p:cNvPicPr>
              <a:picLocks noChangeAspect="1"/>
            </p:cNvPicPr>
            <p:nvPr/>
          </p:nvPicPr>
          <p:blipFill>
            <a:blip r:embed="rId7"/>
            <a:stretch>
              <a:fillRect/>
            </a:stretch>
          </p:blipFill>
          <p:spPr>
            <a:xfrm>
              <a:off x="3700900" y="1133856"/>
              <a:ext cx="201168" cy="201168"/>
            </a:xfrm>
            <a:prstGeom prst="rect">
              <a:avLst/>
            </a:prstGeom>
          </p:spPr>
        </p:pic>
        <p:sp>
          <p:nvSpPr>
            <p:cNvPr id="55" name="TextBox 54"/>
            <p:cNvSpPr txBox="1"/>
            <p:nvPr/>
          </p:nvSpPr>
          <p:spPr>
            <a:xfrm>
              <a:off x="3947788" y="1097280"/>
              <a:ext cx="1910060" cy="274320"/>
            </a:xfrm>
            <a:prstGeom prst="rect">
              <a:avLst/>
            </a:prstGeom>
            <a:noFill/>
          </p:spPr>
          <p:txBody>
            <a:bodyPr wrap="square" lIns="9144" rIns="9144" tIns="9144" bIns="9144" anchor="ctr">
              <a:noAutofit/>
            </a:bodyPr>
            <a:lstStyle/>
            <a:p>
              <a:pPr algn="l"/>
              <a:r>
                <a:rPr sz="1200" b="1" i="0">
                  <a:solidFill>
                    <a:srgbClr val="FFFFFF"/>
                  </a:solidFill>
                  <a:latin typeface="Arial"/>
                </a:rPr>
                <a:t>Solution: GlucoSentinel</a:t>
              </a:r>
            </a:p>
          </p:txBody>
        </p:sp>
        <p:sp>
          <p:nvSpPr>
            <p:cNvPr id="56" name="ig:equation"/>
            <p:cNvSpPr/>
            <p:nvPr/>
          </p:nvSpPr>
          <p:spPr>
            <a:xfrm>
              <a:off x="3700900" y="1408176"/>
              <a:ext cx="1322909" cy="1531844"/>
            </a:xfrm>
            <a:prstGeom prst="roundRect">
              <a:avLst>
                <a:gd name="adj" fmla="val 4147"/>
              </a:avLst>
            </a:prstGeom>
            <a:solidFill>
              <a:srgbClr val="E2E8F0"/>
            </a:solidFill>
            <a:ln w="9525">
              <a:solidFill>
                <a:srgbClr val="466E9E"/>
              </a:solidFill>
              <a:prstDash val="dash"/>
            </a:ln>
          </p:spPr>
          <p:txBody>
            <a:bodyPr rtlCol="0" anchor="ctr"/>
            <a:lstStyle/>
            <a:p/>
          </p:txBody>
        </p:sp>
        <p:pic>
          <p:nvPicPr>
            <p:cNvPr id="57" name="Picture 56" descr="ic_fa6_FaFileMedical_1D4E89.png"/>
            <p:cNvPicPr>
              <a:picLocks noChangeAspect="1"/>
            </p:cNvPicPr>
            <p:nvPr/>
          </p:nvPicPr>
          <p:blipFill>
            <a:blip r:embed="rId8"/>
            <a:stretch>
              <a:fillRect/>
            </a:stretch>
          </p:blipFill>
          <p:spPr>
            <a:xfrm>
              <a:off x="4064700" y="1463040"/>
              <a:ext cx="595309" cy="595309"/>
            </a:xfrm>
            <a:prstGeom prst="rect">
              <a:avLst/>
            </a:prstGeom>
          </p:spPr>
        </p:pic>
        <p:sp>
          <p:nvSpPr>
            <p:cNvPr id="58" name="TextBox 57"/>
            <p:cNvSpPr txBox="1"/>
            <p:nvPr/>
          </p:nvSpPr>
          <p:spPr>
            <a:xfrm>
              <a:off x="3728332" y="2085781"/>
              <a:ext cx="1268045" cy="826807"/>
            </a:xfrm>
            <a:prstGeom prst="rect">
              <a:avLst/>
            </a:prstGeom>
            <a:noFill/>
          </p:spPr>
          <p:txBody>
            <a:bodyPr wrap="square" lIns="18288" rIns="18288" tIns="18288" bIns="18288" anchor="ctr">
              <a:noAutofit/>
            </a:bodyPr>
            <a:lstStyle/>
            <a:p>
              <a:pPr algn="ctr"/>
              <a:r>
                <a:rPr sz="1200" b="1" i="0">
                  <a:solidFill>
                    <a:srgbClr val="1A1A1A"/>
                  </a:solidFill>
                  <a:latin typeface="Arial"/>
                </a:rPr>
                <a:t>EHR prior</a:t>
              </a:r>
            </a:p>
            <a:p>
              <a:pPr algn="ctr"/>
              <a:r>
                <a:rPr sz="1200" b="0" i="0">
                  <a:solidFill>
                    <a:srgbClr val="1A1A1A"/>
                  </a:solidFill>
                  <a:latin typeface="Arial"/>
                </a:rPr>
                <a:t>FHIR record</a:t>
              </a:r>
            </a:p>
          </p:txBody>
        </p:sp>
        <p:sp>
          <p:nvSpPr>
            <p:cNvPr id="59" name="TextBox 58"/>
            <p:cNvSpPr txBox="1"/>
            <p:nvPr/>
          </p:nvSpPr>
          <p:spPr>
            <a:xfrm>
              <a:off x="5023809" y="1408176"/>
              <a:ext cx="270595" cy="1531844"/>
            </a:xfrm>
            <a:prstGeom prst="rect">
              <a:avLst/>
            </a:prstGeom>
            <a:noFill/>
          </p:spPr>
          <p:txBody>
            <a:bodyPr wrap="square" lIns="0" rIns="0" tIns="0" bIns="0" anchor="ctr">
              <a:noAutofit/>
            </a:bodyPr>
            <a:lstStyle/>
            <a:p>
              <a:pPr algn="ctr"/>
              <a:r>
                <a:rPr sz="2200" b="1" i="0">
                  <a:solidFill>
                    <a:srgbClr val="1D4E89"/>
                  </a:solidFill>
                  <a:latin typeface="Arial"/>
                </a:rPr>
                <a:t>+</a:t>
              </a:r>
            </a:p>
          </p:txBody>
        </p:sp>
        <p:sp>
          <p:nvSpPr>
            <p:cNvPr id="60" name="Rounded Rectangle 59"/>
            <p:cNvSpPr/>
            <p:nvPr/>
          </p:nvSpPr>
          <p:spPr>
            <a:xfrm>
              <a:off x="5294404" y="1408176"/>
              <a:ext cx="1322909" cy="1531844"/>
            </a:xfrm>
            <a:prstGeom prst="roundRect">
              <a:avLst>
                <a:gd name="adj" fmla="val 4147"/>
              </a:avLst>
            </a:prstGeom>
            <a:solidFill>
              <a:srgbClr val="E2E8F0"/>
            </a:solidFill>
            <a:ln w="9525">
              <a:solidFill>
                <a:srgbClr val="466E9E"/>
              </a:solidFill>
              <a:prstDash val="dash"/>
            </a:ln>
          </p:spPr>
          <p:txBody>
            <a:bodyPr rtlCol="0" anchor="ctr"/>
            <a:lstStyle/>
            <a:p/>
          </p:txBody>
        </p:sp>
        <p:pic>
          <p:nvPicPr>
            <p:cNvPr id="61" name="Picture 60" descr="ic_fa6_FaDroplet_1D4E89.png"/>
            <p:cNvPicPr>
              <a:picLocks noChangeAspect="1"/>
            </p:cNvPicPr>
            <p:nvPr/>
          </p:nvPicPr>
          <p:blipFill>
            <a:blip r:embed="rId9"/>
            <a:stretch>
              <a:fillRect/>
            </a:stretch>
          </p:blipFill>
          <p:spPr>
            <a:xfrm>
              <a:off x="5658204" y="1463040"/>
              <a:ext cx="595309" cy="595309"/>
            </a:xfrm>
            <a:prstGeom prst="rect">
              <a:avLst/>
            </a:prstGeom>
          </p:spPr>
        </p:pic>
        <p:sp>
          <p:nvSpPr>
            <p:cNvPr id="62" name="TextBox 61"/>
            <p:cNvSpPr txBox="1"/>
            <p:nvPr/>
          </p:nvSpPr>
          <p:spPr>
            <a:xfrm>
              <a:off x="5321836" y="2085781"/>
              <a:ext cx="1268045" cy="826807"/>
            </a:xfrm>
            <a:prstGeom prst="rect">
              <a:avLst/>
            </a:prstGeom>
            <a:noFill/>
          </p:spPr>
          <p:txBody>
            <a:bodyPr wrap="square" lIns="18288" rIns="18288" tIns="18288" bIns="18288" anchor="ctr">
              <a:noAutofit/>
            </a:bodyPr>
            <a:lstStyle/>
            <a:p>
              <a:pPr algn="ctr"/>
              <a:r>
                <a:rPr sz="1200" b="1" i="0">
                  <a:solidFill>
                    <a:srgbClr val="1A1A1A"/>
                  </a:solidFill>
                  <a:latin typeface="Arial"/>
                </a:rPr>
                <a:t>7-day calibration</a:t>
              </a:r>
            </a:p>
            <a:p>
              <a:pPr algn="ctr"/>
              <a:r>
                <a:rPr sz="1200" b="0" i="0">
                  <a:solidFill>
                    <a:srgbClr val="1A1A1A"/>
                  </a:solidFill>
                  <a:latin typeface="Arial"/>
                </a:rPr>
                <a:t>CGM + wearables</a:t>
              </a:r>
            </a:p>
          </p:txBody>
        </p:sp>
        <p:sp>
          <p:nvSpPr>
            <p:cNvPr id="63" name="TextBox 62"/>
            <p:cNvSpPr txBox="1"/>
            <p:nvPr/>
          </p:nvSpPr>
          <p:spPr>
            <a:xfrm>
              <a:off x="6617313" y="1408176"/>
              <a:ext cx="270595" cy="1531844"/>
            </a:xfrm>
            <a:prstGeom prst="rect">
              <a:avLst/>
            </a:prstGeom>
            <a:noFill/>
          </p:spPr>
          <p:txBody>
            <a:bodyPr wrap="square" lIns="0" rIns="0" tIns="0" bIns="0" anchor="ctr">
              <a:noAutofit/>
            </a:bodyPr>
            <a:lstStyle/>
            <a:p>
              <a:pPr algn="ctr"/>
              <a:r>
                <a:rPr sz="2200" b="1" i="0">
                  <a:solidFill>
                    <a:srgbClr val="1D4E89"/>
                  </a:solidFill>
                  <a:latin typeface="Arial"/>
                </a:rPr>
                <a:t>=</a:t>
              </a:r>
            </a:p>
          </p:txBody>
        </p:sp>
        <p:sp>
          <p:nvSpPr>
            <p:cNvPr id="64" name="Rounded Rectangle 63"/>
            <p:cNvSpPr/>
            <p:nvPr/>
          </p:nvSpPr>
          <p:spPr>
            <a:xfrm>
              <a:off x="6887908" y="1408176"/>
              <a:ext cx="1322909" cy="1531844"/>
            </a:xfrm>
            <a:prstGeom prst="roundRect">
              <a:avLst>
                <a:gd name="adj" fmla="val 4147"/>
              </a:avLst>
            </a:prstGeom>
            <a:solidFill>
              <a:srgbClr val="1D4E89"/>
            </a:solidFill>
            <a:ln>
              <a:noFill/>
            </a:ln>
          </p:spPr>
          <p:txBody>
            <a:bodyPr rtlCol="0" anchor="ctr"/>
            <a:lstStyle/>
            <a:p/>
          </p:txBody>
        </p:sp>
        <p:pic>
          <p:nvPicPr>
            <p:cNvPr id="65" name="Picture 64" descr="ic_fa6_FaUserGear_FFFFFF.png"/>
            <p:cNvPicPr>
              <a:picLocks noChangeAspect="1"/>
            </p:cNvPicPr>
            <p:nvPr/>
          </p:nvPicPr>
          <p:blipFill>
            <a:blip r:embed="rId10"/>
            <a:stretch>
              <a:fillRect/>
            </a:stretch>
          </p:blipFill>
          <p:spPr>
            <a:xfrm>
              <a:off x="7251708" y="1463040"/>
              <a:ext cx="595309" cy="595309"/>
            </a:xfrm>
            <a:prstGeom prst="rect">
              <a:avLst/>
            </a:prstGeom>
          </p:spPr>
        </p:pic>
        <p:sp>
          <p:nvSpPr>
            <p:cNvPr id="66" name="TextBox 65"/>
            <p:cNvSpPr txBox="1"/>
            <p:nvPr/>
          </p:nvSpPr>
          <p:spPr>
            <a:xfrm>
              <a:off x="6915340" y="2085781"/>
              <a:ext cx="1268045" cy="826807"/>
            </a:xfrm>
            <a:prstGeom prst="rect">
              <a:avLst/>
            </a:prstGeom>
            <a:noFill/>
          </p:spPr>
          <p:txBody>
            <a:bodyPr wrap="square" lIns="18288" rIns="18288" tIns="18288" bIns="18288" anchor="ctr">
              <a:noAutofit/>
            </a:bodyPr>
            <a:lstStyle/>
            <a:p>
              <a:pPr algn="ctr"/>
              <a:r>
                <a:rPr sz="1200" b="1" i="0">
                  <a:solidFill>
                    <a:srgbClr val="FFFFFF"/>
                  </a:solidFill>
                  <a:latin typeface="Arial"/>
                </a:rPr>
                <a:t>Personal twin</a:t>
              </a:r>
            </a:p>
            <a:p>
              <a:pPr algn="ctr"/>
              <a:r>
                <a:rPr sz="1200" b="0" i="0">
                  <a:solidFill>
                    <a:srgbClr val="FFFFFF"/>
                  </a:solidFill>
                  <a:latin typeface="Arial"/>
                </a:rPr>
                <a:t>physiology</a:t>
              </a:r>
            </a:p>
          </p:txBody>
        </p:sp>
        <p:sp>
          <p:nvSpPr>
            <p:cNvPr id="67" name="ig:flow"/>
            <p:cNvSpPr/>
            <p:nvPr/>
          </p:nvSpPr>
          <p:spPr>
            <a:xfrm>
              <a:off x="3700900" y="3004028"/>
              <a:ext cx="1017751" cy="1050408"/>
            </a:xfrm>
            <a:prstGeom prst="roundRect">
              <a:avLst>
                <a:gd name="adj" fmla="val 4492"/>
              </a:avLst>
            </a:prstGeom>
            <a:solidFill>
              <a:srgbClr val="E2E8F0"/>
            </a:solidFill>
            <a:ln>
              <a:noFill/>
            </a:ln>
          </p:spPr>
          <p:txBody>
            <a:bodyPr rtlCol="0" anchor="ctr"/>
            <a:lstStyle/>
            <a:p/>
          </p:txBody>
        </p:sp>
        <p:sp>
          <p:nvSpPr>
            <p:cNvPr id="68" name="TextBox 67"/>
            <p:cNvSpPr txBox="1"/>
            <p:nvPr/>
          </p:nvSpPr>
          <p:spPr>
            <a:xfrm>
              <a:off x="3700900" y="3004028"/>
              <a:ext cx="1017751" cy="1050408"/>
            </a:xfrm>
            <a:prstGeom prst="rect">
              <a:avLst/>
            </a:prstGeom>
            <a:noFill/>
          </p:spPr>
          <p:txBody>
            <a:bodyPr wrap="square" lIns="36576" rIns="36576" tIns="27432" bIns="27432" anchor="ctr">
              <a:noAutofit/>
            </a:bodyPr>
            <a:lstStyle/>
            <a:p>
              <a:pPr algn="ctr"/>
              <a:r>
                <a:rPr sz="1100" b="1" i="0">
                  <a:solidFill>
                    <a:srgbClr val="1A1A1A"/>
                  </a:solidFill>
                  <a:latin typeface="Arial"/>
                </a:rPr>
                <a:t>Assimilate</a:t>
              </a:r>
              <a:r>
                <a:rPr sz="1100" b="0" i="0">
                  <a:solidFill>
                    <a:srgbClr val="1A1A1A"/>
                  </a:solidFill>
                  <a:latin typeface="Arial"/>
                </a:rPr>
                <a:t> each 5 min</a:t>
              </a:r>
            </a:p>
          </p:txBody>
        </p:sp>
        <p:sp>
          <p:nvSpPr>
            <p:cNvPr id="69" name="Rounded Rectangle 68"/>
            <p:cNvSpPr/>
            <p:nvPr/>
          </p:nvSpPr>
          <p:spPr>
            <a:xfrm>
              <a:off x="4864955" y="3004028"/>
              <a:ext cx="1017751" cy="1050408"/>
            </a:xfrm>
            <a:prstGeom prst="roundRect">
              <a:avLst>
                <a:gd name="adj" fmla="val 4492"/>
              </a:avLst>
            </a:prstGeom>
            <a:solidFill>
              <a:srgbClr val="E2E8F0"/>
            </a:solidFill>
            <a:ln>
              <a:noFill/>
            </a:ln>
          </p:spPr>
          <p:txBody>
            <a:bodyPr rtlCol="0" anchor="ctr"/>
            <a:lstStyle/>
            <a:p/>
          </p:txBody>
        </p:sp>
        <p:sp>
          <p:nvSpPr>
            <p:cNvPr id="70" name="TextBox 69"/>
            <p:cNvSpPr txBox="1"/>
            <p:nvPr/>
          </p:nvSpPr>
          <p:spPr>
            <a:xfrm>
              <a:off x="4864955" y="3004028"/>
              <a:ext cx="1017751" cy="1050408"/>
            </a:xfrm>
            <a:prstGeom prst="rect">
              <a:avLst/>
            </a:prstGeom>
            <a:noFill/>
          </p:spPr>
          <p:txBody>
            <a:bodyPr wrap="square" lIns="36576" rIns="36576" tIns="27432" bIns="27432" anchor="ctr">
              <a:noAutofit/>
            </a:bodyPr>
            <a:lstStyle/>
            <a:p>
              <a:pPr algn="ctr"/>
              <a:r>
                <a:rPr sz="1100" b="1" i="0">
                  <a:solidFill>
                    <a:srgbClr val="1A1A1A"/>
                  </a:solidFill>
                  <a:latin typeface="Arial"/>
                </a:rPr>
                <a:t>Fuse</a:t>
              </a:r>
              <a:r>
                <a:rPr sz="1100" b="0" i="0">
                  <a:solidFill>
                    <a:srgbClr val="1A1A1A"/>
                  </a:solidFill>
                  <a:latin typeface="Arial"/>
                </a:rPr>
                <a:t> 81 features</a:t>
              </a:r>
            </a:p>
          </p:txBody>
        </p:sp>
        <p:sp>
          <p:nvSpPr>
            <p:cNvPr id="71" name="Rounded Rectangle 70"/>
            <p:cNvSpPr/>
            <p:nvPr/>
          </p:nvSpPr>
          <p:spPr>
            <a:xfrm>
              <a:off x="6029010" y="3004028"/>
              <a:ext cx="1017751" cy="1050408"/>
            </a:xfrm>
            <a:prstGeom prst="roundRect">
              <a:avLst>
                <a:gd name="adj" fmla="val 4492"/>
              </a:avLst>
            </a:prstGeom>
            <a:solidFill>
              <a:srgbClr val="173D6B"/>
            </a:solidFill>
            <a:ln>
              <a:noFill/>
            </a:ln>
          </p:spPr>
          <p:txBody>
            <a:bodyPr rtlCol="0" anchor="ctr"/>
            <a:lstStyle/>
            <a:p/>
          </p:txBody>
        </p:sp>
        <p:sp>
          <p:nvSpPr>
            <p:cNvPr id="72" name="TextBox 71"/>
            <p:cNvSpPr txBox="1"/>
            <p:nvPr/>
          </p:nvSpPr>
          <p:spPr>
            <a:xfrm>
              <a:off x="6029010" y="3004028"/>
              <a:ext cx="1017751" cy="1050408"/>
            </a:xfrm>
            <a:prstGeom prst="rect">
              <a:avLst/>
            </a:prstGeom>
            <a:noFill/>
          </p:spPr>
          <p:txBody>
            <a:bodyPr wrap="square" lIns="36576" rIns="36576" tIns="27432" bIns="27432" anchor="ctr">
              <a:noAutofit/>
            </a:bodyPr>
            <a:lstStyle/>
            <a:p>
              <a:pPr algn="ctr"/>
              <a:r>
                <a:rPr sz="1100" b="1" i="0">
                  <a:solidFill>
                    <a:srgbClr val="FFFFFF"/>
                  </a:solidFill>
                  <a:latin typeface="Arial"/>
                </a:rPr>
                <a:t>Predict</a:t>
              </a:r>
              <a:r>
                <a:rPr sz="1100" b="0" i="0">
                  <a:solidFill>
                    <a:srgbClr val="FFFFFF"/>
                  </a:solidFill>
                  <a:latin typeface="Arial"/>
                </a:rPr>
                <a:t> spike in 2 h</a:t>
              </a:r>
            </a:p>
          </p:txBody>
        </p:sp>
        <p:sp>
          <p:nvSpPr>
            <p:cNvPr id="73" name="Rounded Rectangle 72"/>
            <p:cNvSpPr/>
            <p:nvPr/>
          </p:nvSpPr>
          <p:spPr>
            <a:xfrm>
              <a:off x="7193066" y="3004028"/>
              <a:ext cx="1017751" cy="1050408"/>
            </a:xfrm>
            <a:prstGeom prst="roundRect">
              <a:avLst>
                <a:gd name="adj" fmla="val 4492"/>
              </a:avLst>
            </a:prstGeom>
            <a:solidFill>
              <a:srgbClr val="E2E8F0"/>
            </a:solidFill>
            <a:ln>
              <a:noFill/>
            </a:ln>
          </p:spPr>
          <p:txBody>
            <a:bodyPr rtlCol="0" anchor="ctr"/>
            <a:lstStyle/>
            <a:p/>
          </p:txBody>
        </p:sp>
        <p:sp>
          <p:nvSpPr>
            <p:cNvPr id="74" name="TextBox 73"/>
            <p:cNvSpPr txBox="1"/>
            <p:nvPr/>
          </p:nvSpPr>
          <p:spPr>
            <a:xfrm>
              <a:off x="7193066" y="3004028"/>
              <a:ext cx="1017751" cy="1050408"/>
            </a:xfrm>
            <a:prstGeom prst="rect">
              <a:avLst/>
            </a:prstGeom>
            <a:noFill/>
          </p:spPr>
          <p:txBody>
            <a:bodyPr wrap="square" lIns="36576" rIns="36576" tIns="27432" bIns="27432" anchor="ctr">
              <a:noAutofit/>
            </a:bodyPr>
            <a:lstStyle/>
            <a:p>
              <a:pPr algn="ctr"/>
              <a:r>
                <a:rPr sz="1100" b="1" i="0">
                  <a:solidFill>
                    <a:srgbClr val="1A1A1A"/>
                  </a:solidFill>
                  <a:latin typeface="Arial"/>
                </a:rPr>
                <a:t>Simulate</a:t>
              </a:r>
              <a:r>
                <a:rPr sz="1100" b="0" i="0">
                  <a:solidFill>
                    <a:srgbClr val="1A1A1A"/>
                  </a:solidFill>
                  <a:latin typeface="Arial"/>
                </a:rPr>
                <a:t> what-if</a:t>
              </a:r>
            </a:p>
          </p:txBody>
        </p:sp>
        <p:cxnSp>
          <p:nvCxnSpPr>
            <p:cNvPr id="75" name="Connector 74"/>
            <p:cNvCxnSpPr>
              <a:stCxn id="67" idx="3"/>
              <a:endCxn id="69" idx="1"/>
            </p:cNvCxnSpPr>
            <p:nvPr/>
          </p:nvCxnSpPr>
          <p:spPr>
            <a:xfrm>
              <a:off x="4718651" y="3529232"/>
              <a:ext cx="146304" cy="0"/>
            </a:xfrm>
            <a:prstGeom prst="line">
              <a:avLst/>
            </a:prstGeom>
            <a:ln w="19050">
              <a:solidFill>
                <a:srgbClr val="1D4E8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Connector 75"/>
            <p:cNvCxnSpPr>
              <a:stCxn id="69" idx="3"/>
              <a:endCxn id="71" idx="1"/>
            </p:cNvCxnSpPr>
            <p:nvPr/>
          </p:nvCxnSpPr>
          <p:spPr>
            <a:xfrm>
              <a:off x="5882706" y="3529232"/>
              <a:ext cx="146304" cy="0"/>
            </a:xfrm>
            <a:prstGeom prst="line">
              <a:avLst/>
            </a:prstGeom>
            <a:ln w="19050">
              <a:solidFill>
                <a:srgbClr val="1D4E8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Connector 76"/>
            <p:cNvCxnSpPr>
              <a:stCxn id="71" idx="3"/>
              <a:endCxn id="73" idx="1"/>
            </p:cNvCxnSpPr>
            <p:nvPr/>
          </p:nvCxnSpPr>
          <p:spPr>
            <a:xfrm>
              <a:off x="7046761" y="3529232"/>
              <a:ext cx="146305" cy="0"/>
            </a:xfrm>
            <a:prstGeom prst="line">
              <a:avLst/>
            </a:prstGeom>
            <a:ln w="19050">
              <a:solidFill>
                <a:srgbClr val="1D4E89"/>
              </a:solidFill>
              <a:tailEnd type="triangle" w="med" len="med"/>
            </a:ln>
          </p:spPr>
          <p:style>
            <a:lnRef idx="2">
              <a:schemeClr val="accent1"/>
            </a:lnRef>
            <a:fillRef idx="0">
              <a:schemeClr val="accent1"/>
            </a:fillRef>
            <a:effectRef idx="1">
              <a:schemeClr val="accent1"/>
            </a:effectRef>
            <a:fontRef idx="minor">
              <a:schemeClr val="tx1"/>
            </a:fontRef>
          </p:style>
        </p:cxnSp>
        <p:sp>
          <p:nvSpPr>
            <p:cNvPr id="78" name="Rounded Rectangle 77"/>
            <p:cNvSpPr/>
            <p:nvPr/>
          </p:nvSpPr>
          <p:spPr>
            <a:xfrm>
              <a:off x="3700900" y="4118444"/>
              <a:ext cx="1466730" cy="237744"/>
            </a:xfrm>
            <a:prstGeom prst="roundRect">
              <a:avLst>
                <a:gd name="adj" fmla="val 19230"/>
              </a:avLst>
            </a:prstGeom>
            <a:solidFill>
              <a:srgbClr val="173D6B"/>
            </a:solidFill>
            <a:ln>
              <a:noFill/>
            </a:ln>
          </p:spPr>
          <p:txBody>
            <a:bodyPr rtlCol="0" anchor="ctr" wrap="square" lIns="54864" rIns="54864" tIns="27432" bIns="27432">
              <a:noAutofit/>
            </a:bodyPr>
            <a:lstStyle/>
            <a:p>
              <a:pPr algn="l"/>
              <a:r>
                <a:rPr sz="1100" b="1" i="0">
                  <a:solidFill>
                    <a:srgbClr val="FFFFFF"/>
                  </a:solidFill>
                  <a:latin typeface="Arial"/>
                </a:rPr>
                <a:t>Physics + ML</a:t>
              </a:r>
            </a:p>
          </p:txBody>
        </p:sp>
        <p:sp>
          <p:nvSpPr>
            <p:cNvPr id="79" name="Rounded Rectangle 78"/>
            <p:cNvSpPr/>
            <p:nvPr/>
          </p:nvSpPr>
          <p:spPr>
            <a:xfrm>
              <a:off x="3700900" y="4356188"/>
              <a:ext cx="1466730" cy="792526"/>
            </a:xfrm>
            <a:prstGeom prst="roundRect">
              <a:avLst>
                <a:gd name="adj" fmla="val 5768"/>
              </a:avLst>
            </a:prstGeom>
            <a:solidFill>
              <a:srgbClr val="FFFFFF"/>
            </a:solidFill>
            <a:ln w="9525">
              <a:solidFill>
                <a:srgbClr val="466E9E"/>
              </a:solidFill>
              <a:prstDash val="sysDot"/>
            </a:ln>
          </p:spPr>
          <p:txBody>
            <a:bodyPr rtlCol="0" anchor="t" wrap="square" lIns="45720" rIns="45720" tIns="27432" bIns="27432">
              <a:noAutofit/>
            </a:bodyPr>
            <a:lstStyle/>
            <a:p>
              <a:pPr algn="l"/>
              <a:r>
                <a:rPr sz="1100" b="0" i="0">
                  <a:solidFill>
                    <a:srgbClr val="1A1A1A"/>
                  </a:solidFill>
                  <a:latin typeface="Arial"/>
                </a:rPr>
                <a:t>glucose-insulin twin per patient; LightGBM on </a:t>
              </a:r>
              <a:r>
                <a:rPr sz="1100" b="1" i="0">
                  <a:solidFill>
                    <a:srgbClr val="1A1A1A"/>
                  </a:solidFill>
                  <a:latin typeface="Arial"/>
                </a:rPr>
                <a:t>81</a:t>
              </a:r>
              <a:r>
                <a:rPr sz="1100" b="0" i="0">
                  <a:solidFill>
                    <a:srgbClr val="1A1A1A"/>
                  </a:solidFill>
                  <a:latin typeface="Arial"/>
                </a:rPr>
                <a:t> features</a:t>
              </a:r>
            </a:p>
          </p:txBody>
        </p:sp>
        <p:sp>
          <p:nvSpPr>
            <p:cNvPr id="80" name="Rounded Rectangle 79"/>
            <p:cNvSpPr/>
            <p:nvPr/>
          </p:nvSpPr>
          <p:spPr>
            <a:xfrm>
              <a:off x="5222493" y="4118444"/>
              <a:ext cx="1466730" cy="237744"/>
            </a:xfrm>
            <a:prstGeom prst="roundRect">
              <a:avLst>
                <a:gd name="adj" fmla="val 19230"/>
              </a:avLst>
            </a:prstGeom>
            <a:solidFill>
              <a:srgbClr val="173D6B"/>
            </a:solidFill>
            <a:ln>
              <a:noFill/>
            </a:ln>
          </p:spPr>
          <p:txBody>
            <a:bodyPr rtlCol="0" anchor="ctr" wrap="square" lIns="54864" rIns="54864" tIns="27432" bIns="27432">
              <a:noAutofit/>
            </a:bodyPr>
            <a:lstStyle/>
            <a:p>
              <a:pPr algn="l"/>
              <a:r>
                <a:rPr sz="1100" b="1" i="0">
                  <a:solidFill>
                    <a:srgbClr val="FFFFFF"/>
                  </a:solidFill>
                  <a:latin typeface="Arial"/>
                </a:rPr>
                <a:t>Explainable</a:t>
              </a:r>
            </a:p>
          </p:txBody>
        </p:sp>
        <p:sp>
          <p:nvSpPr>
            <p:cNvPr id="81" name="Rounded Rectangle 80"/>
            <p:cNvSpPr/>
            <p:nvPr/>
          </p:nvSpPr>
          <p:spPr>
            <a:xfrm>
              <a:off x="5222493" y="4356188"/>
              <a:ext cx="1466730" cy="792526"/>
            </a:xfrm>
            <a:prstGeom prst="roundRect">
              <a:avLst>
                <a:gd name="adj" fmla="val 5768"/>
              </a:avLst>
            </a:prstGeom>
            <a:solidFill>
              <a:srgbClr val="FFFFFF"/>
            </a:solidFill>
            <a:ln w="9525">
              <a:solidFill>
                <a:srgbClr val="466E9E"/>
              </a:solidFill>
              <a:prstDash val="sysDot"/>
            </a:ln>
          </p:spPr>
          <p:txBody>
            <a:bodyPr rtlCol="0" anchor="t" wrap="square" lIns="45720" rIns="45720" tIns="27432" bIns="27432">
              <a:noAutofit/>
            </a:bodyPr>
            <a:lstStyle/>
            <a:p>
              <a:pPr algn="l"/>
              <a:r>
                <a:rPr sz="1100" b="0" i="0">
                  <a:solidFill>
                    <a:srgbClr val="1A1A1A"/>
                  </a:solidFill>
                  <a:latin typeface="Arial"/>
                </a:rPr>
                <a:t>top SHAP drivers in plain words with </a:t>
              </a:r>
              <a:r>
                <a:rPr sz="1100" b="1" i="0">
                  <a:solidFill>
                    <a:srgbClr val="1A1A1A"/>
                  </a:solidFill>
                  <a:latin typeface="Arial"/>
                </a:rPr>
                <a:t>every</a:t>
              </a:r>
              <a:r>
                <a:rPr sz="1100" b="0" i="0">
                  <a:solidFill>
                    <a:srgbClr val="1A1A1A"/>
                  </a:solidFill>
                  <a:latin typeface="Arial"/>
                </a:rPr>
                <a:t> alert</a:t>
              </a:r>
            </a:p>
          </p:txBody>
        </p:sp>
        <p:sp>
          <p:nvSpPr>
            <p:cNvPr id="82" name="Rounded Rectangle 81"/>
            <p:cNvSpPr/>
            <p:nvPr/>
          </p:nvSpPr>
          <p:spPr>
            <a:xfrm>
              <a:off x="6744087" y="4118444"/>
              <a:ext cx="1466730" cy="237744"/>
            </a:xfrm>
            <a:prstGeom prst="roundRect">
              <a:avLst>
                <a:gd name="adj" fmla="val 19230"/>
              </a:avLst>
            </a:prstGeom>
            <a:solidFill>
              <a:srgbClr val="173D6B"/>
            </a:solidFill>
            <a:ln>
              <a:noFill/>
            </a:ln>
          </p:spPr>
          <p:txBody>
            <a:bodyPr rtlCol="0" anchor="ctr" wrap="square" lIns="54864" rIns="54864" tIns="27432" bIns="27432">
              <a:noAutofit/>
            </a:bodyPr>
            <a:lstStyle/>
            <a:p>
              <a:pPr algn="l"/>
              <a:r>
                <a:rPr sz="1100" b="1" i="0">
                  <a:solidFill>
                    <a:srgbClr val="FFFFFF"/>
                  </a:solidFill>
                  <a:latin typeface="Arial"/>
                </a:rPr>
                <a:t>What-if lab</a:t>
              </a:r>
            </a:p>
          </p:txBody>
        </p:sp>
        <p:sp>
          <p:nvSpPr>
            <p:cNvPr id="83" name="Rounded Rectangle 82"/>
            <p:cNvSpPr/>
            <p:nvPr/>
          </p:nvSpPr>
          <p:spPr>
            <a:xfrm>
              <a:off x="6744087" y="4356188"/>
              <a:ext cx="1466730" cy="792526"/>
            </a:xfrm>
            <a:prstGeom prst="roundRect">
              <a:avLst>
                <a:gd name="adj" fmla="val 5768"/>
              </a:avLst>
            </a:prstGeom>
            <a:solidFill>
              <a:srgbClr val="FFFFFF"/>
            </a:solidFill>
            <a:ln w="9525">
              <a:solidFill>
                <a:srgbClr val="466E9E"/>
              </a:solidFill>
              <a:prstDash val="sysDot"/>
            </a:ln>
          </p:spPr>
          <p:txBody>
            <a:bodyPr rtlCol="0" anchor="t" wrap="square" lIns="45720" rIns="45720" tIns="27432" bIns="27432">
              <a:noAutofit/>
            </a:bodyPr>
            <a:lstStyle/>
            <a:p>
              <a:pPr algn="l"/>
              <a:r>
                <a:rPr sz="1100" b="0" i="0">
                  <a:solidFill>
                    <a:srgbClr val="1A1A1A"/>
                  </a:solidFill>
                  <a:latin typeface="Arial"/>
                </a:rPr>
                <a:t>test a meal swap, walk, sleep or medication change </a:t>
              </a:r>
              <a:r>
                <a:rPr sz="1100" b="1" i="0">
                  <a:solidFill>
                    <a:srgbClr val="1A1A1A"/>
                  </a:solidFill>
                  <a:latin typeface="Arial"/>
                </a:rPr>
                <a:t>first</a:t>
              </a:r>
            </a:p>
          </p:txBody>
        </p:sp>
        <p:sp>
          <p:nvSpPr>
            <p:cNvPr id="84" name="Rounded Rectangle 83"/>
            <p:cNvSpPr/>
            <p:nvPr/>
          </p:nvSpPr>
          <p:spPr>
            <a:xfrm>
              <a:off x="3700900" y="5203578"/>
              <a:ext cx="1466730" cy="237744"/>
            </a:xfrm>
            <a:prstGeom prst="roundRect">
              <a:avLst>
                <a:gd name="adj" fmla="val 19230"/>
              </a:avLst>
            </a:prstGeom>
            <a:solidFill>
              <a:srgbClr val="173D6B"/>
            </a:solidFill>
            <a:ln>
              <a:noFill/>
            </a:ln>
          </p:spPr>
          <p:txBody>
            <a:bodyPr rtlCol="0" anchor="ctr" wrap="square" lIns="54864" rIns="54864" tIns="27432" bIns="27432">
              <a:noAutofit/>
            </a:bodyPr>
            <a:lstStyle/>
            <a:p>
              <a:pPr algn="l"/>
              <a:r>
                <a:rPr sz="1100" b="1" i="0">
                  <a:solidFill>
                    <a:srgbClr val="FFFFFF"/>
                  </a:solidFill>
                  <a:latin typeface="Arial"/>
                </a:rPr>
                <a:t>Indian meals</a:t>
              </a:r>
            </a:p>
          </p:txBody>
        </p:sp>
        <p:sp>
          <p:nvSpPr>
            <p:cNvPr id="85" name="Rounded Rectangle 84"/>
            <p:cNvSpPr/>
            <p:nvPr/>
          </p:nvSpPr>
          <p:spPr>
            <a:xfrm>
              <a:off x="3700900" y="5441322"/>
              <a:ext cx="1466730" cy="792526"/>
            </a:xfrm>
            <a:prstGeom prst="roundRect">
              <a:avLst>
                <a:gd name="adj" fmla="val 5768"/>
              </a:avLst>
            </a:prstGeom>
            <a:solidFill>
              <a:srgbClr val="FFFFFF"/>
            </a:solidFill>
            <a:ln w="9525">
              <a:solidFill>
                <a:srgbClr val="466E9E"/>
              </a:solidFill>
              <a:prstDash val="sysDot"/>
            </a:ln>
          </p:spPr>
          <p:txBody>
            <a:bodyPr rtlCol="0" anchor="t" wrap="square" lIns="45720" rIns="45720" tIns="27432" bIns="27432">
              <a:noAutofit/>
            </a:bodyPr>
            <a:lstStyle/>
            <a:p>
              <a:pPr algn="l"/>
              <a:r>
                <a:rPr sz="1100" b="1" i="0">
                  <a:solidFill>
                    <a:srgbClr val="1A1A1A"/>
                  </a:solidFill>
                  <a:latin typeface="Arial"/>
                </a:rPr>
                <a:t>32</a:t>
              </a:r>
              <a:r>
                <a:rPr sz="1100" b="0" i="0">
                  <a:solidFill>
                    <a:srgbClr val="1A1A1A"/>
                  </a:solidFill>
                  <a:latin typeface="Arial"/>
                </a:rPr>
                <a:t> regional dishes with carbs and GI split fast and slow</a:t>
              </a:r>
            </a:p>
          </p:txBody>
        </p:sp>
        <p:sp>
          <p:nvSpPr>
            <p:cNvPr id="86" name="Rounded Rectangle 85"/>
            <p:cNvSpPr/>
            <p:nvPr/>
          </p:nvSpPr>
          <p:spPr>
            <a:xfrm>
              <a:off x="5222493" y="5203578"/>
              <a:ext cx="1466730" cy="237744"/>
            </a:xfrm>
            <a:prstGeom prst="roundRect">
              <a:avLst>
                <a:gd name="adj" fmla="val 19230"/>
              </a:avLst>
            </a:prstGeom>
            <a:solidFill>
              <a:srgbClr val="173D6B"/>
            </a:solidFill>
            <a:ln>
              <a:noFill/>
            </a:ln>
          </p:spPr>
          <p:txBody>
            <a:bodyPr rtlCol="0" anchor="ctr" wrap="square" lIns="54864" rIns="54864" tIns="27432" bIns="27432">
              <a:noAutofit/>
            </a:bodyPr>
            <a:lstStyle/>
            <a:p>
              <a:pPr algn="l"/>
              <a:r>
                <a:rPr sz="1100" b="1" i="0">
                  <a:solidFill>
                    <a:srgbClr val="FFFFFF"/>
                  </a:solidFill>
                  <a:latin typeface="Arial"/>
                </a:rPr>
                <a:t>Doctor console</a:t>
              </a:r>
            </a:p>
          </p:txBody>
        </p:sp>
        <p:sp>
          <p:nvSpPr>
            <p:cNvPr id="87" name="Rounded Rectangle 86"/>
            <p:cNvSpPr/>
            <p:nvPr/>
          </p:nvSpPr>
          <p:spPr>
            <a:xfrm>
              <a:off x="5222493" y="5441322"/>
              <a:ext cx="1466730" cy="792526"/>
            </a:xfrm>
            <a:prstGeom prst="roundRect">
              <a:avLst>
                <a:gd name="adj" fmla="val 5768"/>
              </a:avLst>
            </a:prstGeom>
            <a:solidFill>
              <a:srgbClr val="FFFFFF"/>
            </a:solidFill>
            <a:ln w="9525">
              <a:solidFill>
                <a:srgbClr val="466E9E"/>
              </a:solidFill>
              <a:prstDash val="sysDot"/>
            </a:ln>
          </p:spPr>
          <p:txBody>
            <a:bodyPr rtlCol="0" anchor="t" wrap="square" lIns="45720" rIns="45720" tIns="27432" bIns="27432">
              <a:noAutofit/>
            </a:bodyPr>
            <a:lstStyle/>
            <a:p>
              <a:pPr algn="l"/>
              <a:r>
                <a:rPr sz="1100" b="0" i="0">
                  <a:solidFill>
                    <a:srgbClr val="1A1A1A"/>
                  </a:solidFill>
                  <a:latin typeface="Arial"/>
                </a:rPr>
                <a:t>risk card, 2-h forecast, weekly AGP, one-click nudge</a:t>
              </a:r>
            </a:p>
          </p:txBody>
        </p:sp>
        <p:sp>
          <p:nvSpPr>
            <p:cNvPr id="88" name="Rounded Rectangle 87"/>
            <p:cNvSpPr/>
            <p:nvPr/>
          </p:nvSpPr>
          <p:spPr>
            <a:xfrm>
              <a:off x="6744087" y="5203578"/>
              <a:ext cx="1466730" cy="237744"/>
            </a:xfrm>
            <a:prstGeom prst="roundRect">
              <a:avLst>
                <a:gd name="adj" fmla="val 19230"/>
              </a:avLst>
            </a:prstGeom>
            <a:solidFill>
              <a:srgbClr val="173D6B"/>
            </a:solidFill>
            <a:ln>
              <a:noFill/>
            </a:ln>
          </p:spPr>
          <p:txBody>
            <a:bodyPr rtlCol="0" anchor="ctr" wrap="square" lIns="54864" rIns="54864" tIns="27432" bIns="27432">
              <a:noAutofit/>
            </a:bodyPr>
            <a:lstStyle/>
            <a:p>
              <a:pPr algn="l"/>
              <a:r>
                <a:rPr sz="1100" b="1" i="0">
                  <a:solidFill>
                    <a:srgbClr val="FFFFFF"/>
                  </a:solidFill>
                  <a:latin typeface="Arial"/>
                </a:rPr>
                <a:t>Standards</a:t>
              </a:r>
            </a:p>
          </p:txBody>
        </p:sp>
        <p:sp>
          <p:nvSpPr>
            <p:cNvPr id="89" name="Rounded Rectangle 88"/>
            <p:cNvSpPr/>
            <p:nvPr/>
          </p:nvSpPr>
          <p:spPr>
            <a:xfrm>
              <a:off x="6744087" y="5441322"/>
              <a:ext cx="1466730" cy="792526"/>
            </a:xfrm>
            <a:prstGeom prst="roundRect">
              <a:avLst>
                <a:gd name="adj" fmla="val 5768"/>
              </a:avLst>
            </a:prstGeom>
            <a:solidFill>
              <a:srgbClr val="FFFFFF"/>
            </a:solidFill>
            <a:ln w="9525">
              <a:solidFill>
                <a:srgbClr val="466E9E"/>
              </a:solidFill>
              <a:prstDash val="sysDot"/>
            </a:ln>
          </p:spPr>
          <p:txBody>
            <a:bodyPr rtlCol="0" anchor="t" wrap="square" lIns="45720" rIns="45720" tIns="27432" bIns="27432">
              <a:noAutofit/>
            </a:bodyPr>
            <a:lstStyle/>
            <a:p>
              <a:pPr algn="l"/>
              <a:r>
                <a:rPr sz="1100" b="0" i="0">
                  <a:solidFill>
                    <a:srgbClr val="1A1A1A"/>
                  </a:solidFill>
                  <a:latin typeface="Arial"/>
                </a:rPr>
                <a:t>FHIR R4, ICD-10, LOINC, RxNorm; </a:t>
              </a:r>
              <a:r>
                <a:rPr sz="1100" b="1" i="0">
                  <a:solidFill>
                    <a:srgbClr val="1A1A1A"/>
                  </a:solidFill>
                  <a:latin typeface="Arial"/>
                </a:rPr>
                <a:t>ABDM</a:t>
              </a:r>
              <a:r>
                <a:rPr sz="1100" b="0" i="0">
                  <a:solidFill>
                    <a:srgbClr val="1A1A1A"/>
                  </a:solidFill>
                  <a:latin typeface="Arial"/>
                </a:rPr>
                <a:t> ready</a:t>
              </a:r>
            </a:p>
          </p:txBody>
        </p:sp>
      </p:grpSp>
      <p:grpSp>
        <p:nvGrpSpPr>
          <p:cNvPr id="90" name="Group 89"/>
          <p:cNvGrpSpPr/>
          <p:nvPr/>
        </p:nvGrpSpPr>
        <p:grpSpPr>
          <a:xfrm>
            <a:off x="8338833" y="1097280"/>
            <a:ext cx="3779710" cy="5191432"/>
            <a:chOff x="8338833" y="1097280"/>
            <a:chExt cx="3779710" cy="5191432"/>
          </a:xfrm>
        </p:grpSpPr>
        <p:sp>
          <p:nvSpPr>
            <p:cNvPr id="91" name="frame:Outcome on 24 unseen"/>
            <p:cNvSpPr/>
            <p:nvPr/>
          </p:nvSpPr>
          <p:spPr>
            <a:xfrm>
              <a:off x="8338833" y="1234440"/>
              <a:ext cx="3779710" cy="5054272"/>
            </a:xfrm>
            <a:prstGeom prst="roundRect">
              <a:avLst>
                <a:gd name="adj" fmla="val 1209"/>
              </a:avLst>
            </a:prstGeom>
            <a:solidFill>
              <a:srgbClr val="F1F4F8"/>
            </a:solidFill>
            <a:ln w="15875">
              <a:solidFill>
                <a:srgbClr val="466E9E"/>
              </a:solidFill>
              <a:prstDash val="sysDot"/>
            </a:ln>
          </p:spPr>
          <p:txBody>
            <a:bodyPr rtlCol="0" anchor="ctr"/>
            <a:lstStyle/>
            <a:p/>
          </p:txBody>
        </p:sp>
        <p:sp>
          <p:nvSpPr>
            <p:cNvPr id="92" name="Rounded Rectangle 91"/>
            <p:cNvSpPr/>
            <p:nvPr/>
          </p:nvSpPr>
          <p:spPr>
            <a:xfrm>
              <a:off x="8338833" y="1097280"/>
              <a:ext cx="2815447" cy="274320"/>
            </a:xfrm>
            <a:prstGeom prst="roundRect">
              <a:avLst>
                <a:gd name="adj" fmla="val 13333"/>
              </a:avLst>
            </a:prstGeom>
            <a:solidFill>
              <a:srgbClr val="1D4E89"/>
            </a:solidFill>
            <a:ln>
              <a:noFill/>
            </a:ln>
          </p:spPr>
          <p:txBody>
            <a:bodyPr rtlCol="0" anchor="ctr"/>
            <a:lstStyle/>
            <a:p/>
          </p:txBody>
        </p:sp>
        <p:pic>
          <p:nvPicPr>
            <p:cNvPr id="93" name="Picture 92" descr="ic_fa6_FaChartLine_FFFFFF.png"/>
            <p:cNvPicPr>
              <a:picLocks noChangeAspect="1"/>
            </p:cNvPicPr>
            <p:nvPr/>
          </p:nvPicPr>
          <p:blipFill>
            <a:blip r:embed="rId11"/>
            <a:stretch>
              <a:fillRect/>
            </a:stretch>
          </p:blipFill>
          <p:spPr>
            <a:xfrm>
              <a:off x="8393697" y="1133856"/>
              <a:ext cx="201168" cy="201168"/>
            </a:xfrm>
            <a:prstGeom prst="rect">
              <a:avLst/>
            </a:prstGeom>
          </p:spPr>
        </p:pic>
        <p:sp>
          <p:nvSpPr>
            <p:cNvPr id="94" name="TextBox 93"/>
            <p:cNvSpPr txBox="1"/>
            <p:nvPr/>
          </p:nvSpPr>
          <p:spPr>
            <a:xfrm>
              <a:off x="8640585" y="1097280"/>
              <a:ext cx="2486263" cy="274320"/>
            </a:xfrm>
            <a:prstGeom prst="rect">
              <a:avLst/>
            </a:prstGeom>
            <a:noFill/>
          </p:spPr>
          <p:txBody>
            <a:bodyPr wrap="square" lIns="9144" rIns="9144" tIns="9144" bIns="9144" anchor="ctr">
              <a:noAutofit/>
            </a:bodyPr>
            <a:lstStyle/>
            <a:p>
              <a:pPr algn="l"/>
              <a:r>
                <a:rPr sz="1200" b="1" i="0">
                  <a:solidFill>
                    <a:srgbClr val="FFFFFF"/>
                  </a:solidFill>
                  <a:latin typeface="Arial"/>
                </a:rPr>
                <a:t>Outcome on 24 unseen patients</a:t>
              </a:r>
            </a:p>
          </p:txBody>
        </p:sp>
        <p:sp>
          <p:nvSpPr>
            <p:cNvPr id="95" name="Rounded Rectangle 94"/>
            <p:cNvSpPr/>
            <p:nvPr/>
          </p:nvSpPr>
          <p:spPr>
            <a:xfrm>
              <a:off x="8393697" y="1408176"/>
              <a:ext cx="1308026" cy="766179"/>
            </a:xfrm>
            <a:prstGeom prst="roundRect">
              <a:avLst>
                <a:gd name="adj" fmla="val 5967"/>
              </a:avLst>
            </a:prstGeom>
            <a:solidFill>
              <a:srgbClr val="112F52"/>
            </a:solidFill>
            <a:ln>
              <a:noFill/>
            </a:ln>
          </p:spPr>
          <p:txBody>
            <a:bodyPr rtlCol="0" anchor="ctr" wrap="square" lIns="45720" rIns="45720" tIns="27432" bIns="27432">
              <a:noAutofit/>
            </a:bodyPr>
            <a:lstStyle/>
            <a:p>
              <a:pPr algn="ctr"/>
              <a:r>
                <a:rPr sz="1600" b="1" i="0">
                  <a:solidFill>
                    <a:srgbClr val="FFFFFF"/>
                  </a:solidFill>
                  <a:latin typeface="Arial"/>
                </a:rPr>
                <a:t>0.961</a:t>
              </a:r>
            </a:p>
          </p:txBody>
        </p:sp>
        <p:sp>
          <p:nvSpPr>
            <p:cNvPr id="96" name="Rounded Rectangle 95"/>
            <p:cNvSpPr/>
            <p:nvPr/>
          </p:nvSpPr>
          <p:spPr>
            <a:xfrm>
              <a:off x="9738299" y="1408176"/>
              <a:ext cx="2325380" cy="766179"/>
            </a:xfrm>
            <a:prstGeom prst="roundRect">
              <a:avLst>
                <a:gd name="adj" fmla="val 5967"/>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AUROC; </a:t>
              </a:r>
              <a:r>
                <a:rPr sz="1200" b="1" i="0">
                  <a:solidFill>
                    <a:srgbClr val="1A1A1A"/>
                  </a:solidFill>
                  <a:latin typeface="Arial"/>
                </a:rPr>
                <a:t>0.930</a:t>
              </a:r>
              <a:r>
                <a:rPr sz="1200" b="0" i="0">
                  <a:solidFill>
                    <a:srgbClr val="1A1A1A"/>
                  </a:solidFill>
                  <a:latin typeface="Arial"/>
                </a:rPr>
                <a:t> without the twin</a:t>
              </a:r>
            </a:p>
          </p:txBody>
        </p:sp>
        <p:sp>
          <p:nvSpPr>
            <p:cNvPr id="97" name="Rounded Rectangle 96"/>
            <p:cNvSpPr/>
            <p:nvPr/>
          </p:nvSpPr>
          <p:spPr>
            <a:xfrm>
              <a:off x="8393697" y="2220075"/>
              <a:ext cx="1308026" cy="766179"/>
            </a:xfrm>
            <a:prstGeom prst="roundRect">
              <a:avLst>
                <a:gd name="adj" fmla="val 5967"/>
              </a:avLst>
            </a:prstGeom>
            <a:solidFill>
              <a:srgbClr val="112F52"/>
            </a:solidFill>
            <a:ln>
              <a:noFill/>
            </a:ln>
          </p:spPr>
          <p:txBody>
            <a:bodyPr rtlCol="0" anchor="ctr" wrap="square" lIns="45720" rIns="45720" tIns="27432" bIns="27432">
              <a:noAutofit/>
            </a:bodyPr>
            <a:lstStyle/>
            <a:p>
              <a:pPr algn="ctr"/>
              <a:r>
                <a:rPr sz="1600" b="1" i="0">
                  <a:solidFill>
                    <a:srgbClr val="FFFFFF"/>
                  </a:solidFill>
                  <a:latin typeface="Arial"/>
                </a:rPr>
                <a:t>85%</a:t>
              </a:r>
            </a:p>
          </p:txBody>
        </p:sp>
        <p:sp>
          <p:nvSpPr>
            <p:cNvPr id="98" name="Rounded Rectangle 97"/>
            <p:cNvSpPr/>
            <p:nvPr/>
          </p:nvSpPr>
          <p:spPr>
            <a:xfrm>
              <a:off x="9738299" y="2220075"/>
              <a:ext cx="2325380" cy="766179"/>
            </a:xfrm>
            <a:prstGeom prst="roundRect">
              <a:avLst>
                <a:gd name="adj" fmla="val 5967"/>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spikes warned 30+ min ahead, vs </a:t>
              </a:r>
              <a:r>
                <a:rPr sz="1200" b="1" i="0">
                  <a:solidFill>
                    <a:srgbClr val="1A1A1A"/>
                  </a:solidFill>
                  <a:latin typeface="Arial"/>
                </a:rPr>
                <a:t>28%</a:t>
              </a:r>
              <a:r>
                <a:rPr sz="1200" b="0" i="0">
                  <a:solidFill>
                    <a:srgbClr val="1A1A1A"/>
                  </a:solidFill>
                  <a:latin typeface="Arial"/>
                </a:rPr>
                <a:t> today</a:t>
              </a:r>
            </a:p>
          </p:txBody>
        </p:sp>
        <p:sp>
          <p:nvSpPr>
            <p:cNvPr id="99" name="Rounded Rectangle 98"/>
            <p:cNvSpPr/>
            <p:nvPr/>
          </p:nvSpPr>
          <p:spPr>
            <a:xfrm>
              <a:off x="8393697" y="3031973"/>
              <a:ext cx="1308026" cy="766179"/>
            </a:xfrm>
            <a:prstGeom prst="roundRect">
              <a:avLst>
                <a:gd name="adj" fmla="val 5967"/>
              </a:avLst>
            </a:prstGeom>
            <a:solidFill>
              <a:srgbClr val="112F52"/>
            </a:solidFill>
            <a:ln>
              <a:noFill/>
            </a:ln>
          </p:spPr>
          <p:txBody>
            <a:bodyPr rtlCol="0" anchor="ctr" wrap="square" lIns="45720" rIns="45720" tIns="27432" bIns="27432">
              <a:noAutofit/>
            </a:bodyPr>
            <a:lstStyle/>
            <a:p>
              <a:pPr algn="ctr"/>
              <a:r>
                <a:rPr sz="1600" b="1" i="0">
                  <a:solidFill>
                    <a:srgbClr val="FFFFFF"/>
                  </a:solidFill>
                  <a:latin typeface="Arial"/>
                </a:rPr>
                <a:t>95 min</a:t>
              </a:r>
            </a:p>
          </p:txBody>
        </p:sp>
        <p:sp>
          <p:nvSpPr>
            <p:cNvPr id="100" name="Rounded Rectangle 99"/>
            <p:cNvSpPr/>
            <p:nvPr/>
          </p:nvSpPr>
          <p:spPr>
            <a:xfrm>
              <a:off x="9738299" y="3031973"/>
              <a:ext cx="2325380" cy="766179"/>
            </a:xfrm>
            <a:prstGeom prst="roundRect">
              <a:avLst>
                <a:gd name="adj" fmla="val 5967"/>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median warning lead, vs </a:t>
              </a:r>
              <a:r>
                <a:rPr sz="1200" b="1" i="0">
                  <a:solidFill>
                    <a:srgbClr val="1A1A1A"/>
                  </a:solidFill>
                  <a:latin typeface="Arial"/>
                </a:rPr>
                <a:t>15 min</a:t>
              </a:r>
            </a:p>
          </p:txBody>
        </p:sp>
        <p:sp>
          <p:nvSpPr>
            <p:cNvPr id="101" name="Rounded Rectangle 100"/>
            <p:cNvSpPr/>
            <p:nvPr/>
          </p:nvSpPr>
          <p:spPr>
            <a:xfrm>
              <a:off x="8393697" y="3843872"/>
              <a:ext cx="1308026" cy="766179"/>
            </a:xfrm>
            <a:prstGeom prst="roundRect">
              <a:avLst>
                <a:gd name="adj" fmla="val 5967"/>
              </a:avLst>
            </a:prstGeom>
            <a:solidFill>
              <a:srgbClr val="112F52"/>
            </a:solidFill>
            <a:ln>
              <a:noFill/>
            </a:ln>
          </p:spPr>
          <p:txBody>
            <a:bodyPr rtlCol="0" anchor="ctr" wrap="square" lIns="45720" rIns="45720" tIns="27432" bIns="27432">
              <a:noAutofit/>
            </a:bodyPr>
            <a:lstStyle/>
            <a:p>
              <a:pPr algn="ctr"/>
              <a:r>
                <a:rPr sz="1600" b="1" i="0">
                  <a:solidFill>
                    <a:srgbClr val="FFFFFF"/>
                  </a:solidFill>
                  <a:latin typeface="Arial"/>
                </a:rPr>
                <a:t>0.82</a:t>
              </a:r>
            </a:p>
          </p:txBody>
        </p:sp>
        <p:sp>
          <p:nvSpPr>
            <p:cNvPr id="102" name="Rounded Rectangle 101"/>
            <p:cNvSpPr/>
            <p:nvPr/>
          </p:nvSpPr>
          <p:spPr>
            <a:xfrm>
              <a:off x="9738299" y="3843872"/>
              <a:ext cx="2325380" cy="766179"/>
            </a:xfrm>
            <a:prstGeom prst="roundRect">
              <a:avLst>
                <a:gd name="adj" fmla="val 5967"/>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false alerts a day, vs </a:t>
              </a:r>
              <a:r>
                <a:rPr sz="1200" b="1" i="0">
                  <a:solidFill>
                    <a:srgbClr val="1A1A1A"/>
                  </a:solidFill>
                  <a:latin typeface="Arial"/>
                </a:rPr>
                <a:t>1.62</a:t>
              </a:r>
            </a:p>
          </p:txBody>
        </p:sp>
        <p:sp>
          <p:nvSpPr>
            <p:cNvPr id="103" name="Rounded Rectangle 102"/>
            <p:cNvSpPr/>
            <p:nvPr/>
          </p:nvSpPr>
          <p:spPr>
            <a:xfrm>
              <a:off x="8393697" y="4655771"/>
              <a:ext cx="1308026" cy="766179"/>
            </a:xfrm>
            <a:prstGeom prst="roundRect">
              <a:avLst>
                <a:gd name="adj" fmla="val 5967"/>
              </a:avLst>
            </a:prstGeom>
            <a:solidFill>
              <a:srgbClr val="112F52"/>
            </a:solidFill>
            <a:ln>
              <a:noFill/>
            </a:ln>
          </p:spPr>
          <p:txBody>
            <a:bodyPr rtlCol="0" anchor="ctr" wrap="square" lIns="45720" rIns="45720" tIns="27432" bIns="27432">
              <a:noAutofit/>
            </a:bodyPr>
            <a:lstStyle/>
            <a:p>
              <a:pPr algn="ctr"/>
              <a:r>
                <a:rPr sz="1600" b="1" i="0">
                  <a:solidFill>
                    <a:srgbClr val="FFFFFF"/>
                  </a:solidFill>
                  <a:latin typeface="Arial"/>
                </a:rPr>
                <a:t>93.5%</a:t>
              </a:r>
            </a:p>
          </p:txBody>
        </p:sp>
        <p:sp>
          <p:nvSpPr>
            <p:cNvPr id="104" name="Rounded Rectangle 103"/>
            <p:cNvSpPr/>
            <p:nvPr/>
          </p:nvSpPr>
          <p:spPr>
            <a:xfrm>
              <a:off x="9738299" y="4655771"/>
              <a:ext cx="2325380" cy="766179"/>
            </a:xfrm>
            <a:prstGeom prst="roundRect">
              <a:avLst>
                <a:gd name="adj" fmla="val 5967"/>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60-min forecasts in Clarke zone A</a:t>
              </a:r>
            </a:p>
          </p:txBody>
        </p:sp>
        <p:sp>
          <p:nvSpPr>
            <p:cNvPr id="105" name="Rounded Rectangle 104"/>
            <p:cNvSpPr/>
            <p:nvPr/>
          </p:nvSpPr>
          <p:spPr>
            <a:xfrm>
              <a:off x="8393697" y="5467670"/>
              <a:ext cx="1308026" cy="766179"/>
            </a:xfrm>
            <a:prstGeom prst="roundRect">
              <a:avLst>
                <a:gd name="adj" fmla="val 5967"/>
              </a:avLst>
            </a:prstGeom>
            <a:solidFill>
              <a:srgbClr val="112F52"/>
            </a:solidFill>
            <a:ln>
              <a:noFill/>
            </a:ln>
          </p:spPr>
          <p:txBody>
            <a:bodyPr rtlCol="0" anchor="ctr" wrap="square" lIns="45720" rIns="45720" tIns="27432" bIns="27432">
              <a:noAutofit/>
            </a:bodyPr>
            <a:lstStyle/>
            <a:p>
              <a:pPr algn="ctr"/>
              <a:r>
                <a:rPr sz="1600" b="1" i="0">
                  <a:solidFill>
                    <a:srgbClr val="FFFFFF"/>
                  </a:solidFill>
                  <a:latin typeface="Arial"/>
                </a:rPr>
                <a:t>-108</a:t>
              </a:r>
            </a:p>
          </p:txBody>
        </p:sp>
        <p:sp>
          <p:nvSpPr>
            <p:cNvPr id="106" name="Rounded Rectangle 105"/>
            <p:cNvSpPr/>
            <p:nvPr/>
          </p:nvSpPr>
          <p:spPr>
            <a:xfrm>
              <a:off x="9738299" y="5467670"/>
              <a:ext cx="2325380" cy="766179"/>
            </a:xfrm>
            <a:prstGeom prst="roundRect">
              <a:avLst>
                <a:gd name="adj" fmla="val 5967"/>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mg/dL peak drop from one meal swap</a:t>
              </a:r>
            </a:p>
          </p:txBody>
        </p:sp>
      </p:grpSp>
      <p:grpSp>
        <p:nvGrpSpPr>
          <p:cNvPr id="107" name="Group 106"/>
          <p:cNvGrpSpPr/>
          <p:nvPr/>
        </p:nvGrpSpPr>
        <p:grpSpPr>
          <a:xfrm>
            <a:off x="73152" y="6361864"/>
            <a:ext cx="12045391" cy="441272"/>
            <a:chOff x="73152" y="6361864"/>
            <a:chExt cx="12045391" cy="441272"/>
          </a:xfrm>
        </p:grpSpPr>
        <p:sp>
          <p:nvSpPr>
            <p:cNvPr id="108" name="Rounded Rectangle 107"/>
            <p:cNvSpPr/>
            <p:nvPr/>
          </p:nvSpPr>
          <p:spPr>
            <a:xfrm>
              <a:off x="73152" y="6361864"/>
              <a:ext cx="12045391" cy="441272"/>
            </a:xfrm>
            <a:prstGeom prst="roundRect">
              <a:avLst>
                <a:gd name="adj" fmla="val 12433"/>
              </a:avLst>
            </a:prstGeom>
            <a:solidFill>
              <a:srgbClr val="1D4E89"/>
            </a:solidFill>
            <a:ln>
              <a:noFill/>
            </a:ln>
          </p:spPr>
          <p:txBody>
            <a:bodyPr rtlCol="0" anchor="ctr"/>
            <a:lstStyle/>
            <a:p/>
          </p:txBody>
        </p:sp>
        <p:pic>
          <p:nvPicPr>
            <p:cNvPr id="109" name="Picture 108" descr="ic_fa6_FaRepeat_FFFFFF.png"/>
            <p:cNvPicPr>
              <a:picLocks noChangeAspect="1"/>
            </p:cNvPicPr>
            <p:nvPr/>
          </p:nvPicPr>
          <p:blipFill>
            <a:blip r:embed="rId12"/>
            <a:stretch>
              <a:fillRect/>
            </a:stretch>
          </p:blipFill>
          <p:spPr>
            <a:xfrm>
              <a:off x="164592" y="6407584"/>
              <a:ext cx="349832" cy="349832"/>
            </a:xfrm>
            <a:prstGeom prst="rect">
              <a:avLst/>
            </a:prstGeom>
          </p:spPr>
        </p:pic>
        <p:sp>
          <p:nvSpPr>
            <p:cNvPr id="110" name="TextBox 109"/>
            <p:cNvSpPr txBox="1"/>
            <p:nvPr/>
          </p:nvSpPr>
          <p:spPr>
            <a:xfrm>
              <a:off x="569288" y="6361864"/>
              <a:ext cx="11494391" cy="441272"/>
            </a:xfrm>
            <a:prstGeom prst="rect">
              <a:avLst/>
            </a:prstGeom>
            <a:noFill/>
          </p:spPr>
          <p:txBody>
            <a:bodyPr wrap="square" lIns="45720" rIns="45720" tIns="27432" bIns="27432" anchor="ctr">
              <a:noAutofit/>
            </a:bodyPr>
            <a:lstStyle/>
            <a:p>
              <a:pPr algn="l"/>
              <a:r>
                <a:rPr sz="1400" b="1" i="0">
                  <a:solidFill>
                    <a:srgbClr val="FFFFFF"/>
                  </a:solidFill>
                  <a:latin typeface="Arial"/>
                </a:rPr>
                <a:t>120 synthetic patients, 483,840 readings, 81 fused features; one command rebuilds every number in 8 minutes</a:t>
              </a:r>
            </a:p>
          </p:txBody>
        </p:sp>
      </p:gr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v:0">
            <a:hlinkClick action="ppaction://hlinksldjump" r:id="rId19"/>
          </p:cNvPr>
          <p:cNvSpPr/>
          <p:nvPr/>
        </p:nvSpPr>
        <p:spPr>
          <a:xfrm>
            <a:off x="0" y="0"/>
            <a:ext cx="1359073" cy="457200"/>
          </a:xfrm>
          <a:prstGeom prst="homePlate">
            <a:avLst>
              <a:gd name="adj" fmla="val 34000"/>
            </a:avLst>
          </a:prstGeom>
          <a:solidFill>
            <a:srgbClr val="6587AF"/>
          </a:solidFill>
          <a:ln w="12700">
            <a:solidFill>
              <a:srgbClr val="FFFFFF"/>
            </a:solidFill>
          </a:ln>
        </p:spPr>
        <p:txBody>
          <a:bodyPr rtlCol="0" anchor="ctr"/>
          <a:lstStyle/>
          <a:p/>
        </p:txBody>
      </p:sp>
      <p:sp>
        <p:nvSpPr>
          <p:cNvPr id="3" name="nav:t0">
            <a:hlinkClick action="ppaction://hlinksldjump" r:id="rId19"/>
          </p:cNvPr>
          <p:cNvSpPr txBox="1"/>
          <p:nvPr/>
        </p:nvSpPr>
        <p:spPr>
          <a:xfrm>
            <a:off x="64008" y="0"/>
            <a:ext cx="1121329" cy="457200"/>
          </a:xfrm>
          <a:prstGeom prst="rect">
            <a:avLst/>
          </a:prstGeom>
          <a:noFill/>
        </p:spPr>
        <p:txBody>
          <a:bodyPr wrap="square" lIns="9144" rIns="9144" tIns="9144" bIns="9144" anchor="ctr">
            <a:noAutofit/>
          </a:bodyPr>
          <a:lstStyle/>
          <a:p>
            <a:pPr algn="ctr"/>
            <a:r>
              <a:rPr sz="1000" b="0" i="0">
                <a:solidFill>
                  <a:srgbClr val="FFFFFF"/>
                </a:solidFill>
                <a:latin typeface="Arial"/>
              </a:rPr>
              <a:t>Executive Summary</a:t>
            </a:r>
          </a:p>
        </p:txBody>
      </p:sp>
      <p:sp>
        <p:nvSpPr>
          <p:cNvPr id="4" name="nav:1"/>
          <p:cNvSpPr/>
          <p:nvPr/>
        </p:nvSpPr>
        <p:spPr>
          <a:xfrm>
            <a:off x="1203625" y="0"/>
            <a:ext cx="1359073" cy="457200"/>
          </a:xfrm>
          <a:prstGeom prst="chevron">
            <a:avLst>
              <a:gd name="adj" fmla="val 34000"/>
            </a:avLst>
          </a:prstGeom>
          <a:solidFill>
            <a:srgbClr val="112F52"/>
          </a:solidFill>
          <a:ln w="12700">
            <a:solidFill>
              <a:srgbClr val="FFFFFF"/>
            </a:solidFill>
          </a:ln>
        </p:spPr>
        <p:txBody>
          <a:bodyPr rtlCol="0" anchor="ctr"/>
          <a:lstStyle/>
          <a:p/>
        </p:txBody>
      </p:sp>
      <p:sp>
        <p:nvSpPr>
          <p:cNvPr id="5" name="nav:t1"/>
          <p:cNvSpPr txBox="1"/>
          <p:nvPr/>
        </p:nvSpPr>
        <p:spPr>
          <a:xfrm>
            <a:off x="1386505" y="0"/>
            <a:ext cx="1002457" cy="457200"/>
          </a:xfrm>
          <a:prstGeom prst="rect">
            <a:avLst/>
          </a:prstGeom>
          <a:noFill/>
        </p:spPr>
        <p:txBody>
          <a:bodyPr wrap="square" lIns="9144" rIns="9144" tIns="9144" bIns="9144" anchor="ctr">
            <a:noAutofit/>
          </a:bodyPr>
          <a:lstStyle/>
          <a:p>
            <a:pPr algn="ctr"/>
            <a:r>
              <a:rPr sz="1000" b="1" i="0">
                <a:solidFill>
                  <a:srgbClr val="FFFFFF"/>
                </a:solidFill>
                <a:latin typeface="Arial"/>
              </a:rPr>
              <a:t>Problem</a:t>
            </a:r>
          </a:p>
        </p:txBody>
      </p:sp>
      <p:sp>
        <p:nvSpPr>
          <p:cNvPr id="6" name="nav:2">
            <a:hlinkClick action="ppaction://hlinksldjump" r:id="rId20"/>
          </p:cNvPr>
          <p:cNvSpPr/>
          <p:nvPr/>
        </p:nvSpPr>
        <p:spPr>
          <a:xfrm>
            <a:off x="2407249"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7" name="nav:t2">
            <a:hlinkClick action="ppaction://hlinksldjump" r:id="rId20"/>
          </p:cNvPr>
          <p:cNvSpPr txBox="1"/>
          <p:nvPr/>
        </p:nvSpPr>
        <p:spPr>
          <a:xfrm>
            <a:off x="2590129"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Solution</a:t>
            </a:r>
          </a:p>
        </p:txBody>
      </p:sp>
      <p:sp>
        <p:nvSpPr>
          <p:cNvPr id="8" name="nav:3">
            <a:hlinkClick action="ppaction://hlinksldjump" r:id="rId21"/>
          </p:cNvPr>
          <p:cNvSpPr/>
          <p:nvPr/>
        </p:nvSpPr>
        <p:spPr>
          <a:xfrm>
            <a:off x="3610874"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9" name="nav:t3">
            <a:hlinkClick action="ppaction://hlinksldjump" r:id="rId21"/>
          </p:cNvPr>
          <p:cNvSpPr txBox="1"/>
          <p:nvPr/>
        </p:nvSpPr>
        <p:spPr>
          <a:xfrm>
            <a:off x="3793754"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Data</a:t>
            </a:r>
          </a:p>
        </p:txBody>
      </p:sp>
      <p:sp>
        <p:nvSpPr>
          <p:cNvPr id="10" name="nav:4">
            <a:hlinkClick action="ppaction://hlinksldjump" r:id="rId22"/>
          </p:cNvPr>
          <p:cNvSpPr/>
          <p:nvPr/>
        </p:nvSpPr>
        <p:spPr>
          <a:xfrm>
            <a:off x="4814499"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1" name="nav:t4">
            <a:hlinkClick action="ppaction://hlinksldjump" r:id="rId22"/>
          </p:cNvPr>
          <p:cNvSpPr txBox="1"/>
          <p:nvPr/>
        </p:nvSpPr>
        <p:spPr>
          <a:xfrm>
            <a:off x="4997379"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Twin Engine</a:t>
            </a:r>
          </a:p>
        </p:txBody>
      </p:sp>
      <p:sp>
        <p:nvSpPr>
          <p:cNvPr id="12" name="nav:5">
            <a:hlinkClick action="ppaction://hlinksldjump" r:id="rId23"/>
          </p:cNvPr>
          <p:cNvSpPr/>
          <p:nvPr/>
        </p:nvSpPr>
        <p:spPr>
          <a:xfrm>
            <a:off x="6018124"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3" name="nav:t5">
            <a:hlinkClick action="ppaction://hlinksldjump" r:id="rId23"/>
          </p:cNvPr>
          <p:cNvSpPr txBox="1"/>
          <p:nvPr/>
        </p:nvSpPr>
        <p:spPr>
          <a:xfrm>
            <a:off x="6201004"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AI Model</a:t>
            </a:r>
          </a:p>
        </p:txBody>
      </p:sp>
      <p:sp>
        <p:nvSpPr>
          <p:cNvPr id="14" name="nav:6">
            <a:hlinkClick action="ppaction://hlinksldjump" r:id="rId24"/>
          </p:cNvPr>
          <p:cNvSpPr/>
          <p:nvPr/>
        </p:nvSpPr>
        <p:spPr>
          <a:xfrm>
            <a:off x="7221748"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5" name="nav:t6">
            <a:hlinkClick action="ppaction://hlinksldjump" r:id="rId24"/>
          </p:cNvPr>
          <p:cNvSpPr txBox="1"/>
          <p:nvPr/>
        </p:nvSpPr>
        <p:spPr>
          <a:xfrm>
            <a:off x="7404628"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Results</a:t>
            </a:r>
          </a:p>
        </p:txBody>
      </p:sp>
      <p:sp>
        <p:nvSpPr>
          <p:cNvPr id="16" name="nav:7">
            <a:hlinkClick action="ppaction://hlinksldjump" r:id="rId25"/>
          </p:cNvPr>
          <p:cNvSpPr/>
          <p:nvPr/>
        </p:nvSpPr>
        <p:spPr>
          <a:xfrm>
            <a:off x="8425373"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7" name="nav:t7">
            <a:hlinkClick action="ppaction://hlinksldjump" r:id="rId25"/>
          </p:cNvPr>
          <p:cNvSpPr txBox="1"/>
          <p:nvPr/>
        </p:nvSpPr>
        <p:spPr>
          <a:xfrm>
            <a:off x="8608253"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Dashboard</a:t>
            </a:r>
          </a:p>
        </p:txBody>
      </p:sp>
      <p:sp>
        <p:nvSpPr>
          <p:cNvPr id="18" name="nav:8">
            <a:hlinkClick action="ppaction://hlinksldjump" r:id="rId26"/>
          </p:cNvPr>
          <p:cNvSpPr/>
          <p:nvPr/>
        </p:nvSpPr>
        <p:spPr>
          <a:xfrm>
            <a:off x="9628998"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9" name="nav:t8">
            <a:hlinkClick action="ppaction://hlinksldjump" r:id="rId26"/>
          </p:cNvPr>
          <p:cNvSpPr txBox="1"/>
          <p:nvPr/>
        </p:nvSpPr>
        <p:spPr>
          <a:xfrm>
            <a:off x="9811878"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Impact</a:t>
            </a:r>
          </a:p>
        </p:txBody>
      </p:sp>
      <p:sp>
        <p:nvSpPr>
          <p:cNvPr id="20" name="nav:9">
            <a:hlinkClick action="ppaction://hlinksldjump" r:id="rId27"/>
          </p:cNvPr>
          <p:cNvSpPr/>
          <p:nvPr/>
        </p:nvSpPr>
        <p:spPr>
          <a:xfrm>
            <a:off x="10832622"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21" name="nav:t9">
            <a:hlinkClick action="ppaction://hlinksldjump" r:id="rId27"/>
          </p:cNvPr>
          <p:cNvSpPr txBox="1"/>
          <p:nvPr/>
        </p:nvSpPr>
        <p:spPr>
          <a:xfrm>
            <a:off x="11015502"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Roadmap &amp; Cost</a:t>
            </a:r>
          </a:p>
        </p:txBody>
      </p:sp>
      <p:sp>
        <p:nvSpPr>
          <p:cNvPr id="22" name="TextBox 21"/>
          <p:cNvSpPr txBox="1"/>
          <p:nvPr/>
        </p:nvSpPr>
        <p:spPr>
          <a:xfrm>
            <a:off x="73152" y="502920"/>
            <a:ext cx="12045391" cy="329184"/>
          </a:xfrm>
          <a:prstGeom prst="rect">
            <a:avLst/>
          </a:prstGeom>
          <a:noFill/>
        </p:spPr>
        <p:txBody>
          <a:bodyPr wrap="square" lIns="18288" rIns="18288" tIns="18288" bIns="18288" anchor="ctr">
            <a:noAutofit/>
          </a:bodyPr>
          <a:lstStyle/>
          <a:p>
            <a:pPr algn="l"/>
            <a:r>
              <a:rPr sz="1600" b="1" i="0">
                <a:solidFill>
                  <a:srgbClr val="1D4E89"/>
                </a:solidFill>
                <a:latin typeface="Arial"/>
              </a:rPr>
              <a:t>Post-meal spikes do the damage between visits, yet today's tools react only once a spike has begun</a:t>
            </a:r>
          </a:p>
        </p:txBody>
      </p:sp>
      <p:sp>
        <p:nvSpPr>
          <p:cNvPr id="23" name="TextBox 22"/>
          <p:cNvSpPr txBox="1"/>
          <p:nvPr/>
        </p:nvSpPr>
        <p:spPr>
          <a:xfrm>
            <a:off x="73152" y="795528"/>
            <a:ext cx="12045391" cy="237744"/>
          </a:xfrm>
          <a:prstGeom prst="rect">
            <a:avLst/>
          </a:prstGeom>
          <a:noFill/>
        </p:spPr>
        <p:txBody>
          <a:bodyPr wrap="square" lIns="18288" rIns="18288" tIns="18288" bIns="18288" anchor="ctr">
            <a:noAutofit/>
          </a:bodyPr>
          <a:lstStyle/>
          <a:p>
            <a:pPr algn="l"/>
            <a:r>
              <a:rPr sz="1200" b="1" i="0">
                <a:solidFill>
                  <a:srgbClr val="4A5168"/>
                </a:solidFill>
                <a:latin typeface="Arial"/>
              </a:rPr>
              <a:t>India carries the burden, HbA1c hides the spikes, and nobody can read 4,000 CGM points per patient per fortnight</a:t>
            </a:r>
          </a:p>
        </p:txBody>
      </p:sp>
      <p:cxnSp>
        <p:nvCxnSpPr>
          <p:cNvPr id="24" name="Connector 23"/>
          <p:cNvCxnSpPr/>
          <p:nvPr/>
        </p:nvCxnSpPr>
        <p:spPr>
          <a:xfrm>
            <a:off x="73152" y="1042416"/>
            <a:ext cx="12045391" cy="0"/>
          </a:xfrm>
          <a:prstGeom prst="line">
            <a:avLst/>
          </a:prstGeom>
          <a:ln w="19050">
            <a:solidFill>
              <a:srgbClr val="1D4E89"/>
            </a:solidFill>
          </a:ln>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73152" y="1097280"/>
            <a:ext cx="3904388" cy="2816352"/>
            <a:chOff x="73152" y="1097280"/>
            <a:chExt cx="3904388" cy="2816352"/>
          </a:xfrm>
        </p:grpSpPr>
        <p:sp>
          <p:nvSpPr>
            <p:cNvPr id="26" name="frame:India's cardiometabo"/>
            <p:cNvSpPr/>
            <p:nvPr/>
          </p:nvSpPr>
          <p:spPr>
            <a:xfrm>
              <a:off x="73152" y="1234440"/>
              <a:ext cx="3904388" cy="2679192"/>
            </a:xfrm>
            <a:prstGeom prst="roundRect">
              <a:avLst>
                <a:gd name="adj" fmla="val 1706"/>
              </a:avLst>
            </a:prstGeom>
            <a:solidFill>
              <a:srgbClr val="F1F4F8"/>
            </a:solidFill>
            <a:ln w="15875">
              <a:solidFill>
                <a:srgbClr val="466E9E"/>
              </a:solidFill>
              <a:prstDash val="sysDot"/>
            </a:ln>
          </p:spPr>
          <p:txBody>
            <a:bodyPr rtlCol="0" anchor="ctr"/>
            <a:lstStyle/>
            <a:p/>
          </p:txBody>
        </p:sp>
        <p:sp>
          <p:nvSpPr>
            <p:cNvPr id="27" name="Rounded Rectangle 26"/>
            <p:cNvSpPr/>
            <p:nvPr/>
          </p:nvSpPr>
          <p:spPr>
            <a:xfrm>
              <a:off x="73152" y="1097280"/>
              <a:ext cx="2758515" cy="274320"/>
            </a:xfrm>
            <a:prstGeom prst="roundRect">
              <a:avLst>
                <a:gd name="adj" fmla="val 13333"/>
              </a:avLst>
            </a:prstGeom>
            <a:solidFill>
              <a:srgbClr val="1D4E89"/>
            </a:solidFill>
            <a:ln>
              <a:noFill/>
            </a:ln>
          </p:spPr>
          <p:txBody>
            <a:bodyPr rtlCol="0" anchor="ctr"/>
            <a:lstStyle/>
            <a:p/>
          </p:txBody>
        </p:sp>
        <p:pic>
          <p:nvPicPr>
            <p:cNvPr id="28" name="Picture 27" descr="ic_fa6_FaUsers_FFFFFF.png"/>
            <p:cNvPicPr>
              <a:picLocks noChangeAspect="1"/>
            </p:cNvPicPr>
            <p:nvPr/>
          </p:nvPicPr>
          <p:blipFill>
            <a:blip r:embed="rId2"/>
            <a:stretch>
              <a:fillRect/>
            </a:stretch>
          </p:blipFill>
          <p:spPr>
            <a:xfrm>
              <a:off x="128016" y="1133856"/>
              <a:ext cx="201168" cy="201168"/>
            </a:xfrm>
            <a:prstGeom prst="rect">
              <a:avLst/>
            </a:prstGeom>
          </p:spPr>
        </p:pic>
        <p:sp>
          <p:nvSpPr>
            <p:cNvPr id="29" name="TextBox 28"/>
            <p:cNvSpPr txBox="1"/>
            <p:nvPr/>
          </p:nvSpPr>
          <p:spPr>
            <a:xfrm>
              <a:off x="374904" y="1097280"/>
              <a:ext cx="2429331" cy="274320"/>
            </a:xfrm>
            <a:prstGeom prst="rect">
              <a:avLst/>
            </a:prstGeom>
            <a:noFill/>
          </p:spPr>
          <p:txBody>
            <a:bodyPr wrap="square" lIns="9144" rIns="9144" tIns="9144" bIns="9144" anchor="ctr">
              <a:noAutofit/>
            </a:bodyPr>
            <a:lstStyle/>
            <a:p>
              <a:pPr algn="l"/>
              <a:r>
                <a:rPr sz="1200" b="1" i="0">
                  <a:solidFill>
                    <a:srgbClr val="FFFFFF"/>
                  </a:solidFill>
                  <a:latin typeface="Arial"/>
                </a:rPr>
                <a:t>India's cardiometabolic burden</a:t>
              </a:r>
            </a:p>
          </p:txBody>
        </p:sp>
        <p:sp>
          <p:nvSpPr>
            <p:cNvPr id="30" name="ig:arrow_stats"/>
            <p:cNvSpPr/>
            <p:nvPr/>
          </p:nvSpPr>
          <p:spPr>
            <a:xfrm>
              <a:off x="164592" y="1593752"/>
              <a:ext cx="1037207" cy="410059"/>
            </a:xfrm>
            <a:prstGeom prst="homePlate">
              <a:avLst>
                <a:gd name="adj" fmla="val 35000"/>
              </a:avLst>
            </a:prstGeom>
            <a:solidFill>
              <a:srgbClr val="89A3C2"/>
            </a:solidFill>
            <a:ln>
              <a:noFill/>
            </a:ln>
          </p:spPr>
          <p:txBody>
            <a:bodyPr rtlCol="0" anchor="ctr"/>
            <a:lstStyle/>
            <a:p/>
          </p:txBody>
        </p:sp>
        <p:sp>
          <p:nvSpPr>
            <p:cNvPr id="31" name="TextBox 30"/>
            <p:cNvSpPr txBox="1"/>
            <p:nvPr/>
          </p:nvSpPr>
          <p:spPr>
            <a:xfrm>
              <a:off x="201168" y="1593752"/>
              <a:ext cx="857110" cy="410059"/>
            </a:xfrm>
            <a:prstGeom prst="rect">
              <a:avLst/>
            </a:prstGeom>
            <a:noFill/>
          </p:spPr>
          <p:txBody>
            <a:bodyPr wrap="square" lIns="0" rIns="0" tIns="0" bIns="0" anchor="ctr">
              <a:noAutofit/>
            </a:bodyPr>
            <a:lstStyle/>
            <a:p>
              <a:pPr algn="ctr"/>
              <a:r>
                <a:rPr sz="2000" b="1" i="0">
                  <a:solidFill>
                    <a:srgbClr val="FFFFFF"/>
                  </a:solidFill>
                  <a:latin typeface="Arial"/>
                </a:rPr>
                <a:t>101 M</a:t>
              </a:r>
            </a:p>
          </p:txBody>
        </p:sp>
        <p:sp>
          <p:nvSpPr>
            <p:cNvPr id="32" name="TextBox 31"/>
            <p:cNvSpPr txBox="1"/>
            <p:nvPr/>
          </p:nvSpPr>
          <p:spPr>
            <a:xfrm>
              <a:off x="164592" y="2031244"/>
              <a:ext cx="1191735" cy="658368"/>
            </a:xfrm>
            <a:prstGeom prst="rect">
              <a:avLst/>
            </a:prstGeom>
            <a:noFill/>
          </p:spPr>
          <p:txBody>
            <a:bodyPr wrap="square" lIns="9144" rIns="9144" tIns="9144" bIns="9144" anchor="t">
              <a:noAutofit/>
            </a:bodyPr>
            <a:lstStyle/>
            <a:p>
              <a:pPr algn="l"/>
              <a:r>
                <a:rPr sz="1000" b="0" i="0">
                  <a:solidFill>
                    <a:srgbClr val="1A1A1A"/>
                  </a:solidFill>
                  <a:latin typeface="Arial"/>
                </a:rPr>
                <a:t>living with diabetes</a:t>
              </a:r>
            </a:p>
          </p:txBody>
        </p:sp>
        <p:sp>
          <p:nvSpPr>
            <p:cNvPr id="33" name="Pentagon 32"/>
            <p:cNvSpPr/>
            <p:nvPr/>
          </p:nvSpPr>
          <p:spPr>
            <a:xfrm>
              <a:off x="1429479" y="1500964"/>
              <a:ext cx="1037207" cy="410059"/>
            </a:xfrm>
            <a:prstGeom prst="homePlate">
              <a:avLst>
                <a:gd name="adj" fmla="val 35000"/>
              </a:avLst>
            </a:prstGeom>
            <a:solidFill>
              <a:srgbClr val="6587AF"/>
            </a:solidFill>
            <a:ln>
              <a:noFill/>
            </a:ln>
          </p:spPr>
          <p:txBody>
            <a:bodyPr rtlCol="0" anchor="ctr"/>
            <a:lstStyle/>
            <a:p/>
          </p:txBody>
        </p:sp>
        <p:sp>
          <p:nvSpPr>
            <p:cNvPr id="34" name="TextBox 33"/>
            <p:cNvSpPr txBox="1"/>
            <p:nvPr/>
          </p:nvSpPr>
          <p:spPr>
            <a:xfrm>
              <a:off x="1466055" y="1500964"/>
              <a:ext cx="857110" cy="410059"/>
            </a:xfrm>
            <a:prstGeom prst="rect">
              <a:avLst/>
            </a:prstGeom>
            <a:noFill/>
          </p:spPr>
          <p:txBody>
            <a:bodyPr wrap="square" lIns="0" rIns="0" tIns="0" bIns="0" anchor="ctr">
              <a:noAutofit/>
            </a:bodyPr>
            <a:lstStyle/>
            <a:p>
              <a:pPr algn="ctr"/>
              <a:r>
                <a:rPr sz="2000" b="1" i="0">
                  <a:solidFill>
                    <a:srgbClr val="FFFFFF"/>
                  </a:solidFill>
                  <a:latin typeface="Arial"/>
                </a:rPr>
                <a:t>136 M</a:t>
              </a:r>
            </a:p>
          </p:txBody>
        </p:sp>
        <p:sp>
          <p:nvSpPr>
            <p:cNvPr id="35" name="TextBox 34"/>
            <p:cNvSpPr txBox="1"/>
            <p:nvPr/>
          </p:nvSpPr>
          <p:spPr>
            <a:xfrm>
              <a:off x="1429479" y="1938456"/>
              <a:ext cx="1191735" cy="751156"/>
            </a:xfrm>
            <a:prstGeom prst="rect">
              <a:avLst/>
            </a:prstGeom>
            <a:noFill/>
          </p:spPr>
          <p:txBody>
            <a:bodyPr wrap="square" lIns="9144" rIns="9144" tIns="9144" bIns="9144" anchor="t">
              <a:noAutofit/>
            </a:bodyPr>
            <a:lstStyle/>
            <a:p>
              <a:pPr algn="l"/>
              <a:r>
                <a:rPr sz="1000" b="0" i="0">
                  <a:solidFill>
                    <a:srgbClr val="1A1A1A"/>
                  </a:solidFill>
                  <a:latin typeface="Arial"/>
                </a:rPr>
                <a:t>with prediabetes</a:t>
              </a:r>
            </a:p>
          </p:txBody>
        </p:sp>
        <p:sp>
          <p:nvSpPr>
            <p:cNvPr id="36" name="Pentagon 35"/>
            <p:cNvSpPr/>
            <p:nvPr/>
          </p:nvSpPr>
          <p:spPr>
            <a:xfrm>
              <a:off x="2694365" y="1408176"/>
              <a:ext cx="1037207" cy="410059"/>
            </a:xfrm>
            <a:prstGeom prst="homePlate">
              <a:avLst>
                <a:gd name="adj" fmla="val 35000"/>
              </a:avLst>
            </a:prstGeom>
            <a:solidFill>
              <a:srgbClr val="466E9E"/>
            </a:solidFill>
            <a:ln>
              <a:noFill/>
            </a:ln>
          </p:spPr>
          <p:txBody>
            <a:bodyPr rtlCol="0" anchor="ctr"/>
            <a:lstStyle/>
            <a:p/>
          </p:txBody>
        </p:sp>
        <p:sp>
          <p:nvSpPr>
            <p:cNvPr id="37" name="TextBox 36"/>
            <p:cNvSpPr txBox="1"/>
            <p:nvPr/>
          </p:nvSpPr>
          <p:spPr>
            <a:xfrm>
              <a:off x="2730941" y="1408176"/>
              <a:ext cx="857110" cy="410059"/>
            </a:xfrm>
            <a:prstGeom prst="rect">
              <a:avLst/>
            </a:prstGeom>
            <a:noFill/>
          </p:spPr>
          <p:txBody>
            <a:bodyPr wrap="square" lIns="0" rIns="0" tIns="0" bIns="0" anchor="ctr">
              <a:noAutofit/>
            </a:bodyPr>
            <a:lstStyle/>
            <a:p>
              <a:pPr algn="ctr"/>
              <a:r>
                <a:rPr sz="2000" b="1" i="0">
                  <a:solidFill>
                    <a:srgbClr val="FFFFFF"/>
                  </a:solidFill>
                  <a:latin typeface="Arial"/>
                </a:rPr>
                <a:t>315 M</a:t>
              </a:r>
            </a:p>
          </p:txBody>
        </p:sp>
        <p:sp>
          <p:nvSpPr>
            <p:cNvPr id="38" name="TextBox 37"/>
            <p:cNvSpPr txBox="1"/>
            <p:nvPr/>
          </p:nvSpPr>
          <p:spPr>
            <a:xfrm>
              <a:off x="2694365" y="1845667"/>
              <a:ext cx="1191735" cy="843944"/>
            </a:xfrm>
            <a:prstGeom prst="rect">
              <a:avLst/>
            </a:prstGeom>
            <a:noFill/>
          </p:spPr>
          <p:txBody>
            <a:bodyPr wrap="square" lIns="9144" rIns="9144" tIns="9144" bIns="9144" anchor="t">
              <a:noAutofit/>
            </a:bodyPr>
            <a:lstStyle/>
            <a:p>
              <a:pPr algn="l"/>
              <a:r>
                <a:rPr sz="1000" b="0" i="0">
                  <a:solidFill>
                    <a:srgbClr val="1A1A1A"/>
                  </a:solidFill>
                  <a:latin typeface="Arial"/>
                </a:rPr>
                <a:t>with hypertension</a:t>
              </a:r>
            </a:p>
          </p:txBody>
        </p:sp>
        <p:sp>
          <p:nvSpPr>
            <p:cNvPr id="39" name="Rounded Rectangle 38"/>
            <p:cNvSpPr/>
            <p:nvPr/>
          </p:nvSpPr>
          <p:spPr>
            <a:xfrm>
              <a:off x="128016" y="2744476"/>
              <a:ext cx="1869898" cy="256032"/>
            </a:xfrm>
            <a:prstGeom prst="roundRect">
              <a:avLst>
                <a:gd name="adj" fmla="val 17857"/>
              </a:avLst>
            </a:prstGeom>
            <a:solidFill>
              <a:srgbClr val="173D6B"/>
            </a:solidFill>
            <a:ln>
              <a:noFill/>
            </a:ln>
          </p:spPr>
          <p:txBody>
            <a:bodyPr rtlCol="0" anchor="ctr" wrap="square" lIns="54864" rIns="54864" tIns="27432" bIns="27432">
              <a:noAutofit/>
            </a:bodyPr>
            <a:lstStyle/>
            <a:p>
              <a:pPr algn="l"/>
              <a:r>
                <a:rPr sz="1000" b="1" i="0">
                  <a:solidFill>
                    <a:srgbClr val="FFFFFF"/>
                  </a:solidFill>
                  <a:latin typeface="Arial"/>
                </a:rPr>
                <a:t>National evidence</a:t>
              </a:r>
            </a:p>
          </p:txBody>
        </p:sp>
        <p:sp>
          <p:nvSpPr>
            <p:cNvPr id="40" name="Rounded Rectangle 39"/>
            <p:cNvSpPr/>
            <p:nvPr/>
          </p:nvSpPr>
          <p:spPr>
            <a:xfrm>
              <a:off x="128016" y="3000508"/>
              <a:ext cx="1869898" cy="858260"/>
            </a:xfrm>
            <a:prstGeom prst="roundRect">
              <a:avLst>
                <a:gd name="adj" fmla="val 5327"/>
              </a:avLst>
            </a:prstGeom>
            <a:solidFill>
              <a:srgbClr val="FFFFFF"/>
            </a:solidFill>
            <a:ln w="9525">
              <a:solidFill>
                <a:srgbClr val="466E9E"/>
              </a:solidFill>
              <a:prstDash val="sysDot"/>
            </a:ln>
          </p:spPr>
          <p:txBody>
            <a:bodyPr rtlCol="0" anchor="t" wrap="square" lIns="45720" rIns="45720" tIns="27432" bIns="27432">
              <a:noAutofit/>
            </a:bodyPr>
            <a:lstStyle/>
            <a:p>
              <a:pPr algn="l"/>
              <a:r>
                <a:rPr sz="1000" b="0" i="0">
                  <a:solidFill>
                    <a:srgbClr val="1A1A1A"/>
                  </a:solidFill>
                  <a:latin typeface="Arial"/>
                </a:rPr>
                <a:t>ICMR-INDIAB survey of </a:t>
              </a:r>
              <a:r>
                <a:rPr sz="1000" b="1" i="0">
                  <a:solidFill>
                    <a:srgbClr val="1A1A1A"/>
                  </a:solidFill>
                  <a:latin typeface="Arial"/>
                </a:rPr>
                <a:t>113,043</a:t>
              </a:r>
              <a:r>
                <a:rPr sz="1000" b="0" i="0">
                  <a:solidFill>
                    <a:srgbClr val="1A1A1A"/>
                  </a:solidFill>
                  <a:latin typeface="Arial"/>
                </a:rPr>
                <a:t> adults across </a:t>
              </a:r>
              <a:r>
                <a:rPr sz="1000" b="1" i="0">
                  <a:solidFill>
                    <a:srgbClr val="1A1A1A"/>
                  </a:solidFill>
                  <a:latin typeface="Arial"/>
                </a:rPr>
                <a:t>31</a:t>
              </a:r>
              <a:r>
                <a:rPr sz="1000" b="0" i="0">
                  <a:solidFill>
                    <a:srgbClr val="1A1A1A"/>
                  </a:solidFill>
                  <a:latin typeface="Arial"/>
                </a:rPr>
                <a:t> states and UTs, Lancet Diabetes and Endocrinology </a:t>
              </a:r>
              <a:r>
                <a:rPr sz="1000" b="1" i="0">
                  <a:solidFill>
                    <a:srgbClr val="1A1A1A"/>
                  </a:solidFill>
                  <a:latin typeface="Arial"/>
                </a:rPr>
                <a:t>2023</a:t>
              </a:r>
            </a:p>
          </p:txBody>
        </p:sp>
        <p:sp>
          <p:nvSpPr>
            <p:cNvPr id="41" name="Rounded Rectangle 40"/>
            <p:cNvSpPr/>
            <p:nvPr/>
          </p:nvSpPr>
          <p:spPr>
            <a:xfrm>
              <a:off x="2052778" y="2744476"/>
              <a:ext cx="1869898" cy="256032"/>
            </a:xfrm>
            <a:prstGeom prst="roundRect">
              <a:avLst>
                <a:gd name="adj" fmla="val 17857"/>
              </a:avLst>
            </a:prstGeom>
            <a:solidFill>
              <a:srgbClr val="173D6B"/>
            </a:solidFill>
            <a:ln>
              <a:noFill/>
            </a:ln>
          </p:spPr>
          <p:txBody>
            <a:bodyPr rtlCol="0" anchor="ctr" wrap="square" lIns="54864" rIns="54864" tIns="27432" bIns="27432">
              <a:noAutofit/>
            </a:bodyPr>
            <a:lstStyle/>
            <a:p>
              <a:pPr algn="l"/>
              <a:r>
                <a:rPr sz="1000" b="1" i="0">
                  <a:solidFill>
                    <a:srgbClr val="FFFFFF"/>
                  </a:solidFill>
                  <a:latin typeface="Arial"/>
                </a:rPr>
                <a:t>Indian risk profile</a:t>
              </a:r>
            </a:p>
          </p:txBody>
        </p:sp>
        <p:sp>
          <p:nvSpPr>
            <p:cNvPr id="42" name="Rounded Rectangle 41"/>
            <p:cNvSpPr/>
            <p:nvPr/>
          </p:nvSpPr>
          <p:spPr>
            <a:xfrm>
              <a:off x="2052778" y="3000508"/>
              <a:ext cx="1869898" cy="858260"/>
            </a:xfrm>
            <a:prstGeom prst="roundRect">
              <a:avLst>
                <a:gd name="adj" fmla="val 5327"/>
              </a:avLst>
            </a:prstGeom>
            <a:solidFill>
              <a:srgbClr val="FFFFFF"/>
            </a:solidFill>
            <a:ln w="9525">
              <a:solidFill>
                <a:srgbClr val="466E9E"/>
              </a:solidFill>
              <a:prstDash val="sysDot"/>
            </a:ln>
          </p:spPr>
          <p:txBody>
            <a:bodyPr rtlCol="0" anchor="t" wrap="square" lIns="45720" rIns="45720" tIns="27432" bIns="27432">
              <a:noAutofit/>
            </a:bodyPr>
            <a:lstStyle/>
            <a:p>
              <a:pPr algn="l"/>
              <a:r>
                <a:rPr sz="1000" b="0" i="0">
                  <a:solidFill>
                    <a:srgbClr val="1A1A1A"/>
                  </a:solidFill>
                  <a:latin typeface="Arial"/>
                </a:rPr>
                <a:t>Diabetes at </a:t>
              </a:r>
              <a:r>
                <a:rPr sz="1000" b="1" i="0">
                  <a:solidFill>
                    <a:srgbClr val="1A1A1A"/>
                  </a:solidFill>
                  <a:latin typeface="Arial"/>
                </a:rPr>
                <a:t>lower BMI</a:t>
              </a:r>
              <a:r>
                <a:rPr sz="1000" b="0" i="0">
                  <a:solidFill>
                    <a:srgbClr val="1A1A1A"/>
                  </a:solidFill>
                  <a:latin typeface="Arial"/>
                </a:rPr>
                <a:t> and younger ages; rice and roti plates of </a:t>
              </a:r>
              <a:r>
                <a:rPr sz="1000" b="1" i="0">
                  <a:solidFill>
                    <a:srgbClr val="1A1A1A"/>
                  </a:solidFill>
                  <a:latin typeface="Arial"/>
                </a:rPr>
                <a:t>60 to 95 g</a:t>
              </a:r>
              <a:r>
                <a:rPr sz="1000" b="0" i="0">
                  <a:solidFill>
                    <a:srgbClr val="1A1A1A"/>
                  </a:solidFill>
                  <a:latin typeface="Arial"/>
                </a:rPr>
                <a:t> carbs</a:t>
              </a:r>
            </a:p>
          </p:txBody>
        </p:sp>
      </p:grpSp>
      <p:grpSp>
        <p:nvGrpSpPr>
          <p:cNvPr id="43" name="Group 42"/>
          <p:cNvGrpSpPr/>
          <p:nvPr/>
        </p:nvGrpSpPr>
        <p:grpSpPr>
          <a:xfrm>
            <a:off x="4050692" y="1097280"/>
            <a:ext cx="4090311" cy="2816352"/>
            <a:chOff x="4050692" y="1097280"/>
            <a:chExt cx="4090311" cy="2816352"/>
          </a:xfrm>
        </p:grpSpPr>
        <p:sp>
          <p:nvSpPr>
            <p:cNvPr id="44" name="frame:Same HbA1c, differen"/>
            <p:cNvSpPr/>
            <p:nvPr/>
          </p:nvSpPr>
          <p:spPr>
            <a:xfrm>
              <a:off x="4050692" y="1234440"/>
              <a:ext cx="4090311" cy="2679192"/>
            </a:xfrm>
            <a:prstGeom prst="roundRect">
              <a:avLst>
                <a:gd name="adj" fmla="val 1706"/>
              </a:avLst>
            </a:prstGeom>
            <a:solidFill>
              <a:srgbClr val="F1F4F8"/>
            </a:solidFill>
            <a:ln w="15875">
              <a:solidFill>
                <a:srgbClr val="466E9E"/>
              </a:solidFill>
              <a:prstDash val="sysDot"/>
            </a:ln>
          </p:spPr>
          <p:txBody>
            <a:bodyPr rtlCol="0" anchor="ctr"/>
            <a:lstStyle/>
            <a:p/>
          </p:txBody>
        </p:sp>
        <p:sp>
          <p:nvSpPr>
            <p:cNvPr id="45" name="Rounded Rectangle 44"/>
            <p:cNvSpPr/>
            <p:nvPr/>
          </p:nvSpPr>
          <p:spPr>
            <a:xfrm>
              <a:off x="4050692" y="1097280"/>
              <a:ext cx="2527792" cy="274320"/>
            </a:xfrm>
            <a:prstGeom prst="roundRect">
              <a:avLst>
                <a:gd name="adj" fmla="val 13333"/>
              </a:avLst>
            </a:prstGeom>
            <a:solidFill>
              <a:srgbClr val="1D4E89"/>
            </a:solidFill>
            <a:ln>
              <a:noFill/>
            </a:ln>
          </p:spPr>
          <p:txBody>
            <a:bodyPr rtlCol="0" anchor="ctr"/>
            <a:lstStyle/>
            <a:p/>
          </p:txBody>
        </p:sp>
        <p:pic>
          <p:nvPicPr>
            <p:cNvPr id="46" name="Picture 45" descr="ic_fa6_FaScaleUnbalanced_FFFFFF.png"/>
            <p:cNvPicPr>
              <a:picLocks noChangeAspect="1"/>
            </p:cNvPicPr>
            <p:nvPr/>
          </p:nvPicPr>
          <p:blipFill>
            <a:blip r:embed="rId3"/>
            <a:stretch>
              <a:fillRect/>
            </a:stretch>
          </p:blipFill>
          <p:spPr>
            <a:xfrm>
              <a:off x="4105556" y="1133856"/>
              <a:ext cx="201168" cy="201168"/>
            </a:xfrm>
            <a:prstGeom prst="rect">
              <a:avLst/>
            </a:prstGeom>
          </p:spPr>
        </p:pic>
        <p:sp>
          <p:nvSpPr>
            <p:cNvPr id="47" name="TextBox 46"/>
            <p:cNvSpPr txBox="1"/>
            <p:nvPr/>
          </p:nvSpPr>
          <p:spPr>
            <a:xfrm>
              <a:off x="4352444" y="1097280"/>
              <a:ext cx="2198608" cy="274320"/>
            </a:xfrm>
            <a:prstGeom prst="rect">
              <a:avLst/>
            </a:prstGeom>
            <a:noFill/>
          </p:spPr>
          <p:txBody>
            <a:bodyPr wrap="square" lIns="9144" rIns="9144" tIns="9144" bIns="9144" anchor="ctr">
              <a:noAutofit/>
            </a:bodyPr>
            <a:lstStyle/>
            <a:p>
              <a:pPr algn="l"/>
              <a:r>
                <a:rPr sz="1200" b="1" i="0">
                  <a:solidFill>
                    <a:srgbClr val="FFFFFF"/>
                  </a:solidFill>
                  <a:latin typeface="Arial"/>
                </a:rPr>
                <a:t>Same HbA1c, different days</a:t>
              </a:r>
            </a:p>
          </p:txBody>
        </p:sp>
        <p:sp>
          <p:nvSpPr>
            <p:cNvPr id="48" name="Rounded Rectangle 47"/>
            <p:cNvSpPr/>
            <p:nvPr/>
          </p:nvSpPr>
          <p:spPr>
            <a:xfrm>
              <a:off x="6651636" y="1106424"/>
              <a:ext cx="1416215" cy="256032"/>
            </a:xfrm>
            <a:prstGeom prst="roundRect">
              <a:avLst>
                <a:gd name="adj" fmla="val 10714"/>
              </a:avLst>
            </a:prstGeom>
            <a:solidFill>
              <a:srgbClr val="FFFFFF"/>
            </a:solidFill>
            <a:ln>
              <a:noFill/>
            </a:ln>
          </p:spPr>
          <p:txBody>
            <a:bodyPr rtlCol="0" anchor="ctr" wrap="square" lIns="36576" rIns="36576" tIns="27432" bIns="27432">
              <a:noAutofit/>
            </a:bodyPr>
            <a:lstStyle/>
            <a:p>
              <a:pPr algn="r"/>
              <a:r>
                <a:rPr sz="1000" b="0" i="1">
                  <a:solidFill>
                    <a:srgbClr val="1D4E89"/>
                  </a:solidFill>
                  <a:latin typeface="Arial"/>
                </a:rPr>
                <a:t>% of day above 180</a:t>
              </a:r>
            </a:p>
          </p:txBody>
        </p:sp>
        <p:graphicFrame>
          <p:nvGraphicFramePr>
            <p:cNvPr id="49" name="ig:bar"/>
            <p:cNvGraphicFramePr>
              <a:graphicFrameLocks noGrp="1"/>
            </p:cNvGraphicFramePr>
            <p:nvPr/>
          </p:nvGraphicFramePr>
          <p:xfrm>
            <a:off x="4105556" y="1408176"/>
            <a:ext cx="3980583" cy="1281436"/>
          </p:xfrm>
          <a:graphic>
            <a:graphicData uri="http://schemas.openxmlformats.org/drawingml/2006/chart">
              <c:chart xmlns:c="http://schemas.openxmlformats.org/drawingml/2006/chart" r:id="rId4"/>
            </a:graphicData>
          </a:graphic>
        </p:graphicFrame>
        <p:sp>
          <p:nvSpPr>
            <p:cNvPr id="50" name="ig:stat"/>
            <p:cNvSpPr/>
            <p:nvPr/>
          </p:nvSpPr>
          <p:spPr>
            <a:xfrm>
              <a:off x="4105556" y="2744476"/>
              <a:ext cx="1296381" cy="468003"/>
            </a:xfrm>
            <a:prstGeom prst="roundRect">
              <a:avLst>
                <a:gd name="adj" fmla="val 5861"/>
              </a:avLst>
            </a:prstGeom>
            <a:solidFill>
              <a:srgbClr val="C9D5E3"/>
            </a:solidFill>
            <a:ln w="6350">
              <a:solidFill>
                <a:srgbClr val="BFBFBF"/>
              </a:solidFill>
            </a:ln>
          </p:spPr>
          <p:txBody>
            <a:bodyPr rtlCol="0" anchor="ctr" wrap="square" lIns="45720" rIns="45720" tIns="27432" bIns="27432">
              <a:noAutofit/>
            </a:bodyPr>
            <a:lstStyle/>
            <a:p>
              <a:pPr algn="ctr"/>
              <a:r>
                <a:rPr sz="1800" b="1" i="0">
                  <a:solidFill>
                    <a:srgbClr val="1A1A1A"/>
                  </a:solidFill>
                  <a:latin typeface="Arial"/>
                </a:rPr>
                <a:t>22 vs 45</a:t>
              </a:r>
            </a:p>
          </p:txBody>
        </p:sp>
        <p:sp>
          <p:nvSpPr>
            <p:cNvPr id="51" name="TextBox 50"/>
            <p:cNvSpPr txBox="1"/>
            <p:nvPr/>
          </p:nvSpPr>
          <p:spPr>
            <a:xfrm>
              <a:off x="4105556" y="3239911"/>
              <a:ext cx="1296381" cy="618857"/>
            </a:xfrm>
            <a:prstGeom prst="rect">
              <a:avLst/>
            </a:prstGeom>
            <a:noFill/>
          </p:spPr>
          <p:txBody>
            <a:bodyPr wrap="square" lIns="45720" rIns="45720" tIns="27432" bIns="27432" anchor="t">
              <a:noAutofit/>
            </a:bodyPr>
            <a:lstStyle/>
            <a:p>
              <a:pPr algn="ctr"/>
              <a:r>
                <a:rPr sz="1100" b="0" i="1">
                  <a:solidFill>
                    <a:srgbClr val="1A1A1A"/>
                  </a:solidFill>
                  <a:latin typeface="Arial"/>
                </a:rPr>
                <a:t>glucose SD, mg/dL</a:t>
              </a:r>
            </a:p>
          </p:txBody>
        </p:sp>
        <p:sp>
          <p:nvSpPr>
            <p:cNvPr id="52" name="ig:stat"/>
            <p:cNvSpPr/>
            <p:nvPr/>
          </p:nvSpPr>
          <p:spPr>
            <a:xfrm>
              <a:off x="5447657" y="2744476"/>
              <a:ext cx="1296381" cy="468003"/>
            </a:xfrm>
            <a:prstGeom prst="roundRect">
              <a:avLst>
                <a:gd name="adj" fmla="val 5861"/>
              </a:avLst>
            </a:prstGeom>
            <a:solidFill>
              <a:srgbClr val="C9D5E3"/>
            </a:solidFill>
            <a:ln w="6350">
              <a:solidFill>
                <a:srgbClr val="BFBFBF"/>
              </a:solidFill>
            </a:ln>
          </p:spPr>
          <p:txBody>
            <a:bodyPr rtlCol="0" anchor="ctr" wrap="square" lIns="45720" rIns="45720" tIns="27432" bIns="27432">
              <a:noAutofit/>
            </a:bodyPr>
            <a:lstStyle/>
            <a:p>
              <a:pPr algn="ctr"/>
              <a:r>
                <a:rPr sz="1800" b="1" i="0">
                  <a:solidFill>
                    <a:srgbClr val="1A1A1A"/>
                  </a:solidFill>
                  <a:latin typeface="Arial"/>
                </a:rPr>
                <a:t>2.2x</a:t>
              </a:r>
            </a:p>
          </p:txBody>
        </p:sp>
        <p:sp>
          <p:nvSpPr>
            <p:cNvPr id="53" name="TextBox 52"/>
            <p:cNvSpPr txBox="1"/>
            <p:nvPr/>
          </p:nvSpPr>
          <p:spPr>
            <a:xfrm>
              <a:off x="5447657" y="3239911"/>
              <a:ext cx="1296381" cy="618857"/>
            </a:xfrm>
            <a:prstGeom prst="rect">
              <a:avLst/>
            </a:prstGeom>
            <a:noFill/>
          </p:spPr>
          <p:txBody>
            <a:bodyPr wrap="square" lIns="45720" rIns="45720" tIns="27432" bIns="27432" anchor="t">
              <a:noAutofit/>
            </a:bodyPr>
            <a:lstStyle/>
            <a:p>
              <a:pPr algn="ctr"/>
              <a:r>
                <a:rPr sz="1100" b="0" i="1">
                  <a:solidFill>
                    <a:srgbClr val="1A1A1A"/>
                  </a:solidFill>
                  <a:latin typeface="Arial"/>
                </a:rPr>
                <a:t>more time in spikes</a:t>
              </a:r>
            </a:p>
          </p:txBody>
        </p:sp>
        <p:sp>
          <p:nvSpPr>
            <p:cNvPr id="54" name="ig:stat"/>
            <p:cNvSpPr/>
            <p:nvPr/>
          </p:nvSpPr>
          <p:spPr>
            <a:xfrm>
              <a:off x="6789758" y="2744476"/>
              <a:ext cx="1296381" cy="468003"/>
            </a:xfrm>
            <a:prstGeom prst="roundRect">
              <a:avLst>
                <a:gd name="adj" fmla="val 5861"/>
              </a:avLst>
            </a:prstGeom>
            <a:solidFill>
              <a:srgbClr val="C9D5E3"/>
            </a:solidFill>
            <a:ln w="6350">
              <a:solidFill>
                <a:srgbClr val="BFBFBF"/>
              </a:solidFill>
            </a:ln>
          </p:spPr>
          <p:txBody>
            <a:bodyPr rtlCol="0" anchor="ctr" wrap="square" lIns="45720" rIns="45720" tIns="27432" bIns="27432">
              <a:noAutofit/>
            </a:bodyPr>
            <a:lstStyle/>
            <a:p>
              <a:pPr algn="ctr"/>
              <a:r>
                <a:rPr sz="1800" b="1" i="0">
                  <a:solidFill>
                    <a:srgbClr val="1A1A1A"/>
                  </a:solidFill>
                  <a:latin typeface="Arial"/>
                </a:rPr>
                <a:t>3 mo</a:t>
              </a:r>
            </a:p>
          </p:txBody>
        </p:sp>
        <p:sp>
          <p:nvSpPr>
            <p:cNvPr id="55" name="TextBox 54"/>
            <p:cNvSpPr txBox="1"/>
            <p:nvPr/>
          </p:nvSpPr>
          <p:spPr>
            <a:xfrm>
              <a:off x="6789758" y="3239911"/>
              <a:ext cx="1296381" cy="618857"/>
            </a:xfrm>
            <a:prstGeom prst="rect">
              <a:avLst/>
            </a:prstGeom>
            <a:noFill/>
          </p:spPr>
          <p:txBody>
            <a:bodyPr wrap="square" lIns="45720" rIns="45720" tIns="27432" bIns="27432" anchor="t">
              <a:noAutofit/>
            </a:bodyPr>
            <a:lstStyle/>
            <a:p>
              <a:pPr algn="ctr"/>
              <a:r>
                <a:rPr sz="1100" b="0" i="1">
                  <a:solidFill>
                    <a:srgbClr val="1A1A1A"/>
                  </a:solidFill>
                  <a:latin typeface="Arial"/>
                </a:rPr>
                <a:t>HbA1c review cycle</a:t>
              </a:r>
            </a:p>
          </p:txBody>
        </p:sp>
      </p:grpSp>
      <p:grpSp>
        <p:nvGrpSpPr>
          <p:cNvPr id="56" name="Group 55"/>
          <p:cNvGrpSpPr/>
          <p:nvPr/>
        </p:nvGrpSpPr>
        <p:grpSpPr>
          <a:xfrm>
            <a:off x="8214155" y="1097280"/>
            <a:ext cx="3904388" cy="2816352"/>
            <a:chOff x="8214155" y="1097280"/>
            <a:chExt cx="3904388" cy="2816352"/>
          </a:xfrm>
        </p:grpSpPr>
        <p:sp>
          <p:nvSpPr>
            <p:cNvPr id="57" name="frame:Alarms fire too late"/>
            <p:cNvSpPr/>
            <p:nvPr/>
          </p:nvSpPr>
          <p:spPr>
            <a:xfrm>
              <a:off x="8214155" y="1234440"/>
              <a:ext cx="3904388" cy="2679192"/>
            </a:xfrm>
            <a:prstGeom prst="roundRect">
              <a:avLst>
                <a:gd name="adj" fmla="val 1706"/>
              </a:avLst>
            </a:prstGeom>
            <a:solidFill>
              <a:srgbClr val="F1F4F8"/>
            </a:solidFill>
            <a:ln w="15875">
              <a:solidFill>
                <a:srgbClr val="466E9E"/>
              </a:solidFill>
              <a:prstDash val="sysDot"/>
            </a:ln>
          </p:spPr>
          <p:txBody>
            <a:bodyPr rtlCol="0" anchor="ctr"/>
            <a:lstStyle/>
            <a:p/>
          </p:txBody>
        </p:sp>
        <p:sp>
          <p:nvSpPr>
            <p:cNvPr id="58" name="Rounded Rectangle 57"/>
            <p:cNvSpPr/>
            <p:nvPr/>
          </p:nvSpPr>
          <p:spPr>
            <a:xfrm>
              <a:off x="8214155" y="1097280"/>
              <a:ext cx="1892554" cy="274320"/>
            </a:xfrm>
            <a:prstGeom prst="roundRect">
              <a:avLst>
                <a:gd name="adj" fmla="val 13333"/>
              </a:avLst>
            </a:prstGeom>
            <a:solidFill>
              <a:srgbClr val="1D4E89"/>
            </a:solidFill>
            <a:ln>
              <a:noFill/>
            </a:ln>
          </p:spPr>
          <p:txBody>
            <a:bodyPr rtlCol="0" anchor="ctr"/>
            <a:lstStyle/>
            <a:p/>
          </p:txBody>
        </p:sp>
        <p:pic>
          <p:nvPicPr>
            <p:cNvPr id="59" name="Picture 58" descr="ic_fa6_FaBellSlash_FFFFFF.png"/>
            <p:cNvPicPr>
              <a:picLocks noChangeAspect="1"/>
            </p:cNvPicPr>
            <p:nvPr/>
          </p:nvPicPr>
          <p:blipFill>
            <a:blip r:embed="rId5"/>
            <a:stretch>
              <a:fillRect/>
            </a:stretch>
          </p:blipFill>
          <p:spPr>
            <a:xfrm>
              <a:off x="8269019" y="1133856"/>
              <a:ext cx="201168" cy="201168"/>
            </a:xfrm>
            <a:prstGeom prst="rect">
              <a:avLst/>
            </a:prstGeom>
          </p:spPr>
        </p:pic>
        <p:sp>
          <p:nvSpPr>
            <p:cNvPr id="60" name="TextBox 59"/>
            <p:cNvSpPr txBox="1"/>
            <p:nvPr/>
          </p:nvSpPr>
          <p:spPr>
            <a:xfrm>
              <a:off x="8515907" y="1097280"/>
              <a:ext cx="1563370" cy="274320"/>
            </a:xfrm>
            <a:prstGeom prst="rect">
              <a:avLst/>
            </a:prstGeom>
            <a:noFill/>
          </p:spPr>
          <p:txBody>
            <a:bodyPr wrap="square" lIns="9144" rIns="9144" tIns="9144" bIns="9144" anchor="ctr">
              <a:noAutofit/>
            </a:bodyPr>
            <a:lstStyle/>
            <a:p>
              <a:pPr algn="l"/>
              <a:r>
                <a:rPr sz="1200" b="1" i="0">
                  <a:solidFill>
                    <a:srgbClr val="FFFFFF"/>
                  </a:solidFill>
                  <a:latin typeface="Arial"/>
                </a:rPr>
                <a:t>Alarms fire too late</a:t>
              </a:r>
            </a:p>
          </p:txBody>
        </p:sp>
        <p:sp>
          <p:nvSpPr>
            <p:cNvPr id="61" name="Rounded Rectangle 60"/>
            <p:cNvSpPr/>
            <p:nvPr/>
          </p:nvSpPr>
          <p:spPr>
            <a:xfrm>
              <a:off x="10179861" y="1106424"/>
              <a:ext cx="1865530" cy="256032"/>
            </a:xfrm>
            <a:prstGeom prst="roundRect">
              <a:avLst>
                <a:gd name="adj" fmla="val 10714"/>
              </a:avLst>
            </a:prstGeom>
            <a:solidFill>
              <a:srgbClr val="FFFFFF"/>
            </a:solidFill>
            <a:ln>
              <a:noFill/>
            </a:ln>
          </p:spPr>
          <p:txBody>
            <a:bodyPr rtlCol="0" anchor="ctr" wrap="square" lIns="36576" rIns="36576" tIns="27432" bIns="27432">
              <a:noAutofit/>
            </a:bodyPr>
            <a:lstStyle/>
            <a:p>
              <a:pPr algn="r"/>
              <a:r>
                <a:rPr sz="1000" b="0" i="1">
                  <a:solidFill>
                    <a:srgbClr val="1D4E89"/>
                  </a:solidFill>
                  <a:latin typeface="Arial"/>
                </a:rPr>
                <a:t>% warned 30+ min ahead</a:t>
              </a:r>
            </a:p>
          </p:txBody>
        </p:sp>
        <p:graphicFrame>
          <p:nvGraphicFramePr>
            <p:cNvPr id="62" name="ig:bar"/>
            <p:cNvGraphicFramePr>
              <a:graphicFrameLocks noGrp="1"/>
            </p:cNvGraphicFramePr>
            <p:nvPr/>
          </p:nvGraphicFramePr>
          <p:xfrm>
            <a:off x="8269019" y="1408176"/>
            <a:ext cx="3794660" cy="1281436"/>
          </p:xfrm>
          <a:graphic>
            <a:graphicData uri="http://schemas.openxmlformats.org/drawingml/2006/chart">
              <c:chart xmlns:c="http://schemas.openxmlformats.org/drawingml/2006/chart" r:id="rId6"/>
            </a:graphicData>
          </a:graphic>
        </p:graphicFrame>
        <p:sp>
          <p:nvSpPr>
            <p:cNvPr id="63" name="ig:stat"/>
            <p:cNvSpPr/>
            <p:nvPr/>
          </p:nvSpPr>
          <p:spPr>
            <a:xfrm>
              <a:off x="8269019" y="2744476"/>
              <a:ext cx="1234407" cy="468003"/>
            </a:xfrm>
            <a:prstGeom prst="roundRect">
              <a:avLst>
                <a:gd name="adj" fmla="val 5861"/>
              </a:avLst>
            </a:prstGeom>
            <a:solidFill>
              <a:srgbClr val="C9D5E3"/>
            </a:solidFill>
            <a:ln w="6350">
              <a:solidFill>
                <a:srgbClr val="BFBFBF"/>
              </a:solidFill>
            </a:ln>
          </p:spPr>
          <p:txBody>
            <a:bodyPr rtlCol="0" anchor="ctr" wrap="square" lIns="45720" rIns="45720" tIns="27432" bIns="27432">
              <a:noAutofit/>
            </a:bodyPr>
            <a:lstStyle/>
            <a:p>
              <a:pPr algn="ctr"/>
              <a:r>
                <a:rPr sz="1800" b="1" i="0">
                  <a:solidFill>
                    <a:srgbClr val="1A1A1A"/>
                  </a:solidFill>
                  <a:latin typeface="Arial"/>
                </a:rPr>
                <a:t>15 min</a:t>
              </a:r>
            </a:p>
          </p:txBody>
        </p:sp>
        <p:sp>
          <p:nvSpPr>
            <p:cNvPr id="64" name="TextBox 63"/>
            <p:cNvSpPr txBox="1"/>
            <p:nvPr/>
          </p:nvSpPr>
          <p:spPr>
            <a:xfrm>
              <a:off x="8269019" y="3239911"/>
              <a:ext cx="1234407" cy="618857"/>
            </a:xfrm>
            <a:prstGeom prst="rect">
              <a:avLst/>
            </a:prstGeom>
            <a:noFill/>
          </p:spPr>
          <p:txBody>
            <a:bodyPr wrap="square" lIns="45720" rIns="45720" tIns="27432" bIns="27432" anchor="t">
              <a:noAutofit/>
            </a:bodyPr>
            <a:lstStyle/>
            <a:p>
              <a:pPr algn="ctr"/>
              <a:r>
                <a:rPr sz="1100" b="0" i="1">
                  <a:solidFill>
                    <a:srgbClr val="1A1A1A"/>
                  </a:solidFill>
                  <a:latin typeface="Arial"/>
                </a:rPr>
                <a:t>median lead, alarm</a:t>
              </a:r>
            </a:p>
          </p:txBody>
        </p:sp>
        <p:sp>
          <p:nvSpPr>
            <p:cNvPr id="65" name="ig:stat"/>
            <p:cNvSpPr/>
            <p:nvPr/>
          </p:nvSpPr>
          <p:spPr>
            <a:xfrm>
              <a:off x="9549146" y="2744476"/>
              <a:ext cx="1234407" cy="468003"/>
            </a:xfrm>
            <a:prstGeom prst="roundRect">
              <a:avLst>
                <a:gd name="adj" fmla="val 5861"/>
              </a:avLst>
            </a:prstGeom>
            <a:solidFill>
              <a:srgbClr val="C9D5E3"/>
            </a:solidFill>
            <a:ln w="6350">
              <a:solidFill>
                <a:srgbClr val="BFBFBF"/>
              </a:solidFill>
            </a:ln>
          </p:spPr>
          <p:txBody>
            <a:bodyPr rtlCol="0" anchor="ctr" wrap="square" lIns="45720" rIns="45720" tIns="27432" bIns="27432">
              <a:noAutofit/>
            </a:bodyPr>
            <a:lstStyle/>
            <a:p>
              <a:pPr algn="ctr"/>
              <a:r>
                <a:rPr sz="1800" b="1" i="0">
                  <a:solidFill>
                    <a:srgbClr val="1A1A1A"/>
                  </a:solidFill>
                  <a:latin typeface="Arial"/>
                </a:rPr>
                <a:t>1.62</a:t>
              </a:r>
            </a:p>
          </p:txBody>
        </p:sp>
        <p:sp>
          <p:nvSpPr>
            <p:cNvPr id="66" name="TextBox 65"/>
            <p:cNvSpPr txBox="1"/>
            <p:nvPr/>
          </p:nvSpPr>
          <p:spPr>
            <a:xfrm>
              <a:off x="9549146" y="3239911"/>
              <a:ext cx="1234407" cy="618857"/>
            </a:xfrm>
            <a:prstGeom prst="rect">
              <a:avLst/>
            </a:prstGeom>
            <a:noFill/>
          </p:spPr>
          <p:txBody>
            <a:bodyPr wrap="square" lIns="45720" rIns="45720" tIns="27432" bIns="27432" anchor="t">
              <a:noAutofit/>
            </a:bodyPr>
            <a:lstStyle/>
            <a:p>
              <a:pPr algn="ctr"/>
              <a:r>
                <a:rPr sz="1100" b="0" i="1">
                  <a:solidFill>
                    <a:srgbClr val="1A1A1A"/>
                  </a:solidFill>
                  <a:latin typeface="Arial"/>
                </a:rPr>
                <a:t>false alerts a day</a:t>
              </a:r>
            </a:p>
          </p:txBody>
        </p:sp>
        <p:sp>
          <p:nvSpPr>
            <p:cNvPr id="67" name="ig:stat"/>
            <p:cNvSpPr/>
            <p:nvPr/>
          </p:nvSpPr>
          <p:spPr>
            <a:xfrm>
              <a:off x="10829273" y="2744476"/>
              <a:ext cx="1234407" cy="468003"/>
            </a:xfrm>
            <a:prstGeom prst="roundRect">
              <a:avLst>
                <a:gd name="adj" fmla="val 5861"/>
              </a:avLst>
            </a:prstGeom>
            <a:solidFill>
              <a:srgbClr val="C9D5E3"/>
            </a:solidFill>
            <a:ln w="6350">
              <a:solidFill>
                <a:srgbClr val="BFBFBF"/>
              </a:solidFill>
            </a:ln>
          </p:spPr>
          <p:txBody>
            <a:bodyPr rtlCol="0" anchor="ctr" wrap="square" lIns="45720" rIns="45720" tIns="27432" bIns="27432">
              <a:noAutofit/>
            </a:bodyPr>
            <a:lstStyle/>
            <a:p>
              <a:pPr algn="ctr"/>
              <a:r>
                <a:rPr sz="1800" b="1" i="0">
                  <a:solidFill>
                    <a:srgbClr val="1A1A1A"/>
                  </a:solidFill>
                  <a:latin typeface="Arial"/>
                </a:rPr>
                <a:t>16%</a:t>
              </a:r>
            </a:p>
          </p:txBody>
        </p:sp>
        <p:sp>
          <p:nvSpPr>
            <p:cNvPr id="68" name="TextBox 67"/>
            <p:cNvSpPr txBox="1"/>
            <p:nvPr/>
          </p:nvSpPr>
          <p:spPr>
            <a:xfrm>
              <a:off x="10829273" y="3239911"/>
              <a:ext cx="1234407" cy="618857"/>
            </a:xfrm>
            <a:prstGeom prst="rect">
              <a:avLst/>
            </a:prstGeom>
            <a:noFill/>
          </p:spPr>
          <p:txBody>
            <a:bodyPr wrap="square" lIns="45720" rIns="45720" tIns="27432" bIns="27432" anchor="t">
              <a:noAutofit/>
            </a:bodyPr>
            <a:lstStyle/>
            <a:p>
              <a:pPr algn="ctr"/>
              <a:r>
                <a:rPr sz="1100" b="0" i="1">
                  <a:solidFill>
                    <a:srgbClr val="1A1A1A"/>
                  </a:solidFill>
                  <a:latin typeface="Arial"/>
                </a:rPr>
                <a:t>spikes never warned</a:t>
              </a:r>
            </a:p>
          </p:txBody>
        </p:sp>
      </p:grpSp>
      <p:grpSp>
        <p:nvGrpSpPr>
          <p:cNvPr id="69" name="Group 68"/>
          <p:cNvGrpSpPr/>
          <p:nvPr/>
        </p:nvGrpSpPr>
        <p:grpSpPr>
          <a:xfrm>
            <a:off x="73152" y="3986784"/>
            <a:ext cx="6385194" cy="2816352"/>
            <a:chOff x="73152" y="3986784"/>
            <a:chExt cx="6385194" cy="2816352"/>
          </a:xfrm>
        </p:grpSpPr>
        <p:sp>
          <p:nvSpPr>
            <p:cNvPr id="70" name="frame:Anatomy of a missed "/>
            <p:cNvSpPr/>
            <p:nvPr/>
          </p:nvSpPr>
          <p:spPr>
            <a:xfrm>
              <a:off x="73152" y="4123944"/>
              <a:ext cx="6385194" cy="2679192"/>
            </a:xfrm>
            <a:prstGeom prst="roundRect">
              <a:avLst>
                <a:gd name="adj" fmla="val 1706"/>
              </a:avLst>
            </a:prstGeom>
            <a:solidFill>
              <a:srgbClr val="F1F4F8"/>
            </a:solidFill>
            <a:ln w="15875">
              <a:solidFill>
                <a:srgbClr val="466E9E"/>
              </a:solidFill>
              <a:prstDash val="sysDot"/>
            </a:ln>
          </p:spPr>
          <p:txBody>
            <a:bodyPr rtlCol="0" anchor="ctr"/>
            <a:lstStyle/>
            <a:p/>
          </p:txBody>
        </p:sp>
        <p:sp>
          <p:nvSpPr>
            <p:cNvPr id="71" name="Rounded Rectangle 70"/>
            <p:cNvSpPr/>
            <p:nvPr/>
          </p:nvSpPr>
          <p:spPr>
            <a:xfrm>
              <a:off x="73152" y="3986784"/>
              <a:ext cx="2476952" cy="274320"/>
            </a:xfrm>
            <a:prstGeom prst="roundRect">
              <a:avLst>
                <a:gd name="adj" fmla="val 13333"/>
              </a:avLst>
            </a:prstGeom>
            <a:solidFill>
              <a:srgbClr val="1D4E89"/>
            </a:solidFill>
            <a:ln>
              <a:noFill/>
            </a:ln>
          </p:spPr>
          <p:txBody>
            <a:bodyPr rtlCol="0" anchor="ctr"/>
            <a:lstStyle/>
            <a:p/>
          </p:txBody>
        </p:sp>
        <p:pic>
          <p:nvPicPr>
            <p:cNvPr id="72" name="Picture 71" descr="ic_fa6_FaRoute_FFFFFF.png"/>
            <p:cNvPicPr>
              <a:picLocks noChangeAspect="1"/>
            </p:cNvPicPr>
            <p:nvPr/>
          </p:nvPicPr>
          <p:blipFill>
            <a:blip r:embed="rId7"/>
            <a:stretch>
              <a:fillRect/>
            </a:stretch>
          </p:blipFill>
          <p:spPr>
            <a:xfrm>
              <a:off x="128016" y="4023360"/>
              <a:ext cx="201168" cy="201168"/>
            </a:xfrm>
            <a:prstGeom prst="rect">
              <a:avLst/>
            </a:prstGeom>
          </p:spPr>
        </p:pic>
        <p:sp>
          <p:nvSpPr>
            <p:cNvPr id="73" name="TextBox 72"/>
            <p:cNvSpPr txBox="1"/>
            <p:nvPr/>
          </p:nvSpPr>
          <p:spPr>
            <a:xfrm>
              <a:off x="374904" y="3986784"/>
              <a:ext cx="2147768" cy="274320"/>
            </a:xfrm>
            <a:prstGeom prst="rect">
              <a:avLst/>
            </a:prstGeom>
            <a:noFill/>
          </p:spPr>
          <p:txBody>
            <a:bodyPr wrap="square" lIns="9144" rIns="9144" tIns="9144" bIns="9144" anchor="ctr">
              <a:noAutofit/>
            </a:bodyPr>
            <a:lstStyle/>
            <a:p>
              <a:pPr algn="l"/>
              <a:r>
                <a:rPr sz="1200" b="1" i="0">
                  <a:solidFill>
                    <a:srgbClr val="FFFFFF"/>
                  </a:solidFill>
                  <a:latin typeface="Arial"/>
                </a:rPr>
                <a:t>Anatomy of a missed spike</a:t>
              </a:r>
            </a:p>
          </p:txBody>
        </p:sp>
        <p:sp>
          <p:nvSpPr>
            <p:cNvPr id="74" name="Rounded Rectangle 73"/>
            <p:cNvSpPr/>
            <p:nvPr/>
          </p:nvSpPr>
          <p:spPr>
            <a:xfrm>
              <a:off x="128016" y="4297680"/>
              <a:ext cx="1066829" cy="2450592"/>
            </a:xfrm>
            <a:prstGeom prst="roundRect">
              <a:avLst>
                <a:gd name="adj" fmla="val 5142"/>
              </a:avLst>
            </a:prstGeom>
            <a:solidFill>
              <a:srgbClr val="F1F4F8"/>
            </a:solidFill>
            <a:ln>
              <a:noFill/>
            </a:ln>
          </p:spPr>
          <p:txBody>
            <a:bodyPr rtlCol="0" anchor="ctr"/>
            <a:lstStyle/>
            <a:p/>
          </p:txBody>
        </p:sp>
        <p:pic>
          <p:nvPicPr>
            <p:cNvPr id="75" name="Picture 74" descr="rice_plate.png"/>
            <p:cNvPicPr>
              <a:picLocks noChangeAspect="1"/>
            </p:cNvPicPr>
            <p:nvPr/>
          </p:nvPicPr>
          <p:blipFill>
            <a:blip r:embed="rId8"/>
            <a:stretch>
              <a:fillRect/>
            </a:stretch>
          </p:blipFill>
          <p:spPr>
            <a:xfrm>
              <a:off x="173736" y="5037543"/>
              <a:ext cx="975389" cy="714833"/>
            </a:xfrm>
            <a:prstGeom prst="rect">
              <a:avLst/>
            </a:prstGeom>
          </p:spPr>
        </p:pic>
        <p:sp>
          <p:nvSpPr>
            <p:cNvPr id="76" name="TextBox 75"/>
            <p:cNvSpPr txBox="1"/>
            <p:nvPr/>
          </p:nvSpPr>
          <p:spPr>
            <a:xfrm>
              <a:off x="128016" y="6473952"/>
              <a:ext cx="1066829" cy="274320"/>
            </a:xfrm>
            <a:prstGeom prst="rect">
              <a:avLst/>
            </a:prstGeom>
            <a:noFill/>
          </p:spPr>
          <p:txBody>
            <a:bodyPr wrap="square" lIns="45720" rIns="45720" tIns="27432" bIns="27432" anchor="ctr">
              <a:noAutofit/>
            </a:bodyPr>
            <a:lstStyle/>
            <a:p>
              <a:pPr algn="ctr"/>
              <a:r>
                <a:rPr sz="1000" b="1" i="0">
                  <a:solidFill>
                    <a:srgbClr val="173D6B"/>
                  </a:solidFill>
                  <a:latin typeface="Arial"/>
                </a:rPr>
                <a:t>Usual lunch</a:t>
              </a:r>
            </a:p>
          </p:txBody>
        </p:sp>
        <p:sp>
          <p:nvSpPr>
            <p:cNvPr id="77" name="ig:flow"/>
            <p:cNvSpPr/>
            <p:nvPr/>
          </p:nvSpPr>
          <p:spPr>
            <a:xfrm>
              <a:off x="1304573" y="4297680"/>
              <a:ext cx="1068987" cy="2084832"/>
            </a:xfrm>
            <a:prstGeom prst="roundRect">
              <a:avLst>
                <a:gd name="adj" fmla="val 4276"/>
              </a:avLst>
            </a:prstGeom>
            <a:solidFill>
              <a:srgbClr val="FFFFFF"/>
            </a:solidFill>
            <a:ln w="9525">
              <a:solidFill>
                <a:srgbClr val="466E9E"/>
              </a:solidFill>
              <a:prstDash val="sysDot"/>
            </a:ln>
          </p:spPr>
          <p:txBody>
            <a:bodyPr rtlCol="0" anchor="ctr"/>
            <a:lstStyle/>
            <a:p/>
          </p:txBody>
        </p:sp>
        <p:pic>
          <p:nvPicPr>
            <p:cNvPr id="78" name="Picture 77" descr="ic_fa6_FaArrowTrendUp_1A1A1A.png"/>
            <p:cNvPicPr>
              <a:picLocks noChangeAspect="1"/>
            </p:cNvPicPr>
            <p:nvPr/>
          </p:nvPicPr>
          <p:blipFill>
            <a:blip r:embed="rId9"/>
            <a:stretch>
              <a:fillRect/>
            </a:stretch>
          </p:blipFill>
          <p:spPr>
            <a:xfrm>
              <a:off x="1656187" y="4334256"/>
              <a:ext cx="365760" cy="365760"/>
            </a:xfrm>
            <a:prstGeom prst="rect">
              <a:avLst/>
            </a:prstGeom>
          </p:spPr>
        </p:pic>
        <p:sp>
          <p:nvSpPr>
            <p:cNvPr id="79" name="TextBox 78"/>
            <p:cNvSpPr txBox="1"/>
            <p:nvPr/>
          </p:nvSpPr>
          <p:spPr>
            <a:xfrm>
              <a:off x="1304573" y="4700016"/>
              <a:ext cx="1068987" cy="1664208"/>
            </a:xfrm>
            <a:prstGeom prst="rect">
              <a:avLst/>
            </a:prstGeom>
            <a:noFill/>
          </p:spPr>
          <p:txBody>
            <a:bodyPr wrap="square" lIns="36576" rIns="36576" tIns="27432" bIns="27432" anchor="ctr">
              <a:noAutofit/>
            </a:bodyPr>
            <a:lstStyle/>
            <a:p>
              <a:pPr algn="ctr"/>
              <a:r>
                <a:rPr sz="1200" b="1" i="0">
                  <a:solidFill>
                    <a:srgbClr val="1A1A1A"/>
                  </a:solidFill>
                  <a:latin typeface="Arial"/>
                </a:rPr>
                <a:t>Glucose climbs</a:t>
              </a:r>
            </a:p>
            <a:p>
              <a:pPr algn="ctr"/>
              <a:r>
                <a:rPr sz="1200" b="0" i="0">
                  <a:solidFill>
                    <a:srgbClr val="1A1A1A"/>
                  </a:solidFill>
                  <a:latin typeface="Arial"/>
                </a:rPr>
                <a:t>45 to 90 min after a </a:t>
              </a:r>
              <a:r>
                <a:rPr sz="1200" b="1" i="0">
                  <a:solidFill>
                    <a:srgbClr val="1A1A1A"/>
                  </a:solidFill>
                  <a:latin typeface="Arial"/>
                </a:rPr>
                <a:t>90 g</a:t>
              </a:r>
              <a:r>
                <a:rPr sz="1200" b="0" i="0">
                  <a:solidFill>
                    <a:srgbClr val="1A1A1A"/>
                  </a:solidFill>
                  <a:latin typeface="Arial"/>
                </a:rPr>
                <a:t> carb lunch</a:t>
              </a:r>
            </a:p>
          </p:txBody>
        </p:sp>
        <p:sp>
          <p:nvSpPr>
            <p:cNvPr id="80" name="Rounded Rectangle 79"/>
            <p:cNvSpPr/>
            <p:nvPr/>
          </p:nvSpPr>
          <p:spPr>
            <a:xfrm>
              <a:off x="2647881" y="4297680"/>
              <a:ext cx="1068987" cy="2084832"/>
            </a:xfrm>
            <a:prstGeom prst="roundRect">
              <a:avLst>
                <a:gd name="adj" fmla="val 4276"/>
              </a:avLst>
            </a:prstGeom>
            <a:solidFill>
              <a:srgbClr val="112F52"/>
            </a:solidFill>
            <a:ln w="9525">
              <a:solidFill>
                <a:srgbClr val="466E9E"/>
              </a:solidFill>
            </a:ln>
          </p:spPr>
          <p:txBody>
            <a:bodyPr rtlCol="0" anchor="ctr"/>
            <a:lstStyle/>
            <a:p/>
          </p:txBody>
        </p:sp>
        <p:pic>
          <p:nvPicPr>
            <p:cNvPr id="81" name="Picture 80" descr="ic_fa6_FaBell_FFFFFF.png"/>
            <p:cNvPicPr>
              <a:picLocks noChangeAspect="1"/>
            </p:cNvPicPr>
            <p:nvPr/>
          </p:nvPicPr>
          <p:blipFill>
            <a:blip r:embed="rId10"/>
            <a:stretch>
              <a:fillRect/>
            </a:stretch>
          </p:blipFill>
          <p:spPr>
            <a:xfrm>
              <a:off x="2999494" y="4334256"/>
              <a:ext cx="365760" cy="365760"/>
            </a:xfrm>
            <a:prstGeom prst="rect">
              <a:avLst/>
            </a:prstGeom>
          </p:spPr>
        </p:pic>
        <p:sp>
          <p:nvSpPr>
            <p:cNvPr id="82" name="TextBox 81"/>
            <p:cNvSpPr txBox="1"/>
            <p:nvPr/>
          </p:nvSpPr>
          <p:spPr>
            <a:xfrm>
              <a:off x="2647881" y="4700016"/>
              <a:ext cx="1068987" cy="1664208"/>
            </a:xfrm>
            <a:prstGeom prst="rect">
              <a:avLst/>
            </a:prstGeom>
            <a:noFill/>
          </p:spPr>
          <p:txBody>
            <a:bodyPr wrap="square" lIns="36576" rIns="36576" tIns="27432" bIns="27432" anchor="ctr">
              <a:noAutofit/>
            </a:bodyPr>
            <a:lstStyle/>
            <a:p>
              <a:pPr algn="ctr"/>
              <a:r>
                <a:rPr sz="1200" b="1" i="0">
                  <a:solidFill>
                    <a:srgbClr val="FFFFFF"/>
                  </a:solidFill>
                  <a:latin typeface="Arial"/>
                </a:rPr>
                <a:t>Alarm at 180</a:t>
              </a:r>
            </a:p>
            <a:p>
              <a:pPr algn="ctr"/>
              <a:r>
                <a:rPr sz="1200" b="0" i="0">
                  <a:solidFill>
                    <a:srgbClr val="FFFFFF"/>
                  </a:solidFill>
                  <a:latin typeface="Arial"/>
                </a:rPr>
                <a:t>already rising fast, meal absorbed</a:t>
              </a:r>
            </a:p>
          </p:txBody>
        </p:sp>
        <p:sp>
          <p:nvSpPr>
            <p:cNvPr id="83" name="Rounded Rectangle 82"/>
            <p:cNvSpPr/>
            <p:nvPr/>
          </p:nvSpPr>
          <p:spPr>
            <a:xfrm>
              <a:off x="3991188" y="4297680"/>
              <a:ext cx="1068987" cy="2084832"/>
            </a:xfrm>
            <a:prstGeom prst="roundRect">
              <a:avLst>
                <a:gd name="adj" fmla="val 4276"/>
              </a:avLst>
            </a:prstGeom>
            <a:solidFill>
              <a:srgbClr val="FFFFFF"/>
            </a:solidFill>
            <a:ln w="9525">
              <a:solidFill>
                <a:srgbClr val="466E9E"/>
              </a:solidFill>
              <a:prstDash val="sysDot"/>
            </a:ln>
          </p:spPr>
          <p:txBody>
            <a:bodyPr rtlCol="0" anchor="ctr"/>
            <a:lstStyle/>
            <a:p/>
          </p:txBody>
        </p:sp>
        <p:pic>
          <p:nvPicPr>
            <p:cNvPr id="84" name="Picture 83" descr="ic_fa6_FaFire_1A1A1A.png"/>
            <p:cNvPicPr>
              <a:picLocks noChangeAspect="1"/>
            </p:cNvPicPr>
            <p:nvPr/>
          </p:nvPicPr>
          <p:blipFill>
            <a:blip r:embed="rId11"/>
            <a:stretch>
              <a:fillRect/>
            </a:stretch>
          </p:blipFill>
          <p:spPr>
            <a:xfrm>
              <a:off x="4342801" y="4334256"/>
              <a:ext cx="365760" cy="365760"/>
            </a:xfrm>
            <a:prstGeom prst="rect">
              <a:avLst/>
            </a:prstGeom>
          </p:spPr>
        </p:pic>
        <p:sp>
          <p:nvSpPr>
            <p:cNvPr id="85" name="TextBox 84"/>
            <p:cNvSpPr txBox="1"/>
            <p:nvPr/>
          </p:nvSpPr>
          <p:spPr>
            <a:xfrm>
              <a:off x="3991188" y="4700016"/>
              <a:ext cx="1068987" cy="1664208"/>
            </a:xfrm>
            <a:prstGeom prst="rect">
              <a:avLst/>
            </a:prstGeom>
            <a:noFill/>
          </p:spPr>
          <p:txBody>
            <a:bodyPr wrap="square" lIns="36576" rIns="36576" tIns="27432" bIns="27432" anchor="ctr">
              <a:noAutofit/>
            </a:bodyPr>
            <a:lstStyle/>
            <a:p>
              <a:pPr algn="ctr"/>
              <a:r>
                <a:rPr sz="1200" b="1" i="0">
                  <a:solidFill>
                    <a:srgbClr val="1A1A1A"/>
                  </a:solidFill>
                  <a:latin typeface="Arial"/>
                </a:rPr>
                <a:t>Peak 250 to 330</a:t>
              </a:r>
            </a:p>
            <a:p>
              <a:pPr algn="ctr"/>
              <a:r>
                <a:rPr sz="1200" b="1" i="0">
                  <a:solidFill>
                    <a:srgbClr val="1A1A1A"/>
                  </a:solidFill>
                  <a:latin typeface="Arial"/>
                </a:rPr>
                <a:t>60+ min</a:t>
              </a:r>
              <a:r>
                <a:rPr sz="1200" b="0" i="0">
                  <a:solidFill>
                    <a:srgbClr val="1A1A1A"/>
                  </a:solidFill>
                  <a:latin typeface="Arial"/>
                </a:rPr>
                <a:t> above 180</a:t>
              </a:r>
            </a:p>
          </p:txBody>
        </p:sp>
        <p:sp>
          <p:nvSpPr>
            <p:cNvPr id="86" name="Rounded Rectangle 85"/>
            <p:cNvSpPr/>
            <p:nvPr/>
          </p:nvSpPr>
          <p:spPr>
            <a:xfrm>
              <a:off x="5334495" y="4297680"/>
              <a:ext cx="1068987" cy="2084832"/>
            </a:xfrm>
            <a:prstGeom prst="roundRect">
              <a:avLst>
                <a:gd name="adj" fmla="val 4276"/>
              </a:avLst>
            </a:prstGeom>
            <a:solidFill>
              <a:srgbClr val="FFFFFF"/>
            </a:solidFill>
            <a:ln w="9525">
              <a:solidFill>
                <a:srgbClr val="466E9E"/>
              </a:solidFill>
              <a:prstDash val="sysDot"/>
            </a:ln>
          </p:spPr>
          <p:txBody>
            <a:bodyPr rtlCol="0" anchor="ctr"/>
            <a:lstStyle/>
            <a:p/>
          </p:txBody>
        </p:sp>
        <p:pic>
          <p:nvPicPr>
            <p:cNvPr id="87" name="Picture 86" descr="ic_fa6_FaHeartCrack_1A1A1A.png"/>
            <p:cNvPicPr>
              <a:picLocks noChangeAspect="1"/>
            </p:cNvPicPr>
            <p:nvPr/>
          </p:nvPicPr>
          <p:blipFill>
            <a:blip r:embed="rId12"/>
            <a:stretch>
              <a:fillRect/>
            </a:stretch>
          </p:blipFill>
          <p:spPr>
            <a:xfrm>
              <a:off x="5686109" y="4334256"/>
              <a:ext cx="365760" cy="365760"/>
            </a:xfrm>
            <a:prstGeom prst="rect">
              <a:avLst/>
            </a:prstGeom>
          </p:spPr>
        </p:pic>
        <p:sp>
          <p:nvSpPr>
            <p:cNvPr id="88" name="TextBox 87"/>
            <p:cNvSpPr txBox="1"/>
            <p:nvPr/>
          </p:nvSpPr>
          <p:spPr>
            <a:xfrm>
              <a:off x="5334495" y="4700016"/>
              <a:ext cx="1068987" cy="1664208"/>
            </a:xfrm>
            <a:prstGeom prst="rect">
              <a:avLst/>
            </a:prstGeom>
            <a:noFill/>
          </p:spPr>
          <p:txBody>
            <a:bodyPr wrap="square" lIns="36576" rIns="36576" tIns="27432" bIns="27432" anchor="ctr">
              <a:noAutofit/>
            </a:bodyPr>
            <a:lstStyle/>
            <a:p>
              <a:pPr algn="ctr"/>
              <a:r>
                <a:rPr sz="1200" b="1" i="0">
                  <a:solidFill>
                    <a:srgbClr val="1A1A1A"/>
                  </a:solidFill>
                  <a:latin typeface="Arial"/>
                </a:rPr>
                <a:t>Repeated daily</a:t>
              </a:r>
            </a:p>
            <a:p>
              <a:pPr algn="ctr"/>
              <a:r>
                <a:rPr sz="1200" b="0" i="0">
                  <a:solidFill>
                    <a:srgbClr val="1A1A1A"/>
                  </a:solidFill>
                  <a:latin typeface="Arial"/>
                </a:rPr>
                <a:t>vessel, nerve, kidney damage</a:t>
              </a:r>
            </a:p>
          </p:txBody>
        </p:sp>
        <p:cxnSp>
          <p:nvCxnSpPr>
            <p:cNvPr id="89" name="Connector 88"/>
            <p:cNvCxnSpPr>
              <a:stCxn id="77" idx="3"/>
              <a:endCxn id="80" idx="1"/>
            </p:cNvCxnSpPr>
            <p:nvPr/>
          </p:nvCxnSpPr>
          <p:spPr>
            <a:xfrm>
              <a:off x="2373560" y="5340096"/>
              <a:ext cx="274321" cy="0"/>
            </a:xfrm>
            <a:prstGeom prst="line">
              <a:avLst/>
            </a:prstGeom>
            <a:ln w="19050">
              <a:solidFill>
                <a:srgbClr val="1D4E8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Connector 89"/>
            <p:cNvCxnSpPr>
              <a:stCxn id="80" idx="3"/>
              <a:endCxn id="83" idx="1"/>
            </p:cNvCxnSpPr>
            <p:nvPr/>
          </p:nvCxnSpPr>
          <p:spPr>
            <a:xfrm>
              <a:off x="3716868" y="5340096"/>
              <a:ext cx="274320" cy="0"/>
            </a:xfrm>
            <a:prstGeom prst="line">
              <a:avLst/>
            </a:prstGeom>
            <a:ln w="19050">
              <a:solidFill>
                <a:srgbClr val="1D4E8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Connector 90"/>
            <p:cNvCxnSpPr>
              <a:stCxn id="83" idx="3"/>
              <a:endCxn id="86" idx="1"/>
            </p:cNvCxnSpPr>
            <p:nvPr/>
          </p:nvCxnSpPr>
          <p:spPr>
            <a:xfrm>
              <a:off x="5060175" y="5340096"/>
              <a:ext cx="274320" cy="0"/>
            </a:xfrm>
            <a:prstGeom prst="line">
              <a:avLst/>
            </a:prstGeom>
            <a:ln w="19050">
              <a:solidFill>
                <a:srgbClr val="1D4E8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2" name="ig:stage_strip"/>
            <p:cNvSpPr/>
            <p:nvPr/>
          </p:nvSpPr>
          <p:spPr>
            <a:xfrm>
              <a:off x="1304573" y="6437376"/>
              <a:ext cx="1669156" cy="310896"/>
            </a:xfrm>
            <a:prstGeom prst="rect">
              <a:avLst/>
            </a:prstGeom>
            <a:solidFill>
              <a:srgbClr val="1D4E89"/>
            </a:solidFill>
            <a:ln>
              <a:noFill/>
            </a:ln>
          </p:spPr>
          <p:txBody>
            <a:bodyPr rtlCol="0" anchor="ctr"/>
            <a:lstStyle/>
            <a:p/>
          </p:txBody>
        </p:sp>
        <p:sp>
          <p:nvSpPr>
            <p:cNvPr id="93" name="TextBox 92"/>
            <p:cNvSpPr txBox="1"/>
            <p:nvPr/>
          </p:nvSpPr>
          <p:spPr>
            <a:xfrm>
              <a:off x="1341149" y="6437376"/>
              <a:ext cx="679565" cy="310896"/>
            </a:xfrm>
            <a:prstGeom prst="rect">
              <a:avLst/>
            </a:prstGeom>
            <a:noFill/>
          </p:spPr>
          <p:txBody>
            <a:bodyPr wrap="square" lIns="18288" rIns="18288" tIns="18288" bIns="18288" anchor="ctr">
              <a:noAutofit/>
            </a:bodyPr>
            <a:lstStyle/>
            <a:p>
              <a:pPr algn="l"/>
              <a:r>
                <a:rPr sz="1000" b="1" i="0">
                  <a:solidFill>
                    <a:srgbClr val="FFFFFF"/>
                  </a:solidFill>
                  <a:latin typeface="Arial"/>
                </a:rPr>
                <a:t>Meal</a:t>
              </a:r>
            </a:p>
          </p:txBody>
        </p:sp>
        <p:sp>
          <p:nvSpPr>
            <p:cNvPr id="94" name="Right Arrow 93"/>
            <p:cNvSpPr/>
            <p:nvPr/>
          </p:nvSpPr>
          <p:spPr>
            <a:xfrm>
              <a:off x="2039002" y="6505773"/>
              <a:ext cx="200299" cy="174102"/>
            </a:xfrm>
            <a:prstGeom prst="rightArrow">
              <a:avLst/>
            </a:prstGeom>
            <a:solidFill>
              <a:srgbClr val="FFFFFF"/>
            </a:solidFill>
            <a:ln>
              <a:noFill/>
            </a:ln>
          </p:spPr>
          <p:txBody>
            <a:bodyPr rtlCol="0" anchor="ctr"/>
            <a:lstStyle/>
            <a:p/>
          </p:txBody>
        </p:sp>
        <p:sp>
          <p:nvSpPr>
            <p:cNvPr id="95" name="TextBox 94"/>
            <p:cNvSpPr txBox="1"/>
            <p:nvPr/>
          </p:nvSpPr>
          <p:spPr>
            <a:xfrm>
              <a:off x="2257589" y="6437376"/>
              <a:ext cx="679565" cy="310896"/>
            </a:xfrm>
            <a:prstGeom prst="rect">
              <a:avLst/>
            </a:prstGeom>
            <a:noFill/>
          </p:spPr>
          <p:txBody>
            <a:bodyPr wrap="square" lIns="18288" rIns="18288" tIns="18288" bIns="18288" anchor="ctr">
              <a:noAutofit/>
            </a:bodyPr>
            <a:lstStyle/>
            <a:p>
              <a:pPr algn="r"/>
              <a:r>
                <a:rPr sz="1000" b="1" i="0">
                  <a:solidFill>
                    <a:srgbClr val="FFFFFF"/>
                  </a:solidFill>
                  <a:latin typeface="Arial"/>
                </a:rPr>
                <a:t>Spike</a:t>
              </a:r>
            </a:p>
          </p:txBody>
        </p:sp>
        <p:sp>
          <p:nvSpPr>
            <p:cNvPr id="96" name="Rectangle 95"/>
            <p:cNvSpPr/>
            <p:nvPr/>
          </p:nvSpPr>
          <p:spPr>
            <a:xfrm>
              <a:off x="3019450" y="6437376"/>
              <a:ext cx="1669156" cy="310896"/>
            </a:xfrm>
            <a:prstGeom prst="rect">
              <a:avLst/>
            </a:prstGeom>
            <a:solidFill>
              <a:srgbClr val="99AFCA"/>
            </a:solidFill>
            <a:ln>
              <a:noFill/>
            </a:ln>
          </p:spPr>
          <p:txBody>
            <a:bodyPr rtlCol="0" anchor="ctr"/>
            <a:lstStyle/>
            <a:p/>
          </p:txBody>
        </p:sp>
        <p:sp>
          <p:nvSpPr>
            <p:cNvPr id="97" name="TextBox 96"/>
            <p:cNvSpPr txBox="1"/>
            <p:nvPr/>
          </p:nvSpPr>
          <p:spPr>
            <a:xfrm>
              <a:off x="3056026" y="6437376"/>
              <a:ext cx="679565" cy="310896"/>
            </a:xfrm>
            <a:prstGeom prst="rect">
              <a:avLst/>
            </a:prstGeom>
            <a:noFill/>
          </p:spPr>
          <p:txBody>
            <a:bodyPr wrap="square" lIns="18288" rIns="18288" tIns="18288" bIns="18288" anchor="ctr">
              <a:noAutofit/>
            </a:bodyPr>
            <a:lstStyle/>
            <a:p>
              <a:pPr algn="l"/>
              <a:r>
                <a:rPr sz="1000" b="1" i="0">
                  <a:solidFill>
                    <a:srgbClr val="1A1A1A"/>
                  </a:solidFill>
                  <a:latin typeface="Arial"/>
                </a:rPr>
                <a:t>Spike</a:t>
              </a:r>
            </a:p>
          </p:txBody>
        </p:sp>
        <p:sp>
          <p:nvSpPr>
            <p:cNvPr id="98" name="Right Arrow 97"/>
            <p:cNvSpPr/>
            <p:nvPr/>
          </p:nvSpPr>
          <p:spPr>
            <a:xfrm>
              <a:off x="3753878" y="6505773"/>
              <a:ext cx="200299" cy="174102"/>
            </a:xfrm>
            <a:prstGeom prst="rightArrow">
              <a:avLst/>
            </a:prstGeom>
            <a:solidFill>
              <a:srgbClr val="1A1A1A"/>
            </a:solidFill>
            <a:ln>
              <a:noFill/>
            </a:ln>
          </p:spPr>
          <p:txBody>
            <a:bodyPr rtlCol="0" anchor="ctr"/>
            <a:lstStyle/>
            <a:p/>
          </p:txBody>
        </p:sp>
        <p:sp>
          <p:nvSpPr>
            <p:cNvPr id="99" name="TextBox 98"/>
            <p:cNvSpPr txBox="1"/>
            <p:nvPr/>
          </p:nvSpPr>
          <p:spPr>
            <a:xfrm>
              <a:off x="3972465" y="6437376"/>
              <a:ext cx="679565" cy="310896"/>
            </a:xfrm>
            <a:prstGeom prst="rect">
              <a:avLst/>
            </a:prstGeom>
            <a:noFill/>
          </p:spPr>
          <p:txBody>
            <a:bodyPr wrap="square" lIns="18288" rIns="18288" tIns="18288" bIns="18288" anchor="ctr">
              <a:noAutofit/>
            </a:bodyPr>
            <a:lstStyle/>
            <a:p>
              <a:pPr algn="r"/>
              <a:r>
                <a:rPr sz="900" b="1" i="0">
                  <a:solidFill>
                    <a:srgbClr val="1A1A1A"/>
                  </a:solidFill>
                  <a:latin typeface="Arial"/>
                </a:rPr>
                <a:t>Late alarm</a:t>
              </a:r>
            </a:p>
          </p:txBody>
        </p:sp>
        <p:sp>
          <p:nvSpPr>
            <p:cNvPr id="100" name="Rectangle 99"/>
            <p:cNvSpPr/>
            <p:nvPr/>
          </p:nvSpPr>
          <p:spPr>
            <a:xfrm>
              <a:off x="4734326" y="6437376"/>
              <a:ext cx="1669156" cy="310896"/>
            </a:xfrm>
            <a:prstGeom prst="rect">
              <a:avLst/>
            </a:prstGeom>
            <a:solidFill>
              <a:srgbClr val="6587AF"/>
            </a:solidFill>
            <a:ln>
              <a:noFill/>
            </a:ln>
          </p:spPr>
          <p:txBody>
            <a:bodyPr rtlCol="0" anchor="ctr"/>
            <a:lstStyle/>
            <a:p/>
          </p:txBody>
        </p:sp>
        <p:sp>
          <p:nvSpPr>
            <p:cNvPr id="101" name="TextBox 100"/>
            <p:cNvSpPr txBox="1"/>
            <p:nvPr/>
          </p:nvSpPr>
          <p:spPr>
            <a:xfrm>
              <a:off x="4770902" y="6437376"/>
              <a:ext cx="679565" cy="310896"/>
            </a:xfrm>
            <a:prstGeom prst="rect">
              <a:avLst/>
            </a:prstGeom>
            <a:noFill/>
          </p:spPr>
          <p:txBody>
            <a:bodyPr wrap="square" lIns="18288" rIns="18288" tIns="18288" bIns="18288" anchor="ctr">
              <a:noAutofit/>
            </a:bodyPr>
            <a:lstStyle/>
            <a:p>
              <a:pPr algn="l"/>
              <a:r>
                <a:rPr sz="900" b="1" i="0">
                  <a:solidFill>
                    <a:srgbClr val="FFFFFF"/>
                  </a:solidFill>
                  <a:latin typeface="Arial"/>
                </a:rPr>
                <a:t>Late alarm</a:t>
              </a:r>
            </a:p>
          </p:txBody>
        </p:sp>
        <p:sp>
          <p:nvSpPr>
            <p:cNvPr id="102" name="Right Arrow 101"/>
            <p:cNvSpPr/>
            <p:nvPr/>
          </p:nvSpPr>
          <p:spPr>
            <a:xfrm>
              <a:off x="5468755" y="6505773"/>
              <a:ext cx="200299" cy="174102"/>
            </a:xfrm>
            <a:prstGeom prst="rightArrow">
              <a:avLst/>
            </a:prstGeom>
            <a:solidFill>
              <a:srgbClr val="FFFFFF"/>
            </a:solidFill>
            <a:ln>
              <a:noFill/>
            </a:ln>
          </p:spPr>
          <p:txBody>
            <a:bodyPr rtlCol="0" anchor="ctr"/>
            <a:lstStyle/>
            <a:p/>
          </p:txBody>
        </p:sp>
        <p:sp>
          <p:nvSpPr>
            <p:cNvPr id="103" name="TextBox 102"/>
            <p:cNvSpPr txBox="1"/>
            <p:nvPr/>
          </p:nvSpPr>
          <p:spPr>
            <a:xfrm>
              <a:off x="5687341" y="6437376"/>
              <a:ext cx="679565" cy="310896"/>
            </a:xfrm>
            <a:prstGeom prst="rect">
              <a:avLst/>
            </a:prstGeom>
            <a:noFill/>
          </p:spPr>
          <p:txBody>
            <a:bodyPr wrap="square" lIns="18288" rIns="18288" tIns="18288" bIns="18288" anchor="ctr">
              <a:noAutofit/>
            </a:bodyPr>
            <a:lstStyle/>
            <a:p>
              <a:pPr algn="r"/>
              <a:r>
                <a:rPr sz="1000" b="1" i="0">
                  <a:solidFill>
                    <a:srgbClr val="FFFFFF"/>
                  </a:solidFill>
                  <a:latin typeface="Arial"/>
                </a:rPr>
                <a:t>Damage</a:t>
              </a:r>
            </a:p>
          </p:txBody>
        </p:sp>
      </p:grpSp>
      <p:grpSp>
        <p:nvGrpSpPr>
          <p:cNvPr id="104" name="Group 103"/>
          <p:cNvGrpSpPr/>
          <p:nvPr/>
        </p:nvGrpSpPr>
        <p:grpSpPr>
          <a:xfrm>
            <a:off x="6531498" y="3986784"/>
            <a:ext cx="5587045" cy="2816352"/>
            <a:chOff x="6531498" y="3986784"/>
            <a:chExt cx="5587045" cy="2816352"/>
          </a:xfrm>
        </p:grpSpPr>
        <p:sp>
          <p:nvSpPr>
            <p:cNvPr id="105" name="frame:The gap GlucoSentine"/>
            <p:cNvSpPr/>
            <p:nvPr/>
          </p:nvSpPr>
          <p:spPr>
            <a:xfrm>
              <a:off x="6531498" y="4123944"/>
              <a:ext cx="5587045" cy="2679192"/>
            </a:xfrm>
            <a:prstGeom prst="roundRect">
              <a:avLst>
                <a:gd name="adj" fmla="val 1706"/>
              </a:avLst>
            </a:prstGeom>
            <a:solidFill>
              <a:srgbClr val="E2E8F0"/>
            </a:solidFill>
            <a:ln w="15875">
              <a:solidFill>
                <a:srgbClr val="466E9E"/>
              </a:solidFill>
              <a:prstDash val="sysDot"/>
            </a:ln>
          </p:spPr>
          <p:txBody>
            <a:bodyPr rtlCol="0" anchor="ctr"/>
            <a:lstStyle/>
            <a:p/>
          </p:txBody>
        </p:sp>
        <p:sp>
          <p:nvSpPr>
            <p:cNvPr id="106" name="Rounded Rectangle 105"/>
            <p:cNvSpPr/>
            <p:nvPr/>
          </p:nvSpPr>
          <p:spPr>
            <a:xfrm>
              <a:off x="6531498" y="3986784"/>
              <a:ext cx="2468122" cy="274320"/>
            </a:xfrm>
            <a:prstGeom prst="roundRect">
              <a:avLst>
                <a:gd name="adj" fmla="val 13333"/>
              </a:avLst>
            </a:prstGeom>
            <a:solidFill>
              <a:srgbClr val="1D4E89"/>
            </a:solidFill>
            <a:ln>
              <a:noFill/>
            </a:ln>
          </p:spPr>
          <p:txBody>
            <a:bodyPr rtlCol="0" anchor="ctr"/>
            <a:lstStyle/>
            <a:p/>
          </p:txBody>
        </p:sp>
        <p:pic>
          <p:nvPicPr>
            <p:cNvPr id="107" name="Picture 106" descr="ic_fa6_FaBullseye_FFFFFF.png"/>
            <p:cNvPicPr>
              <a:picLocks noChangeAspect="1"/>
            </p:cNvPicPr>
            <p:nvPr/>
          </p:nvPicPr>
          <p:blipFill>
            <a:blip r:embed="rId13"/>
            <a:stretch>
              <a:fillRect/>
            </a:stretch>
          </p:blipFill>
          <p:spPr>
            <a:xfrm>
              <a:off x="6586362" y="4023360"/>
              <a:ext cx="201168" cy="201168"/>
            </a:xfrm>
            <a:prstGeom prst="rect">
              <a:avLst/>
            </a:prstGeom>
          </p:spPr>
        </p:pic>
        <p:sp>
          <p:nvSpPr>
            <p:cNvPr id="108" name="TextBox 107"/>
            <p:cNvSpPr txBox="1"/>
            <p:nvPr/>
          </p:nvSpPr>
          <p:spPr>
            <a:xfrm>
              <a:off x="6833250" y="3986784"/>
              <a:ext cx="2138938" cy="274320"/>
            </a:xfrm>
            <a:prstGeom prst="rect">
              <a:avLst/>
            </a:prstGeom>
            <a:noFill/>
          </p:spPr>
          <p:txBody>
            <a:bodyPr wrap="square" lIns="9144" rIns="9144" tIns="9144" bIns="9144" anchor="ctr">
              <a:noAutofit/>
            </a:bodyPr>
            <a:lstStyle/>
            <a:p>
              <a:pPr algn="l"/>
              <a:r>
                <a:rPr sz="1200" b="1" i="0">
                  <a:solidFill>
                    <a:srgbClr val="FFFFFF"/>
                  </a:solidFill>
                  <a:latin typeface="Arial"/>
                </a:rPr>
                <a:t>The gap GlucoSentinel fills</a:t>
              </a:r>
            </a:p>
          </p:txBody>
        </p:sp>
        <p:sp>
          <p:nvSpPr>
            <p:cNvPr id="109" name="ig:icon_card"/>
            <p:cNvSpPr/>
            <p:nvPr/>
          </p:nvSpPr>
          <p:spPr>
            <a:xfrm>
              <a:off x="6586362" y="4297680"/>
              <a:ext cx="2706654" cy="1193292"/>
            </a:xfrm>
            <a:prstGeom prst="roundRect">
              <a:avLst>
                <a:gd name="adj" fmla="val 3831"/>
              </a:avLst>
            </a:prstGeom>
            <a:solidFill>
              <a:srgbClr val="FFFFFF"/>
            </a:solidFill>
            <a:ln w="9525">
              <a:solidFill>
                <a:srgbClr val="466E9E"/>
              </a:solidFill>
              <a:prstDash val="sysDot"/>
            </a:ln>
          </p:spPr>
          <p:txBody>
            <a:bodyPr rtlCol="0" anchor="ctr"/>
            <a:lstStyle/>
            <a:p/>
          </p:txBody>
        </p:sp>
        <p:pic>
          <p:nvPicPr>
            <p:cNvPr id="110" name="Picture 109" descr="ic_fa6_FaUserDoctor_1D4E89.png"/>
            <p:cNvPicPr>
              <a:picLocks noChangeAspect="1"/>
            </p:cNvPicPr>
            <p:nvPr/>
          </p:nvPicPr>
          <p:blipFill>
            <a:blip r:embed="rId14"/>
            <a:stretch>
              <a:fillRect/>
            </a:stretch>
          </p:blipFill>
          <p:spPr>
            <a:xfrm>
              <a:off x="6650370" y="4642866"/>
              <a:ext cx="502920" cy="502920"/>
            </a:xfrm>
            <a:prstGeom prst="rect">
              <a:avLst/>
            </a:prstGeom>
          </p:spPr>
        </p:pic>
        <p:sp>
          <p:nvSpPr>
            <p:cNvPr id="111" name="TextBox 110"/>
            <p:cNvSpPr txBox="1"/>
            <p:nvPr/>
          </p:nvSpPr>
          <p:spPr>
            <a:xfrm>
              <a:off x="7199010" y="4315968"/>
              <a:ext cx="2057430" cy="1156716"/>
            </a:xfrm>
            <a:prstGeom prst="rect">
              <a:avLst/>
            </a:prstGeom>
            <a:noFill/>
          </p:spPr>
          <p:txBody>
            <a:bodyPr wrap="square" lIns="27432" rIns="27432" tIns="27432" bIns="27432" anchor="ctr">
              <a:noAutofit/>
            </a:bodyPr>
            <a:lstStyle/>
            <a:p>
              <a:pPr algn="l"/>
              <a:r>
                <a:rPr sz="1200" b="1" i="0">
                  <a:solidFill>
                    <a:srgbClr val="1A1A1A"/>
                  </a:solidFill>
                  <a:latin typeface="Arial"/>
                </a:rPr>
                <a:t>Doctor overload</a:t>
              </a:r>
            </a:p>
            <a:p>
              <a:pPr algn="l"/>
              <a:r>
                <a:rPr sz="1200" b="1" i="0">
                  <a:solidFill>
                    <a:srgbClr val="1A1A1A"/>
                  </a:solidFill>
                  <a:latin typeface="Arial"/>
                </a:rPr>
                <a:t>4,032</a:t>
              </a:r>
              <a:r>
                <a:rPr sz="1200" b="0" i="0">
                  <a:solidFill>
                    <a:srgbClr val="1A1A1A"/>
                  </a:solidFill>
                  <a:latin typeface="Arial"/>
                </a:rPr>
                <a:t> CGM readings plus HR, HRV, sleep, steps per fortnight</a:t>
              </a:r>
            </a:p>
          </p:txBody>
        </p:sp>
        <p:sp>
          <p:nvSpPr>
            <p:cNvPr id="112" name="ig:icon_card"/>
            <p:cNvSpPr/>
            <p:nvPr/>
          </p:nvSpPr>
          <p:spPr>
            <a:xfrm>
              <a:off x="9357025" y="4297680"/>
              <a:ext cx="2706654" cy="1193292"/>
            </a:xfrm>
            <a:prstGeom prst="roundRect">
              <a:avLst>
                <a:gd name="adj" fmla="val 3831"/>
              </a:avLst>
            </a:prstGeom>
            <a:solidFill>
              <a:srgbClr val="FFFFFF"/>
            </a:solidFill>
            <a:ln w="9525">
              <a:solidFill>
                <a:srgbClr val="466E9E"/>
              </a:solidFill>
              <a:prstDash val="sysDot"/>
            </a:ln>
          </p:spPr>
          <p:txBody>
            <a:bodyPr rtlCol="0" anchor="ctr"/>
            <a:lstStyle/>
            <a:p/>
          </p:txBody>
        </p:sp>
        <p:pic>
          <p:nvPicPr>
            <p:cNvPr id="113" name="Picture 112" descr="ic_fa6_FaClock_1D4E89.png"/>
            <p:cNvPicPr>
              <a:picLocks noChangeAspect="1"/>
            </p:cNvPicPr>
            <p:nvPr/>
          </p:nvPicPr>
          <p:blipFill>
            <a:blip r:embed="rId15"/>
            <a:stretch>
              <a:fillRect/>
            </a:stretch>
          </p:blipFill>
          <p:spPr>
            <a:xfrm>
              <a:off x="9421033" y="4642866"/>
              <a:ext cx="502920" cy="502920"/>
            </a:xfrm>
            <a:prstGeom prst="rect">
              <a:avLst/>
            </a:prstGeom>
          </p:spPr>
        </p:pic>
        <p:sp>
          <p:nvSpPr>
            <p:cNvPr id="114" name="TextBox 113"/>
            <p:cNvSpPr txBox="1"/>
            <p:nvPr/>
          </p:nvSpPr>
          <p:spPr>
            <a:xfrm>
              <a:off x="9969673" y="4315968"/>
              <a:ext cx="2057430" cy="1156716"/>
            </a:xfrm>
            <a:prstGeom prst="rect">
              <a:avLst/>
            </a:prstGeom>
            <a:noFill/>
          </p:spPr>
          <p:txBody>
            <a:bodyPr wrap="square" lIns="27432" rIns="27432" tIns="27432" bIns="27432" anchor="ctr">
              <a:noAutofit/>
            </a:bodyPr>
            <a:lstStyle/>
            <a:p>
              <a:pPr algn="l"/>
              <a:r>
                <a:rPr sz="1200" b="1" i="0">
                  <a:solidFill>
                    <a:srgbClr val="1A1A1A"/>
                  </a:solidFill>
                  <a:latin typeface="Arial"/>
                </a:rPr>
                <a:t>No look-ahead</a:t>
              </a:r>
            </a:p>
            <a:p>
              <a:pPr algn="l"/>
              <a:r>
                <a:rPr sz="1200" b="0" i="0">
                  <a:solidFill>
                    <a:srgbClr val="1A1A1A"/>
                  </a:solidFill>
                  <a:latin typeface="Arial"/>
                </a:rPr>
                <a:t>No tool says, </a:t>
              </a:r>
              <a:r>
                <a:rPr sz="1200" b="1" i="0">
                  <a:solidFill>
                    <a:srgbClr val="1A1A1A"/>
                  </a:solidFill>
                  <a:latin typeface="Arial"/>
                </a:rPr>
                <a:t>before the meal</a:t>
              </a:r>
              <a:r>
                <a:rPr sz="1200" b="0" i="0">
                  <a:solidFill>
                    <a:srgbClr val="1A1A1A"/>
                  </a:solidFill>
                  <a:latin typeface="Arial"/>
                </a:rPr>
                <a:t>, if it will spike</a:t>
              </a:r>
            </a:p>
          </p:txBody>
        </p:sp>
        <p:sp>
          <p:nvSpPr>
            <p:cNvPr id="115" name="ig:icon_card"/>
            <p:cNvSpPr/>
            <p:nvPr/>
          </p:nvSpPr>
          <p:spPr>
            <a:xfrm>
              <a:off x="6586362" y="5554980"/>
              <a:ext cx="2706654" cy="1193292"/>
            </a:xfrm>
            <a:prstGeom prst="roundRect">
              <a:avLst>
                <a:gd name="adj" fmla="val 3831"/>
              </a:avLst>
            </a:prstGeom>
            <a:solidFill>
              <a:srgbClr val="FFFFFF"/>
            </a:solidFill>
            <a:ln w="9525">
              <a:solidFill>
                <a:srgbClr val="466E9E"/>
              </a:solidFill>
              <a:prstDash val="sysDot"/>
            </a:ln>
          </p:spPr>
          <p:txBody>
            <a:bodyPr rtlCol="0" anchor="ctr"/>
            <a:lstStyle/>
            <a:p/>
          </p:txBody>
        </p:sp>
        <p:pic>
          <p:nvPicPr>
            <p:cNvPr id="116" name="Picture 115" descr="ic_fa6_FaPuzzlePiece_1D4E89.png"/>
            <p:cNvPicPr>
              <a:picLocks noChangeAspect="1"/>
            </p:cNvPicPr>
            <p:nvPr/>
          </p:nvPicPr>
          <p:blipFill>
            <a:blip r:embed="rId16"/>
            <a:stretch>
              <a:fillRect/>
            </a:stretch>
          </p:blipFill>
          <p:spPr>
            <a:xfrm>
              <a:off x="6650370" y="5900166"/>
              <a:ext cx="502920" cy="502920"/>
            </a:xfrm>
            <a:prstGeom prst="rect">
              <a:avLst/>
            </a:prstGeom>
          </p:spPr>
        </p:pic>
        <p:sp>
          <p:nvSpPr>
            <p:cNvPr id="117" name="TextBox 116"/>
            <p:cNvSpPr txBox="1"/>
            <p:nvPr/>
          </p:nvSpPr>
          <p:spPr>
            <a:xfrm>
              <a:off x="7199010" y="5573268"/>
              <a:ext cx="2057430" cy="1156716"/>
            </a:xfrm>
            <a:prstGeom prst="rect">
              <a:avLst/>
            </a:prstGeom>
            <a:noFill/>
          </p:spPr>
          <p:txBody>
            <a:bodyPr wrap="square" lIns="27432" rIns="27432" tIns="27432" bIns="27432" anchor="ctr">
              <a:noAutofit/>
            </a:bodyPr>
            <a:lstStyle/>
            <a:p>
              <a:pPr algn="l"/>
              <a:r>
                <a:rPr sz="1200" b="1" i="0">
                  <a:solidFill>
                    <a:srgbClr val="1A1A1A"/>
                  </a:solidFill>
                  <a:latin typeface="Arial"/>
                </a:rPr>
                <a:t>Data in silos</a:t>
              </a:r>
            </a:p>
            <a:p>
              <a:pPr algn="l"/>
              <a:r>
                <a:rPr sz="1200" b="0" i="0">
                  <a:solidFill>
                    <a:srgbClr val="1A1A1A"/>
                  </a:solidFill>
                  <a:latin typeface="Arial"/>
                </a:rPr>
                <a:t>EHR in the hospital, wearables on the phone</a:t>
              </a:r>
            </a:p>
          </p:txBody>
        </p:sp>
        <p:sp>
          <p:nvSpPr>
            <p:cNvPr id="118" name="ig:icon_card"/>
            <p:cNvSpPr/>
            <p:nvPr/>
          </p:nvSpPr>
          <p:spPr>
            <a:xfrm>
              <a:off x="9357025" y="5554980"/>
              <a:ext cx="2706654" cy="1193292"/>
            </a:xfrm>
            <a:prstGeom prst="roundRect">
              <a:avLst>
                <a:gd name="adj" fmla="val 3831"/>
              </a:avLst>
            </a:prstGeom>
            <a:solidFill>
              <a:srgbClr val="FFFFFF"/>
            </a:solidFill>
            <a:ln w="9525">
              <a:solidFill>
                <a:srgbClr val="466E9E"/>
              </a:solidFill>
              <a:prstDash val="sysDot"/>
            </a:ln>
          </p:spPr>
          <p:txBody>
            <a:bodyPr rtlCol="0" anchor="ctr"/>
            <a:lstStyle/>
            <a:p/>
          </p:txBody>
        </p:sp>
        <p:pic>
          <p:nvPicPr>
            <p:cNvPr id="119" name="Picture 118" descr="ic_fa6_FaFlask_1D4E89.png"/>
            <p:cNvPicPr>
              <a:picLocks noChangeAspect="1"/>
            </p:cNvPicPr>
            <p:nvPr/>
          </p:nvPicPr>
          <p:blipFill>
            <a:blip r:embed="rId17"/>
            <a:stretch>
              <a:fillRect/>
            </a:stretch>
          </p:blipFill>
          <p:spPr>
            <a:xfrm>
              <a:off x="9421033" y="5900166"/>
              <a:ext cx="502920" cy="502920"/>
            </a:xfrm>
            <a:prstGeom prst="rect">
              <a:avLst/>
            </a:prstGeom>
          </p:spPr>
        </p:pic>
        <p:sp>
          <p:nvSpPr>
            <p:cNvPr id="120" name="TextBox 119"/>
            <p:cNvSpPr txBox="1"/>
            <p:nvPr/>
          </p:nvSpPr>
          <p:spPr>
            <a:xfrm>
              <a:off x="9969673" y="5573268"/>
              <a:ext cx="2057430" cy="1156716"/>
            </a:xfrm>
            <a:prstGeom prst="rect">
              <a:avLst/>
            </a:prstGeom>
            <a:noFill/>
          </p:spPr>
          <p:txBody>
            <a:bodyPr wrap="square" lIns="27432" rIns="27432" tIns="27432" bIns="27432" anchor="ctr">
              <a:noAutofit/>
            </a:bodyPr>
            <a:lstStyle/>
            <a:p>
              <a:pPr algn="l"/>
              <a:r>
                <a:rPr sz="1200" b="1" i="0">
                  <a:solidFill>
                    <a:srgbClr val="1A1A1A"/>
                  </a:solidFill>
                  <a:latin typeface="Arial"/>
                </a:rPr>
                <a:t>No what-if</a:t>
              </a:r>
            </a:p>
            <a:p>
              <a:pPr algn="l"/>
              <a:r>
                <a:rPr sz="1200" b="0" i="0">
                  <a:solidFill>
                    <a:srgbClr val="1A1A1A"/>
                  </a:solidFill>
                  <a:latin typeface="Arial"/>
                </a:rPr>
                <a:t>Advice is generic; cannot test a swap on </a:t>
              </a:r>
              <a:r>
                <a:rPr sz="1200" b="1" i="0">
                  <a:solidFill>
                    <a:srgbClr val="1A1A1A"/>
                  </a:solidFill>
                  <a:latin typeface="Arial"/>
                </a:rPr>
                <a:t>this</a:t>
              </a:r>
              <a:r>
                <a:rPr sz="1200" b="0" i="0">
                  <a:solidFill>
                    <a:srgbClr val="1A1A1A"/>
                  </a:solidFill>
                  <a:latin typeface="Arial"/>
                </a:rPr>
                <a:t> patient</a:t>
              </a:r>
            </a:p>
          </p:txBody>
        </p:sp>
      </p:gr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v:0">
            <a:hlinkClick action="ppaction://hlinksldjump" r:id="rId11"/>
          </p:cNvPr>
          <p:cNvSpPr/>
          <p:nvPr/>
        </p:nvSpPr>
        <p:spPr>
          <a:xfrm>
            <a:off x="0" y="0"/>
            <a:ext cx="1359073" cy="457200"/>
          </a:xfrm>
          <a:prstGeom prst="homePlate">
            <a:avLst>
              <a:gd name="adj" fmla="val 34000"/>
            </a:avLst>
          </a:prstGeom>
          <a:solidFill>
            <a:srgbClr val="6587AF"/>
          </a:solidFill>
          <a:ln w="12700">
            <a:solidFill>
              <a:srgbClr val="FFFFFF"/>
            </a:solidFill>
          </a:ln>
        </p:spPr>
        <p:txBody>
          <a:bodyPr rtlCol="0" anchor="ctr"/>
          <a:lstStyle/>
          <a:p/>
        </p:txBody>
      </p:sp>
      <p:sp>
        <p:nvSpPr>
          <p:cNvPr id="3" name="nav:t0">
            <a:hlinkClick action="ppaction://hlinksldjump" r:id="rId11"/>
          </p:cNvPr>
          <p:cNvSpPr txBox="1"/>
          <p:nvPr/>
        </p:nvSpPr>
        <p:spPr>
          <a:xfrm>
            <a:off x="64008" y="0"/>
            <a:ext cx="1121329" cy="457200"/>
          </a:xfrm>
          <a:prstGeom prst="rect">
            <a:avLst/>
          </a:prstGeom>
          <a:noFill/>
        </p:spPr>
        <p:txBody>
          <a:bodyPr wrap="square" lIns="9144" rIns="9144" tIns="9144" bIns="9144" anchor="ctr">
            <a:noAutofit/>
          </a:bodyPr>
          <a:lstStyle/>
          <a:p>
            <a:pPr algn="ctr"/>
            <a:r>
              <a:rPr sz="1000" b="0" i="0">
                <a:solidFill>
                  <a:srgbClr val="FFFFFF"/>
                </a:solidFill>
                <a:latin typeface="Arial"/>
              </a:rPr>
              <a:t>Executive Summary</a:t>
            </a:r>
          </a:p>
        </p:txBody>
      </p:sp>
      <p:sp>
        <p:nvSpPr>
          <p:cNvPr id="4" name="nav:1">
            <a:hlinkClick action="ppaction://hlinksldjump" r:id="rId12"/>
          </p:cNvPr>
          <p:cNvSpPr/>
          <p:nvPr/>
        </p:nvSpPr>
        <p:spPr>
          <a:xfrm>
            <a:off x="1203625"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5" name="nav:t1">
            <a:hlinkClick action="ppaction://hlinksldjump" r:id="rId12"/>
          </p:cNvPr>
          <p:cNvSpPr txBox="1"/>
          <p:nvPr/>
        </p:nvSpPr>
        <p:spPr>
          <a:xfrm>
            <a:off x="1386505"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Problem</a:t>
            </a:r>
          </a:p>
        </p:txBody>
      </p:sp>
      <p:sp>
        <p:nvSpPr>
          <p:cNvPr id="6" name="nav:2"/>
          <p:cNvSpPr/>
          <p:nvPr/>
        </p:nvSpPr>
        <p:spPr>
          <a:xfrm>
            <a:off x="2407249" y="0"/>
            <a:ext cx="1359073" cy="457200"/>
          </a:xfrm>
          <a:prstGeom prst="chevron">
            <a:avLst>
              <a:gd name="adj" fmla="val 34000"/>
            </a:avLst>
          </a:prstGeom>
          <a:solidFill>
            <a:srgbClr val="112F52"/>
          </a:solidFill>
          <a:ln w="12700">
            <a:solidFill>
              <a:srgbClr val="FFFFFF"/>
            </a:solidFill>
          </a:ln>
        </p:spPr>
        <p:txBody>
          <a:bodyPr rtlCol="0" anchor="ctr"/>
          <a:lstStyle/>
          <a:p/>
        </p:txBody>
      </p:sp>
      <p:sp>
        <p:nvSpPr>
          <p:cNvPr id="7" name="nav:t2"/>
          <p:cNvSpPr txBox="1"/>
          <p:nvPr/>
        </p:nvSpPr>
        <p:spPr>
          <a:xfrm>
            <a:off x="2590129" y="0"/>
            <a:ext cx="1002457" cy="457200"/>
          </a:xfrm>
          <a:prstGeom prst="rect">
            <a:avLst/>
          </a:prstGeom>
          <a:noFill/>
        </p:spPr>
        <p:txBody>
          <a:bodyPr wrap="square" lIns="9144" rIns="9144" tIns="9144" bIns="9144" anchor="ctr">
            <a:noAutofit/>
          </a:bodyPr>
          <a:lstStyle/>
          <a:p>
            <a:pPr algn="ctr"/>
            <a:r>
              <a:rPr sz="1000" b="1" i="0">
                <a:solidFill>
                  <a:srgbClr val="FFFFFF"/>
                </a:solidFill>
                <a:latin typeface="Arial"/>
              </a:rPr>
              <a:t>Solution</a:t>
            </a:r>
          </a:p>
        </p:txBody>
      </p:sp>
      <p:sp>
        <p:nvSpPr>
          <p:cNvPr id="8" name="nav:3">
            <a:hlinkClick action="ppaction://hlinksldjump" r:id="rId13"/>
          </p:cNvPr>
          <p:cNvSpPr/>
          <p:nvPr/>
        </p:nvSpPr>
        <p:spPr>
          <a:xfrm>
            <a:off x="3610874"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9" name="nav:t3">
            <a:hlinkClick action="ppaction://hlinksldjump" r:id="rId13"/>
          </p:cNvPr>
          <p:cNvSpPr txBox="1"/>
          <p:nvPr/>
        </p:nvSpPr>
        <p:spPr>
          <a:xfrm>
            <a:off x="3793754"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Data</a:t>
            </a:r>
          </a:p>
        </p:txBody>
      </p:sp>
      <p:sp>
        <p:nvSpPr>
          <p:cNvPr id="10" name="nav:4">
            <a:hlinkClick action="ppaction://hlinksldjump" r:id="rId14"/>
          </p:cNvPr>
          <p:cNvSpPr/>
          <p:nvPr/>
        </p:nvSpPr>
        <p:spPr>
          <a:xfrm>
            <a:off x="4814499"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1" name="nav:t4">
            <a:hlinkClick action="ppaction://hlinksldjump" r:id="rId14"/>
          </p:cNvPr>
          <p:cNvSpPr txBox="1"/>
          <p:nvPr/>
        </p:nvSpPr>
        <p:spPr>
          <a:xfrm>
            <a:off x="4997379"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Twin Engine</a:t>
            </a:r>
          </a:p>
        </p:txBody>
      </p:sp>
      <p:sp>
        <p:nvSpPr>
          <p:cNvPr id="12" name="nav:5">
            <a:hlinkClick action="ppaction://hlinksldjump" r:id="rId15"/>
          </p:cNvPr>
          <p:cNvSpPr/>
          <p:nvPr/>
        </p:nvSpPr>
        <p:spPr>
          <a:xfrm>
            <a:off x="6018124"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3" name="nav:t5">
            <a:hlinkClick action="ppaction://hlinksldjump" r:id="rId15"/>
          </p:cNvPr>
          <p:cNvSpPr txBox="1"/>
          <p:nvPr/>
        </p:nvSpPr>
        <p:spPr>
          <a:xfrm>
            <a:off x="6201004"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AI Model</a:t>
            </a:r>
          </a:p>
        </p:txBody>
      </p:sp>
      <p:sp>
        <p:nvSpPr>
          <p:cNvPr id="14" name="nav:6">
            <a:hlinkClick action="ppaction://hlinksldjump" r:id="rId16"/>
          </p:cNvPr>
          <p:cNvSpPr/>
          <p:nvPr/>
        </p:nvSpPr>
        <p:spPr>
          <a:xfrm>
            <a:off x="7221748"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5" name="nav:t6">
            <a:hlinkClick action="ppaction://hlinksldjump" r:id="rId16"/>
          </p:cNvPr>
          <p:cNvSpPr txBox="1"/>
          <p:nvPr/>
        </p:nvSpPr>
        <p:spPr>
          <a:xfrm>
            <a:off x="7404628"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Results</a:t>
            </a:r>
          </a:p>
        </p:txBody>
      </p:sp>
      <p:sp>
        <p:nvSpPr>
          <p:cNvPr id="16" name="nav:7">
            <a:hlinkClick action="ppaction://hlinksldjump" r:id="rId17"/>
          </p:cNvPr>
          <p:cNvSpPr/>
          <p:nvPr/>
        </p:nvSpPr>
        <p:spPr>
          <a:xfrm>
            <a:off x="8425373"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7" name="nav:t7">
            <a:hlinkClick action="ppaction://hlinksldjump" r:id="rId17"/>
          </p:cNvPr>
          <p:cNvSpPr txBox="1"/>
          <p:nvPr/>
        </p:nvSpPr>
        <p:spPr>
          <a:xfrm>
            <a:off x="8608253"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Dashboard</a:t>
            </a:r>
          </a:p>
        </p:txBody>
      </p:sp>
      <p:sp>
        <p:nvSpPr>
          <p:cNvPr id="18" name="nav:8">
            <a:hlinkClick action="ppaction://hlinksldjump" r:id="rId18"/>
          </p:cNvPr>
          <p:cNvSpPr/>
          <p:nvPr/>
        </p:nvSpPr>
        <p:spPr>
          <a:xfrm>
            <a:off x="9628998"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9" name="nav:t8">
            <a:hlinkClick action="ppaction://hlinksldjump" r:id="rId18"/>
          </p:cNvPr>
          <p:cNvSpPr txBox="1"/>
          <p:nvPr/>
        </p:nvSpPr>
        <p:spPr>
          <a:xfrm>
            <a:off x="9811878"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Impact</a:t>
            </a:r>
          </a:p>
        </p:txBody>
      </p:sp>
      <p:sp>
        <p:nvSpPr>
          <p:cNvPr id="20" name="nav:9">
            <a:hlinkClick action="ppaction://hlinksldjump" r:id="rId19"/>
          </p:cNvPr>
          <p:cNvSpPr/>
          <p:nvPr/>
        </p:nvSpPr>
        <p:spPr>
          <a:xfrm>
            <a:off x="10832622"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21" name="nav:t9">
            <a:hlinkClick action="ppaction://hlinksldjump" r:id="rId19"/>
          </p:cNvPr>
          <p:cNvSpPr txBox="1"/>
          <p:nvPr/>
        </p:nvSpPr>
        <p:spPr>
          <a:xfrm>
            <a:off x="11015502"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Roadmap &amp; Cost</a:t>
            </a:r>
          </a:p>
        </p:txBody>
      </p:sp>
      <p:sp>
        <p:nvSpPr>
          <p:cNvPr id="22" name="TextBox 21"/>
          <p:cNvSpPr txBox="1"/>
          <p:nvPr/>
        </p:nvSpPr>
        <p:spPr>
          <a:xfrm>
            <a:off x="73152" y="502920"/>
            <a:ext cx="12045391" cy="329184"/>
          </a:xfrm>
          <a:prstGeom prst="rect">
            <a:avLst/>
          </a:prstGeom>
          <a:noFill/>
        </p:spPr>
        <p:txBody>
          <a:bodyPr wrap="square" lIns="18288" rIns="18288" tIns="18288" bIns="18288" anchor="ctr">
            <a:noAutofit/>
          </a:bodyPr>
          <a:lstStyle/>
          <a:p>
            <a:pPr algn="l"/>
            <a:r>
              <a:rPr sz="1600" b="1" i="0">
                <a:solidFill>
                  <a:srgbClr val="1D4E89"/>
                </a:solidFill>
                <a:latin typeface="Arial"/>
              </a:rPr>
              <a:t>GlucoSentinel keeps a calibrated virtual copy of each patient that forecasts, explains and simulates</a:t>
            </a:r>
          </a:p>
        </p:txBody>
      </p:sp>
      <p:sp>
        <p:nvSpPr>
          <p:cNvPr id="23" name="TextBox 22"/>
          <p:cNvSpPr txBox="1"/>
          <p:nvPr/>
        </p:nvSpPr>
        <p:spPr>
          <a:xfrm>
            <a:off x="73152" y="795528"/>
            <a:ext cx="12045391" cy="237744"/>
          </a:xfrm>
          <a:prstGeom prst="rect">
            <a:avLst/>
          </a:prstGeom>
          <a:noFill/>
        </p:spPr>
        <p:txBody>
          <a:bodyPr wrap="square" lIns="18288" rIns="18288" tIns="18288" bIns="18288" anchor="ctr">
            <a:noAutofit/>
          </a:bodyPr>
          <a:lstStyle/>
          <a:p>
            <a:pPr algn="l"/>
            <a:r>
              <a:rPr sz="1200" b="1" i="0">
                <a:solidFill>
                  <a:srgbClr val="4A5168"/>
                </a:solidFill>
                <a:latin typeface="Arial"/>
              </a:rPr>
              <a:t>Physiology says how glucose works in every body; machine learning learns how this patient actually lives</a:t>
            </a:r>
          </a:p>
        </p:txBody>
      </p:sp>
      <p:cxnSp>
        <p:nvCxnSpPr>
          <p:cNvPr id="24" name="Connector 23"/>
          <p:cNvCxnSpPr/>
          <p:nvPr/>
        </p:nvCxnSpPr>
        <p:spPr>
          <a:xfrm>
            <a:off x="73152" y="1042416"/>
            <a:ext cx="12045391" cy="0"/>
          </a:xfrm>
          <a:prstGeom prst="line">
            <a:avLst/>
          </a:prstGeom>
          <a:ln w="19050">
            <a:solidFill>
              <a:srgbClr val="1D4E89"/>
            </a:solidFill>
          </a:ln>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73152" y="1097280"/>
            <a:ext cx="3909700" cy="5705856"/>
            <a:chOff x="73152" y="1097280"/>
            <a:chExt cx="3909700" cy="5705856"/>
          </a:xfrm>
        </p:grpSpPr>
        <p:sp>
          <p:nvSpPr>
            <p:cNvPr id="26" name="frame:The twin loop"/>
            <p:cNvSpPr/>
            <p:nvPr/>
          </p:nvSpPr>
          <p:spPr>
            <a:xfrm>
              <a:off x="73152" y="1234440"/>
              <a:ext cx="3909700" cy="5568696"/>
            </a:xfrm>
            <a:prstGeom prst="roundRect">
              <a:avLst>
                <a:gd name="adj" fmla="val 1169"/>
              </a:avLst>
            </a:prstGeom>
            <a:solidFill>
              <a:srgbClr val="F1F4F8"/>
            </a:solidFill>
            <a:ln w="15875">
              <a:solidFill>
                <a:srgbClr val="466E9E"/>
              </a:solidFill>
              <a:prstDash val="sysDot"/>
            </a:ln>
          </p:spPr>
          <p:txBody>
            <a:bodyPr rtlCol="0" anchor="ctr"/>
            <a:lstStyle/>
            <a:p/>
          </p:txBody>
        </p:sp>
        <p:sp>
          <p:nvSpPr>
            <p:cNvPr id="27" name="Rounded Rectangle 26"/>
            <p:cNvSpPr/>
            <p:nvPr/>
          </p:nvSpPr>
          <p:spPr>
            <a:xfrm>
              <a:off x="73152" y="1097280"/>
              <a:ext cx="1494032" cy="274320"/>
            </a:xfrm>
            <a:prstGeom prst="roundRect">
              <a:avLst>
                <a:gd name="adj" fmla="val 13333"/>
              </a:avLst>
            </a:prstGeom>
            <a:solidFill>
              <a:srgbClr val="1D4E89"/>
            </a:solidFill>
            <a:ln>
              <a:noFill/>
            </a:ln>
          </p:spPr>
          <p:txBody>
            <a:bodyPr rtlCol="0" anchor="ctr"/>
            <a:lstStyle/>
            <a:p/>
          </p:txBody>
        </p:sp>
        <p:pic>
          <p:nvPicPr>
            <p:cNvPr id="28" name="Picture 27" descr="ic_fa6_FaArrowsRotate_FFFFFF.png"/>
            <p:cNvPicPr>
              <a:picLocks noChangeAspect="1"/>
            </p:cNvPicPr>
            <p:nvPr/>
          </p:nvPicPr>
          <p:blipFill>
            <a:blip r:embed="rId2"/>
            <a:stretch>
              <a:fillRect/>
            </a:stretch>
          </p:blipFill>
          <p:spPr>
            <a:xfrm>
              <a:off x="128016" y="1133856"/>
              <a:ext cx="201168" cy="201168"/>
            </a:xfrm>
            <a:prstGeom prst="rect">
              <a:avLst/>
            </a:prstGeom>
          </p:spPr>
        </p:pic>
        <p:sp>
          <p:nvSpPr>
            <p:cNvPr id="29" name="TextBox 28"/>
            <p:cNvSpPr txBox="1"/>
            <p:nvPr/>
          </p:nvSpPr>
          <p:spPr>
            <a:xfrm>
              <a:off x="374904" y="1097280"/>
              <a:ext cx="1164848" cy="274320"/>
            </a:xfrm>
            <a:prstGeom prst="rect">
              <a:avLst/>
            </a:prstGeom>
            <a:noFill/>
          </p:spPr>
          <p:txBody>
            <a:bodyPr wrap="square" lIns="9144" rIns="9144" tIns="9144" bIns="9144" anchor="ctr">
              <a:noAutofit/>
            </a:bodyPr>
            <a:lstStyle/>
            <a:p>
              <a:pPr algn="l"/>
              <a:r>
                <a:rPr sz="1200" b="1" i="0">
                  <a:solidFill>
                    <a:srgbClr val="FFFFFF"/>
                  </a:solidFill>
                  <a:latin typeface="Arial"/>
                </a:rPr>
                <a:t>The twin loop</a:t>
              </a:r>
            </a:p>
          </p:txBody>
        </p:sp>
        <p:sp>
          <p:nvSpPr>
            <p:cNvPr id="30" name="ig:cycle"/>
            <p:cNvSpPr/>
            <p:nvPr/>
          </p:nvSpPr>
          <p:spPr>
            <a:xfrm>
              <a:off x="589244" y="1437538"/>
              <a:ext cx="2877515" cy="2877515"/>
            </a:xfrm>
            <a:prstGeom prst="blockArc">
              <a:avLst>
                <a:gd name="adj1" fmla="val 16500000"/>
                <a:gd name="adj2" fmla="val 21300000"/>
                <a:gd name="adj3" fmla="val 7000"/>
              </a:avLst>
            </a:prstGeom>
            <a:solidFill>
              <a:srgbClr val="89A3C2"/>
            </a:solidFill>
            <a:ln>
              <a:noFill/>
            </a:ln>
          </p:spPr>
          <p:txBody>
            <a:bodyPr rtlCol="0" anchor="ctr"/>
            <a:lstStyle/>
            <a:p/>
          </p:txBody>
        </p:sp>
        <p:sp>
          <p:nvSpPr>
            <p:cNvPr id="31" name="Isosceles Triangle 30"/>
            <p:cNvSpPr/>
            <p:nvPr/>
          </p:nvSpPr>
          <p:spPr>
            <a:xfrm rot="10500000">
              <a:off x="3139386" y="2538109"/>
              <a:ext cx="443137" cy="443137"/>
            </a:xfrm>
            <a:prstGeom prst="triangle">
              <a:avLst/>
            </a:prstGeom>
            <a:solidFill>
              <a:srgbClr val="89A3C2"/>
            </a:solidFill>
            <a:ln>
              <a:noFill/>
            </a:ln>
          </p:spPr>
          <p:txBody>
            <a:bodyPr rtlCol="0" anchor="ctr"/>
            <a:lstStyle/>
            <a:p/>
          </p:txBody>
        </p:sp>
        <p:sp>
          <p:nvSpPr>
            <p:cNvPr id="32" name="Block Arc 31"/>
            <p:cNvSpPr/>
            <p:nvPr/>
          </p:nvSpPr>
          <p:spPr>
            <a:xfrm>
              <a:off x="589244" y="1437538"/>
              <a:ext cx="2877515" cy="2877515"/>
            </a:xfrm>
            <a:prstGeom prst="blockArc">
              <a:avLst>
                <a:gd name="adj1" fmla="val 300000"/>
                <a:gd name="adj2" fmla="val 5100000"/>
                <a:gd name="adj3" fmla="val 7000"/>
              </a:avLst>
            </a:prstGeom>
            <a:solidFill>
              <a:srgbClr val="466E9E"/>
            </a:solidFill>
            <a:ln>
              <a:noFill/>
            </a:ln>
          </p:spPr>
          <p:txBody>
            <a:bodyPr rtlCol="0" anchor="ctr"/>
            <a:lstStyle/>
            <a:p/>
          </p:txBody>
        </p:sp>
        <p:sp>
          <p:nvSpPr>
            <p:cNvPr id="33" name="Isosceles Triangle 32"/>
            <p:cNvSpPr/>
            <p:nvPr/>
          </p:nvSpPr>
          <p:spPr>
            <a:xfrm rot="15900000">
              <a:off x="1923052" y="3987680"/>
              <a:ext cx="443137" cy="443137"/>
            </a:xfrm>
            <a:prstGeom prst="triangle">
              <a:avLst/>
            </a:prstGeom>
            <a:solidFill>
              <a:srgbClr val="466E9E"/>
            </a:solidFill>
            <a:ln>
              <a:noFill/>
            </a:ln>
          </p:spPr>
          <p:txBody>
            <a:bodyPr rtlCol="0" anchor="ctr"/>
            <a:lstStyle/>
            <a:p/>
          </p:txBody>
        </p:sp>
        <p:sp>
          <p:nvSpPr>
            <p:cNvPr id="34" name="Block Arc 33"/>
            <p:cNvSpPr/>
            <p:nvPr/>
          </p:nvSpPr>
          <p:spPr>
            <a:xfrm>
              <a:off x="589244" y="1437538"/>
              <a:ext cx="2877515" cy="2877515"/>
            </a:xfrm>
            <a:prstGeom prst="blockArc">
              <a:avLst>
                <a:gd name="adj1" fmla="val 5700000"/>
                <a:gd name="adj2" fmla="val 10500000"/>
                <a:gd name="adj3" fmla="val 7000"/>
              </a:avLst>
            </a:prstGeom>
            <a:solidFill>
              <a:srgbClr val="173D6B"/>
            </a:solidFill>
            <a:ln>
              <a:noFill/>
            </a:ln>
          </p:spPr>
          <p:txBody>
            <a:bodyPr rtlCol="0" anchor="ctr"/>
            <a:lstStyle/>
            <a:p/>
          </p:txBody>
        </p:sp>
        <p:sp>
          <p:nvSpPr>
            <p:cNvPr id="35" name="Isosceles Triangle 34"/>
            <p:cNvSpPr/>
            <p:nvPr/>
          </p:nvSpPr>
          <p:spPr>
            <a:xfrm rot="21300000">
              <a:off x="473480" y="2771346"/>
              <a:ext cx="443137" cy="443137"/>
            </a:xfrm>
            <a:prstGeom prst="triangle">
              <a:avLst/>
            </a:prstGeom>
            <a:solidFill>
              <a:srgbClr val="173D6B"/>
            </a:solidFill>
            <a:ln>
              <a:noFill/>
            </a:ln>
          </p:spPr>
          <p:txBody>
            <a:bodyPr rtlCol="0" anchor="ctr"/>
            <a:lstStyle/>
            <a:p/>
          </p:txBody>
        </p:sp>
        <p:sp>
          <p:nvSpPr>
            <p:cNvPr id="36" name="Block Arc 35"/>
            <p:cNvSpPr/>
            <p:nvPr/>
          </p:nvSpPr>
          <p:spPr>
            <a:xfrm>
              <a:off x="589244" y="1437538"/>
              <a:ext cx="2877515" cy="2877515"/>
            </a:xfrm>
            <a:prstGeom prst="blockArc">
              <a:avLst>
                <a:gd name="adj1" fmla="val 11100000"/>
                <a:gd name="adj2" fmla="val 15900000"/>
                <a:gd name="adj3" fmla="val 7000"/>
              </a:avLst>
            </a:prstGeom>
            <a:solidFill>
              <a:srgbClr val="112F52"/>
            </a:solidFill>
            <a:ln>
              <a:noFill/>
            </a:ln>
          </p:spPr>
          <p:txBody>
            <a:bodyPr rtlCol="0" anchor="ctr"/>
            <a:lstStyle/>
            <a:p/>
          </p:txBody>
        </p:sp>
        <p:sp>
          <p:nvSpPr>
            <p:cNvPr id="37" name="Isosceles Triangle 36"/>
            <p:cNvSpPr/>
            <p:nvPr/>
          </p:nvSpPr>
          <p:spPr>
            <a:xfrm rot="5100000">
              <a:off x="1689815" y="1321774"/>
              <a:ext cx="443137" cy="443137"/>
            </a:xfrm>
            <a:prstGeom prst="triangle">
              <a:avLst/>
            </a:prstGeom>
            <a:solidFill>
              <a:srgbClr val="112F52"/>
            </a:solidFill>
            <a:ln>
              <a:noFill/>
            </a:ln>
          </p:spPr>
          <p:txBody>
            <a:bodyPr rtlCol="0" anchor="ctr"/>
            <a:lstStyle/>
            <a:p/>
          </p:txBody>
        </p:sp>
        <p:cxnSp>
          <p:nvCxnSpPr>
            <p:cNvPr id="38" name="Connector 37"/>
            <p:cNvCxnSpPr/>
            <p:nvPr/>
          </p:nvCxnSpPr>
          <p:spPr>
            <a:xfrm>
              <a:off x="790671" y="2876296"/>
              <a:ext cx="2474663" cy="0"/>
            </a:xfrm>
            <a:prstGeom prst="line">
              <a:avLst/>
            </a:prstGeom>
            <a:ln w="15875">
              <a:solidFill>
                <a:srgbClr val="89A3C2"/>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2028002" y="1638964"/>
              <a:ext cx="0" cy="2474664"/>
            </a:xfrm>
            <a:prstGeom prst="line">
              <a:avLst/>
            </a:prstGeom>
            <a:ln w="15875">
              <a:solidFill>
                <a:srgbClr val="89A3C2"/>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961177" y="1993541"/>
              <a:ext cx="1151006" cy="748154"/>
            </a:xfrm>
            <a:prstGeom prst="rect">
              <a:avLst/>
            </a:prstGeom>
            <a:noFill/>
          </p:spPr>
          <p:txBody>
            <a:bodyPr wrap="square" lIns="9144" rIns="9144" tIns="9144" bIns="9144" anchor="ctr">
              <a:noAutofit/>
            </a:bodyPr>
            <a:lstStyle/>
            <a:p>
              <a:pPr algn="ctr"/>
              <a:r>
                <a:rPr sz="1100" b="1" i="0">
                  <a:solidFill>
                    <a:srgbClr val="1D4E89"/>
                  </a:solidFill>
                  <a:latin typeface="Arial"/>
                </a:rPr>
                <a:t>EHR prior</a:t>
              </a:r>
            </a:p>
          </p:txBody>
        </p:sp>
        <p:sp>
          <p:nvSpPr>
            <p:cNvPr id="41" name="TextBox 40"/>
            <p:cNvSpPr txBox="1"/>
            <p:nvPr/>
          </p:nvSpPr>
          <p:spPr>
            <a:xfrm>
              <a:off x="1961177" y="3010897"/>
              <a:ext cx="1151006" cy="748154"/>
            </a:xfrm>
            <a:prstGeom prst="rect">
              <a:avLst/>
            </a:prstGeom>
            <a:noFill/>
          </p:spPr>
          <p:txBody>
            <a:bodyPr wrap="square" lIns="9144" rIns="9144" tIns="9144" bIns="9144" anchor="ctr">
              <a:noAutofit/>
            </a:bodyPr>
            <a:lstStyle/>
            <a:p>
              <a:pPr algn="ctr"/>
              <a:r>
                <a:rPr sz="1100" b="1" i="0">
                  <a:solidFill>
                    <a:srgbClr val="1D4E89"/>
                  </a:solidFill>
                  <a:latin typeface="Arial"/>
                </a:rPr>
                <a:t>Calibrate</a:t>
              </a:r>
            </a:p>
          </p:txBody>
        </p:sp>
        <p:sp>
          <p:nvSpPr>
            <p:cNvPr id="42" name="TextBox 41"/>
            <p:cNvSpPr txBox="1"/>
            <p:nvPr/>
          </p:nvSpPr>
          <p:spPr>
            <a:xfrm>
              <a:off x="943821" y="3010897"/>
              <a:ext cx="1151006" cy="748154"/>
            </a:xfrm>
            <a:prstGeom prst="rect">
              <a:avLst/>
            </a:prstGeom>
            <a:noFill/>
          </p:spPr>
          <p:txBody>
            <a:bodyPr wrap="square" lIns="9144" rIns="9144" tIns="9144" bIns="9144" anchor="ctr">
              <a:noAutofit/>
            </a:bodyPr>
            <a:lstStyle/>
            <a:p>
              <a:pPr algn="ctr"/>
              <a:r>
                <a:rPr sz="1100" b="1" i="0">
                  <a:solidFill>
                    <a:srgbClr val="1D4E89"/>
                  </a:solidFill>
                  <a:latin typeface="Arial"/>
                </a:rPr>
                <a:t>Assimilate</a:t>
              </a:r>
            </a:p>
          </p:txBody>
        </p:sp>
        <p:sp>
          <p:nvSpPr>
            <p:cNvPr id="43" name="TextBox 42"/>
            <p:cNvSpPr txBox="1"/>
            <p:nvPr/>
          </p:nvSpPr>
          <p:spPr>
            <a:xfrm>
              <a:off x="943821" y="1993541"/>
              <a:ext cx="1151006" cy="748154"/>
            </a:xfrm>
            <a:prstGeom prst="rect">
              <a:avLst/>
            </a:prstGeom>
            <a:noFill/>
          </p:spPr>
          <p:txBody>
            <a:bodyPr wrap="square" lIns="9144" rIns="9144" tIns="9144" bIns="9144" anchor="ctr">
              <a:noAutofit/>
            </a:bodyPr>
            <a:lstStyle/>
            <a:p>
              <a:pPr algn="ctr"/>
              <a:r>
                <a:rPr sz="1100" b="1" i="0">
                  <a:solidFill>
                    <a:srgbClr val="1D4E89"/>
                  </a:solidFill>
                  <a:latin typeface="Arial"/>
                </a:rPr>
                <a:t>Simulate</a:t>
              </a:r>
            </a:p>
          </p:txBody>
        </p:sp>
        <p:sp>
          <p:nvSpPr>
            <p:cNvPr id="44" name="Oval 43"/>
            <p:cNvSpPr/>
            <p:nvPr/>
          </p:nvSpPr>
          <p:spPr>
            <a:xfrm>
              <a:off x="1510049" y="2588544"/>
              <a:ext cx="1035905" cy="575503"/>
            </a:xfrm>
            <a:prstGeom prst="ellipse">
              <a:avLst/>
            </a:prstGeom>
            <a:solidFill>
              <a:srgbClr val="FFFFFF"/>
            </a:solidFill>
            <a:ln w="25400">
              <a:solidFill>
                <a:srgbClr val="89A3C2"/>
              </a:solidFill>
            </a:ln>
          </p:spPr>
          <p:txBody>
            <a:bodyPr rtlCol="0" anchor="ctr" wrap="square" lIns="18288" rIns="18288" tIns="18288" bIns="18288">
              <a:noAutofit/>
            </a:bodyPr>
            <a:lstStyle/>
            <a:p>
              <a:pPr algn="ctr"/>
              <a:r>
                <a:rPr sz="1100" b="1" i="0">
                  <a:solidFill>
                    <a:srgbClr val="1D4E89"/>
                  </a:solidFill>
                  <a:latin typeface="Arial"/>
                </a:rPr>
                <a:t>Virtual</a:t>
              </a:r>
            </a:p>
            <a:p>
              <a:pPr algn="ctr"/>
              <a:r>
                <a:rPr sz="1100" b="0" i="0">
                  <a:solidFill>
                    <a:srgbClr val="1D4E89"/>
                  </a:solidFill>
                  <a:latin typeface="Arial"/>
                </a:rPr>
                <a:t>patient</a:t>
              </a:r>
            </a:p>
          </p:txBody>
        </p:sp>
        <p:sp>
          <p:nvSpPr>
            <p:cNvPr id="45" name="Rounded Rectangle 44"/>
            <p:cNvSpPr/>
            <p:nvPr/>
          </p:nvSpPr>
          <p:spPr>
            <a:xfrm>
              <a:off x="128016" y="4399280"/>
              <a:ext cx="3799972" cy="552958"/>
            </a:xfrm>
            <a:prstGeom prst="roundRect">
              <a:avLst>
                <a:gd name="adj" fmla="val 8268"/>
              </a:avLst>
            </a:prstGeom>
            <a:solidFill>
              <a:srgbClr val="FFFFFF"/>
            </a:solidFill>
            <a:ln w="9525">
              <a:solidFill>
                <a:srgbClr val="466E9E"/>
              </a:solidFill>
              <a:prstDash val="sysDot"/>
            </a:ln>
          </p:spPr>
          <p:txBody>
            <a:bodyPr rtlCol="0" anchor="ctr" wrap="square" lIns="45720" rIns="45720" tIns="27432" bIns="27432">
              <a:noAutofit/>
            </a:bodyPr>
            <a:lstStyle/>
            <a:p>
              <a:pPr algn="l"/>
              <a:r>
                <a:rPr sz="1200" b="1" i="0">
                  <a:solidFill>
                    <a:srgbClr val="1A1A1A"/>
                  </a:solidFill>
                  <a:latin typeface="Arial"/>
                </a:rPr>
                <a:t>A. EHR prior</a:t>
              </a:r>
              <a:r>
                <a:rPr sz="1200" b="0" i="0">
                  <a:solidFill>
                    <a:srgbClr val="1A1A1A"/>
                  </a:solidFill>
                  <a:latin typeface="Arial"/>
                </a:rPr>
                <a:t>: HbA1c, FPG, BMI, duration, TCF7L2, PRS and meds set day-one physiology</a:t>
              </a:r>
            </a:p>
          </p:txBody>
        </p:sp>
        <p:sp>
          <p:nvSpPr>
            <p:cNvPr id="46" name="Rounded Rectangle 45"/>
            <p:cNvSpPr/>
            <p:nvPr/>
          </p:nvSpPr>
          <p:spPr>
            <a:xfrm>
              <a:off x="128016" y="4997958"/>
              <a:ext cx="3799972" cy="552958"/>
            </a:xfrm>
            <a:prstGeom prst="roundRect">
              <a:avLst>
                <a:gd name="adj" fmla="val 8268"/>
              </a:avLst>
            </a:prstGeom>
            <a:solidFill>
              <a:srgbClr val="FFFFFF"/>
            </a:solidFill>
            <a:ln w="9525">
              <a:solidFill>
                <a:srgbClr val="466E9E"/>
              </a:solidFill>
              <a:prstDash val="sysDot"/>
            </a:ln>
          </p:spPr>
          <p:txBody>
            <a:bodyPr rtlCol="0" anchor="ctr" wrap="square" lIns="45720" rIns="45720" tIns="27432" bIns="27432">
              <a:noAutofit/>
            </a:bodyPr>
            <a:lstStyle/>
            <a:p>
              <a:pPr algn="l"/>
              <a:r>
                <a:rPr sz="1200" b="1" i="0">
                  <a:solidFill>
                    <a:srgbClr val="1A1A1A"/>
                  </a:solidFill>
                  <a:latin typeface="Arial"/>
                </a:rPr>
                <a:t>B. Calibrate</a:t>
              </a:r>
              <a:r>
                <a:rPr sz="1200" b="0" i="0">
                  <a:solidFill>
                    <a:srgbClr val="1A1A1A"/>
                  </a:solidFill>
                  <a:latin typeface="Arial"/>
                </a:rPr>
                <a:t>: 7-day onboarding fits insulin sensitivity, beta-cell response, basal, dawn</a:t>
              </a:r>
            </a:p>
          </p:txBody>
        </p:sp>
        <p:sp>
          <p:nvSpPr>
            <p:cNvPr id="47" name="Rounded Rectangle 46"/>
            <p:cNvSpPr/>
            <p:nvPr/>
          </p:nvSpPr>
          <p:spPr>
            <a:xfrm>
              <a:off x="128016" y="5596636"/>
              <a:ext cx="3799972" cy="552958"/>
            </a:xfrm>
            <a:prstGeom prst="roundRect">
              <a:avLst>
                <a:gd name="adj" fmla="val 8268"/>
              </a:avLst>
            </a:prstGeom>
            <a:solidFill>
              <a:srgbClr val="FFFFFF"/>
            </a:solidFill>
            <a:ln w="9525">
              <a:solidFill>
                <a:srgbClr val="466E9E"/>
              </a:solidFill>
              <a:prstDash val="sysDot"/>
            </a:ln>
          </p:spPr>
          <p:txBody>
            <a:bodyPr rtlCol="0" anchor="ctr" wrap="square" lIns="45720" rIns="45720" tIns="27432" bIns="27432">
              <a:noAutofit/>
            </a:bodyPr>
            <a:lstStyle/>
            <a:p>
              <a:pPr algn="l"/>
              <a:r>
                <a:rPr sz="1200" b="1" i="0">
                  <a:solidFill>
                    <a:srgbClr val="1A1A1A"/>
                  </a:solidFill>
                  <a:latin typeface="Arial"/>
                </a:rPr>
                <a:t>C. Assimilate</a:t>
              </a:r>
              <a:r>
                <a:rPr sz="1200" b="0" i="0">
                  <a:solidFill>
                    <a:srgbClr val="1A1A1A"/>
                  </a:solidFill>
                  <a:latin typeface="Arial"/>
                </a:rPr>
                <a:t>: each 5-min CGM reading nudges the twin back on track</a:t>
              </a:r>
            </a:p>
          </p:txBody>
        </p:sp>
        <p:sp>
          <p:nvSpPr>
            <p:cNvPr id="48" name="Rounded Rectangle 47"/>
            <p:cNvSpPr/>
            <p:nvPr/>
          </p:nvSpPr>
          <p:spPr>
            <a:xfrm>
              <a:off x="128016" y="6195314"/>
              <a:ext cx="3799972" cy="552958"/>
            </a:xfrm>
            <a:prstGeom prst="roundRect">
              <a:avLst>
                <a:gd name="adj" fmla="val 8268"/>
              </a:avLst>
            </a:prstGeom>
            <a:solidFill>
              <a:srgbClr val="FFFFFF"/>
            </a:solidFill>
            <a:ln w="9525">
              <a:solidFill>
                <a:srgbClr val="466E9E"/>
              </a:solidFill>
              <a:prstDash val="sysDot"/>
            </a:ln>
          </p:spPr>
          <p:txBody>
            <a:bodyPr rtlCol="0" anchor="ctr" wrap="square" lIns="45720" rIns="45720" tIns="27432" bIns="27432">
              <a:noAutofit/>
            </a:bodyPr>
            <a:lstStyle/>
            <a:p>
              <a:pPr algn="l"/>
              <a:r>
                <a:rPr sz="1200" b="1" i="0">
                  <a:solidFill>
                    <a:srgbClr val="1A1A1A"/>
                  </a:solidFill>
                  <a:latin typeface="Arial"/>
                </a:rPr>
                <a:t>D. Simulate</a:t>
              </a:r>
              <a:r>
                <a:rPr sz="1200" b="0" i="0">
                  <a:solidFill>
                    <a:srgbClr val="1A1A1A"/>
                  </a:solidFill>
                  <a:latin typeface="Arial"/>
                </a:rPr>
                <a:t>: 2 to 4 h forward under a meal, walk, sleep or medication change</a:t>
              </a:r>
            </a:p>
          </p:txBody>
        </p:sp>
      </p:grpSp>
      <p:grpSp>
        <p:nvGrpSpPr>
          <p:cNvPr id="49" name="Group 48"/>
          <p:cNvGrpSpPr/>
          <p:nvPr/>
        </p:nvGrpSpPr>
        <p:grpSpPr>
          <a:xfrm>
            <a:off x="4056004" y="1097280"/>
            <a:ext cx="4419661" cy="5705856"/>
            <a:chOff x="4056004" y="1097280"/>
            <a:chExt cx="4419661" cy="5705856"/>
          </a:xfrm>
        </p:grpSpPr>
        <p:sp>
          <p:nvSpPr>
            <p:cNvPr id="50" name="frame:What each user gets"/>
            <p:cNvSpPr/>
            <p:nvPr/>
          </p:nvSpPr>
          <p:spPr>
            <a:xfrm>
              <a:off x="4056004" y="1234440"/>
              <a:ext cx="4419661" cy="5568696"/>
            </a:xfrm>
            <a:prstGeom prst="roundRect">
              <a:avLst>
                <a:gd name="adj" fmla="val 1034"/>
              </a:avLst>
            </a:prstGeom>
            <a:solidFill>
              <a:srgbClr val="F1F4F8"/>
            </a:solidFill>
            <a:ln w="15875">
              <a:solidFill>
                <a:srgbClr val="466E9E"/>
              </a:solidFill>
              <a:prstDash val="sysDot"/>
            </a:ln>
          </p:spPr>
          <p:txBody>
            <a:bodyPr rtlCol="0" anchor="ctr"/>
            <a:lstStyle/>
            <a:p/>
          </p:txBody>
        </p:sp>
        <p:sp>
          <p:nvSpPr>
            <p:cNvPr id="51" name="Rounded Rectangle 50"/>
            <p:cNvSpPr/>
            <p:nvPr/>
          </p:nvSpPr>
          <p:spPr>
            <a:xfrm>
              <a:off x="4056004" y="1097280"/>
              <a:ext cx="1994154" cy="274320"/>
            </a:xfrm>
            <a:prstGeom prst="roundRect">
              <a:avLst>
                <a:gd name="adj" fmla="val 13333"/>
              </a:avLst>
            </a:prstGeom>
            <a:solidFill>
              <a:srgbClr val="1D4E89"/>
            </a:solidFill>
            <a:ln>
              <a:noFill/>
            </a:ln>
          </p:spPr>
          <p:txBody>
            <a:bodyPr rtlCol="0" anchor="ctr"/>
            <a:lstStyle/>
            <a:p/>
          </p:txBody>
        </p:sp>
        <p:pic>
          <p:nvPicPr>
            <p:cNvPr id="52" name="Picture 51" descr="ic_fa6_FaPeopleArrows_FFFFFF.png"/>
            <p:cNvPicPr>
              <a:picLocks noChangeAspect="1"/>
            </p:cNvPicPr>
            <p:nvPr/>
          </p:nvPicPr>
          <p:blipFill>
            <a:blip r:embed="rId3"/>
            <a:stretch>
              <a:fillRect/>
            </a:stretch>
          </p:blipFill>
          <p:spPr>
            <a:xfrm>
              <a:off x="4110868" y="1133856"/>
              <a:ext cx="201168" cy="201168"/>
            </a:xfrm>
            <a:prstGeom prst="rect">
              <a:avLst/>
            </a:prstGeom>
          </p:spPr>
        </p:pic>
        <p:sp>
          <p:nvSpPr>
            <p:cNvPr id="53" name="TextBox 52"/>
            <p:cNvSpPr txBox="1"/>
            <p:nvPr/>
          </p:nvSpPr>
          <p:spPr>
            <a:xfrm>
              <a:off x="4357756" y="1097280"/>
              <a:ext cx="1664970" cy="274320"/>
            </a:xfrm>
            <a:prstGeom prst="rect">
              <a:avLst/>
            </a:prstGeom>
            <a:noFill/>
          </p:spPr>
          <p:txBody>
            <a:bodyPr wrap="square" lIns="9144" rIns="9144" tIns="9144" bIns="9144" anchor="ctr">
              <a:noAutofit/>
            </a:bodyPr>
            <a:lstStyle/>
            <a:p>
              <a:pPr algn="l"/>
              <a:r>
                <a:rPr sz="1200" b="1" i="0">
                  <a:solidFill>
                    <a:srgbClr val="FFFFFF"/>
                  </a:solidFill>
                  <a:latin typeface="Arial"/>
                </a:rPr>
                <a:t>What each user gets</a:t>
              </a:r>
            </a:p>
          </p:txBody>
        </p:sp>
        <p:sp>
          <p:nvSpPr>
            <p:cNvPr id="54" name="ig:phone"/>
            <p:cNvSpPr/>
            <p:nvPr/>
          </p:nvSpPr>
          <p:spPr>
            <a:xfrm>
              <a:off x="4147444" y="1408176"/>
              <a:ext cx="1916703" cy="5340096"/>
            </a:xfrm>
            <a:prstGeom prst="roundRect">
              <a:avLst>
                <a:gd name="adj" fmla="val 12000"/>
              </a:avLst>
            </a:prstGeom>
            <a:solidFill>
              <a:srgbClr val="1E1E24"/>
            </a:solidFill>
            <a:ln>
              <a:noFill/>
            </a:ln>
          </p:spPr>
          <p:txBody>
            <a:bodyPr rtlCol="0" anchor="ctr"/>
            <a:lstStyle/>
            <a:p/>
          </p:txBody>
        </p:sp>
        <p:sp>
          <p:nvSpPr>
            <p:cNvPr id="55" name="Rounded Rectangle 54"/>
            <p:cNvSpPr/>
            <p:nvPr/>
          </p:nvSpPr>
          <p:spPr>
            <a:xfrm>
              <a:off x="4243279" y="1621780"/>
              <a:ext cx="1725033" cy="4912888"/>
            </a:xfrm>
            <a:prstGeom prst="roundRect">
              <a:avLst>
                <a:gd name="adj" fmla="val 8888"/>
              </a:avLst>
            </a:prstGeom>
            <a:solidFill>
              <a:srgbClr val="F4F5F8"/>
            </a:solidFill>
            <a:ln>
              <a:noFill/>
            </a:ln>
          </p:spPr>
          <p:txBody>
            <a:bodyPr rtlCol="0" anchor="ctr"/>
            <a:lstStyle/>
            <a:p/>
          </p:txBody>
        </p:sp>
        <p:sp>
          <p:nvSpPr>
            <p:cNvPr id="56" name="Rounded Rectangle 55"/>
            <p:cNvSpPr/>
            <p:nvPr/>
          </p:nvSpPr>
          <p:spPr>
            <a:xfrm>
              <a:off x="4875791" y="1488277"/>
              <a:ext cx="460009" cy="96122"/>
            </a:xfrm>
            <a:prstGeom prst="roundRect">
              <a:avLst>
                <a:gd name="adj" fmla="val 19025"/>
              </a:avLst>
            </a:prstGeom>
            <a:solidFill>
              <a:srgbClr val="1E1E24"/>
            </a:solidFill>
            <a:ln>
              <a:noFill/>
            </a:ln>
          </p:spPr>
          <p:txBody>
            <a:bodyPr rtlCol="0" anchor="ctr"/>
            <a:lstStyle/>
            <a:p/>
          </p:txBody>
        </p:sp>
        <p:sp>
          <p:nvSpPr>
            <p:cNvPr id="57" name="Rounded Rectangle 56"/>
            <p:cNvSpPr/>
            <p:nvPr/>
          </p:nvSpPr>
          <p:spPr>
            <a:xfrm>
              <a:off x="4243279" y="1694932"/>
              <a:ext cx="1725033" cy="329184"/>
            </a:xfrm>
            <a:prstGeom prst="roundRect">
              <a:avLst>
                <a:gd name="adj" fmla="val 5555"/>
              </a:avLst>
            </a:prstGeom>
            <a:solidFill>
              <a:srgbClr val="1D4E89"/>
            </a:solidFill>
            <a:ln>
              <a:noFill/>
            </a:ln>
          </p:spPr>
          <p:txBody>
            <a:bodyPr rtlCol="0" anchor="ctr" wrap="square" lIns="27432" rIns="27432" tIns="27432" bIns="27432">
              <a:noAutofit/>
            </a:bodyPr>
            <a:lstStyle/>
            <a:p>
              <a:pPr algn="ctr"/>
              <a:r>
                <a:rPr sz="1100" b="1" i="0">
                  <a:solidFill>
                    <a:srgbClr val="FFFFFF"/>
                  </a:solidFill>
                  <a:latin typeface="Arial"/>
                </a:rPr>
                <a:t>GlucoSentinel</a:t>
              </a:r>
            </a:p>
          </p:txBody>
        </p:sp>
        <p:sp>
          <p:nvSpPr>
            <p:cNvPr id="58" name="TextBox 57"/>
            <p:cNvSpPr txBox="1"/>
            <p:nvPr/>
          </p:nvSpPr>
          <p:spPr>
            <a:xfrm>
              <a:off x="4288999" y="2060692"/>
              <a:ext cx="1633593" cy="219456"/>
            </a:xfrm>
            <a:prstGeom prst="rect">
              <a:avLst/>
            </a:prstGeom>
            <a:noFill/>
          </p:spPr>
          <p:txBody>
            <a:bodyPr wrap="square" lIns="9144" rIns="9144" tIns="9144" bIns="9144" anchor="t">
              <a:noAutofit/>
            </a:bodyPr>
            <a:lstStyle/>
            <a:p>
              <a:pPr algn="ctr"/>
              <a:r>
                <a:rPr sz="1100" b="0" i="1">
                  <a:solidFill>
                    <a:srgbClr val="4A5168"/>
                  </a:solidFill>
                  <a:latin typeface="Arial"/>
                </a:rPr>
                <a:t>Approved by Dr Rao</a:t>
              </a:r>
            </a:p>
          </p:txBody>
        </p:sp>
        <p:sp>
          <p:nvSpPr>
            <p:cNvPr id="59" name="Rounded Rectangle 58"/>
            <p:cNvSpPr/>
            <p:nvPr/>
          </p:nvSpPr>
          <p:spPr>
            <a:xfrm>
              <a:off x="4298143" y="2316724"/>
              <a:ext cx="1615305" cy="1001908"/>
            </a:xfrm>
            <a:prstGeom prst="roundRect">
              <a:avLst>
                <a:gd name="adj" fmla="val 3650"/>
              </a:avLst>
            </a:prstGeom>
            <a:solidFill>
              <a:srgbClr val="FFFFFF"/>
            </a:solidFill>
            <a:ln w="6350">
              <a:solidFill>
                <a:srgbClr val="DADDE5"/>
              </a:solidFill>
            </a:ln>
          </p:spPr>
          <p:txBody>
            <a:bodyPr rtlCol="0" anchor="ctr" wrap="square" lIns="45720" rIns="45720" tIns="27432" bIns="27432">
              <a:noAutofit/>
            </a:bodyPr>
            <a:lstStyle/>
            <a:p>
              <a:pPr algn="l"/>
              <a:r>
                <a:rPr sz="1100" b="1" i="0">
                  <a:solidFill>
                    <a:srgbClr val="1A1A1A"/>
                  </a:solidFill>
                  <a:latin typeface="Arial"/>
                </a:rPr>
                <a:t>12:30 Spike likely after lunch</a:t>
              </a:r>
            </a:p>
            <a:p>
              <a:pPr algn="l"/>
              <a:r>
                <a:rPr sz="1100" b="0" i="0">
                  <a:solidFill>
                    <a:srgbClr val="1A1A1A"/>
                  </a:solidFill>
                  <a:latin typeface="Arial"/>
                </a:rPr>
                <a:t>risk 78%, in about 2 h</a:t>
              </a:r>
            </a:p>
          </p:txBody>
        </p:sp>
        <p:sp>
          <p:nvSpPr>
            <p:cNvPr id="60" name="Rounded Rectangle 59"/>
            <p:cNvSpPr/>
            <p:nvPr/>
          </p:nvSpPr>
          <p:spPr>
            <a:xfrm>
              <a:off x="4298143" y="3364352"/>
              <a:ext cx="1615305" cy="1001908"/>
            </a:xfrm>
            <a:prstGeom prst="roundRect">
              <a:avLst>
                <a:gd name="adj" fmla="val 3650"/>
              </a:avLst>
            </a:prstGeom>
            <a:solidFill>
              <a:srgbClr val="FFFFFF"/>
            </a:solidFill>
            <a:ln w="6350">
              <a:solidFill>
                <a:srgbClr val="DADDE5"/>
              </a:solidFill>
            </a:ln>
          </p:spPr>
          <p:txBody>
            <a:bodyPr rtlCol="0" anchor="ctr" wrap="square" lIns="45720" rIns="45720" tIns="27432" bIns="27432">
              <a:noAutofit/>
            </a:bodyPr>
            <a:lstStyle/>
            <a:p>
              <a:pPr algn="l"/>
              <a:r>
                <a:rPr sz="1100" b="0" i="0">
                  <a:solidFill>
                    <a:srgbClr val="1A1A1A"/>
                  </a:solidFill>
                  <a:latin typeface="Arial"/>
                </a:rPr>
                <a:t>Swap curd rice for </a:t>
              </a:r>
              <a:r>
                <a:rPr sz="1100" b="1" i="0">
                  <a:solidFill>
                    <a:srgbClr val="1A1A1A"/>
                  </a:solidFill>
                  <a:latin typeface="Arial"/>
                </a:rPr>
                <a:t>millet khichdi</a:t>
              </a:r>
              <a:r>
                <a:rPr sz="1100" b="0" i="0">
                  <a:solidFill>
                    <a:srgbClr val="1A1A1A"/>
                  </a:solidFill>
                  <a:latin typeface="Arial"/>
                </a:rPr>
                <a:t> today</a:t>
              </a:r>
            </a:p>
          </p:txBody>
        </p:sp>
        <p:sp>
          <p:nvSpPr>
            <p:cNvPr id="61" name="Rounded Rectangle 60"/>
            <p:cNvSpPr/>
            <p:nvPr/>
          </p:nvSpPr>
          <p:spPr>
            <a:xfrm>
              <a:off x="4298143" y="4411980"/>
              <a:ext cx="1615305" cy="1001908"/>
            </a:xfrm>
            <a:prstGeom prst="roundRect">
              <a:avLst>
                <a:gd name="adj" fmla="val 3650"/>
              </a:avLst>
            </a:prstGeom>
            <a:solidFill>
              <a:srgbClr val="FFFFFF"/>
            </a:solidFill>
            <a:ln w="6350">
              <a:solidFill>
                <a:srgbClr val="DADDE5"/>
              </a:solidFill>
            </a:ln>
          </p:spPr>
          <p:txBody>
            <a:bodyPr rtlCol="0" anchor="ctr" wrap="square" lIns="45720" rIns="45720" tIns="27432" bIns="27432">
              <a:noAutofit/>
            </a:bodyPr>
            <a:lstStyle/>
            <a:p>
              <a:pPr algn="l"/>
              <a:r>
                <a:rPr sz="1100" b="0" i="0">
                  <a:solidFill>
                    <a:srgbClr val="1A1A1A"/>
                  </a:solidFill>
                  <a:latin typeface="Arial"/>
                </a:rPr>
                <a:t>Walk </a:t>
              </a:r>
              <a:r>
                <a:rPr sz="1100" b="1" i="0">
                  <a:solidFill>
                    <a:srgbClr val="1A1A1A"/>
                  </a:solidFill>
                  <a:latin typeface="Arial"/>
                </a:rPr>
                <a:t>20 min</a:t>
              </a:r>
              <a:r>
                <a:rPr sz="1100" b="0" i="0">
                  <a:solidFill>
                    <a:srgbClr val="1A1A1A"/>
                  </a:solidFill>
                  <a:latin typeface="Arial"/>
                </a:rPr>
                <a:t>, starting 20 min after eating</a:t>
              </a:r>
            </a:p>
          </p:txBody>
        </p:sp>
        <p:sp>
          <p:nvSpPr>
            <p:cNvPr id="62" name="Rounded Rectangle 61"/>
            <p:cNvSpPr/>
            <p:nvPr/>
          </p:nvSpPr>
          <p:spPr>
            <a:xfrm>
              <a:off x="4298143" y="5459608"/>
              <a:ext cx="1615305" cy="1001908"/>
            </a:xfrm>
            <a:prstGeom prst="roundRect">
              <a:avLst>
                <a:gd name="adj" fmla="val 3650"/>
              </a:avLst>
            </a:prstGeom>
            <a:solidFill>
              <a:srgbClr val="FFFFFF"/>
            </a:solidFill>
            <a:ln w="6350">
              <a:solidFill>
                <a:srgbClr val="DADDE5"/>
              </a:solidFill>
            </a:ln>
          </p:spPr>
          <p:txBody>
            <a:bodyPr rtlCol="0" anchor="ctr" wrap="square" lIns="45720" rIns="45720" tIns="27432" bIns="27432">
              <a:noAutofit/>
            </a:bodyPr>
            <a:lstStyle/>
            <a:p>
              <a:pPr algn="l"/>
              <a:r>
                <a:rPr sz="1100" b="0" i="0">
                  <a:solidFill>
                    <a:srgbClr val="1A1A1A"/>
                  </a:solidFill>
                  <a:latin typeface="Arial"/>
                </a:rPr>
                <a:t>Predicted peak </a:t>
              </a:r>
              <a:r>
                <a:rPr sz="1100" b="1" i="0">
                  <a:solidFill>
                    <a:srgbClr val="1A1A1A"/>
                  </a:solidFill>
                  <a:latin typeface="Arial"/>
                </a:rPr>
                <a:t>279 to 211</a:t>
              </a:r>
              <a:r>
                <a:rPr sz="1100" b="0" i="0">
                  <a:solidFill>
                    <a:srgbClr val="1A1A1A"/>
                  </a:solidFill>
                  <a:latin typeface="Arial"/>
                </a:rPr>
                <a:t> mg/dL, </a:t>
              </a:r>
              <a:r>
                <a:rPr sz="1100" b="1" i="0">
                  <a:solidFill>
                    <a:srgbClr val="1A1A1A"/>
                  </a:solidFill>
                  <a:latin typeface="Arial"/>
                </a:rPr>
                <a:t>-68</a:t>
              </a:r>
            </a:p>
          </p:txBody>
        </p:sp>
        <p:sp>
          <p:nvSpPr>
            <p:cNvPr id="63" name="ig:icon_card"/>
            <p:cNvSpPr/>
            <p:nvPr/>
          </p:nvSpPr>
          <p:spPr>
            <a:xfrm>
              <a:off x="6192163" y="1408176"/>
              <a:ext cx="2228638" cy="1031443"/>
            </a:xfrm>
            <a:prstGeom prst="roundRect">
              <a:avLst>
                <a:gd name="adj" fmla="val 4432"/>
              </a:avLst>
            </a:prstGeom>
            <a:solidFill>
              <a:srgbClr val="FFFFFF"/>
            </a:solidFill>
            <a:ln w="9525">
              <a:solidFill>
                <a:srgbClr val="466E9E"/>
              </a:solidFill>
              <a:prstDash val="sysDot"/>
            </a:ln>
          </p:spPr>
          <p:txBody>
            <a:bodyPr rtlCol="0" anchor="ctr"/>
            <a:lstStyle/>
            <a:p/>
          </p:txBody>
        </p:sp>
        <p:pic>
          <p:nvPicPr>
            <p:cNvPr id="64" name="Picture 63" descr="ic_fa6_FaGaugeHigh_1D4E89.png"/>
            <p:cNvPicPr>
              <a:picLocks noChangeAspect="1"/>
            </p:cNvPicPr>
            <p:nvPr/>
          </p:nvPicPr>
          <p:blipFill>
            <a:blip r:embed="rId4"/>
            <a:stretch>
              <a:fillRect/>
            </a:stretch>
          </p:blipFill>
          <p:spPr>
            <a:xfrm>
              <a:off x="6256171" y="1672438"/>
              <a:ext cx="502920" cy="502920"/>
            </a:xfrm>
            <a:prstGeom prst="rect">
              <a:avLst/>
            </a:prstGeom>
          </p:spPr>
        </p:pic>
        <p:sp>
          <p:nvSpPr>
            <p:cNvPr id="65" name="TextBox 64"/>
            <p:cNvSpPr txBox="1"/>
            <p:nvPr/>
          </p:nvSpPr>
          <p:spPr>
            <a:xfrm>
              <a:off x="6804811" y="1426464"/>
              <a:ext cx="1579414" cy="994867"/>
            </a:xfrm>
            <a:prstGeom prst="rect">
              <a:avLst/>
            </a:prstGeom>
            <a:noFill/>
          </p:spPr>
          <p:txBody>
            <a:bodyPr wrap="square" lIns="27432" rIns="27432" tIns="27432" bIns="27432" anchor="ctr">
              <a:noAutofit/>
            </a:bodyPr>
            <a:lstStyle/>
            <a:p>
              <a:pPr algn="l"/>
              <a:r>
                <a:rPr sz="1200" b="1" i="0">
                  <a:solidFill>
                    <a:srgbClr val="1A1A1A"/>
                  </a:solidFill>
                  <a:latin typeface="Arial"/>
                </a:rPr>
                <a:t>Risk card</a:t>
              </a:r>
            </a:p>
            <a:p>
              <a:pPr algn="l"/>
              <a:r>
                <a:rPr sz="1200" b="0" i="0">
                  <a:solidFill>
                    <a:srgbClr val="1A1A1A"/>
                  </a:solidFill>
                  <a:latin typeface="Arial"/>
                </a:rPr>
                <a:t>2-h spike risk, expected time, glucose now</a:t>
              </a:r>
            </a:p>
          </p:txBody>
        </p:sp>
        <p:sp>
          <p:nvSpPr>
            <p:cNvPr id="66" name="ig:icon_card"/>
            <p:cNvSpPr/>
            <p:nvPr/>
          </p:nvSpPr>
          <p:spPr>
            <a:xfrm>
              <a:off x="6192163" y="2485339"/>
              <a:ext cx="2228638" cy="1031443"/>
            </a:xfrm>
            <a:prstGeom prst="roundRect">
              <a:avLst>
                <a:gd name="adj" fmla="val 4432"/>
              </a:avLst>
            </a:prstGeom>
            <a:solidFill>
              <a:srgbClr val="FFFFFF"/>
            </a:solidFill>
            <a:ln w="9525">
              <a:solidFill>
                <a:srgbClr val="466E9E"/>
              </a:solidFill>
              <a:prstDash val="sysDot"/>
            </a:ln>
          </p:spPr>
          <p:txBody>
            <a:bodyPr rtlCol="0" anchor="ctr"/>
            <a:lstStyle/>
            <a:p/>
          </p:txBody>
        </p:sp>
        <p:pic>
          <p:nvPicPr>
            <p:cNvPr id="67" name="Picture 66" descr="ic_fa6_FaChartLine_1D4E89.png"/>
            <p:cNvPicPr>
              <a:picLocks noChangeAspect="1"/>
            </p:cNvPicPr>
            <p:nvPr/>
          </p:nvPicPr>
          <p:blipFill>
            <a:blip r:embed="rId5"/>
            <a:stretch>
              <a:fillRect/>
            </a:stretch>
          </p:blipFill>
          <p:spPr>
            <a:xfrm>
              <a:off x="6256171" y="2749601"/>
              <a:ext cx="502920" cy="502920"/>
            </a:xfrm>
            <a:prstGeom prst="rect">
              <a:avLst/>
            </a:prstGeom>
          </p:spPr>
        </p:pic>
        <p:sp>
          <p:nvSpPr>
            <p:cNvPr id="68" name="TextBox 67"/>
            <p:cNvSpPr txBox="1"/>
            <p:nvPr/>
          </p:nvSpPr>
          <p:spPr>
            <a:xfrm>
              <a:off x="6804811" y="2503627"/>
              <a:ext cx="1579414" cy="994867"/>
            </a:xfrm>
            <a:prstGeom prst="rect">
              <a:avLst/>
            </a:prstGeom>
            <a:noFill/>
          </p:spPr>
          <p:txBody>
            <a:bodyPr wrap="square" lIns="27432" rIns="27432" tIns="27432" bIns="27432" anchor="ctr">
              <a:noAutofit/>
            </a:bodyPr>
            <a:lstStyle/>
            <a:p>
              <a:pPr algn="l"/>
              <a:r>
                <a:rPr sz="1200" b="1" i="0">
                  <a:solidFill>
                    <a:srgbClr val="1A1A1A"/>
                  </a:solidFill>
                  <a:latin typeface="Arial"/>
                </a:rPr>
                <a:t>Forecast</a:t>
              </a:r>
            </a:p>
            <a:p>
              <a:pPr algn="l"/>
              <a:r>
                <a:rPr sz="1200" b="0" i="0">
                  <a:solidFill>
                    <a:srgbClr val="1A1A1A"/>
                  </a:solidFill>
                  <a:latin typeface="Arial"/>
                </a:rPr>
                <a:t>CGM plus +30 to +120 min path</a:t>
              </a:r>
            </a:p>
          </p:txBody>
        </p:sp>
        <p:sp>
          <p:nvSpPr>
            <p:cNvPr id="69" name="ig:icon_card"/>
            <p:cNvSpPr/>
            <p:nvPr/>
          </p:nvSpPr>
          <p:spPr>
            <a:xfrm>
              <a:off x="6192163" y="3562502"/>
              <a:ext cx="2228638" cy="1031443"/>
            </a:xfrm>
            <a:prstGeom prst="roundRect">
              <a:avLst>
                <a:gd name="adj" fmla="val 4432"/>
              </a:avLst>
            </a:prstGeom>
            <a:solidFill>
              <a:srgbClr val="FFFFFF"/>
            </a:solidFill>
            <a:ln w="9525">
              <a:solidFill>
                <a:srgbClr val="466E9E"/>
              </a:solidFill>
              <a:prstDash val="sysDot"/>
            </a:ln>
          </p:spPr>
          <p:txBody>
            <a:bodyPr rtlCol="0" anchor="ctr"/>
            <a:lstStyle/>
            <a:p/>
          </p:txBody>
        </p:sp>
        <p:pic>
          <p:nvPicPr>
            <p:cNvPr id="70" name="Picture 69" descr="ic_fa6_FaListCheck_1D4E89.png"/>
            <p:cNvPicPr>
              <a:picLocks noChangeAspect="1"/>
            </p:cNvPicPr>
            <p:nvPr/>
          </p:nvPicPr>
          <p:blipFill>
            <a:blip r:embed="rId6"/>
            <a:stretch>
              <a:fillRect/>
            </a:stretch>
          </p:blipFill>
          <p:spPr>
            <a:xfrm>
              <a:off x="6256171" y="3826764"/>
              <a:ext cx="502920" cy="502920"/>
            </a:xfrm>
            <a:prstGeom prst="rect">
              <a:avLst/>
            </a:prstGeom>
          </p:spPr>
        </p:pic>
        <p:sp>
          <p:nvSpPr>
            <p:cNvPr id="71" name="TextBox 70"/>
            <p:cNvSpPr txBox="1"/>
            <p:nvPr/>
          </p:nvSpPr>
          <p:spPr>
            <a:xfrm>
              <a:off x="6804811" y="3580790"/>
              <a:ext cx="1579414" cy="994867"/>
            </a:xfrm>
            <a:prstGeom prst="rect">
              <a:avLst/>
            </a:prstGeom>
            <a:noFill/>
          </p:spPr>
          <p:txBody>
            <a:bodyPr wrap="square" lIns="27432" rIns="27432" tIns="27432" bIns="27432" anchor="ctr">
              <a:noAutofit/>
            </a:bodyPr>
            <a:lstStyle/>
            <a:p>
              <a:pPr algn="l"/>
              <a:r>
                <a:rPr sz="1200" b="1" i="0">
                  <a:solidFill>
                    <a:srgbClr val="1A1A1A"/>
                  </a:solidFill>
                  <a:latin typeface="Arial"/>
                </a:rPr>
                <a:t>Why panel</a:t>
              </a:r>
            </a:p>
            <a:p>
              <a:pPr algn="l"/>
              <a:r>
                <a:rPr sz="1200" b="0" i="0">
                  <a:solidFill>
                    <a:srgbClr val="1A1A1A"/>
                  </a:solidFill>
                  <a:latin typeface="Arial"/>
                </a:rPr>
                <a:t>top SHAP drivers in plain words</a:t>
              </a:r>
            </a:p>
          </p:txBody>
        </p:sp>
        <p:sp>
          <p:nvSpPr>
            <p:cNvPr id="72" name="ig:icon_card"/>
            <p:cNvSpPr/>
            <p:nvPr/>
          </p:nvSpPr>
          <p:spPr>
            <a:xfrm>
              <a:off x="6192163" y="4639666"/>
              <a:ext cx="2228638" cy="1031443"/>
            </a:xfrm>
            <a:prstGeom prst="roundRect">
              <a:avLst>
                <a:gd name="adj" fmla="val 4432"/>
              </a:avLst>
            </a:prstGeom>
            <a:solidFill>
              <a:srgbClr val="FFFFFF"/>
            </a:solidFill>
            <a:ln w="9525">
              <a:solidFill>
                <a:srgbClr val="466E9E"/>
              </a:solidFill>
              <a:prstDash val="sysDot"/>
            </a:ln>
          </p:spPr>
          <p:txBody>
            <a:bodyPr rtlCol="0" anchor="ctr"/>
            <a:lstStyle/>
            <a:p/>
          </p:txBody>
        </p:sp>
        <p:pic>
          <p:nvPicPr>
            <p:cNvPr id="73" name="Picture 72" descr="ic_fa6_FaFlask_1D4E89.png"/>
            <p:cNvPicPr>
              <a:picLocks noChangeAspect="1"/>
            </p:cNvPicPr>
            <p:nvPr/>
          </p:nvPicPr>
          <p:blipFill>
            <a:blip r:embed="rId7"/>
            <a:stretch>
              <a:fillRect/>
            </a:stretch>
          </p:blipFill>
          <p:spPr>
            <a:xfrm>
              <a:off x="6256171" y="4903927"/>
              <a:ext cx="502920" cy="502920"/>
            </a:xfrm>
            <a:prstGeom prst="rect">
              <a:avLst/>
            </a:prstGeom>
          </p:spPr>
        </p:pic>
        <p:sp>
          <p:nvSpPr>
            <p:cNvPr id="74" name="TextBox 73"/>
            <p:cNvSpPr txBox="1"/>
            <p:nvPr/>
          </p:nvSpPr>
          <p:spPr>
            <a:xfrm>
              <a:off x="6804811" y="4657954"/>
              <a:ext cx="1579414" cy="994867"/>
            </a:xfrm>
            <a:prstGeom prst="rect">
              <a:avLst/>
            </a:prstGeom>
            <a:noFill/>
          </p:spPr>
          <p:txBody>
            <a:bodyPr wrap="square" lIns="27432" rIns="27432" tIns="27432" bIns="27432" anchor="ctr">
              <a:noAutofit/>
            </a:bodyPr>
            <a:lstStyle/>
            <a:p>
              <a:pPr algn="l"/>
              <a:r>
                <a:rPr sz="1200" b="1" i="0">
                  <a:solidFill>
                    <a:srgbClr val="1A1A1A"/>
                  </a:solidFill>
                  <a:latin typeface="Arial"/>
                </a:rPr>
                <a:t>What-if lab</a:t>
              </a:r>
            </a:p>
            <a:p>
              <a:pPr algn="l"/>
              <a:r>
                <a:rPr sz="1200" b="0" i="0">
                  <a:solidFill>
                    <a:srgbClr val="1A1A1A"/>
                  </a:solidFill>
                  <a:latin typeface="Arial"/>
                </a:rPr>
                <a:t>run the twin on a swap or walk</a:t>
              </a:r>
            </a:p>
          </p:txBody>
        </p:sp>
        <p:sp>
          <p:nvSpPr>
            <p:cNvPr id="75" name="ig:icon_card"/>
            <p:cNvSpPr/>
            <p:nvPr/>
          </p:nvSpPr>
          <p:spPr>
            <a:xfrm>
              <a:off x="6192163" y="5716829"/>
              <a:ext cx="2228638" cy="1031443"/>
            </a:xfrm>
            <a:prstGeom prst="roundRect">
              <a:avLst>
                <a:gd name="adj" fmla="val 4432"/>
              </a:avLst>
            </a:prstGeom>
            <a:solidFill>
              <a:srgbClr val="FFFFFF"/>
            </a:solidFill>
            <a:ln w="9525">
              <a:solidFill>
                <a:srgbClr val="466E9E"/>
              </a:solidFill>
              <a:prstDash val="sysDot"/>
            </a:ln>
          </p:spPr>
          <p:txBody>
            <a:bodyPr rtlCol="0" anchor="ctr"/>
            <a:lstStyle/>
            <a:p/>
          </p:txBody>
        </p:sp>
        <p:pic>
          <p:nvPicPr>
            <p:cNvPr id="76" name="Picture 75" descr="ic_fa6_FaCalendarWeek_1D4E89.png"/>
            <p:cNvPicPr>
              <a:picLocks noChangeAspect="1"/>
            </p:cNvPicPr>
            <p:nvPr/>
          </p:nvPicPr>
          <p:blipFill>
            <a:blip r:embed="rId8"/>
            <a:stretch>
              <a:fillRect/>
            </a:stretch>
          </p:blipFill>
          <p:spPr>
            <a:xfrm>
              <a:off x="6256171" y="5981090"/>
              <a:ext cx="502920" cy="502920"/>
            </a:xfrm>
            <a:prstGeom prst="rect">
              <a:avLst/>
            </a:prstGeom>
          </p:spPr>
        </p:pic>
        <p:sp>
          <p:nvSpPr>
            <p:cNvPr id="77" name="TextBox 76"/>
            <p:cNvSpPr txBox="1"/>
            <p:nvPr/>
          </p:nvSpPr>
          <p:spPr>
            <a:xfrm>
              <a:off x="6804811" y="5735117"/>
              <a:ext cx="1579414" cy="994867"/>
            </a:xfrm>
            <a:prstGeom prst="rect">
              <a:avLst/>
            </a:prstGeom>
            <a:noFill/>
          </p:spPr>
          <p:txBody>
            <a:bodyPr wrap="square" lIns="27432" rIns="27432" tIns="27432" bIns="27432" anchor="ctr">
              <a:noAutofit/>
            </a:bodyPr>
            <a:lstStyle/>
            <a:p>
              <a:pPr algn="l"/>
              <a:r>
                <a:rPr sz="1200" b="1" i="0">
                  <a:solidFill>
                    <a:srgbClr val="1A1A1A"/>
                  </a:solidFill>
                  <a:latin typeface="Arial"/>
                </a:rPr>
                <a:t>Week review</a:t>
              </a:r>
            </a:p>
            <a:p>
              <a:pPr algn="l"/>
              <a:r>
                <a:rPr sz="1200" b="0" i="0">
                  <a:solidFill>
                    <a:srgbClr val="1A1A1A"/>
                  </a:solidFill>
                  <a:latin typeface="Arial"/>
                </a:rPr>
                <a:t>AGP, time in range, alerts</a:t>
              </a:r>
            </a:p>
          </p:txBody>
        </p:sp>
      </p:grpSp>
      <p:grpSp>
        <p:nvGrpSpPr>
          <p:cNvPr id="78" name="Group 77"/>
          <p:cNvGrpSpPr/>
          <p:nvPr/>
        </p:nvGrpSpPr>
        <p:grpSpPr>
          <a:xfrm>
            <a:off x="8548817" y="1097280"/>
            <a:ext cx="3569726" cy="5705856"/>
            <a:chOff x="8548817" y="1097280"/>
            <a:chExt cx="3569726" cy="5705856"/>
          </a:xfrm>
        </p:grpSpPr>
        <p:sp>
          <p:nvSpPr>
            <p:cNvPr id="79" name="frame:Why this is differen"/>
            <p:cNvSpPr/>
            <p:nvPr/>
          </p:nvSpPr>
          <p:spPr>
            <a:xfrm>
              <a:off x="8548817" y="1234440"/>
              <a:ext cx="3569726" cy="5568696"/>
            </a:xfrm>
            <a:prstGeom prst="roundRect">
              <a:avLst>
                <a:gd name="adj" fmla="val 1280"/>
              </a:avLst>
            </a:prstGeom>
            <a:solidFill>
              <a:srgbClr val="F1F4F8"/>
            </a:solidFill>
            <a:ln w="15875">
              <a:solidFill>
                <a:srgbClr val="466E9E"/>
              </a:solidFill>
              <a:prstDash val="sysDot"/>
            </a:ln>
          </p:spPr>
          <p:txBody>
            <a:bodyPr rtlCol="0" anchor="ctr"/>
            <a:lstStyle/>
            <a:p/>
          </p:txBody>
        </p:sp>
        <p:sp>
          <p:nvSpPr>
            <p:cNvPr id="80" name="Rounded Rectangle 79"/>
            <p:cNvSpPr/>
            <p:nvPr/>
          </p:nvSpPr>
          <p:spPr>
            <a:xfrm>
              <a:off x="8548817" y="1097280"/>
              <a:ext cx="1968456" cy="274320"/>
            </a:xfrm>
            <a:prstGeom prst="roundRect">
              <a:avLst>
                <a:gd name="adj" fmla="val 13333"/>
              </a:avLst>
            </a:prstGeom>
            <a:solidFill>
              <a:srgbClr val="1D4E89"/>
            </a:solidFill>
            <a:ln>
              <a:noFill/>
            </a:ln>
          </p:spPr>
          <p:txBody>
            <a:bodyPr rtlCol="0" anchor="ctr"/>
            <a:lstStyle/>
            <a:p/>
          </p:txBody>
        </p:sp>
        <p:pic>
          <p:nvPicPr>
            <p:cNvPr id="81" name="Picture 80" descr="ic_fa6_FaStar_FFFFFF.png"/>
            <p:cNvPicPr>
              <a:picLocks noChangeAspect="1"/>
            </p:cNvPicPr>
            <p:nvPr/>
          </p:nvPicPr>
          <p:blipFill>
            <a:blip r:embed="rId9"/>
            <a:stretch>
              <a:fillRect/>
            </a:stretch>
          </p:blipFill>
          <p:spPr>
            <a:xfrm>
              <a:off x="8603681" y="1133856"/>
              <a:ext cx="201168" cy="201168"/>
            </a:xfrm>
            <a:prstGeom prst="rect">
              <a:avLst/>
            </a:prstGeom>
          </p:spPr>
        </p:pic>
        <p:sp>
          <p:nvSpPr>
            <p:cNvPr id="82" name="TextBox 81"/>
            <p:cNvSpPr txBox="1"/>
            <p:nvPr/>
          </p:nvSpPr>
          <p:spPr>
            <a:xfrm>
              <a:off x="8850569" y="1097280"/>
              <a:ext cx="1639272" cy="274320"/>
            </a:xfrm>
            <a:prstGeom prst="rect">
              <a:avLst/>
            </a:prstGeom>
            <a:noFill/>
          </p:spPr>
          <p:txBody>
            <a:bodyPr wrap="square" lIns="9144" rIns="9144" tIns="9144" bIns="9144" anchor="ctr">
              <a:noAutofit/>
            </a:bodyPr>
            <a:lstStyle/>
            <a:p>
              <a:pPr algn="l"/>
              <a:r>
                <a:rPr sz="1200" b="1" i="0">
                  <a:solidFill>
                    <a:srgbClr val="FFFFFF"/>
                  </a:solidFill>
                  <a:latin typeface="Arial"/>
                </a:rPr>
                <a:t>Why this is different</a:t>
              </a:r>
            </a:p>
          </p:txBody>
        </p:sp>
        <p:sp>
          <p:nvSpPr>
            <p:cNvPr id="85" name="Rounded Rectangle 84"/>
            <p:cNvSpPr/>
            <p:nvPr/>
          </p:nvSpPr>
          <p:spPr>
            <a:xfrm>
              <a:off x="8603681" y="4685386"/>
              <a:ext cx="3459998" cy="1051821"/>
            </a:xfrm>
            <a:prstGeom prst="roundRect">
              <a:avLst>
                <a:gd name="adj" fmla="val 4346"/>
              </a:avLst>
            </a:prstGeom>
            <a:solidFill>
              <a:srgbClr val="E2E8F0"/>
            </a:solidFill>
            <a:ln>
              <a:noFill/>
            </a:ln>
          </p:spPr>
          <p:txBody>
            <a:bodyPr rtlCol="0" anchor="ctr" wrap="square" lIns="45720" rIns="45720" tIns="27432" bIns="27432">
              <a:noAutofit/>
            </a:bodyPr>
            <a:lstStyle/>
            <a:p>
              <a:pPr algn="l"/>
              <a:r>
                <a:rPr sz="1200" b="1" i="0">
                  <a:solidFill>
                    <a:srgbClr val="1A1A1A"/>
                  </a:solidFill>
                  <a:latin typeface="Arial"/>
                </a:rPr>
                <a:t>Hybrid by design.</a:t>
              </a:r>
              <a:r>
                <a:rPr sz="1200" b="0" i="0">
                  <a:solidFill>
                    <a:srgbClr val="1A1A1A"/>
                  </a:solidFill>
                  <a:latin typeface="Arial"/>
                </a:rPr>
                <a:t> Physiology gives structure that generalises and can be simulated; ML captures habits the equations do not know.</a:t>
              </a:r>
            </a:p>
          </p:txBody>
        </p:sp>
        <p:sp>
          <p:nvSpPr>
            <p:cNvPr id="86" name="ig:stat"/>
            <p:cNvSpPr/>
            <p:nvPr/>
          </p:nvSpPr>
          <p:spPr>
            <a:xfrm>
              <a:off x="8603681" y="5792071"/>
              <a:ext cx="1702567" cy="401604"/>
            </a:xfrm>
            <a:prstGeom prst="roundRect">
              <a:avLst>
                <a:gd name="adj" fmla="val 6830"/>
              </a:avLst>
            </a:prstGeom>
            <a:solidFill>
              <a:srgbClr val="C9D5E3"/>
            </a:solidFill>
            <a:ln w="6350">
              <a:solidFill>
                <a:srgbClr val="BFBFBF"/>
              </a:solidFill>
            </a:ln>
          </p:spPr>
          <p:txBody>
            <a:bodyPr rtlCol="0" anchor="ctr" wrap="square" lIns="45720" rIns="45720" tIns="27432" bIns="27432">
              <a:noAutofit/>
            </a:bodyPr>
            <a:lstStyle/>
            <a:p>
              <a:pPr algn="ctr"/>
              <a:r>
                <a:rPr sz="1800" b="1" i="0">
                  <a:solidFill>
                    <a:srgbClr val="1A1A1A"/>
                  </a:solidFill>
                  <a:latin typeface="Arial"/>
                </a:rPr>
                <a:t>0.961 vs 0.930</a:t>
              </a:r>
            </a:p>
          </p:txBody>
        </p:sp>
        <p:sp>
          <p:nvSpPr>
            <p:cNvPr id="87" name="TextBox 86"/>
            <p:cNvSpPr txBox="1"/>
            <p:nvPr/>
          </p:nvSpPr>
          <p:spPr>
            <a:xfrm>
              <a:off x="8603681" y="6221107"/>
              <a:ext cx="1702567" cy="527165"/>
            </a:xfrm>
            <a:prstGeom prst="rect">
              <a:avLst/>
            </a:prstGeom>
            <a:noFill/>
          </p:spPr>
          <p:txBody>
            <a:bodyPr wrap="square" lIns="45720" rIns="45720" tIns="27432" bIns="27432" anchor="t">
              <a:noAutofit/>
            </a:bodyPr>
            <a:lstStyle/>
            <a:p>
              <a:pPr algn="ctr"/>
              <a:r>
                <a:rPr sz="1100" b="0" i="1">
                  <a:solidFill>
                    <a:srgbClr val="1A1A1A"/>
                  </a:solidFill>
                  <a:latin typeface="Arial"/>
                </a:rPr>
                <a:t>AUROC with vs without twin</a:t>
              </a:r>
            </a:p>
          </p:txBody>
        </p:sp>
        <p:sp>
          <p:nvSpPr>
            <p:cNvPr id="88" name="ig:stat"/>
            <p:cNvSpPr/>
            <p:nvPr/>
          </p:nvSpPr>
          <p:spPr>
            <a:xfrm>
              <a:off x="10361112" y="5792071"/>
              <a:ext cx="1702567" cy="401604"/>
            </a:xfrm>
            <a:prstGeom prst="roundRect">
              <a:avLst>
                <a:gd name="adj" fmla="val 6830"/>
              </a:avLst>
            </a:prstGeom>
            <a:solidFill>
              <a:srgbClr val="C9D5E3"/>
            </a:solidFill>
            <a:ln w="6350">
              <a:solidFill>
                <a:srgbClr val="BFBFBF"/>
              </a:solidFill>
            </a:ln>
          </p:spPr>
          <p:txBody>
            <a:bodyPr rtlCol="0" anchor="ctr" wrap="square" lIns="45720" rIns="45720" tIns="27432" bIns="27432">
              <a:noAutofit/>
            </a:bodyPr>
            <a:lstStyle/>
            <a:p>
              <a:pPr algn="ctr"/>
              <a:r>
                <a:rPr sz="1800" b="1" i="0">
                  <a:solidFill>
                    <a:srgbClr val="1A1A1A"/>
                  </a:solidFill>
                  <a:latin typeface="Arial"/>
                </a:rPr>
                <a:t>95 vs 75</a:t>
              </a:r>
            </a:p>
          </p:txBody>
        </p:sp>
        <p:sp>
          <p:nvSpPr>
            <p:cNvPr id="89" name="TextBox 88"/>
            <p:cNvSpPr txBox="1"/>
            <p:nvPr/>
          </p:nvSpPr>
          <p:spPr>
            <a:xfrm>
              <a:off x="10361112" y="6221107"/>
              <a:ext cx="1702567" cy="527165"/>
            </a:xfrm>
            <a:prstGeom prst="rect">
              <a:avLst/>
            </a:prstGeom>
            <a:noFill/>
          </p:spPr>
          <p:txBody>
            <a:bodyPr wrap="square" lIns="45720" rIns="45720" tIns="27432" bIns="27432" anchor="t">
              <a:noAutofit/>
            </a:bodyPr>
            <a:lstStyle/>
            <a:p>
              <a:pPr algn="ctr"/>
              <a:r>
                <a:rPr sz="1100" b="0" i="1">
                  <a:solidFill>
                    <a:srgbClr val="1A1A1A"/>
                  </a:solidFill>
                  <a:latin typeface="Arial"/>
                </a:rPr>
                <a:t>median lead, minutes</a:t>
              </a:r>
            </a:p>
          </p:txBody>
        </p:sp>
      </p:grpSp>
      <p:graphicFrame>
        <p:nvGraphicFramePr>
          <p:cNvPr id="83" name="ig:table"/>
          <p:cNvGraphicFramePr>
            <a:graphicFrameLocks noGrp="1"/>
          </p:cNvGraphicFramePr>
          <p:nvPr/>
        </p:nvGraphicFramePr>
        <p:xfrm>
          <a:off x="8603681" y="1408176"/>
          <a:ext cx="3459998" cy="3204056"/>
        </p:xfrm>
        <a:graphic>
          <a:graphicData uri="http://schemas.openxmlformats.org/drawingml/2006/table">
            <a:tbl>
              <a:tblPr firstRow="1" bandRow="1">
                <a:tableStyleId>{5940675A-B579-460E-94D1-54222C63F5DA}</a:tableStyleId>
              </a:tblPr>
              <a:tblGrid>
                <a:gridCol w="1424705"/>
                <a:gridCol w="651294"/>
                <a:gridCol w="651294"/>
                <a:gridCol w="732705"/>
              </a:tblGrid>
              <a:tr h="400507">
                <a:tc>
                  <a:txBody>
                    <a:bodyPr wrap="square" lIns="45720" rIns="45720" tIns="27432" bIns="27432" anchor="ctr">
                      <a:noAutofit/>
                    </a:bodyPr>
                    <a:lstStyle/>
                    <a:p>
                      <a:pPr algn="l"/>
                      <a:r>
                        <a:rPr sz="1000" b="1" i="0">
                          <a:solidFill>
                            <a:srgbClr val="FFFFFF"/>
                          </a:solidFill>
                          <a:latin typeface="Arial"/>
                        </a:rPr>
                        <a:t>Capability</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c>
                  <a:txBody>
                    <a:bodyPr wrap="square" lIns="45720" rIns="45720" tIns="27432" bIns="27432" anchor="ctr">
                      <a:noAutofit/>
                    </a:bodyPr>
                    <a:lstStyle/>
                    <a:p>
                      <a:pPr algn="ctr"/>
                      <a:r>
                        <a:rPr sz="1000" b="1" i="0">
                          <a:solidFill>
                            <a:srgbClr val="FFFFFF"/>
                          </a:solidFill>
                          <a:latin typeface="Arial"/>
                        </a:rPr>
                        <a:t>CGM app</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c>
                  <a:txBody>
                    <a:bodyPr wrap="square" lIns="45720" rIns="45720" tIns="27432" bIns="27432" anchor="ctr">
                      <a:noAutofit/>
                    </a:bodyPr>
                    <a:lstStyle/>
                    <a:p>
                      <a:pPr algn="ctr"/>
                      <a:r>
                        <a:rPr sz="1000" b="1" i="0">
                          <a:solidFill>
                            <a:srgbClr val="FFFFFF"/>
                          </a:solidFill>
                          <a:latin typeface="Arial"/>
                        </a:rPr>
                        <a:t>ML only</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c>
                  <a:txBody>
                    <a:bodyPr wrap="square" lIns="45720" rIns="45720" tIns="27432" bIns="27432" anchor="ctr">
                      <a:noAutofit/>
                    </a:bodyPr>
                    <a:lstStyle/>
                    <a:p>
                      <a:pPr algn="ctr"/>
                      <a:r>
                        <a:rPr sz="1000" b="1" i="0">
                          <a:solidFill>
                            <a:srgbClr val="FFFFFF"/>
                          </a:solidFill>
                          <a:latin typeface="Arial"/>
                        </a:rPr>
                        <a:t>Ours</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r>
              <a:tr h="400507">
                <a:tc>
                  <a:txBody>
                    <a:bodyPr wrap="square" lIns="45720" rIns="45720" tIns="27432" bIns="27432" anchor="ctr">
                      <a:noAutofit/>
                    </a:bodyPr>
                    <a:lstStyle/>
                    <a:p>
                      <a:pPr algn="l"/>
                      <a:r>
                        <a:rPr sz="1000" b="1" i="0">
                          <a:solidFill>
                            <a:srgbClr val="1A1A1A"/>
                          </a:solidFill>
                          <a:latin typeface="Arial"/>
                        </a:rPr>
                        <a:t>Uses EHR + genetics</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ctr"/>
                      <a:r>
                        <a:rPr sz="1000" b="0" i="0">
                          <a:solidFill>
                            <a:srgbClr val="1A1A1A"/>
                          </a:solidFill>
                          <a:latin typeface="Arial"/>
                        </a:rPr>
                        <a:t>No</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ctr"/>
                      <a:r>
                        <a:rPr sz="1000" b="0" i="0">
                          <a:solidFill>
                            <a:srgbClr val="1A1A1A"/>
                          </a:solidFill>
                          <a:latin typeface="Arial"/>
                        </a:rPr>
                        <a:t>Some</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ctr"/>
                      <a:r>
                        <a:rPr sz="1000" b="0" i="0">
                          <a:solidFill>
                            <a:srgbClr val="1A1A1A"/>
                          </a:solidFill>
                          <a:latin typeface="Arial"/>
                        </a:rPr>
                        <a:t>Yes</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400507">
                <a:tc>
                  <a:txBody>
                    <a:bodyPr wrap="square" lIns="45720" rIns="45720" tIns="27432" bIns="27432" anchor="ctr">
                      <a:noAutofit/>
                    </a:bodyPr>
                    <a:lstStyle/>
                    <a:p>
                      <a:pPr algn="l"/>
                      <a:r>
                        <a:rPr sz="1000" b="1" i="0">
                          <a:solidFill>
                            <a:srgbClr val="1A1A1A"/>
                          </a:solidFill>
                          <a:latin typeface="Arial"/>
                        </a:rPr>
                        <a:t>Personal physiology</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ctr"/>
                      <a:r>
                        <a:rPr sz="1000" b="0" i="0">
                          <a:solidFill>
                            <a:srgbClr val="1A1A1A"/>
                          </a:solidFill>
                          <a:latin typeface="Arial"/>
                        </a:rPr>
                        <a:t>No</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ctr"/>
                      <a:r>
                        <a:rPr sz="1000" b="0" i="0">
                          <a:solidFill>
                            <a:srgbClr val="1A1A1A"/>
                          </a:solidFill>
                          <a:latin typeface="Arial"/>
                        </a:rPr>
                        <a:t>No</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ctr"/>
                      <a:r>
                        <a:rPr sz="1000" b="0" i="0">
                          <a:solidFill>
                            <a:srgbClr val="1A1A1A"/>
                          </a:solidFill>
                          <a:latin typeface="Arial"/>
                        </a:rPr>
                        <a:t>Yes</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400507">
                <a:tc>
                  <a:txBody>
                    <a:bodyPr wrap="square" lIns="45720" rIns="45720" tIns="27432" bIns="27432" anchor="ctr">
                      <a:noAutofit/>
                    </a:bodyPr>
                    <a:lstStyle/>
                    <a:p>
                      <a:pPr algn="l"/>
                      <a:r>
                        <a:rPr sz="1000" b="1" i="0">
                          <a:solidFill>
                            <a:srgbClr val="1A1A1A"/>
                          </a:solidFill>
                          <a:latin typeface="Arial"/>
                        </a:rPr>
                        <a:t>Warns 2 h ahead</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ctr"/>
                      <a:r>
                        <a:rPr sz="1000" b="0" i="0">
                          <a:solidFill>
                            <a:srgbClr val="1A1A1A"/>
                          </a:solidFill>
                          <a:latin typeface="Arial"/>
                        </a:rPr>
                        <a:t>No</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ctr"/>
                      <a:r>
                        <a:rPr sz="1000" b="0" i="0">
                          <a:solidFill>
                            <a:srgbClr val="1A1A1A"/>
                          </a:solidFill>
                          <a:latin typeface="Arial"/>
                        </a:rPr>
                        <a:t>Partly</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ctr"/>
                      <a:r>
                        <a:rPr sz="1000" b="0" i="0">
                          <a:solidFill>
                            <a:srgbClr val="1A1A1A"/>
                          </a:solidFill>
                          <a:latin typeface="Arial"/>
                        </a:rPr>
                        <a:t>Yes</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400507">
                <a:tc>
                  <a:txBody>
                    <a:bodyPr wrap="square" lIns="45720" rIns="45720" tIns="27432" bIns="27432" anchor="ctr">
                      <a:noAutofit/>
                    </a:bodyPr>
                    <a:lstStyle/>
                    <a:p>
                      <a:pPr algn="l"/>
                      <a:r>
                        <a:rPr sz="1000" b="1" i="0">
                          <a:solidFill>
                            <a:srgbClr val="1A1A1A"/>
                          </a:solidFill>
                          <a:latin typeface="Arial"/>
                        </a:rPr>
                        <a:t>Explains each alert</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ctr"/>
                      <a:r>
                        <a:rPr sz="1000" b="0" i="0">
                          <a:solidFill>
                            <a:srgbClr val="1A1A1A"/>
                          </a:solidFill>
                          <a:latin typeface="Arial"/>
                        </a:rPr>
                        <a:t>No</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ctr"/>
                      <a:r>
                        <a:rPr sz="1000" b="0" i="0">
                          <a:solidFill>
                            <a:srgbClr val="1A1A1A"/>
                          </a:solidFill>
                          <a:latin typeface="Arial"/>
                        </a:rPr>
                        <a:t>Rarely</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ctr"/>
                      <a:r>
                        <a:rPr sz="1000" b="0" i="0">
                          <a:solidFill>
                            <a:srgbClr val="1A1A1A"/>
                          </a:solidFill>
                          <a:latin typeface="Arial"/>
                        </a:rPr>
                        <a:t>SHAP</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400507">
                <a:tc>
                  <a:txBody>
                    <a:bodyPr wrap="square" lIns="45720" rIns="45720" tIns="27432" bIns="27432" anchor="ctr">
                      <a:noAutofit/>
                    </a:bodyPr>
                    <a:lstStyle/>
                    <a:p>
                      <a:pPr algn="l"/>
                      <a:r>
                        <a:rPr sz="1000" b="1" i="0">
                          <a:solidFill>
                            <a:srgbClr val="1A1A1A"/>
                          </a:solidFill>
                          <a:latin typeface="Arial"/>
                        </a:rPr>
                        <a:t>What-if on this patient</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ctr"/>
                      <a:r>
                        <a:rPr sz="1000" b="0" i="0">
                          <a:solidFill>
                            <a:srgbClr val="1A1A1A"/>
                          </a:solidFill>
                          <a:latin typeface="Arial"/>
                        </a:rPr>
                        <a:t>No</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ctr"/>
                      <a:r>
                        <a:rPr sz="1000" b="0" i="0">
                          <a:solidFill>
                            <a:srgbClr val="1A1A1A"/>
                          </a:solidFill>
                          <a:latin typeface="Arial"/>
                        </a:rPr>
                        <a:t>No</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ctr"/>
                      <a:r>
                        <a:rPr sz="1000" b="0" i="0">
                          <a:solidFill>
                            <a:srgbClr val="1A1A1A"/>
                          </a:solidFill>
                          <a:latin typeface="Arial"/>
                        </a:rPr>
                        <a:t>Yes</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400507">
                <a:tc>
                  <a:txBody>
                    <a:bodyPr wrap="square" lIns="45720" rIns="45720" tIns="27432" bIns="27432" anchor="ctr">
                      <a:noAutofit/>
                    </a:bodyPr>
                    <a:lstStyle/>
                    <a:p>
                      <a:pPr algn="l"/>
                      <a:r>
                        <a:rPr sz="1000" b="1" i="0">
                          <a:solidFill>
                            <a:srgbClr val="1A1A1A"/>
                          </a:solidFill>
                          <a:latin typeface="Arial"/>
                        </a:rPr>
                        <a:t>Indian meals and GI</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ctr"/>
                      <a:r>
                        <a:rPr sz="1000" b="0" i="0">
                          <a:solidFill>
                            <a:srgbClr val="1A1A1A"/>
                          </a:solidFill>
                          <a:latin typeface="Arial"/>
                        </a:rPr>
                        <a:t>Some</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ctr"/>
                      <a:r>
                        <a:rPr sz="1000" b="0" i="0">
                          <a:solidFill>
                            <a:srgbClr val="1A1A1A"/>
                          </a:solidFill>
                          <a:latin typeface="Arial"/>
                        </a:rPr>
                        <a:t>No</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ctr"/>
                      <a:r>
                        <a:rPr sz="1000" b="0" i="0">
                          <a:solidFill>
                            <a:srgbClr val="1A1A1A"/>
                          </a:solidFill>
                          <a:latin typeface="Arial"/>
                        </a:rPr>
                        <a:t>32 dishes</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400507">
                <a:tc>
                  <a:txBody>
                    <a:bodyPr wrap="square" lIns="45720" rIns="45720" tIns="27432" bIns="27432" anchor="ctr">
                      <a:noAutofit/>
                    </a:bodyPr>
                    <a:lstStyle/>
                    <a:p>
                      <a:pPr algn="l"/>
                      <a:r>
                        <a:rPr sz="1000" b="1" i="0">
                          <a:solidFill>
                            <a:srgbClr val="1A1A1A"/>
                          </a:solidFill>
                          <a:latin typeface="Arial"/>
                        </a:rPr>
                        <a:t>FHIR / ABDM ready</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ctr"/>
                      <a:r>
                        <a:rPr sz="1000" b="0" i="0">
                          <a:solidFill>
                            <a:srgbClr val="1A1A1A"/>
                          </a:solidFill>
                          <a:latin typeface="Arial"/>
                        </a:rPr>
                        <a:t>No</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ctr"/>
                      <a:r>
                        <a:rPr sz="1000" b="0" i="0">
                          <a:solidFill>
                            <a:srgbClr val="1A1A1A"/>
                          </a:solidFill>
                          <a:latin typeface="Arial"/>
                        </a:rPr>
                        <a:t>Rarely</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ctr"/>
                      <a:r>
                        <a:rPr sz="1000" b="0" i="0">
                          <a:solidFill>
                            <a:srgbClr val="1A1A1A"/>
                          </a:solidFill>
                          <a:latin typeface="Arial"/>
                        </a:rPr>
                        <a:t>R4</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bl>
          </a:graphicData>
        </a:graphic>
      </p:graphicFrame>
      <p:sp>
        <p:nvSpPr>
          <p:cNvPr id="84" name="hlcol"/>
          <p:cNvSpPr/>
          <p:nvPr/>
        </p:nvSpPr>
        <p:spPr>
          <a:xfrm>
            <a:off x="11330974" y="1408176"/>
            <a:ext cx="732705" cy="3204058"/>
          </a:xfrm>
          <a:prstGeom prst="rect">
            <a:avLst/>
          </a:prstGeom>
          <a:noFill/>
          <a:ln w="31750">
            <a:solidFill>
              <a:srgbClr val="0D233E"/>
            </a:solidFill>
          </a:ln>
        </p:spPr>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v:0">
            <a:hlinkClick action="ppaction://hlinksldjump" r:id="rId17"/>
          </p:cNvPr>
          <p:cNvSpPr/>
          <p:nvPr/>
        </p:nvSpPr>
        <p:spPr>
          <a:xfrm>
            <a:off x="0" y="0"/>
            <a:ext cx="1359073" cy="457200"/>
          </a:xfrm>
          <a:prstGeom prst="homePlate">
            <a:avLst>
              <a:gd name="adj" fmla="val 34000"/>
            </a:avLst>
          </a:prstGeom>
          <a:solidFill>
            <a:srgbClr val="6587AF"/>
          </a:solidFill>
          <a:ln w="12700">
            <a:solidFill>
              <a:srgbClr val="FFFFFF"/>
            </a:solidFill>
          </a:ln>
        </p:spPr>
        <p:txBody>
          <a:bodyPr rtlCol="0" anchor="ctr"/>
          <a:lstStyle/>
          <a:p/>
        </p:txBody>
      </p:sp>
      <p:sp>
        <p:nvSpPr>
          <p:cNvPr id="3" name="nav:t0">
            <a:hlinkClick action="ppaction://hlinksldjump" r:id="rId17"/>
          </p:cNvPr>
          <p:cNvSpPr txBox="1"/>
          <p:nvPr/>
        </p:nvSpPr>
        <p:spPr>
          <a:xfrm>
            <a:off x="64008" y="0"/>
            <a:ext cx="1121329" cy="457200"/>
          </a:xfrm>
          <a:prstGeom prst="rect">
            <a:avLst/>
          </a:prstGeom>
          <a:noFill/>
        </p:spPr>
        <p:txBody>
          <a:bodyPr wrap="square" lIns="9144" rIns="9144" tIns="9144" bIns="9144" anchor="ctr">
            <a:noAutofit/>
          </a:bodyPr>
          <a:lstStyle/>
          <a:p>
            <a:pPr algn="ctr"/>
            <a:r>
              <a:rPr sz="1000" b="0" i="0">
                <a:solidFill>
                  <a:srgbClr val="FFFFFF"/>
                </a:solidFill>
                <a:latin typeface="Arial"/>
              </a:rPr>
              <a:t>Executive Summary</a:t>
            </a:r>
          </a:p>
        </p:txBody>
      </p:sp>
      <p:sp>
        <p:nvSpPr>
          <p:cNvPr id="4" name="nav:1">
            <a:hlinkClick action="ppaction://hlinksldjump" r:id="rId18"/>
          </p:cNvPr>
          <p:cNvSpPr/>
          <p:nvPr/>
        </p:nvSpPr>
        <p:spPr>
          <a:xfrm>
            <a:off x="1203625"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5" name="nav:t1">
            <a:hlinkClick action="ppaction://hlinksldjump" r:id="rId18"/>
          </p:cNvPr>
          <p:cNvSpPr txBox="1"/>
          <p:nvPr/>
        </p:nvSpPr>
        <p:spPr>
          <a:xfrm>
            <a:off x="1386505"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Problem</a:t>
            </a:r>
          </a:p>
        </p:txBody>
      </p:sp>
      <p:sp>
        <p:nvSpPr>
          <p:cNvPr id="6" name="nav:2">
            <a:hlinkClick action="ppaction://hlinksldjump" r:id="rId19"/>
          </p:cNvPr>
          <p:cNvSpPr/>
          <p:nvPr/>
        </p:nvSpPr>
        <p:spPr>
          <a:xfrm>
            <a:off x="2407249"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7" name="nav:t2">
            <a:hlinkClick action="ppaction://hlinksldjump" r:id="rId19"/>
          </p:cNvPr>
          <p:cNvSpPr txBox="1"/>
          <p:nvPr/>
        </p:nvSpPr>
        <p:spPr>
          <a:xfrm>
            <a:off x="2590129"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Solution</a:t>
            </a:r>
          </a:p>
        </p:txBody>
      </p:sp>
      <p:sp>
        <p:nvSpPr>
          <p:cNvPr id="8" name="nav:3"/>
          <p:cNvSpPr/>
          <p:nvPr/>
        </p:nvSpPr>
        <p:spPr>
          <a:xfrm>
            <a:off x="3610874" y="0"/>
            <a:ext cx="1359073" cy="457200"/>
          </a:xfrm>
          <a:prstGeom prst="chevron">
            <a:avLst>
              <a:gd name="adj" fmla="val 34000"/>
            </a:avLst>
          </a:prstGeom>
          <a:solidFill>
            <a:srgbClr val="112F52"/>
          </a:solidFill>
          <a:ln w="12700">
            <a:solidFill>
              <a:srgbClr val="FFFFFF"/>
            </a:solidFill>
          </a:ln>
        </p:spPr>
        <p:txBody>
          <a:bodyPr rtlCol="0" anchor="ctr"/>
          <a:lstStyle/>
          <a:p/>
        </p:txBody>
      </p:sp>
      <p:sp>
        <p:nvSpPr>
          <p:cNvPr id="9" name="nav:t3"/>
          <p:cNvSpPr txBox="1"/>
          <p:nvPr/>
        </p:nvSpPr>
        <p:spPr>
          <a:xfrm>
            <a:off x="3793754" y="0"/>
            <a:ext cx="1002457" cy="457200"/>
          </a:xfrm>
          <a:prstGeom prst="rect">
            <a:avLst/>
          </a:prstGeom>
          <a:noFill/>
        </p:spPr>
        <p:txBody>
          <a:bodyPr wrap="square" lIns="9144" rIns="9144" tIns="9144" bIns="9144" anchor="ctr">
            <a:noAutofit/>
          </a:bodyPr>
          <a:lstStyle/>
          <a:p>
            <a:pPr algn="ctr"/>
            <a:r>
              <a:rPr sz="1000" b="1" i="0">
                <a:solidFill>
                  <a:srgbClr val="FFFFFF"/>
                </a:solidFill>
                <a:latin typeface="Arial"/>
              </a:rPr>
              <a:t>Data</a:t>
            </a:r>
          </a:p>
        </p:txBody>
      </p:sp>
      <p:sp>
        <p:nvSpPr>
          <p:cNvPr id="10" name="nav:4">
            <a:hlinkClick action="ppaction://hlinksldjump" r:id="rId20"/>
          </p:cNvPr>
          <p:cNvSpPr/>
          <p:nvPr/>
        </p:nvSpPr>
        <p:spPr>
          <a:xfrm>
            <a:off x="4814499"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1" name="nav:t4">
            <a:hlinkClick action="ppaction://hlinksldjump" r:id="rId20"/>
          </p:cNvPr>
          <p:cNvSpPr txBox="1"/>
          <p:nvPr/>
        </p:nvSpPr>
        <p:spPr>
          <a:xfrm>
            <a:off x="4997379"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Twin Engine</a:t>
            </a:r>
          </a:p>
        </p:txBody>
      </p:sp>
      <p:sp>
        <p:nvSpPr>
          <p:cNvPr id="12" name="nav:5">
            <a:hlinkClick action="ppaction://hlinksldjump" r:id="rId21"/>
          </p:cNvPr>
          <p:cNvSpPr/>
          <p:nvPr/>
        </p:nvSpPr>
        <p:spPr>
          <a:xfrm>
            <a:off x="6018124"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3" name="nav:t5">
            <a:hlinkClick action="ppaction://hlinksldjump" r:id="rId21"/>
          </p:cNvPr>
          <p:cNvSpPr txBox="1"/>
          <p:nvPr/>
        </p:nvSpPr>
        <p:spPr>
          <a:xfrm>
            <a:off x="6201004"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AI Model</a:t>
            </a:r>
          </a:p>
        </p:txBody>
      </p:sp>
      <p:sp>
        <p:nvSpPr>
          <p:cNvPr id="14" name="nav:6">
            <a:hlinkClick action="ppaction://hlinksldjump" r:id="rId22"/>
          </p:cNvPr>
          <p:cNvSpPr/>
          <p:nvPr/>
        </p:nvSpPr>
        <p:spPr>
          <a:xfrm>
            <a:off x="7221748"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5" name="nav:t6">
            <a:hlinkClick action="ppaction://hlinksldjump" r:id="rId22"/>
          </p:cNvPr>
          <p:cNvSpPr txBox="1"/>
          <p:nvPr/>
        </p:nvSpPr>
        <p:spPr>
          <a:xfrm>
            <a:off x="7404628"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Results</a:t>
            </a:r>
          </a:p>
        </p:txBody>
      </p:sp>
      <p:sp>
        <p:nvSpPr>
          <p:cNvPr id="16" name="nav:7">
            <a:hlinkClick action="ppaction://hlinksldjump" r:id="rId23"/>
          </p:cNvPr>
          <p:cNvSpPr/>
          <p:nvPr/>
        </p:nvSpPr>
        <p:spPr>
          <a:xfrm>
            <a:off x="8425373"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7" name="nav:t7">
            <a:hlinkClick action="ppaction://hlinksldjump" r:id="rId23"/>
          </p:cNvPr>
          <p:cNvSpPr txBox="1"/>
          <p:nvPr/>
        </p:nvSpPr>
        <p:spPr>
          <a:xfrm>
            <a:off x="8608253"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Dashboard</a:t>
            </a:r>
          </a:p>
        </p:txBody>
      </p:sp>
      <p:sp>
        <p:nvSpPr>
          <p:cNvPr id="18" name="nav:8">
            <a:hlinkClick action="ppaction://hlinksldjump" r:id="rId24"/>
          </p:cNvPr>
          <p:cNvSpPr/>
          <p:nvPr/>
        </p:nvSpPr>
        <p:spPr>
          <a:xfrm>
            <a:off x="9628998"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9" name="nav:t8">
            <a:hlinkClick action="ppaction://hlinksldjump" r:id="rId24"/>
          </p:cNvPr>
          <p:cNvSpPr txBox="1"/>
          <p:nvPr/>
        </p:nvSpPr>
        <p:spPr>
          <a:xfrm>
            <a:off x="9811878"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Impact</a:t>
            </a:r>
          </a:p>
        </p:txBody>
      </p:sp>
      <p:sp>
        <p:nvSpPr>
          <p:cNvPr id="20" name="nav:9">
            <a:hlinkClick action="ppaction://hlinksldjump" r:id="rId25"/>
          </p:cNvPr>
          <p:cNvSpPr/>
          <p:nvPr/>
        </p:nvSpPr>
        <p:spPr>
          <a:xfrm>
            <a:off x="10832622"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21" name="nav:t9">
            <a:hlinkClick action="ppaction://hlinksldjump" r:id="rId25"/>
          </p:cNvPr>
          <p:cNvSpPr txBox="1"/>
          <p:nvPr/>
        </p:nvSpPr>
        <p:spPr>
          <a:xfrm>
            <a:off x="11015502"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Roadmap &amp; Cost</a:t>
            </a:r>
          </a:p>
        </p:txBody>
      </p:sp>
      <p:sp>
        <p:nvSpPr>
          <p:cNvPr id="22" name="TextBox 21"/>
          <p:cNvSpPr txBox="1"/>
          <p:nvPr/>
        </p:nvSpPr>
        <p:spPr>
          <a:xfrm>
            <a:off x="73152" y="502920"/>
            <a:ext cx="12045391" cy="329184"/>
          </a:xfrm>
          <a:prstGeom prst="rect">
            <a:avLst/>
          </a:prstGeom>
          <a:noFill/>
        </p:spPr>
        <p:txBody>
          <a:bodyPr wrap="square" lIns="18288" rIns="18288" tIns="18288" bIns="18288" anchor="ctr">
            <a:noAutofit/>
          </a:bodyPr>
          <a:lstStyle/>
          <a:p>
            <a:pPr algn="l"/>
            <a:r>
              <a:rPr sz="1600" b="1" i="0">
                <a:solidFill>
                  <a:srgbClr val="1D4E89"/>
                </a:solidFill>
                <a:latin typeface="Arial"/>
              </a:rPr>
              <a:t>Both required streams are fused: FHIR health records plus 14 days of 5-minute wearable data</a:t>
            </a:r>
          </a:p>
        </p:txBody>
      </p:sp>
      <p:sp>
        <p:nvSpPr>
          <p:cNvPr id="23" name="TextBox 22"/>
          <p:cNvSpPr txBox="1"/>
          <p:nvPr/>
        </p:nvSpPr>
        <p:spPr>
          <a:xfrm>
            <a:off x="73152" y="795528"/>
            <a:ext cx="12045391" cy="237744"/>
          </a:xfrm>
          <a:prstGeom prst="rect">
            <a:avLst/>
          </a:prstGeom>
          <a:noFill/>
        </p:spPr>
        <p:txBody>
          <a:bodyPr wrap="square" lIns="18288" rIns="18288" tIns="18288" bIns="18288" anchor="ctr">
            <a:noAutofit/>
          </a:bodyPr>
          <a:lstStyle/>
          <a:p>
            <a:pPr algn="l"/>
            <a:r>
              <a:rPr sz="1200" b="1" i="0">
                <a:solidFill>
                  <a:srgbClr val="4A5168"/>
                </a:solidFill>
                <a:latin typeface="Arial"/>
              </a:rPr>
              <a:t>120 synthetic Indian patients from a physiology simulator; no real patient data, as the sandbox rules require</a:t>
            </a:r>
          </a:p>
        </p:txBody>
      </p:sp>
      <p:cxnSp>
        <p:nvCxnSpPr>
          <p:cNvPr id="24" name="Connector 23"/>
          <p:cNvCxnSpPr/>
          <p:nvPr/>
        </p:nvCxnSpPr>
        <p:spPr>
          <a:xfrm>
            <a:off x="73152" y="1042416"/>
            <a:ext cx="12045391" cy="0"/>
          </a:xfrm>
          <a:prstGeom prst="line">
            <a:avLst/>
          </a:prstGeom>
          <a:ln w="19050">
            <a:solidFill>
              <a:srgbClr val="1D4E89"/>
            </a:solidFill>
          </a:ln>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73152" y="1097280"/>
            <a:ext cx="4130996" cy="2885044"/>
            <a:chOff x="73152" y="1097280"/>
            <a:chExt cx="4130996" cy="2885044"/>
          </a:xfrm>
        </p:grpSpPr>
        <p:sp>
          <p:nvSpPr>
            <p:cNvPr id="26" name="frame:Static stream: FHIR "/>
            <p:cNvSpPr/>
            <p:nvPr/>
          </p:nvSpPr>
          <p:spPr>
            <a:xfrm>
              <a:off x="73152" y="1234440"/>
              <a:ext cx="4130996" cy="2747884"/>
            </a:xfrm>
            <a:prstGeom prst="roundRect">
              <a:avLst>
                <a:gd name="adj" fmla="val 1663"/>
              </a:avLst>
            </a:prstGeom>
            <a:solidFill>
              <a:srgbClr val="F1F4F8"/>
            </a:solidFill>
            <a:ln w="15875">
              <a:solidFill>
                <a:srgbClr val="466E9E"/>
              </a:solidFill>
              <a:prstDash val="sysDot"/>
            </a:ln>
          </p:spPr>
          <p:txBody>
            <a:bodyPr rtlCol="0" anchor="ctr"/>
            <a:lstStyle/>
            <a:p/>
          </p:txBody>
        </p:sp>
        <p:sp>
          <p:nvSpPr>
            <p:cNvPr id="27" name="Rounded Rectangle 26"/>
            <p:cNvSpPr/>
            <p:nvPr/>
          </p:nvSpPr>
          <p:spPr>
            <a:xfrm>
              <a:off x="73152" y="1097280"/>
              <a:ext cx="2519200" cy="274320"/>
            </a:xfrm>
            <a:prstGeom prst="roundRect">
              <a:avLst>
                <a:gd name="adj" fmla="val 13333"/>
              </a:avLst>
            </a:prstGeom>
            <a:solidFill>
              <a:srgbClr val="1D4E89"/>
            </a:solidFill>
            <a:ln>
              <a:noFill/>
            </a:ln>
          </p:spPr>
          <p:txBody>
            <a:bodyPr rtlCol="0" anchor="ctr"/>
            <a:lstStyle/>
            <a:p/>
          </p:txBody>
        </p:sp>
        <p:pic>
          <p:nvPicPr>
            <p:cNvPr id="28" name="Picture 27" descr="ic_fa6_FaFileMedical_FFFFFF.png"/>
            <p:cNvPicPr>
              <a:picLocks noChangeAspect="1"/>
            </p:cNvPicPr>
            <p:nvPr/>
          </p:nvPicPr>
          <p:blipFill>
            <a:blip r:embed="rId2"/>
            <a:stretch>
              <a:fillRect/>
            </a:stretch>
          </p:blipFill>
          <p:spPr>
            <a:xfrm>
              <a:off x="128016" y="1133856"/>
              <a:ext cx="201168" cy="201168"/>
            </a:xfrm>
            <a:prstGeom prst="rect">
              <a:avLst/>
            </a:prstGeom>
          </p:spPr>
        </p:pic>
        <p:sp>
          <p:nvSpPr>
            <p:cNvPr id="29" name="TextBox 28"/>
            <p:cNvSpPr txBox="1"/>
            <p:nvPr/>
          </p:nvSpPr>
          <p:spPr>
            <a:xfrm>
              <a:off x="374904" y="1097280"/>
              <a:ext cx="2190016" cy="274320"/>
            </a:xfrm>
            <a:prstGeom prst="rect">
              <a:avLst/>
            </a:prstGeom>
            <a:noFill/>
          </p:spPr>
          <p:txBody>
            <a:bodyPr wrap="square" lIns="9144" rIns="9144" tIns="9144" bIns="9144" anchor="ctr">
              <a:noAutofit/>
            </a:bodyPr>
            <a:lstStyle/>
            <a:p>
              <a:pPr algn="l"/>
              <a:r>
                <a:rPr sz="1200" b="1" i="0">
                  <a:solidFill>
                    <a:srgbClr val="FFFFFF"/>
                  </a:solidFill>
                  <a:latin typeface="Arial"/>
                </a:rPr>
                <a:t>Static stream: FHIR R4 EHR</a:t>
              </a:r>
            </a:p>
          </p:txBody>
        </p:sp>
      </p:grpSp>
      <p:graphicFrame>
        <p:nvGraphicFramePr>
          <p:cNvPr id="30" name="ig:table"/>
          <p:cNvGraphicFramePr>
            <a:graphicFrameLocks noGrp="1"/>
          </p:cNvGraphicFramePr>
          <p:nvPr/>
        </p:nvGraphicFramePr>
        <p:xfrm>
          <a:off x="128016" y="1408176"/>
          <a:ext cx="4021268" cy="2519286"/>
        </p:xfrm>
        <a:graphic>
          <a:graphicData uri="http://schemas.openxmlformats.org/drawingml/2006/table">
            <a:tbl>
              <a:tblPr firstRow="1" bandRow="1">
                <a:tableStyleId>{5940675A-B579-460E-94D1-54222C63F5DA}</a:tableStyleId>
              </a:tblPr>
              <a:tblGrid>
                <a:gridCol w="1206380"/>
                <a:gridCol w="2125528"/>
                <a:gridCol w="689360"/>
              </a:tblGrid>
              <a:tr h="359898">
                <a:tc>
                  <a:txBody>
                    <a:bodyPr wrap="square" lIns="45720" rIns="45720" tIns="27432" bIns="27432" anchor="ctr">
                      <a:noAutofit/>
                    </a:bodyPr>
                    <a:lstStyle/>
                    <a:p>
                      <a:pPr algn="l"/>
                      <a:r>
                        <a:rPr sz="1000" b="1" i="0">
                          <a:solidFill>
                            <a:srgbClr val="FFFFFF"/>
                          </a:solidFill>
                          <a:latin typeface="Arial"/>
                        </a:rPr>
                        <a:t>FHIR resource</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c>
                  <a:txBody>
                    <a:bodyPr wrap="square" lIns="45720" rIns="45720" tIns="27432" bIns="27432" anchor="ctr">
                      <a:noAutofit/>
                    </a:bodyPr>
                    <a:lstStyle/>
                    <a:p>
                      <a:pPr algn="ctr"/>
                      <a:r>
                        <a:rPr sz="1000" b="1" i="0">
                          <a:solidFill>
                            <a:srgbClr val="FFFFFF"/>
                          </a:solidFill>
                          <a:latin typeface="Arial"/>
                        </a:rPr>
                        <a:t>Content</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c>
                  <a:txBody>
                    <a:bodyPr wrap="square" lIns="45720" rIns="45720" tIns="27432" bIns="27432" anchor="ctr">
                      <a:noAutofit/>
                    </a:bodyPr>
                    <a:lstStyle/>
                    <a:p>
                      <a:pPr algn="ctr"/>
                      <a:r>
                        <a:rPr sz="1000" b="1" i="0">
                          <a:solidFill>
                            <a:srgbClr val="FFFFFF"/>
                          </a:solidFill>
                          <a:latin typeface="Arial"/>
                        </a:rPr>
                        <a:t>Codes</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r>
              <a:tr h="359898">
                <a:tc>
                  <a:txBody>
                    <a:bodyPr wrap="square" lIns="45720" rIns="45720" tIns="27432" bIns="27432" anchor="ctr">
                      <a:noAutofit/>
                    </a:bodyPr>
                    <a:lstStyle/>
                    <a:p>
                      <a:pPr algn="l"/>
                      <a:r>
                        <a:rPr sz="1000" b="1" i="0">
                          <a:solidFill>
                            <a:srgbClr val="1A1A1A"/>
                          </a:solidFill>
                          <a:latin typeface="Arial"/>
                        </a:rPr>
                        <a:t>Patient</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ctr"/>
                      <a:r>
                        <a:rPr sz="1000" b="0" i="0">
                          <a:solidFill>
                            <a:srgbClr val="1A1A1A"/>
                          </a:solidFill>
                          <a:latin typeface="Arial"/>
                        </a:rPr>
                        <a:t>age, sex, city</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ctr"/>
                      <a:r>
                        <a:rPr sz="1000" b="0" i="0">
                          <a:solidFill>
                            <a:srgbClr val="1A1A1A"/>
                          </a:solidFill>
                          <a:latin typeface="Arial"/>
                        </a:rPr>
                        <a:t>FHIR</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359898">
                <a:tc>
                  <a:txBody>
                    <a:bodyPr wrap="square" lIns="45720" rIns="45720" tIns="27432" bIns="27432" anchor="ctr">
                      <a:noAutofit/>
                    </a:bodyPr>
                    <a:lstStyle/>
                    <a:p>
                      <a:pPr algn="l"/>
                      <a:r>
                        <a:rPr sz="1000" b="1" i="0">
                          <a:solidFill>
                            <a:srgbClr val="1A1A1A"/>
                          </a:solidFill>
                          <a:latin typeface="Arial"/>
                        </a:rPr>
                        <a:t>Condition</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ctr"/>
                      <a:r>
                        <a:rPr sz="1000" b="0" i="0">
                          <a:solidFill>
                            <a:srgbClr val="1A1A1A"/>
                          </a:solidFill>
                          <a:latin typeface="Arial"/>
                        </a:rPr>
                        <a:t>T2D E11.9, prediabetes, HTN</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ctr"/>
                      <a:r>
                        <a:rPr sz="1000" b="0" i="0">
                          <a:solidFill>
                            <a:srgbClr val="1A1A1A"/>
                          </a:solidFill>
                          <a:latin typeface="Arial"/>
                        </a:rPr>
                        <a:t>ICD-10</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359898">
                <a:tc>
                  <a:txBody>
                    <a:bodyPr wrap="square" lIns="45720" rIns="45720" tIns="27432" bIns="27432" anchor="ctr">
                      <a:noAutofit/>
                    </a:bodyPr>
                    <a:lstStyle/>
                    <a:p>
                      <a:pPr algn="l"/>
                      <a:r>
                        <a:rPr sz="1000" b="1" i="0">
                          <a:solidFill>
                            <a:srgbClr val="1A1A1A"/>
                          </a:solidFill>
                          <a:latin typeface="Arial"/>
                        </a:rPr>
                        <a:t>Observation</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ctr"/>
                      <a:r>
                        <a:rPr sz="1000" b="0" i="0">
                          <a:solidFill>
                            <a:srgbClr val="1A1A1A"/>
                          </a:solidFill>
                          <a:latin typeface="Arial"/>
                        </a:rPr>
                        <a:t>HbA1c x3, FPG, BMI, lipids, eGFR</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ctr"/>
                      <a:r>
                        <a:rPr sz="1000" b="0" i="0">
                          <a:solidFill>
                            <a:srgbClr val="1A1A1A"/>
                          </a:solidFill>
                          <a:latin typeface="Arial"/>
                        </a:rPr>
                        <a:t>LOINC</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359898">
                <a:tc>
                  <a:txBody>
                    <a:bodyPr wrap="square" lIns="45720" rIns="45720" tIns="27432" bIns="27432" anchor="ctr">
                      <a:noAutofit/>
                    </a:bodyPr>
                    <a:lstStyle/>
                    <a:p>
                      <a:pPr algn="l"/>
                      <a:r>
                        <a:rPr sz="1000" b="1" i="0">
                          <a:solidFill>
                            <a:srgbClr val="1A1A1A"/>
                          </a:solidFill>
                          <a:latin typeface="Arial"/>
                        </a:rPr>
                        <a:t>Medication</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ctr"/>
                      <a:r>
                        <a:rPr sz="1000" b="0" i="0">
                          <a:solidFill>
                            <a:srgbClr val="1A1A1A"/>
                          </a:solidFill>
                          <a:latin typeface="Arial"/>
                        </a:rPr>
                        <a:t>metformin, glimepiride, sitagliptin</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ctr"/>
                      <a:r>
                        <a:rPr sz="1000" b="0" i="0">
                          <a:solidFill>
                            <a:srgbClr val="1A1A1A"/>
                          </a:solidFill>
                          <a:latin typeface="Arial"/>
                        </a:rPr>
                        <a:t>RxNorm</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359898">
                <a:tc>
                  <a:txBody>
                    <a:bodyPr wrap="square" lIns="45720" rIns="45720" tIns="27432" bIns="27432" anchor="ctr">
                      <a:noAutofit/>
                    </a:bodyPr>
                    <a:lstStyle/>
                    <a:p>
                      <a:pPr algn="l"/>
                      <a:r>
                        <a:rPr sz="1000" b="1" i="0">
                          <a:solidFill>
                            <a:srgbClr val="1A1A1A"/>
                          </a:solidFill>
                          <a:latin typeface="Arial"/>
                        </a:rPr>
                        <a:t>FamilyHistory</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ctr"/>
                      <a:r>
                        <a:rPr sz="1000" b="0" i="0">
                          <a:solidFill>
                            <a:srgbClr val="1A1A1A"/>
                          </a:solidFill>
                          <a:latin typeface="Arial"/>
                        </a:rPr>
                        <a:t>parental T2D</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ctr"/>
                      <a:r>
                        <a:rPr sz="1000" b="0" i="0">
                          <a:solidFill>
                            <a:srgbClr val="1A1A1A"/>
                          </a:solidFill>
                          <a:latin typeface="Arial"/>
                        </a:rPr>
                        <a:t>FHIR</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359898">
                <a:tc>
                  <a:txBody>
                    <a:bodyPr wrap="square" lIns="45720" rIns="45720" tIns="27432" bIns="27432" anchor="ctr">
                      <a:noAutofit/>
                    </a:bodyPr>
                    <a:lstStyle/>
                    <a:p>
                      <a:pPr algn="l"/>
                      <a:r>
                        <a:rPr sz="1000" b="1" i="0">
                          <a:solidFill>
                            <a:srgbClr val="1A1A1A"/>
                          </a:solidFill>
                          <a:latin typeface="Arial"/>
                        </a:rPr>
                        <a:t>Genetics</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ctr"/>
                      <a:r>
                        <a:rPr sz="1000" b="0" i="0">
                          <a:solidFill>
                            <a:srgbClr val="1A1A1A"/>
                          </a:solidFill>
                          <a:latin typeface="Arial"/>
                        </a:rPr>
                        <a:t>TCF7L2 rs7903146, PRS</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ctr"/>
                      <a:r>
                        <a:rPr sz="1000" b="0" i="0">
                          <a:solidFill>
                            <a:srgbClr val="1A1A1A"/>
                          </a:solidFill>
                          <a:latin typeface="Arial"/>
                        </a:rPr>
                        <a:t>LOINC</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bl>
          </a:graphicData>
        </a:graphic>
      </p:graphicFrame>
      <p:grpSp>
        <p:nvGrpSpPr>
          <p:cNvPr id="31" name="Group 30"/>
          <p:cNvGrpSpPr/>
          <p:nvPr/>
        </p:nvGrpSpPr>
        <p:grpSpPr>
          <a:xfrm>
            <a:off x="4277300" y="1097280"/>
            <a:ext cx="7841243" cy="2885044"/>
            <a:chOff x="4277300" y="1097280"/>
            <a:chExt cx="7841243" cy="2885044"/>
          </a:xfrm>
        </p:grpSpPr>
        <p:sp>
          <p:nvSpPr>
            <p:cNvPr id="32" name="frame:Dynamic stream: one "/>
            <p:cNvSpPr/>
            <p:nvPr/>
          </p:nvSpPr>
          <p:spPr>
            <a:xfrm>
              <a:off x="4277300" y="1234440"/>
              <a:ext cx="7841243" cy="2747884"/>
            </a:xfrm>
            <a:prstGeom prst="roundRect">
              <a:avLst>
                <a:gd name="adj" fmla="val 1663"/>
              </a:avLst>
            </a:prstGeom>
            <a:solidFill>
              <a:srgbClr val="F1F4F8"/>
            </a:solidFill>
            <a:ln w="15875">
              <a:solidFill>
                <a:srgbClr val="466E9E"/>
              </a:solidFill>
              <a:prstDash val="sysDot"/>
            </a:ln>
          </p:spPr>
          <p:txBody>
            <a:bodyPr rtlCol="0" anchor="ctr"/>
            <a:lstStyle/>
            <a:p/>
          </p:txBody>
        </p:sp>
        <p:sp>
          <p:nvSpPr>
            <p:cNvPr id="33" name="Rounded Rectangle 32"/>
            <p:cNvSpPr/>
            <p:nvPr/>
          </p:nvSpPr>
          <p:spPr>
            <a:xfrm>
              <a:off x="4277300" y="1097280"/>
              <a:ext cx="3315311" cy="274320"/>
            </a:xfrm>
            <a:prstGeom prst="roundRect">
              <a:avLst>
                <a:gd name="adj" fmla="val 13333"/>
              </a:avLst>
            </a:prstGeom>
            <a:solidFill>
              <a:srgbClr val="1D4E89"/>
            </a:solidFill>
            <a:ln>
              <a:noFill/>
            </a:ln>
          </p:spPr>
          <p:txBody>
            <a:bodyPr rtlCol="0" anchor="ctr"/>
            <a:lstStyle/>
            <a:p/>
          </p:txBody>
        </p:sp>
        <p:pic>
          <p:nvPicPr>
            <p:cNvPr id="34" name="Picture 33" descr="ic_fa6_FaClock_FFFFFF.png"/>
            <p:cNvPicPr>
              <a:picLocks noChangeAspect="1"/>
            </p:cNvPicPr>
            <p:nvPr/>
          </p:nvPicPr>
          <p:blipFill>
            <a:blip r:embed="rId3"/>
            <a:stretch>
              <a:fillRect/>
            </a:stretch>
          </p:blipFill>
          <p:spPr>
            <a:xfrm>
              <a:off x="4332164" y="1133856"/>
              <a:ext cx="201168" cy="201168"/>
            </a:xfrm>
            <a:prstGeom prst="rect">
              <a:avLst/>
            </a:prstGeom>
          </p:spPr>
        </p:pic>
        <p:sp>
          <p:nvSpPr>
            <p:cNvPr id="35" name="TextBox 34"/>
            <p:cNvSpPr txBox="1"/>
            <p:nvPr/>
          </p:nvSpPr>
          <p:spPr>
            <a:xfrm>
              <a:off x="4579052" y="1097280"/>
              <a:ext cx="2986127" cy="274320"/>
            </a:xfrm>
            <a:prstGeom prst="rect">
              <a:avLst/>
            </a:prstGeom>
            <a:noFill/>
          </p:spPr>
          <p:txBody>
            <a:bodyPr wrap="square" lIns="9144" rIns="9144" tIns="9144" bIns="9144" anchor="ctr">
              <a:noAutofit/>
            </a:bodyPr>
            <a:lstStyle/>
            <a:p>
              <a:pPr algn="l"/>
              <a:r>
                <a:rPr sz="1200" b="1" i="0">
                  <a:solidFill>
                    <a:srgbClr val="FFFFFF"/>
                  </a:solidFill>
                  <a:latin typeface="Arial"/>
                </a:rPr>
                <a:t>Dynamic stream: one patient, 30 hours</a:t>
              </a:r>
            </a:p>
          </p:txBody>
        </p:sp>
        <p:pic>
          <p:nvPicPr>
            <p:cNvPr id="36" name="Picture 35" descr="fig_data_streams.png"/>
            <p:cNvPicPr>
              <a:picLocks noChangeAspect="1"/>
            </p:cNvPicPr>
            <p:nvPr/>
          </p:nvPicPr>
          <p:blipFill>
            <a:blip r:embed="rId4"/>
            <a:stretch>
              <a:fillRect/>
            </a:stretch>
          </p:blipFill>
          <p:spPr>
            <a:xfrm>
              <a:off x="4332164" y="1418693"/>
              <a:ext cx="5301944" cy="2498250"/>
            </a:xfrm>
            <a:prstGeom prst="rect">
              <a:avLst/>
            </a:prstGeom>
          </p:spPr>
        </p:pic>
        <p:sp>
          <p:nvSpPr>
            <p:cNvPr id="37" name="Rounded Rectangle 36"/>
            <p:cNvSpPr/>
            <p:nvPr/>
          </p:nvSpPr>
          <p:spPr>
            <a:xfrm>
              <a:off x="9707260" y="1408176"/>
              <a:ext cx="742350" cy="588673"/>
            </a:xfrm>
            <a:prstGeom prst="roundRect">
              <a:avLst>
                <a:gd name="adj" fmla="val 9319"/>
              </a:avLst>
            </a:prstGeom>
            <a:solidFill>
              <a:srgbClr val="F1F4F8"/>
            </a:solidFill>
            <a:ln>
              <a:noFill/>
            </a:ln>
          </p:spPr>
          <p:txBody>
            <a:bodyPr rtlCol="0" anchor="ctr"/>
            <a:lstStyle/>
            <a:p/>
          </p:txBody>
        </p:sp>
        <p:pic>
          <p:nvPicPr>
            <p:cNvPr id="38" name="Picture 37" descr="cgm.png"/>
            <p:cNvPicPr>
              <a:picLocks noChangeAspect="1"/>
            </p:cNvPicPr>
            <p:nvPr/>
          </p:nvPicPr>
          <p:blipFill>
            <a:blip r:embed="rId5"/>
            <a:stretch>
              <a:fillRect/>
            </a:stretch>
          </p:blipFill>
          <p:spPr>
            <a:xfrm>
              <a:off x="9911981" y="1453896"/>
              <a:ext cx="332909" cy="515521"/>
            </a:xfrm>
            <a:prstGeom prst="rect">
              <a:avLst/>
            </a:prstGeom>
          </p:spPr>
        </p:pic>
        <p:sp>
          <p:nvSpPr>
            <p:cNvPr id="39" name="Rounded Rectangle 38"/>
            <p:cNvSpPr/>
            <p:nvPr/>
          </p:nvSpPr>
          <p:spPr>
            <a:xfrm>
              <a:off x="10486186" y="1408176"/>
              <a:ext cx="1577493" cy="237744"/>
            </a:xfrm>
            <a:prstGeom prst="roundRect">
              <a:avLst>
                <a:gd name="adj" fmla="val 19230"/>
              </a:avLst>
            </a:prstGeom>
            <a:solidFill>
              <a:srgbClr val="173D6B"/>
            </a:solidFill>
            <a:ln>
              <a:noFill/>
            </a:ln>
          </p:spPr>
          <p:txBody>
            <a:bodyPr rtlCol="0" anchor="ctr" wrap="square" lIns="54864" rIns="54864" tIns="27432" bIns="27432">
              <a:noAutofit/>
            </a:bodyPr>
            <a:lstStyle/>
            <a:p>
              <a:pPr algn="l"/>
              <a:r>
                <a:rPr sz="900" b="1" i="0">
                  <a:solidFill>
                    <a:srgbClr val="FFFFFF"/>
                  </a:solidFill>
                  <a:latin typeface="Arial"/>
                </a:rPr>
                <a:t>CGM</a:t>
              </a:r>
            </a:p>
          </p:txBody>
        </p:sp>
        <p:sp>
          <p:nvSpPr>
            <p:cNvPr id="40" name="Rounded Rectangle 39"/>
            <p:cNvSpPr/>
            <p:nvPr/>
          </p:nvSpPr>
          <p:spPr>
            <a:xfrm>
              <a:off x="10486186" y="1645920"/>
              <a:ext cx="1577493" cy="350929"/>
            </a:xfrm>
            <a:prstGeom prst="roundRect">
              <a:avLst>
                <a:gd name="adj" fmla="val 13028"/>
              </a:avLst>
            </a:prstGeom>
            <a:solidFill>
              <a:srgbClr val="FFFFFF"/>
            </a:solidFill>
            <a:ln w="9525">
              <a:solidFill>
                <a:srgbClr val="466E9E"/>
              </a:solidFill>
              <a:prstDash val="sysDot"/>
            </a:ln>
          </p:spPr>
          <p:txBody>
            <a:bodyPr rtlCol="0" anchor="t" wrap="square" lIns="45720" rIns="45720" tIns="27432" bIns="27432">
              <a:noAutofit/>
            </a:bodyPr>
            <a:lstStyle/>
            <a:p>
              <a:pPr algn="l"/>
              <a:r>
                <a:rPr sz="900" b="0" i="0">
                  <a:solidFill>
                    <a:srgbClr val="1A1A1A"/>
                  </a:solidFill>
                  <a:latin typeface="Arial"/>
                </a:rPr>
                <a:t>5-min glucose; 8 min lag, noise, gaps</a:t>
              </a:r>
            </a:p>
          </p:txBody>
        </p:sp>
        <p:sp>
          <p:nvSpPr>
            <p:cNvPr id="41" name="Rounded Rectangle 40"/>
            <p:cNvSpPr/>
            <p:nvPr/>
          </p:nvSpPr>
          <p:spPr>
            <a:xfrm>
              <a:off x="9707260" y="2051713"/>
              <a:ext cx="742350" cy="588673"/>
            </a:xfrm>
            <a:prstGeom prst="roundRect">
              <a:avLst>
                <a:gd name="adj" fmla="val 9319"/>
              </a:avLst>
            </a:prstGeom>
            <a:solidFill>
              <a:srgbClr val="F1F4F8"/>
            </a:solidFill>
            <a:ln>
              <a:noFill/>
            </a:ln>
          </p:spPr>
          <p:txBody>
            <a:bodyPr rtlCol="0" anchor="ctr"/>
            <a:lstStyle/>
            <a:p/>
          </p:txBody>
        </p:sp>
        <p:pic>
          <p:nvPicPr>
            <p:cNvPr id="42" name="Picture 41" descr="watch.png"/>
            <p:cNvPicPr>
              <a:picLocks noChangeAspect="1"/>
            </p:cNvPicPr>
            <p:nvPr/>
          </p:nvPicPr>
          <p:blipFill>
            <a:blip r:embed="rId6"/>
            <a:stretch>
              <a:fillRect/>
            </a:stretch>
          </p:blipFill>
          <p:spPr>
            <a:xfrm>
              <a:off x="9846590" y="2097433"/>
              <a:ext cx="463690" cy="515521"/>
            </a:xfrm>
            <a:prstGeom prst="rect">
              <a:avLst/>
            </a:prstGeom>
          </p:spPr>
        </p:pic>
        <p:sp>
          <p:nvSpPr>
            <p:cNvPr id="43" name="Rounded Rectangle 42"/>
            <p:cNvSpPr/>
            <p:nvPr/>
          </p:nvSpPr>
          <p:spPr>
            <a:xfrm>
              <a:off x="10486186" y="2051713"/>
              <a:ext cx="1577493" cy="237744"/>
            </a:xfrm>
            <a:prstGeom prst="roundRect">
              <a:avLst>
                <a:gd name="adj" fmla="val 19230"/>
              </a:avLst>
            </a:prstGeom>
            <a:solidFill>
              <a:srgbClr val="173D6B"/>
            </a:solidFill>
            <a:ln>
              <a:noFill/>
            </a:ln>
          </p:spPr>
          <p:txBody>
            <a:bodyPr rtlCol="0" anchor="ctr" wrap="square" lIns="54864" rIns="54864" tIns="27432" bIns="27432">
              <a:noAutofit/>
            </a:bodyPr>
            <a:lstStyle/>
            <a:p>
              <a:pPr algn="l"/>
              <a:r>
                <a:rPr sz="900" b="1" i="0">
                  <a:solidFill>
                    <a:srgbClr val="FFFFFF"/>
                  </a:solidFill>
                  <a:latin typeface="Arial"/>
                </a:rPr>
                <a:t>Smartwatch</a:t>
              </a:r>
            </a:p>
          </p:txBody>
        </p:sp>
        <p:sp>
          <p:nvSpPr>
            <p:cNvPr id="44" name="Rounded Rectangle 43"/>
            <p:cNvSpPr/>
            <p:nvPr/>
          </p:nvSpPr>
          <p:spPr>
            <a:xfrm>
              <a:off x="10486186" y="2289457"/>
              <a:ext cx="1577493" cy="350929"/>
            </a:xfrm>
            <a:prstGeom prst="roundRect">
              <a:avLst>
                <a:gd name="adj" fmla="val 13028"/>
              </a:avLst>
            </a:prstGeom>
            <a:solidFill>
              <a:srgbClr val="FFFFFF"/>
            </a:solidFill>
            <a:ln w="9525">
              <a:solidFill>
                <a:srgbClr val="466E9E"/>
              </a:solidFill>
              <a:prstDash val="sysDot"/>
            </a:ln>
          </p:spPr>
          <p:txBody>
            <a:bodyPr rtlCol="0" anchor="t" wrap="square" lIns="45720" rIns="45720" tIns="27432" bIns="27432">
              <a:noAutofit/>
            </a:bodyPr>
            <a:lstStyle/>
            <a:p>
              <a:pPr algn="l"/>
              <a:r>
                <a:rPr sz="900" b="0" i="0">
                  <a:solidFill>
                    <a:srgbClr val="1A1A1A"/>
                  </a:solidFill>
                  <a:latin typeface="Arial"/>
                </a:rPr>
                <a:t>HR every 5 min, HRV at rest, sleep stages</a:t>
              </a:r>
            </a:p>
          </p:txBody>
        </p:sp>
        <p:sp>
          <p:nvSpPr>
            <p:cNvPr id="45" name="Rounded Rectangle 44"/>
            <p:cNvSpPr/>
            <p:nvPr/>
          </p:nvSpPr>
          <p:spPr>
            <a:xfrm>
              <a:off x="9707260" y="2695250"/>
              <a:ext cx="742350" cy="588673"/>
            </a:xfrm>
            <a:prstGeom prst="roundRect">
              <a:avLst>
                <a:gd name="adj" fmla="val 9319"/>
              </a:avLst>
            </a:prstGeom>
            <a:solidFill>
              <a:srgbClr val="F1F4F8"/>
            </a:solidFill>
            <a:ln>
              <a:noFill/>
            </a:ln>
          </p:spPr>
          <p:txBody>
            <a:bodyPr rtlCol="0" anchor="ctr"/>
            <a:lstStyle/>
            <a:p/>
          </p:txBody>
        </p:sp>
        <p:pic>
          <p:nvPicPr>
            <p:cNvPr id="46" name="Picture 45" descr="steps.png"/>
            <p:cNvPicPr>
              <a:picLocks noChangeAspect="1"/>
            </p:cNvPicPr>
            <p:nvPr/>
          </p:nvPicPr>
          <p:blipFill>
            <a:blip r:embed="rId7"/>
            <a:stretch>
              <a:fillRect/>
            </a:stretch>
          </p:blipFill>
          <p:spPr>
            <a:xfrm>
              <a:off x="9752980" y="2780086"/>
              <a:ext cx="650910" cy="437288"/>
            </a:xfrm>
            <a:prstGeom prst="rect">
              <a:avLst/>
            </a:prstGeom>
          </p:spPr>
        </p:pic>
        <p:sp>
          <p:nvSpPr>
            <p:cNvPr id="47" name="Rounded Rectangle 46"/>
            <p:cNvSpPr/>
            <p:nvPr/>
          </p:nvSpPr>
          <p:spPr>
            <a:xfrm>
              <a:off x="10486186" y="2695250"/>
              <a:ext cx="1577493" cy="237744"/>
            </a:xfrm>
            <a:prstGeom prst="roundRect">
              <a:avLst>
                <a:gd name="adj" fmla="val 19230"/>
              </a:avLst>
            </a:prstGeom>
            <a:solidFill>
              <a:srgbClr val="173D6B"/>
            </a:solidFill>
            <a:ln>
              <a:noFill/>
            </a:ln>
          </p:spPr>
          <p:txBody>
            <a:bodyPr rtlCol="0" anchor="ctr" wrap="square" lIns="54864" rIns="54864" tIns="27432" bIns="27432">
              <a:noAutofit/>
            </a:bodyPr>
            <a:lstStyle/>
            <a:p>
              <a:pPr algn="l"/>
              <a:r>
                <a:rPr sz="900" b="1" i="0">
                  <a:solidFill>
                    <a:srgbClr val="FFFFFF"/>
                  </a:solidFill>
                  <a:latin typeface="Arial"/>
                </a:rPr>
                <a:t>Steps</a:t>
              </a:r>
            </a:p>
          </p:txBody>
        </p:sp>
        <p:sp>
          <p:nvSpPr>
            <p:cNvPr id="48" name="Rounded Rectangle 47"/>
            <p:cNvSpPr/>
            <p:nvPr/>
          </p:nvSpPr>
          <p:spPr>
            <a:xfrm>
              <a:off x="10486186" y="2932994"/>
              <a:ext cx="1577493" cy="350929"/>
            </a:xfrm>
            <a:prstGeom prst="roundRect">
              <a:avLst>
                <a:gd name="adj" fmla="val 13028"/>
              </a:avLst>
            </a:prstGeom>
            <a:solidFill>
              <a:srgbClr val="FFFFFF"/>
            </a:solidFill>
            <a:ln w="9525">
              <a:solidFill>
                <a:srgbClr val="466E9E"/>
              </a:solidFill>
              <a:prstDash val="sysDot"/>
            </a:ln>
          </p:spPr>
          <p:txBody>
            <a:bodyPr rtlCol="0" anchor="t" wrap="square" lIns="45720" rIns="45720" tIns="27432" bIns="27432">
              <a:noAutofit/>
            </a:bodyPr>
            <a:lstStyle/>
            <a:p>
              <a:pPr algn="l"/>
              <a:r>
                <a:rPr sz="900" b="0" i="0">
                  <a:solidFill>
                    <a:srgbClr val="1A1A1A"/>
                  </a:solidFill>
                  <a:latin typeface="Arial"/>
                </a:rPr>
                <a:t>walks, commutes, short bouts</a:t>
              </a:r>
            </a:p>
          </p:txBody>
        </p:sp>
        <p:sp>
          <p:nvSpPr>
            <p:cNvPr id="49" name="Rounded Rectangle 48"/>
            <p:cNvSpPr/>
            <p:nvPr/>
          </p:nvSpPr>
          <p:spPr>
            <a:xfrm>
              <a:off x="9707260" y="3338787"/>
              <a:ext cx="742350" cy="588673"/>
            </a:xfrm>
            <a:prstGeom prst="roundRect">
              <a:avLst>
                <a:gd name="adj" fmla="val 9319"/>
              </a:avLst>
            </a:prstGeom>
            <a:solidFill>
              <a:srgbClr val="F1F4F8"/>
            </a:solidFill>
            <a:ln>
              <a:noFill/>
            </a:ln>
          </p:spPr>
          <p:txBody>
            <a:bodyPr rtlCol="0" anchor="ctr"/>
            <a:lstStyle/>
            <a:p/>
          </p:txBody>
        </p:sp>
        <p:pic>
          <p:nvPicPr>
            <p:cNvPr id="50" name="Picture 49" descr="ic_fa6_FaMobileScreen_1D4E89.png"/>
            <p:cNvPicPr>
              <a:picLocks noChangeAspect="1"/>
            </p:cNvPicPr>
            <p:nvPr/>
          </p:nvPicPr>
          <p:blipFill>
            <a:blip r:embed="rId8"/>
            <a:stretch>
              <a:fillRect/>
            </a:stretch>
          </p:blipFill>
          <p:spPr>
            <a:xfrm>
              <a:off x="9898002" y="3461835"/>
              <a:ext cx="360865" cy="360865"/>
            </a:xfrm>
            <a:prstGeom prst="rect">
              <a:avLst/>
            </a:prstGeom>
          </p:spPr>
        </p:pic>
        <p:sp>
          <p:nvSpPr>
            <p:cNvPr id="51" name="Rounded Rectangle 50"/>
            <p:cNvSpPr/>
            <p:nvPr/>
          </p:nvSpPr>
          <p:spPr>
            <a:xfrm>
              <a:off x="10486186" y="3338787"/>
              <a:ext cx="1577493" cy="237744"/>
            </a:xfrm>
            <a:prstGeom prst="roundRect">
              <a:avLst>
                <a:gd name="adj" fmla="val 19230"/>
              </a:avLst>
            </a:prstGeom>
            <a:solidFill>
              <a:srgbClr val="173D6B"/>
            </a:solidFill>
            <a:ln>
              <a:noFill/>
            </a:ln>
          </p:spPr>
          <p:txBody>
            <a:bodyPr rtlCol="0" anchor="ctr" wrap="square" lIns="54864" rIns="54864" tIns="27432" bIns="27432">
              <a:noAutofit/>
            </a:bodyPr>
            <a:lstStyle/>
            <a:p>
              <a:pPr algn="l"/>
              <a:r>
                <a:rPr sz="900" b="1" i="0">
                  <a:solidFill>
                    <a:srgbClr val="FFFFFF"/>
                  </a:solidFill>
                  <a:latin typeface="Arial"/>
                </a:rPr>
                <a:t>Meal log app</a:t>
              </a:r>
            </a:p>
          </p:txBody>
        </p:sp>
        <p:sp>
          <p:nvSpPr>
            <p:cNvPr id="52" name="Rounded Rectangle 51"/>
            <p:cNvSpPr/>
            <p:nvPr/>
          </p:nvSpPr>
          <p:spPr>
            <a:xfrm>
              <a:off x="10486186" y="3576531"/>
              <a:ext cx="1577493" cy="350929"/>
            </a:xfrm>
            <a:prstGeom prst="roundRect">
              <a:avLst>
                <a:gd name="adj" fmla="val 13028"/>
              </a:avLst>
            </a:prstGeom>
            <a:solidFill>
              <a:srgbClr val="FFFFFF"/>
            </a:solidFill>
            <a:ln w="9525">
              <a:solidFill>
                <a:srgbClr val="466E9E"/>
              </a:solidFill>
              <a:prstDash val="sysDot"/>
            </a:ln>
          </p:spPr>
          <p:txBody>
            <a:bodyPr rtlCol="0" anchor="t" wrap="square" lIns="45720" rIns="45720" tIns="27432" bIns="27432">
              <a:noAutofit/>
            </a:bodyPr>
            <a:lstStyle/>
            <a:p>
              <a:pPr algn="l"/>
              <a:r>
                <a:rPr sz="900" b="0" i="0">
                  <a:solidFill>
                    <a:srgbClr val="1A1A1A"/>
                  </a:solidFill>
                  <a:latin typeface="Arial"/>
                </a:rPr>
                <a:t>~80% of meals logged, carbs +/- 22%</a:t>
              </a:r>
            </a:p>
          </p:txBody>
        </p:sp>
      </p:grpSp>
      <p:grpSp>
        <p:nvGrpSpPr>
          <p:cNvPr id="53" name="Group 52"/>
          <p:cNvGrpSpPr/>
          <p:nvPr/>
        </p:nvGrpSpPr>
        <p:grpSpPr>
          <a:xfrm>
            <a:off x="73152" y="4055476"/>
            <a:ext cx="3777488" cy="2747660"/>
            <a:chOff x="73152" y="4055476"/>
            <a:chExt cx="3777488" cy="2747660"/>
          </a:xfrm>
        </p:grpSpPr>
        <p:sp>
          <p:nvSpPr>
            <p:cNvPr id="54" name="frame:Cohort at a glance"/>
            <p:cNvSpPr/>
            <p:nvPr/>
          </p:nvSpPr>
          <p:spPr>
            <a:xfrm>
              <a:off x="73152" y="4192636"/>
              <a:ext cx="3777488" cy="2610500"/>
            </a:xfrm>
            <a:prstGeom prst="roundRect">
              <a:avLst>
                <a:gd name="adj" fmla="val 1751"/>
              </a:avLst>
            </a:prstGeom>
            <a:solidFill>
              <a:srgbClr val="F1F4F8"/>
            </a:solidFill>
            <a:ln w="15875">
              <a:solidFill>
                <a:srgbClr val="466E9E"/>
              </a:solidFill>
              <a:prstDash val="sysDot"/>
            </a:ln>
          </p:spPr>
          <p:txBody>
            <a:bodyPr rtlCol="0" anchor="ctr"/>
            <a:lstStyle/>
            <a:p/>
          </p:txBody>
        </p:sp>
        <p:sp>
          <p:nvSpPr>
            <p:cNvPr id="55" name="Rounded Rectangle 54"/>
            <p:cNvSpPr/>
            <p:nvPr/>
          </p:nvSpPr>
          <p:spPr>
            <a:xfrm>
              <a:off x="73152" y="4055476"/>
              <a:ext cx="1841536" cy="274320"/>
            </a:xfrm>
            <a:prstGeom prst="roundRect">
              <a:avLst>
                <a:gd name="adj" fmla="val 13333"/>
              </a:avLst>
            </a:prstGeom>
            <a:solidFill>
              <a:srgbClr val="1D4E89"/>
            </a:solidFill>
            <a:ln>
              <a:noFill/>
            </a:ln>
          </p:spPr>
          <p:txBody>
            <a:bodyPr rtlCol="0" anchor="ctr"/>
            <a:lstStyle/>
            <a:p/>
          </p:txBody>
        </p:sp>
        <p:pic>
          <p:nvPicPr>
            <p:cNvPr id="56" name="Picture 55" descr="ic_fa6_FaPeopleGroup_FFFFFF.png"/>
            <p:cNvPicPr>
              <a:picLocks noChangeAspect="1"/>
            </p:cNvPicPr>
            <p:nvPr/>
          </p:nvPicPr>
          <p:blipFill>
            <a:blip r:embed="rId9"/>
            <a:stretch>
              <a:fillRect/>
            </a:stretch>
          </p:blipFill>
          <p:spPr>
            <a:xfrm>
              <a:off x="128016" y="4092052"/>
              <a:ext cx="201168" cy="201168"/>
            </a:xfrm>
            <a:prstGeom prst="rect">
              <a:avLst/>
            </a:prstGeom>
          </p:spPr>
        </p:pic>
        <p:sp>
          <p:nvSpPr>
            <p:cNvPr id="57" name="TextBox 56"/>
            <p:cNvSpPr txBox="1"/>
            <p:nvPr/>
          </p:nvSpPr>
          <p:spPr>
            <a:xfrm>
              <a:off x="374904" y="4055476"/>
              <a:ext cx="1512352" cy="274320"/>
            </a:xfrm>
            <a:prstGeom prst="rect">
              <a:avLst/>
            </a:prstGeom>
            <a:noFill/>
          </p:spPr>
          <p:txBody>
            <a:bodyPr wrap="square" lIns="9144" rIns="9144" tIns="9144" bIns="9144" anchor="ctr">
              <a:noAutofit/>
            </a:bodyPr>
            <a:lstStyle/>
            <a:p>
              <a:pPr algn="l"/>
              <a:r>
                <a:rPr sz="1200" b="1" i="0">
                  <a:solidFill>
                    <a:srgbClr val="FFFFFF"/>
                  </a:solidFill>
                  <a:latin typeface="Arial"/>
                </a:rPr>
                <a:t>Cohort at a glance</a:t>
              </a:r>
            </a:p>
          </p:txBody>
        </p:sp>
        <p:sp>
          <p:nvSpPr>
            <p:cNvPr id="58" name="ig:stat"/>
            <p:cNvSpPr/>
            <p:nvPr/>
          </p:nvSpPr>
          <p:spPr>
            <a:xfrm>
              <a:off x="128016" y="4366372"/>
              <a:ext cx="1806448" cy="315544"/>
            </a:xfrm>
            <a:prstGeom prst="roundRect">
              <a:avLst>
                <a:gd name="adj" fmla="val 8693"/>
              </a:avLst>
            </a:prstGeom>
            <a:solidFill>
              <a:srgbClr val="C9D5E3"/>
            </a:solidFill>
            <a:ln w="6350">
              <a:solidFill>
                <a:srgbClr val="BFBFBF"/>
              </a:solidFill>
            </a:ln>
          </p:spPr>
          <p:txBody>
            <a:bodyPr rtlCol="0" anchor="ctr" wrap="square" lIns="45720" rIns="45720" tIns="27432" bIns="27432">
              <a:noAutofit/>
            </a:bodyPr>
            <a:lstStyle/>
            <a:p>
              <a:pPr algn="ctr"/>
              <a:r>
                <a:rPr sz="1540" b="1" i="0">
                  <a:solidFill>
                    <a:srgbClr val="1A1A1A"/>
                  </a:solidFill>
                  <a:latin typeface="Arial"/>
                </a:rPr>
                <a:t>120</a:t>
              </a:r>
            </a:p>
          </p:txBody>
        </p:sp>
        <p:sp>
          <p:nvSpPr>
            <p:cNvPr id="59" name="TextBox 58"/>
            <p:cNvSpPr txBox="1"/>
            <p:nvPr/>
          </p:nvSpPr>
          <p:spPr>
            <a:xfrm>
              <a:off x="128016" y="4709347"/>
              <a:ext cx="1806448" cy="408319"/>
            </a:xfrm>
            <a:prstGeom prst="rect">
              <a:avLst/>
            </a:prstGeom>
            <a:noFill/>
          </p:spPr>
          <p:txBody>
            <a:bodyPr wrap="square" lIns="45720" rIns="45720" tIns="27432" bIns="27432" anchor="t">
              <a:noAutofit/>
            </a:bodyPr>
            <a:lstStyle/>
            <a:p>
              <a:pPr algn="ctr"/>
              <a:r>
                <a:rPr sz="1100" b="0" i="1">
                  <a:solidFill>
                    <a:srgbClr val="1A1A1A"/>
                  </a:solidFill>
                  <a:latin typeface="Arial"/>
                </a:rPr>
                <a:t>patients</a:t>
              </a:r>
            </a:p>
          </p:txBody>
        </p:sp>
        <p:sp>
          <p:nvSpPr>
            <p:cNvPr id="60" name="ig:stat"/>
            <p:cNvSpPr/>
            <p:nvPr/>
          </p:nvSpPr>
          <p:spPr>
            <a:xfrm>
              <a:off x="1989328" y="4366372"/>
              <a:ext cx="1806448" cy="315544"/>
            </a:xfrm>
            <a:prstGeom prst="roundRect">
              <a:avLst>
                <a:gd name="adj" fmla="val 8693"/>
              </a:avLst>
            </a:prstGeom>
            <a:solidFill>
              <a:srgbClr val="C9D5E3"/>
            </a:solidFill>
            <a:ln w="6350">
              <a:solidFill>
                <a:srgbClr val="BFBFBF"/>
              </a:solidFill>
            </a:ln>
          </p:spPr>
          <p:txBody>
            <a:bodyPr rtlCol="0" anchor="ctr" wrap="square" lIns="45720" rIns="45720" tIns="27432" bIns="27432">
              <a:noAutofit/>
            </a:bodyPr>
            <a:lstStyle/>
            <a:p>
              <a:pPr algn="ctr"/>
              <a:r>
                <a:rPr sz="1540" b="1" i="0">
                  <a:solidFill>
                    <a:srgbClr val="1A1A1A"/>
                  </a:solidFill>
                  <a:latin typeface="Arial"/>
                </a:rPr>
                <a:t>107 / 13</a:t>
              </a:r>
            </a:p>
          </p:txBody>
        </p:sp>
        <p:sp>
          <p:nvSpPr>
            <p:cNvPr id="61" name="TextBox 60"/>
            <p:cNvSpPr txBox="1"/>
            <p:nvPr/>
          </p:nvSpPr>
          <p:spPr>
            <a:xfrm>
              <a:off x="1989328" y="4709347"/>
              <a:ext cx="1806448" cy="408319"/>
            </a:xfrm>
            <a:prstGeom prst="rect">
              <a:avLst/>
            </a:prstGeom>
            <a:noFill/>
          </p:spPr>
          <p:txBody>
            <a:bodyPr wrap="square" lIns="45720" rIns="45720" tIns="27432" bIns="27432" anchor="t">
              <a:noAutofit/>
            </a:bodyPr>
            <a:lstStyle/>
            <a:p>
              <a:pPr algn="ctr"/>
              <a:r>
                <a:rPr sz="1100" b="0" i="1">
                  <a:solidFill>
                    <a:srgbClr val="1A1A1A"/>
                  </a:solidFill>
                  <a:latin typeface="Arial"/>
                </a:rPr>
                <a:t>T2D / prediabetes</a:t>
              </a:r>
            </a:p>
          </p:txBody>
        </p:sp>
        <p:sp>
          <p:nvSpPr>
            <p:cNvPr id="62" name="ig:stat"/>
            <p:cNvSpPr/>
            <p:nvPr/>
          </p:nvSpPr>
          <p:spPr>
            <a:xfrm>
              <a:off x="128016" y="5181674"/>
              <a:ext cx="1806448" cy="315544"/>
            </a:xfrm>
            <a:prstGeom prst="roundRect">
              <a:avLst>
                <a:gd name="adj" fmla="val 8693"/>
              </a:avLst>
            </a:prstGeom>
            <a:solidFill>
              <a:srgbClr val="C9D5E3"/>
            </a:solidFill>
            <a:ln w="6350">
              <a:solidFill>
                <a:srgbClr val="BFBFBF"/>
              </a:solidFill>
            </a:ln>
          </p:spPr>
          <p:txBody>
            <a:bodyPr rtlCol="0" anchor="ctr" wrap="square" lIns="45720" rIns="45720" tIns="27432" bIns="27432">
              <a:noAutofit/>
            </a:bodyPr>
            <a:lstStyle/>
            <a:p>
              <a:pPr algn="ctr"/>
              <a:r>
                <a:rPr sz="1540" b="1" i="0">
                  <a:solidFill>
                    <a:srgbClr val="1A1A1A"/>
                  </a:solidFill>
                  <a:latin typeface="Arial"/>
                </a:rPr>
                <a:t>483,840</a:t>
              </a:r>
            </a:p>
          </p:txBody>
        </p:sp>
        <p:sp>
          <p:nvSpPr>
            <p:cNvPr id="63" name="TextBox 62"/>
            <p:cNvSpPr txBox="1"/>
            <p:nvPr/>
          </p:nvSpPr>
          <p:spPr>
            <a:xfrm>
              <a:off x="128016" y="5524650"/>
              <a:ext cx="1806448" cy="408319"/>
            </a:xfrm>
            <a:prstGeom prst="rect">
              <a:avLst/>
            </a:prstGeom>
            <a:noFill/>
          </p:spPr>
          <p:txBody>
            <a:bodyPr wrap="square" lIns="45720" rIns="45720" tIns="27432" bIns="27432" anchor="t">
              <a:noAutofit/>
            </a:bodyPr>
            <a:lstStyle/>
            <a:p>
              <a:pPr algn="ctr"/>
              <a:r>
                <a:rPr sz="1100" b="0" i="1">
                  <a:solidFill>
                    <a:srgbClr val="1A1A1A"/>
                  </a:solidFill>
                  <a:latin typeface="Arial"/>
                </a:rPr>
                <a:t>5-min readings</a:t>
              </a:r>
            </a:p>
          </p:txBody>
        </p:sp>
        <p:sp>
          <p:nvSpPr>
            <p:cNvPr id="64" name="ig:stat"/>
            <p:cNvSpPr/>
            <p:nvPr/>
          </p:nvSpPr>
          <p:spPr>
            <a:xfrm>
              <a:off x="1989328" y="5181674"/>
              <a:ext cx="1806448" cy="315544"/>
            </a:xfrm>
            <a:prstGeom prst="roundRect">
              <a:avLst>
                <a:gd name="adj" fmla="val 8693"/>
              </a:avLst>
            </a:prstGeom>
            <a:solidFill>
              <a:srgbClr val="C9D5E3"/>
            </a:solidFill>
            <a:ln w="6350">
              <a:solidFill>
                <a:srgbClr val="BFBFBF"/>
              </a:solidFill>
            </a:ln>
          </p:spPr>
          <p:txBody>
            <a:bodyPr rtlCol="0" anchor="ctr" wrap="square" lIns="45720" rIns="45720" tIns="27432" bIns="27432">
              <a:noAutofit/>
            </a:bodyPr>
            <a:lstStyle/>
            <a:p>
              <a:pPr algn="ctr"/>
              <a:r>
                <a:rPr sz="1540" b="1" i="0">
                  <a:solidFill>
                    <a:srgbClr val="1A1A1A"/>
                  </a:solidFill>
                  <a:latin typeface="Arial"/>
                </a:rPr>
                <a:t>5,200</a:t>
              </a:r>
            </a:p>
          </p:txBody>
        </p:sp>
        <p:sp>
          <p:nvSpPr>
            <p:cNvPr id="65" name="TextBox 64"/>
            <p:cNvSpPr txBox="1"/>
            <p:nvPr/>
          </p:nvSpPr>
          <p:spPr>
            <a:xfrm>
              <a:off x="1989328" y="5524650"/>
              <a:ext cx="1806448" cy="408319"/>
            </a:xfrm>
            <a:prstGeom prst="rect">
              <a:avLst/>
            </a:prstGeom>
            <a:noFill/>
          </p:spPr>
          <p:txBody>
            <a:bodyPr wrap="square" lIns="45720" rIns="45720" tIns="27432" bIns="27432" anchor="t">
              <a:noAutofit/>
            </a:bodyPr>
            <a:lstStyle/>
            <a:p>
              <a:pPr algn="ctr"/>
              <a:r>
                <a:rPr sz="1100" b="0" i="1">
                  <a:solidFill>
                    <a:srgbClr val="1A1A1A"/>
                  </a:solidFill>
                  <a:latin typeface="Arial"/>
                </a:rPr>
                <a:t>meals logged</a:t>
              </a:r>
            </a:p>
          </p:txBody>
        </p:sp>
        <p:sp>
          <p:nvSpPr>
            <p:cNvPr id="66" name="ig:stat"/>
            <p:cNvSpPr/>
            <p:nvPr/>
          </p:nvSpPr>
          <p:spPr>
            <a:xfrm>
              <a:off x="128016" y="5996977"/>
              <a:ext cx="1806448" cy="315544"/>
            </a:xfrm>
            <a:prstGeom prst="roundRect">
              <a:avLst>
                <a:gd name="adj" fmla="val 8693"/>
              </a:avLst>
            </a:prstGeom>
            <a:solidFill>
              <a:srgbClr val="C9D5E3"/>
            </a:solidFill>
            <a:ln w="6350">
              <a:solidFill>
                <a:srgbClr val="BFBFBF"/>
              </a:solidFill>
            </a:ln>
          </p:spPr>
          <p:txBody>
            <a:bodyPr rtlCol="0" anchor="ctr" wrap="square" lIns="45720" rIns="45720" tIns="27432" bIns="27432">
              <a:noAutofit/>
            </a:bodyPr>
            <a:lstStyle/>
            <a:p>
              <a:pPr algn="ctr"/>
              <a:r>
                <a:rPr sz="1540" b="1" i="0">
                  <a:solidFill>
                    <a:srgbClr val="1A1A1A"/>
                  </a:solidFill>
                  <a:latin typeface="Arial"/>
                </a:rPr>
                <a:t>51/30/24/15</a:t>
              </a:r>
            </a:p>
          </p:txBody>
        </p:sp>
        <p:sp>
          <p:nvSpPr>
            <p:cNvPr id="67" name="TextBox 66"/>
            <p:cNvSpPr txBox="1"/>
            <p:nvPr/>
          </p:nvSpPr>
          <p:spPr>
            <a:xfrm>
              <a:off x="128016" y="6339953"/>
              <a:ext cx="1806448" cy="408319"/>
            </a:xfrm>
            <a:prstGeom prst="rect">
              <a:avLst/>
            </a:prstGeom>
            <a:noFill/>
          </p:spPr>
          <p:txBody>
            <a:bodyPr wrap="square" lIns="45720" rIns="45720" tIns="27432" bIns="27432" anchor="t">
              <a:noAutofit/>
            </a:bodyPr>
            <a:lstStyle/>
            <a:p>
              <a:pPr algn="ctr"/>
              <a:r>
                <a:rPr sz="1100" b="0" i="1">
                  <a:solidFill>
                    <a:srgbClr val="1A1A1A"/>
                  </a:solidFill>
                  <a:latin typeface="Arial"/>
                </a:rPr>
                <a:t>S / W / N / E India</a:t>
              </a:r>
            </a:p>
          </p:txBody>
        </p:sp>
        <p:sp>
          <p:nvSpPr>
            <p:cNvPr id="68" name="ig:stat"/>
            <p:cNvSpPr/>
            <p:nvPr/>
          </p:nvSpPr>
          <p:spPr>
            <a:xfrm>
              <a:off x="1989328" y="5996977"/>
              <a:ext cx="1806448" cy="315544"/>
            </a:xfrm>
            <a:prstGeom prst="roundRect">
              <a:avLst>
                <a:gd name="adj" fmla="val 8693"/>
              </a:avLst>
            </a:prstGeom>
            <a:solidFill>
              <a:srgbClr val="C9D5E3"/>
            </a:solidFill>
            <a:ln w="6350">
              <a:solidFill>
                <a:srgbClr val="BFBFBF"/>
              </a:solidFill>
            </a:ln>
          </p:spPr>
          <p:txBody>
            <a:bodyPr rtlCol="0" anchor="ctr" wrap="square" lIns="45720" rIns="45720" tIns="27432" bIns="27432">
              <a:noAutofit/>
            </a:bodyPr>
            <a:lstStyle/>
            <a:p>
              <a:pPr algn="ctr"/>
              <a:r>
                <a:rPr sz="1540" b="1" i="0">
                  <a:solidFill>
                    <a:srgbClr val="1A1A1A"/>
                  </a:solidFill>
                  <a:latin typeface="Arial"/>
                </a:rPr>
                <a:t>6.3 to 7.7</a:t>
              </a:r>
            </a:p>
          </p:txBody>
        </p:sp>
        <p:sp>
          <p:nvSpPr>
            <p:cNvPr id="69" name="TextBox 68"/>
            <p:cNvSpPr txBox="1"/>
            <p:nvPr/>
          </p:nvSpPr>
          <p:spPr>
            <a:xfrm>
              <a:off x="1989328" y="6339953"/>
              <a:ext cx="1806448" cy="408319"/>
            </a:xfrm>
            <a:prstGeom prst="rect">
              <a:avLst/>
            </a:prstGeom>
            <a:noFill/>
          </p:spPr>
          <p:txBody>
            <a:bodyPr wrap="square" lIns="45720" rIns="45720" tIns="27432" bIns="27432" anchor="t">
              <a:noAutofit/>
            </a:bodyPr>
            <a:lstStyle/>
            <a:p>
              <a:pPr algn="ctr"/>
              <a:r>
                <a:rPr sz="1100" b="0" i="1">
                  <a:solidFill>
                    <a:srgbClr val="1A1A1A"/>
                  </a:solidFill>
                  <a:latin typeface="Arial"/>
                </a:rPr>
                <a:t>HbA1c IQR, %</a:t>
              </a:r>
            </a:p>
          </p:txBody>
        </p:sp>
      </p:grpSp>
      <p:grpSp>
        <p:nvGrpSpPr>
          <p:cNvPr id="70" name="Group 69"/>
          <p:cNvGrpSpPr/>
          <p:nvPr/>
        </p:nvGrpSpPr>
        <p:grpSpPr>
          <a:xfrm>
            <a:off x="3923792" y="4055476"/>
            <a:ext cx="4532986" cy="2747660"/>
            <a:chOff x="3923792" y="4055476"/>
            <a:chExt cx="4532986" cy="2747660"/>
          </a:xfrm>
        </p:grpSpPr>
        <p:sp>
          <p:nvSpPr>
            <p:cNvPr id="71" name="frame:How the synthetic wo"/>
            <p:cNvSpPr/>
            <p:nvPr/>
          </p:nvSpPr>
          <p:spPr>
            <a:xfrm>
              <a:off x="3923792" y="4192636"/>
              <a:ext cx="4532986" cy="2610500"/>
            </a:xfrm>
            <a:prstGeom prst="roundRect">
              <a:avLst>
                <a:gd name="adj" fmla="val 1751"/>
              </a:avLst>
            </a:prstGeom>
            <a:solidFill>
              <a:srgbClr val="F1F4F8"/>
            </a:solidFill>
            <a:ln w="15875">
              <a:solidFill>
                <a:srgbClr val="466E9E"/>
              </a:solidFill>
              <a:prstDash val="sysDot"/>
            </a:ln>
          </p:spPr>
          <p:txBody>
            <a:bodyPr rtlCol="0" anchor="ctr"/>
            <a:lstStyle/>
            <a:p/>
          </p:txBody>
        </p:sp>
        <p:sp>
          <p:nvSpPr>
            <p:cNvPr id="72" name="Rounded Rectangle 71"/>
            <p:cNvSpPr/>
            <p:nvPr/>
          </p:nvSpPr>
          <p:spPr>
            <a:xfrm>
              <a:off x="3923792" y="4055476"/>
              <a:ext cx="2874720" cy="274320"/>
            </a:xfrm>
            <a:prstGeom prst="roundRect">
              <a:avLst>
                <a:gd name="adj" fmla="val 13333"/>
              </a:avLst>
            </a:prstGeom>
            <a:solidFill>
              <a:srgbClr val="1D4E89"/>
            </a:solidFill>
            <a:ln>
              <a:noFill/>
            </a:ln>
          </p:spPr>
          <p:txBody>
            <a:bodyPr rtlCol="0" anchor="ctr"/>
            <a:lstStyle/>
            <a:p/>
          </p:txBody>
        </p:sp>
        <p:pic>
          <p:nvPicPr>
            <p:cNvPr id="73" name="Picture 72" descr="ic_fa6_FaGears_FFFFFF.png"/>
            <p:cNvPicPr>
              <a:picLocks noChangeAspect="1"/>
            </p:cNvPicPr>
            <p:nvPr/>
          </p:nvPicPr>
          <p:blipFill>
            <a:blip r:embed="rId10"/>
            <a:stretch>
              <a:fillRect/>
            </a:stretch>
          </p:blipFill>
          <p:spPr>
            <a:xfrm>
              <a:off x="3978656" y="4092052"/>
              <a:ext cx="201168" cy="201168"/>
            </a:xfrm>
            <a:prstGeom prst="rect">
              <a:avLst/>
            </a:prstGeom>
          </p:spPr>
        </p:pic>
        <p:sp>
          <p:nvSpPr>
            <p:cNvPr id="74" name="TextBox 73"/>
            <p:cNvSpPr txBox="1"/>
            <p:nvPr/>
          </p:nvSpPr>
          <p:spPr>
            <a:xfrm>
              <a:off x="4225544" y="4055476"/>
              <a:ext cx="2545536" cy="274320"/>
            </a:xfrm>
            <a:prstGeom prst="rect">
              <a:avLst/>
            </a:prstGeom>
            <a:noFill/>
          </p:spPr>
          <p:txBody>
            <a:bodyPr wrap="square" lIns="9144" rIns="9144" tIns="9144" bIns="9144" anchor="ctr">
              <a:noAutofit/>
            </a:bodyPr>
            <a:lstStyle/>
            <a:p>
              <a:pPr algn="l"/>
              <a:r>
                <a:rPr sz="1200" b="1" i="0">
                  <a:solidFill>
                    <a:srgbClr val="FFFFFF"/>
                  </a:solidFill>
                  <a:latin typeface="Arial"/>
                </a:rPr>
                <a:t>How the synthetic world is made</a:t>
              </a:r>
            </a:p>
          </p:txBody>
        </p:sp>
        <p:sp>
          <p:nvSpPr>
            <p:cNvPr id="75" name="ig:flow"/>
            <p:cNvSpPr/>
            <p:nvPr/>
          </p:nvSpPr>
          <p:spPr>
            <a:xfrm>
              <a:off x="3978656" y="4366372"/>
              <a:ext cx="4423258" cy="506321"/>
            </a:xfrm>
            <a:prstGeom prst="roundRect">
              <a:avLst>
                <a:gd name="adj" fmla="val 9029"/>
              </a:avLst>
            </a:prstGeom>
            <a:solidFill>
              <a:srgbClr val="FFFFFF"/>
            </a:solidFill>
            <a:ln w="9525">
              <a:solidFill>
                <a:srgbClr val="466E9E"/>
              </a:solidFill>
              <a:prstDash val="sysDot"/>
            </a:ln>
          </p:spPr>
          <p:txBody>
            <a:bodyPr rtlCol="0" anchor="ctr"/>
            <a:lstStyle/>
            <a:p/>
          </p:txBody>
        </p:sp>
        <p:pic>
          <p:nvPicPr>
            <p:cNvPr id="76" name="Picture 75" descr="ic_fa6_FaDna_1A1A1A.png"/>
            <p:cNvPicPr>
              <a:picLocks noChangeAspect="1"/>
            </p:cNvPicPr>
            <p:nvPr/>
          </p:nvPicPr>
          <p:blipFill>
            <a:blip r:embed="rId11"/>
            <a:stretch>
              <a:fillRect/>
            </a:stretch>
          </p:blipFill>
          <p:spPr>
            <a:xfrm>
              <a:off x="4024376" y="4462573"/>
              <a:ext cx="313919" cy="313919"/>
            </a:xfrm>
            <a:prstGeom prst="rect">
              <a:avLst/>
            </a:prstGeom>
          </p:spPr>
        </p:pic>
        <p:sp>
          <p:nvSpPr>
            <p:cNvPr id="77" name="TextBox 76"/>
            <p:cNvSpPr txBox="1"/>
            <p:nvPr/>
          </p:nvSpPr>
          <p:spPr>
            <a:xfrm>
              <a:off x="4356583" y="4366372"/>
              <a:ext cx="4027043" cy="506321"/>
            </a:xfrm>
            <a:prstGeom prst="rect">
              <a:avLst/>
            </a:prstGeom>
            <a:noFill/>
          </p:spPr>
          <p:txBody>
            <a:bodyPr wrap="square" lIns="36576" rIns="36576" tIns="27432" bIns="27432" anchor="ctr">
              <a:noAutofit/>
            </a:bodyPr>
            <a:lstStyle/>
            <a:p>
              <a:pPr algn="l"/>
              <a:r>
                <a:rPr sz="1200" b="1" i="0">
                  <a:solidFill>
                    <a:srgbClr val="1A1A1A"/>
                  </a:solidFill>
                  <a:latin typeface="Arial"/>
                </a:rPr>
                <a:t>Hidden physiology</a:t>
              </a:r>
              <a:r>
                <a:rPr sz="1200" b="0" i="0">
                  <a:solidFill>
                    <a:srgbClr val="1A1A1A"/>
                  </a:solidFill>
                  <a:latin typeface="Arial"/>
                </a:rPr>
                <a:t> tied to EHR: BMI, genotype, meds</a:t>
              </a:r>
            </a:p>
          </p:txBody>
        </p:sp>
        <p:sp>
          <p:nvSpPr>
            <p:cNvPr id="78" name="Rounded Rectangle 77"/>
            <p:cNvSpPr/>
            <p:nvPr/>
          </p:nvSpPr>
          <p:spPr>
            <a:xfrm>
              <a:off x="3978656" y="4991565"/>
              <a:ext cx="4423258" cy="506321"/>
            </a:xfrm>
            <a:prstGeom prst="roundRect">
              <a:avLst>
                <a:gd name="adj" fmla="val 9029"/>
              </a:avLst>
            </a:prstGeom>
            <a:solidFill>
              <a:srgbClr val="FFFFFF"/>
            </a:solidFill>
            <a:ln w="9525">
              <a:solidFill>
                <a:srgbClr val="466E9E"/>
              </a:solidFill>
              <a:prstDash val="sysDot"/>
            </a:ln>
          </p:spPr>
          <p:txBody>
            <a:bodyPr rtlCol="0" anchor="ctr"/>
            <a:lstStyle/>
            <a:p/>
          </p:txBody>
        </p:sp>
        <p:pic>
          <p:nvPicPr>
            <p:cNvPr id="79" name="Picture 78" descr="ic_fa6_FaCalendarDays_1A1A1A.png"/>
            <p:cNvPicPr>
              <a:picLocks noChangeAspect="1"/>
            </p:cNvPicPr>
            <p:nvPr/>
          </p:nvPicPr>
          <p:blipFill>
            <a:blip r:embed="rId12"/>
            <a:stretch>
              <a:fillRect/>
            </a:stretch>
          </p:blipFill>
          <p:spPr>
            <a:xfrm>
              <a:off x="4024376" y="5087766"/>
              <a:ext cx="313919" cy="313919"/>
            </a:xfrm>
            <a:prstGeom prst="rect">
              <a:avLst/>
            </a:prstGeom>
          </p:spPr>
        </p:pic>
        <p:sp>
          <p:nvSpPr>
            <p:cNvPr id="80" name="TextBox 79"/>
            <p:cNvSpPr txBox="1"/>
            <p:nvPr/>
          </p:nvSpPr>
          <p:spPr>
            <a:xfrm>
              <a:off x="4356583" y="4991565"/>
              <a:ext cx="4027043" cy="506321"/>
            </a:xfrm>
            <a:prstGeom prst="rect">
              <a:avLst/>
            </a:prstGeom>
            <a:noFill/>
          </p:spPr>
          <p:txBody>
            <a:bodyPr wrap="square" lIns="36576" rIns="36576" tIns="27432" bIns="27432" anchor="ctr">
              <a:noAutofit/>
            </a:bodyPr>
            <a:lstStyle/>
            <a:p>
              <a:pPr algn="l"/>
              <a:r>
                <a:rPr sz="1200" b="1" i="0">
                  <a:solidFill>
                    <a:srgbClr val="1A1A1A"/>
                  </a:solidFill>
                  <a:latin typeface="Arial"/>
                </a:rPr>
                <a:t>Daily life</a:t>
              </a:r>
              <a:r>
                <a:rPr sz="1200" b="0" i="0">
                  <a:solidFill>
                    <a:srgbClr val="1A1A1A"/>
                  </a:solidFill>
                  <a:latin typeface="Arial"/>
                </a:rPr>
                <a:t>: regional meals, walks, sleep, stress, festivals</a:t>
              </a:r>
            </a:p>
          </p:txBody>
        </p:sp>
        <p:sp>
          <p:nvSpPr>
            <p:cNvPr id="81" name="Rounded Rectangle 80"/>
            <p:cNvSpPr/>
            <p:nvPr/>
          </p:nvSpPr>
          <p:spPr>
            <a:xfrm>
              <a:off x="3978656" y="5616758"/>
              <a:ext cx="4423258" cy="506321"/>
            </a:xfrm>
            <a:prstGeom prst="roundRect">
              <a:avLst>
                <a:gd name="adj" fmla="val 9029"/>
              </a:avLst>
            </a:prstGeom>
            <a:solidFill>
              <a:srgbClr val="FFFFFF"/>
            </a:solidFill>
            <a:ln w="9525">
              <a:solidFill>
                <a:srgbClr val="466E9E"/>
              </a:solidFill>
              <a:prstDash val="sysDot"/>
            </a:ln>
          </p:spPr>
          <p:txBody>
            <a:bodyPr rtlCol="0" anchor="ctr"/>
            <a:lstStyle/>
            <a:p/>
          </p:txBody>
        </p:sp>
        <p:pic>
          <p:nvPicPr>
            <p:cNvPr id="82" name="Picture 81" descr="ic_fa6_FaWaveSquare_1A1A1A.png"/>
            <p:cNvPicPr>
              <a:picLocks noChangeAspect="1"/>
            </p:cNvPicPr>
            <p:nvPr/>
          </p:nvPicPr>
          <p:blipFill>
            <a:blip r:embed="rId13"/>
            <a:stretch>
              <a:fillRect/>
            </a:stretch>
          </p:blipFill>
          <p:spPr>
            <a:xfrm>
              <a:off x="4024376" y="5712959"/>
              <a:ext cx="313919" cy="313919"/>
            </a:xfrm>
            <a:prstGeom prst="rect">
              <a:avLst/>
            </a:prstGeom>
          </p:spPr>
        </p:pic>
        <p:sp>
          <p:nvSpPr>
            <p:cNvPr id="83" name="TextBox 82"/>
            <p:cNvSpPr txBox="1"/>
            <p:nvPr/>
          </p:nvSpPr>
          <p:spPr>
            <a:xfrm>
              <a:off x="4356583" y="5616758"/>
              <a:ext cx="4027043" cy="506321"/>
            </a:xfrm>
            <a:prstGeom prst="rect">
              <a:avLst/>
            </a:prstGeom>
            <a:noFill/>
          </p:spPr>
          <p:txBody>
            <a:bodyPr wrap="square" lIns="36576" rIns="36576" tIns="27432" bIns="27432" anchor="ctr">
              <a:noAutofit/>
            </a:bodyPr>
            <a:lstStyle/>
            <a:p>
              <a:pPr algn="l"/>
              <a:r>
                <a:rPr sz="1200" b="1" i="0">
                  <a:solidFill>
                    <a:srgbClr val="1A1A1A"/>
                  </a:solidFill>
                  <a:latin typeface="Arial"/>
                </a:rPr>
                <a:t>1-minute simulation</a:t>
              </a:r>
              <a:r>
                <a:rPr sz="1200" b="0" i="0">
                  <a:solidFill>
                    <a:srgbClr val="1A1A1A"/>
                  </a:solidFill>
                  <a:latin typeface="Arial"/>
                </a:rPr>
                <a:t> of glucose and insulin</a:t>
              </a:r>
            </a:p>
          </p:txBody>
        </p:sp>
        <p:sp>
          <p:nvSpPr>
            <p:cNvPr id="84" name="Rounded Rectangle 83"/>
            <p:cNvSpPr/>
            <p:nvPr/>
          </p:nvSpPr>
          <p:spPr>
            <a:xfrm>
              <a:off x="3978656" y="6241951"/>
              <a:ext cx="4423258" cy="506321"/>
            </a:xfrm>
            <a:prstGeom prst="roundRect">
              <a:avLst>
                <a:gd name="adj" fmla="val 9029"/>
              </a:avLst>
            </a:prstGeom>
            <a:solidFill>
              <a:srgbClr val="FFFFFF"/>
            </a:solidFill>
            <a:ln w="9525">
              <a:solidFill>
                <a:srgbClr val="466E9E"/>
              </a:solidFill>
              <a:prstDash val="sysDot"/>
            </a:ln>
          </p:spPr>
          <p:txBody>
            <a:bodyPr rtlCol="0" anchor="ctr"/>
            <a:lstStyle/>
            <a:p/>
          </p:txBody>
        </p:sp>
        <p:pic>
          <p:nvPicPr>
            <p:cNvPr id="85" name="Picture 84" descr="ic_fa6_FaMicrochip_1A1A1A.png"/>
            <p:cNvPicPr>
              <a:picLocks noChangeAspect="1"/>
            </p:cNvPicPr>
            <p:nvPr/>
          </p:nvPicPr>
          <p:blipFill>
            <a:blip r:embed="rId14"/>
            <a:stretch>
              <a:fillRect/>
            </a:stretch>
          </p:blipFill>
          <p:spPr>
            <a:xfrm>
              <a:off x="4024376" y="6338152"/>
              <a:ext cx="313919" cy="313919"/>
            </a:xfrm>
            <a:prstGeom prst="rect">
              <a:avLst/>
            </a:prstGeom>
          </p:spPr>
        </p:pic>
        <p:sp>
          <p:nvSpPr>
            <p:cNvPr id="86" name="TextBox 85"/>
            <p:cNvSpPr txBox="1"/>
            <p:nvPr/>
          </p:nvSpPr>
          <p:spPr>
            <a:xfrm>
              <a:off x="4356583" y="6241951"/>
              <a:ext cx="4027043" cy="506321"/>
            </a:xfrm>
            <a:prstGeom prst="rect">
              <a:avLst/>
            </a:prstGeom>
            <a:noFill/>
          </p:spPr>
          <p:txBody>
            <a:bodyPr wrap="square" lIns="36576" rIns="36576" tIns="27432" bIns="27432" anchor="ctr">
              <a:noAutofit/>
            </a:bodyPr>
            <a:lstStyle/>
            <a:p>
              <a:pPr algn="l"/>
              <a:r>
                <a:rPr sz="1200" b="1" i="0">
                  <a:solidFill>
                    <a:srgbClr val="1A1A1A"/>
                  </a:solidFill>
                  <a:latin typeface="Arial"/>
                </a:rPr>
                <a:t>Sensor model</a:t>
              </a:r>
              <a:r>
                <a:rPr sz="1200" b="0" i="0">
                  <a:solidFill>
                    <a:srgbClr val="1A1A1A"/>
                  </a:solidFill>
                  <a:latin typeface="Arial"/>
                </a:rPr>
                <a:t>: lag, noise, dropouts, logging errors</a:t>
              </a:r>
            </a:p>
          </p:txBody>
        </p:sp>
        <p:cxnSp>
          <p:nvCxnSpPr>
            <p:cNvPr id="87" name="Connector 86"/>
            <p:cNvCxnSpPr>
              <a:stCxn id="75" idx="2"/>
              <a:endCxn id="78" idx="0"/>
            </p:cNvCxnSpPr>
            <p:nvPr/>
          </p:nvCxnSpPr>
          <p:spPr>
            <a:xfrm>
              <a:off x="6190285" y="4872693"/>
              <a:ext cx="0" cy="118872"/>
            </a:xfrm>
            <a:prstGeom prst="line">
              <a:avLst/>
            </a:prstGeom>
            <a:ln w="19050">
              <a:solidFill>
                <a:srgbClr val="1D4E8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8" name="Connector 87"/>
            <p:cNvCxnSpPr>
              <a:stCxn id="78" idx="2"/>
              <a:endCxn id="81" idx="0"/>
            </p:cNvCxnSpPr>
            <p:nvPr/>
          </p:nvCxnSpPr>
          <p:spPr>
            <a:xfrm>
              <a:off x="6190285" y="5497886"/>
              <a:ext cx="0" cy="118872"/>
            </a:xfrm>
            <a:prstGeom prst="line">
              <a:avLst/>
            </a:prstGeom>
            <a:ln w="19050">
              <a:solidFill>
                <a:srgbClr val="1D4E8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9" name="Connector 88"/>
            <p:cNvCxnSpPr>
              <a:stCxn id="81" idx="2"/>
              <a:endCxn id="84" idx="0"/>
            </p:cNvCxnSpPr>
            <p:nvPr/>
          </p:nvCxnSpPr>
          <p:spPr>
            <a:xfrm>
              <a:off x="6190285" y="6123079"/>
              <a:ext cx="0" cy="118872"/>
            </a:xfrm>
            <a:prstGeom prst="line">
              <a:avLst/>
            </a:prstGeom>
            <a:ln w="19050">
              <a:solidFill>
                <a:srgbClr val="1D4E89"/>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90" name="Group 89"/>
          <p:cNvGrpSpPr/>
          <p:nvPr/>
        </p:nvGrpSpPr>
        <p:grpSpPr>
          <a:xfrm>
            <a:off x="8529930" y="4055476"/>
            <a:ext cx="3588614" cy="2747660"/>
            <a:chOff x="8529930" y="4055476"/>
            <a:chExt cx="3588614" cy="2747660"/>
          </a:xfrm>
        </p:grpSpPr>
        <p:sp>
          <p:nvSpPr>
            <p:cNvPr id="91" name="frame:Indian meal library "/>
            <p:cNvSpPr/>
            <p:nvPr/>
          </p:nvSpPr>
          <p:spPr>
            <a:xfrm>
              <a:off x="8529930" y="4192636"/>
              <a:ext cx="3588614" cy="2610500"/>
            </a:xfrm>
            <a:prstGeom prst="roundRect">
              <a:avLst>
                <a:gd name="adj" fmla="val 1751"/>
              </a:avLst>
            </a:prstGeom>
            <a:solidFill>
              <a:srgbClr val="F1F4F8"/>
            </a:solidFill>
            <a:ln w="15875">
              <a:solidFill>
                <a:srgbClr val="466E9E"/>
              </a:solidFill>
              <a:prstDash val="sysDot"/>
            </a:ln>
          </p:spPr>
          <p:txBody>
            <a:bodyPr rtlCol="0" anchor="ctr"/>
            <a:lstStyle/>
            <a:p/>
          </p:txBody>
        </p:sp>
        <p:sp>
          <p:nvSpPr>
            <p:cNvPr id="92" name="Rounded Rectangle 91"/>
            <p:cNvSpPr/>
            <p:nvPr/>
          </p:nvSpPr>
          <p:spPr>
            <a:xfrm>
              <a:off x="8529930" y="4055476"/>
              <a:ext cx="2697238" cy="274320"/>
            </a:xfrm>
            <a:prstGeom prst="roundRect">
              <a:avLst>
                <a:gd name="adj" fmla="val 13333"/>
              </a:avLst>
            </a:prstGeom>
            <a:solidFill>
              <a:srgbClr val="1D4E89"/>
            </a:solidFill>
            <a:ln>
              <a:noFill/>
            </a:ln>
          </p:spPr>
          <p:txBody>
            <a:bodyPr rtlCol="0" anchor="ctr"/>
            <a:lstStyle/>
            <a:p/>
          </p:txBody>
        </p:sp>
        <p:pic>
          <p:nvPicPr>
            <p:cNvPr id="93" name="Picture 92" descr="ic_fa6_FaBowlFood_FFFFFF.png"/>
            <p:cNvPicPr>
              <a:picLocks noChangeAspect="1"/>
            </p:cNvPicPr>
            <p:nvPr/>
          </p:nvPicPr>
          <p:blipFill>
            <a:blip r:embed="rId15"/>
            <a:stretch>
              <a:fillRect/>
            </a:stretch>
          </p:blipFill>
          <p:spPr>
            <a:xfrm>
              <a:off x="8584794" y="4092052"/>
              <a:ext cx="201168" cy="201168"/>
            </a:xfrm>
            <a:prstGeom prst="rect">
              <a:avLst/>
            </a:prstGeom>
          </p:spPr>
        </p:pic>
        <p:sp>
          <p:nvSpPr>
            <p:cNvPr id="94" name="TextBox 93"/>
            <p:cNvSpPr txBox="1"/>
            <p:nvPr/>
          </p:nvSpPr>
          <p:spPr>
            <a:xfrm>
              <a:off x="8831682" y="4055476"/>
              <a:ext cx="2368054" cy="274320"/>
            </a:xfrm>
            <a:prstGeom prst="rect">
              <a:avLst/>
            </a:prstGeom>
            <a:noFill/>
          </p:spPr>
          <p:txBody>
            <a:bodyPr wrap="square" lIns="9144" rIns="9144" tIns="9144" bIns="9144" anchor="ctr">
              <a:noAutofit/>
            </a:bodyPr>
            <a:lstStyle/>
            <a:p>
              <a:pPr algn="l"/>
              <a:r>
                <a:rPr sz="1200" b="1" i="0">
                  <a:solidFill>
                    <a:srgbClr val="FFFFFF"/>
                  </a:solidFill>
                  <a:latin typeface="Arial"/>
                </a:rPr>
                <a:t>Indian meal library (32 dishes)</a:t>
              </a:r>
            </a:p>
          </p:txBody>
        </p:sp>
      </p:grpSp>
      <p:graphicFrame>
        <p:nvGraphicFramePr>
          <p:cNvPr id="95" name="ig:table"/>
          <p:cNvGraphicFramePr>
            <a:graphicFrameLocks noGrp="1"/>
          </p:cNvGraphicFramePr>
          <p:nvPr/>
        </p:nvGraphicFramePr>
        <p:xfrm>
          <a:off x="8584794" y="4366372"/>
          <a:ext cx="3478885" cy="2381904"/>
        </p:xfrm>
        <a:graphic>
          <a:graphicData uri="http://schemas.openxmlformats.org/drawingml/2006/table">
            <a:tbl>
              <a:tblPr firstRow="1" bandRow="1">
                <a:tableStyleId>{5940675A-B579-460E-94D1-54222C63F5DA}</a:tableStyleId>
              </a:tblPr>
              <a:tblGrid>
                <a:gridCol w="2098375"/>
                <a:gridCol w="828306"/>
                <a:gridCol w="552204"/>
              </a:tblGrid>
              <a:tr h="297738">
                <a:tc>
                  <a:txBody>
                    <a:bodyPr wrap="square" lIns="45720" rIns="45720" tIns="27432" bIns="27432" anchor="ctr">
                      <a:noAutofit/>
                    </a:bodyPr>
                    <a:lstStyle/>
                    <a:p>
                      <a:pPr algn="l"/>
                      <a:r>
                        <a:rPr sz="1000" b="1" i="0">
                          <a:solidFill>
                            <a:srgbClr val="FFFFFF"/>
                          </a:solidFill>
                          <a:latin typeface="Arial"/>
                        </a:rPr>
                        <a:t>Dish</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c>
                  <a:txBody>
                    <a:bodyPr wrap="square" lIns="45720" rIns="45720" tIns="27432" bIns="27432" anchor="ctr">
                      <a:noAutofit/>
                    </a:bodyPr>
                    <a:lstStyle/>
                    <a:p>
                      <a:pPr algn="r"/>
                      <a:r>
                        <a:rPr sz="1000" b="1" i="0">
                          <a:solidFill>
                            <a:srgbClr val="FFFFFF"/>
                          </a:solidFill>
                          <a:latin typeface="Arial"/>
                        </a:rPr>
                        <a:t>Carbs g</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c>
                  <a:txBody>
                    <a:bodyPr wrap="square" lIns="45720" rIns="45720" tIns="27432" bIns="27432" anchor="ctr">
                      <a:noAutofit/>
                    </a:bodyPr>
                    <a:lstStyle/>
                    <a:p>
                      <a:pPr algn="r"/>
                      <a:r>
                        <a:rPr sz="1000" b="1" i="0">
                          <a:solidFill>
                            <a:srgbClr val="FFFFFF"/>
                          </a:solidFill>
                          <a:latin typeface="Arial"/>
                        </a:rPr>
                        <a:t>GI</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r>
              <a:tr h="297738">
                <a:tc>
                  <a:txBody>
                    <a:bodyPr wrap="square" lIns="45720" rIns="45720" tIns="27432" bIns="27432" anchor="ctr">
                      <a:noAutofit/>
                    </a:bodyPr>
                    <a:lstStyle/>
                    <a:p>
                      <a:pPr algn="l"/>
                      <a:r>
                        <a:rPr sz="1000" b="1" i="0">
                          <a:solidFill>
                            <a:srgbClr val="1A1A1A"/>
                          </a:solidFill>
                          <a:latin typeface="Arial"/>
                        </a:rPr>
                        <a:t>Rice, sambar, poriyal</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90</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75</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297738">
                <a:tc>
                  <a:txBody>
                    <a:bodyPr wrap="square" lIns="45720" rIns="45720" tIns="27432" bIns="27432" anchor="ctr">
                      <a:noAutofit/>
                    </a:bodyPr>
                    <a:lstStyle/>
                    <a:p>
                      <a:pPr algn="l"/>
                      <a:r>
                        <a:rPr sz="1000" b="1" i="0">
                          <a:solidFill>
                            <a:srgbClr val="1A1A1A"/>
                          </a:solidFill>
                          <a:latin typeface="Arial"/>
                        </a:rPr>
                        <a:t>Gujarati thali</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95</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68</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297738">
                <a:tc>
                  <a:txBody>
                    <a:bodyPr wrap="square" lIns="45720" rIns="45720" tIns="27432" bIns="27432" anchor="ctr">
                      <a:noAutofit/>
                    </a:bodyPr>
                    <a:lstStyle/>
                    <a:p>
                      <a:pPr algn="l"/>
                      <a:r>
                        <a:rPr sz="1000" b="1" i="0">
                          <a:solidFill>
                            <a:srgbClr val="1A1A1A"/>
                          </a:solidFill>
                          <a:latin typeface="Arial"/>
                        </a:rPr>
                        <a:t>Idli (4), sambar</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60</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70</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297738">
                <a:tc>
                  <a:txBody>
                    <a:bodyPr wrap="square" lIns="45720" rIns="45720" tIns="27432" bIns="27432" anchor="ctr">
                      <a:noAutofit/>
                    </a:bodyPr>
                    <a:lstStyle/>
                    <a:p>
                      <a:pPr algn="l"/>
                      <a:r>
                        <a:rPr sz="1000" b="1" i="0">
                          <a:solidFill>
                            <a:srgbClr val="1A1A1A"/>
                          </a:solidFill>
                          <a:latin typeface="Arial"/>
                        </a:rPr>
                        <a:t>Chapati (3), dal</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65</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55</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297738">
                <a:tc>
                  <a:txBody>
                    <a:bodyPr wrap="square" lIns="45720" rIns="45720" tIns="27432" bIns="27432" anchor="ctr">
                      <a:noAutofit/>
                    </a:bodyPr>
                    <a:lstStyle/>
                    <a:p>
                      <a:pPr algn="l"/>
                      <a:r>
                        <a:rPr sz="1000" b="1" i="0">
                          <a:solidFill>
                            <a:srgbClr val="1A1A1A"/>
                          </a:solidFill>
                          <a:latin typeface="Arial"/>
                        </a:rPr>
                        <a:t>Bajra roti, dal</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55</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48</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297738">
                <a:tc>
                  <a:txBody>
                    <a:bodyPr wrap="square" lIns="45720" rIns="45720" tIns="27432" bIns="27432" anchor="ctr">
                      <a:noAutofit/>
                    </a:bodyPr>
                    <a:lstStyle/>
                    <a:p>
                      <a:pPr algn="l"/>
                      <a:r>
                        <a:rPr sz="1000" b="1" i="0">
                          <a:solidFill>
                            <a:srgbClr val="1A1A1A"/>
                          </a:solidFill>
                          <a:latin typeface="Arial"/>
                        </a:rPr>
                        <a:t>Ragi dosa</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45</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55</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297738">
                <a:tc>
                  <a:txBody>
                    <a:bodyPr wrap="square" lIns="45720" rIns="45720" tIns="27432" bIns="27432" anchor="ctr">
                      <a:noAutofit/>
                    </a:bodyPr>
                    <a:lstStyle/>
                    <a:p>
                      <a:pPr algn="l"/>
                      <a:r>
                        <a:rPr sz="1000" b="1" i="0">
                          <a:solidFill>
                            <a:srgbClr val="1A1A1A"/>
                          </a:solidFill>
                          <a:latin typeface="Arial"/>
                        </a:rPr>
                        <a:t>Gulab jamun</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45</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85</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v:0">
            <a:hlinkClick action="ppaction://hlinksldjump" r:id="rId16"/>
          </p:cNvPr>
          <p:cNvSpPr/>
          <p:nvPr/>
        </p:nvSpPr>
        <p:spPr>
          <a:xfrm>
            <a:off x="0" y="0"/>
            <a:ext cx="1359073" cy="457200"/>
          </a:xfrm>
          <a:prstGeom prst="homePlate">
            <a:avLst>
              <a:gd name="adj" fmla="val 34000"/>
            </a:avLst>
          </a:prstGeom>
          <a:solidFill>
            <a:srgbClr val="6587AF"/>
          </a:solidFill>
          <a:ln w="12700">
            <a:solidFill>
              <a:srgbClr val="FFFFFF"/>
            </a:solidFill>
          </a:ln>
        </p:spPr>
        <p:txBody>
          <a:bodyPr rtlCol="0" anchor="ctr"/>
          <a:lstStyle/>
          <a:p/>
        </p:txBody>
      </p:sp>
      <p:sp>
        <p:nvSpPr>
          <p:cNvPr id="3" name="nav:t0">
            <a:hlinkClick action="ppaction://hlinksldjump" r:id="rId16"/>
          </p:cNvPr>
          <p:cNvSpPr txBox="1"/>
          <p:nvPr/>
        </p:nvSpPr>
        <p:spPr>
          <a:xfrm>
            <a:off x="64008" y="0"/>
            <a:ext cx="1121329" cy="457200"/>
          </a:xfrm>
          <a:prstGeom prst="rect">
            <a:avLst/>
          </a:prstGeom>
          <a:noFill/>
        </p:spPr>
        <p:txBody>
          <a:bodyPr wrap="square" lIns="9144" rIns="9144" tIns="9144" bIns="9144" anchor="ctr">
            <a:noAutofit/>
          </a:bodyPr>
          <a:lstStyle/>
          <a:p>
            <a:pPr algn="ctr"/>
            <a:r>
              <a:rPr sz="1000" b="0" i="0">
                <a:solidFill>
                  <a:srgbClr val="FFFFFF"/>
                </a:solidFill>
                <a:latin typeface="Arial"/>
              </a:rPr>
              <a:t>Executive Summary</a:t>
            </a:r>
          </a:p>
        </p:txBody>
      </p:sp>
      <p:sp>
        <p:nvSpPr>
          <p:cNvPr id="4" name="nav:1">
            <a:hlinkClick action="ppaction://hlinksldjump" r:id="rId17"/>
          </p:cNvPr>
          <p:cNvSpPr/>
          <p:nvPr/>
        </p:nvSpPr>
        <p:spPr>
          <a:xfrm>
            <a:off x="1203625"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5" name="nav:t1">
            <a:hlinkClick action="ppaction://hlinksldjump" r:id="rId17"/>
          </p:cNvPr>
          <p:cNvSpPr txBox="1"/>
          <p:nvPr/>
        </p:nvSpPr>
        <p:spPr>
          <a:xfrm>
            <a:off x="1386505"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Problem</a:t>
            </a:r>
          </a:p>
        </p:txBody>
      </p:sp>
      <p:sp>
        <p:nvSpPr>
          <p:cNvPr id="6" name="nav:2">
            <a:hlinkClick action="ppaction://hlinksldjump" r:id="rId18"/>
          </p:cNvPr>
          <p:cNvSpPr/>
          <p:nvPr/>
        </p:nvSpPr>
        <p:spPr>
          <a:xfrm>
            <a:off x="2407249"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7" name="nav:t2">
            <a:hlinkClick action="ppaction://hlinksldjump" r:id="rId18"/>
          </p:cNvPr>
          <p:cNvSpPr txBox="1"/>
          <p:nvPr/>
        </p:nvSpPr>
        <p:spPr>
          <a:xfrm>
            <a:off x="2590129"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Solution</a:t>
            </a:r>
          </a:p>
        </p:txBody>
      </p:sp>
      <p:sp>
        <p:nvSpPr>
          <p:cNvPr id="8" name="nav:3">
            <a:hlinkClick action="ppaction://hlinksldjump" r:id="rId19"/>
          </p:cNvPr>
          <p:cNvSpPr/>
          <p:nvPr/>
        </p:nvSpPr>
        <p:spPr>
          <a:xfrm>
            <a:off x="3610874"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9" name="nav:t3">
            <a:hlinkClick action="ppaction://hlinksldjump" r:id="rId19"/>
          </p:cNvPr>
          <p:cNvSpPr txBox="1"/>
          <p:nvPr/>
        </p:nvSpPr>
        <p:spPr>
          <a:xfrm>
            <a:off x="3793754"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Data</a:t>
            </a:r>
          </a:p>
        </p:txBody>
      </p:sp>
      <p:sp>
        <p:nvSpPr>
          <p:cNvPr id="10" name="nav:4"/>
          <p:cNvSpPr/>
          <p:nvPr/>
        </p:nvSpPr>
        <p:spPr>
          <a:xfrm>
            <a:off x="4814499" y="0"/>
            <a:ext cx="1359073" cy="457200"/>
          </a:xfrm>
          <a:prstGeom prst="chevron">
            <a:avLst>
              <a:gd name="adj" fmla="val 34000"/>
            </a:avLst>
          </a:prstGeom>
          <a:solidFill>
            <a:srgbClr val="112F52"/>
          </a:solidFill>
          <a:ln w="12700">
            <a:solidFill>
              <a:srgbClr val="FFFFFF"/>
            </a:solidFill>
          </a:ln>
        </p:spPr>
        <p:txBody>
          <a:bodyPr rtlCol="0" anchor="ctr"/>
          <a:lstStyle/>
          <a:p/>
        </p:txBody>
      </p:sp>
      <p:sp>
        <p:nvSpPr>
          <p:cNvPr id="11" name="nav:t4"/>
          <p:cNvSpPr txBox="1"/>
          <p:nvPr/>
        </p:nvSpPr>
        <p:spPr>
          <a:xfrm>
            <a:off x="4997379" y="0"/>
            <a:ext cx="1002457" cy="457200"/>
          </a:xfrm>
          <a:prstGeom prst="rect">
            <a:avLst/>
          </a:prstGeom>
          <a:noFill/>
        </p:spPr>
        <p:txBody>
          <a:bodyPr wrap="square" lIns="9144" rIns="9144" tIns="9144" bIns="9144" anchor="ctr">
            <a:noAutofit/>
          </a:bodyPr>
          <a:lstStyle/>
          <a:p>
            <a:pPr algn="ctr"/>
            <a:r>
              <a:rPr sz="1000" b="1" i="0">
                <a:solidFill>
                  <a:srgbClr val="FFFFFF"/>
                </a:solidFill>
                <a:latin typeface="Arial"/>
              </a:rPr>
              <a:t>Twin Engine</a:t>
            </a:r>
          </a:p>
        </p:txBody>
      </p:sp>
      <p:sp>
        <p:nvSpPr>
          <p:cNvPr id="12" name="nav:5">
            <a:hlinkClick action="ppaction://hlinksldjump" r:id="rId20"/>
          </p:cNvPr>
          <p:cNvSpPr/>
          <p:nvPr/>
        </p:nvSpPr>
        <p:spPr>
          <a:xfrm>
            <a:off x="6018124"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3" name="nav:t5">
            <a:hlinkClick action="ppaction://hlinksldjump" r:id="rId20"/>
          </p:cNvPr>
          <p:cNvSpPr txBox="1"/>
          <p:nvPr/>
        </p:nvSpPr>
        <p:spPr>
          <a:xfrm>
            <a:off x="6201004"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AI Model</a:t>
            </a:r>
          </a:p>
        </p:txBody>
      </p:sp>
      <p:sp>
        <p:nvSpPr>
          <p:cNvPr id="14" name="nav:6">
            <a:hlinkClick action="ppaction://hlinksldjump" r:id="rId21"/>
          </p:cNvPr>
          <p:cNvSpPr/>
          <p:nvPr/>
        </p:nvSpPr>
        <p:spPr>
          <a:xfrm>
            <a:off x="7221748"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5" name="nav:t6">
            <a:hlinkClick action="ppaction://hlinksldjump" r:id="rId21"/>
          </p:cNvPr>
          <p:cNvSpPr txBox="1"/>
          <p:nvPr/>
        </p:nvSpPr>
        <p:spPr>
          <a:xfrm>
            <a:off x="7404628"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Results</a:t>
            </a:r>
          </a:p>
        </p:txBody>
      </p:sp>
      <p:sp>
        <p:nvSpPr>
          <p:cNvPr id="16" name="nav:7">
            <a:hlinkClick action="ppaction://hlinksldjump" r:id="rId22"/>
          </p:cNvPr>
          <p:cNvSpPr/>
          <p:nvPr/>
        </p:nvSpPr>
        <p:spPr>
          <a:xfrm>
            <a:off x="8425373"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7" name="nav:t7">
            <a:hlinkClick action="ppaction://hlinksldjump" r:id="rId22"/>
          </p:cNvPr>
          <p:cNvSpPr txBox="1"/>
          <p:nvPr/>
        </p:nvSpPr>
        <p:spPr>
          <a:xfrm>
            <a:off x="8608253"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Dashboard</a:t>
            </a:r>
          </a:p>
        </p:txBody>
      </p:sp>
      <p:sp>
        <p:nvSpPr>
          <p:cNvPr id="18" name="nav:8">
            <a:hlinkClick action="ppaction://hlinksldjump" r:id="rId23"/>
          </p:cNvPr>
          <p:cNvSpPr/>
          <p:nvPr/>
        </p:nvSpPr>
        <p:spPr>
          <a:xfrm>
            <a:off x="9628998"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9" name="nav:t8">
            <a:hlinkClick action="ppaction://hlinksldjump" r:id="rId23"/>
          </p:cNvPr>
          <p:cNvSpPr txBox="1"/>
          <p:nvPr/>
        </p:nvSpPr>
        <p:spPr>
          <a:xfrm>
            <a:off x="9811878"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Impact</a:t>
            </a:r>
          </a:p>
        </p:txBody>
      </p:sp>
      <p:sp>
        <p:nvSpPr>
          <p:cNvPr id="20" name="nav:9">
            <a:hlinkClick action="ppaction://hlinksldjump" r:id="rId24"/>
          </p:cNvPr>
          <p:cNvSpPr/>
          <p:nvPr/>
        </p:nvSpPr>
        <p:spPr>
          <a:xfrm>
            <a:off x="10832622"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21" name="nav:t9">
            <a:hlinkClick action="ppaction://hlinksldjump" r:id="rId24"/>
          </p:cNvPr>
          <p:cNvSpPr txBox="1"/>
          <p:nvPr/>
        </p:nvSpPr>
        <p:spPr>
          <a:xfrm>
            <a:off x="11015502"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Roadmap &amp; Cost</a:t>
            </a:r>
          </a:p>
        </p:txBody>
      </p:sp>
      <p:sp>
        <p:nvSpPr>
          <p:cNvPr id="22" name="TextBox 21"/>
          <p:cNvSpPr txBox="1"/>
          <p:nvPr/>
        </p:nvSpPr>
        <p:spPr>
          <a:xfrm>
            <a:off x="73152" y="502920"/>
            <a:ext cx="12045391" cy="329184"/>
          </a:xfrm>
          <a:prstGeom prst="rect">
            <a:avLst/>
          </a:prstGeom>
          <a:noFill/>
        </p:spPr>
        <p:txBody>
          <a:bodyPr wrap="square" lIns="18288" rIns="18288" tIns="18288" bIns="18288" anchor="ctr">
            <a:noAutofit/>
          </a:bodyPr>
          <a:lstStyle/>
          <a:p>
            <a:pPr algn="l"/>
            <a:r>
              <a:rPr sz="1600" b="1" i="0">
                <a:solidFill>
                  <a:srgbClr val="1D4E89"/>
                </a:solidFill>
                <a:latin typeface="Arial"/>
              </a:rPr>
              <a:t>The twin starts from the EHR, learns the patient in 7 days, then tracks every CGM reading</a:t>
            </a:r>
          </a:p>
        </p:txBody>
      </p:sp>
      <p:sp>
        <p:nvSpPr>
          <p:cNvPr id="23" name="TextBox 22"/>
          <p:cNvSpPr txBox="1"/>
          <p:nvPr/>
        </p:nvSpPr>
        <p:spPr>
          <a:xfrm>
            <a:off x="73152" y="795528"/>
            <a:ext cx="12045391" cy="237744"/>
          </a:xfrm>
          <a:prstGeom prst="rect">
            <a:avLst/>
          </a:prstGeom>
          <a:noFill/>
        </p:spPr>
        <p:txBody>
          <a:bodyPr wrap="square" lIns="18288" rIns="18288" tIns="18288" bIns="18288" anchor="ctr">
            <a:noAutofit/>
          </a:bodyPr>
          <a:lstStyle/>
          <a:p>
            <a:pPr algn="l"/>
            <a:r>
              <a:rPr sz="1200" b="1" i="0">
                <a:solidFill>
                  <a:srgbClr val="4A5168"/>
                </a:solidFill>
                <a:latin typeface="Arial"/>
              </a:rPr>
              <a:t>Personal physiology is estimated, not assumed: insulin sensitivity is recovered with r = 0.92 against the hidden truth</a:t>
            </a:r>
          </a:p>
        </p:txBody>
      </p:sp>
      <p:cxnSp>
        <p:nvCxnSpPr>
          <p:cNvPr id="24" name="Connector 23"/>
          <p:cNvCxnSpPr/>
          <p:nvPr/>
        </p:nvCxnSpPr>
        <p:spPr>
          <a:xfrm>
            <a:off x="73152" y="1042416"/>
            <a:ext cx="12045391" cy="0"/>
          </a:xfrm>
          <a:prstGeom prst="line">
            <a:avLst/>
          </a:prstGeom>
          <a:ln w="19050">
            <a:solidFill>
              <a:srgbClr val="1D4E89"/>
            </a:solidFill>
          </a:ln>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73152" y="1097280"/>
            <a:ext cx="4462158" cy="2885044"/>
            <a:chOff x="73152" y="1097280"/>
            <a:chExt cx="4462158" cy="2885044"/>
          </a:xfrm>
        </p:grpSpPr>
        <p:sp>
          <p:nvSpPr>
            <p:cNvPr id="26" name="frame:Physiology core (per"/>
            <p:cNvSpPr/>
            <p:nvPr/>
          </p:nvSpPr>
          <p:spPr>
            <a:xfrm>
              <a:off x="73152" y="1234440"/>
              <a:ext cx="4462158" cy="2747884"/>
            </a:xfrm>
            <a:prstGeom prst="roundRect">
              <a:avLst>
                <a:gd name="adj" fmla="val 1663"/>
              </a:avLst>
            </a:prstGeom>
            <a:solidFill>
              <a:srgbClr val="F1F4F8"/>
            </a:solidFill>
            <a:ln w="15875">
              <a:solidFill>
                <a:srgbClr val="466E9E"/>
              </a:solidFill>
              <a:prstDash val="sysDot"/>
            </a:ln>
          </p:spPr>
          <p:txBody>
            <a:bodyPr rtlCol="0" anchor="ctr"/>
            <a:lstStyle/>
            <a:p/>
          </p:txBody>
        </p:sp>
        <p:sp>
          <p:nvSpPr>
            <p:cNvPr id="27" name="Rounded Rectangle 26"/>
            <p:cNvSpPr/>
            <p:nvPr/>
          </p:nvSpPr>
          <p:spPr>
            <a:xfrm>
              <a:off x="73152" y="1097280"/>
              <a:ext cx="2612188" cy="274320"/>
            </a:xfrm>
            <a:prstGeom prst="roundRect">
              <a:avLst>
                <a:gd name="adj" fmla="val 13333"/>
              </a:avLst>
            </a:prstGeom>
            <a:solidFill>
              <a:srgbClr val="1D4E89"/>
            </a:solidFill>
            <a:ln>
              <a:noFill/>
            </a:ln>
          </p:spPr>
          <p:txBody>
            <a:bodyPr rtlCol="0" anchor="ctr"/>
            <a:lstStyle/>
            <a:p/>
          </p:txBody>
        </p:sp>
        <p:pic>
          <p:nvPicPr>
            <p:cNvPr id="28" name="Picture 27" descr="ic_fa6_FaSquareRootVariable_FFFFFF.png"/>
            <p:cNvPicPr>
              <a:picLocks noChangeAspect="1"/>
            </p:cNvPicPr>
            <p:nvPr/>
          </p:nvPicPr>
          <p:blipFill>
            <a:blip r:embed="rId2"/>
            <a:stretch>
              <a:fillRect/>
            </a:stretch>
          </p:blipFill>
          <p:spPr>
            <a:xfrm>
              <a:off x="128016" y="1133856"/>
              <a:ext cx="201168" cy="201168"/>
            </a:xfrm>
            <a:prstGeom prst="rect">
              <a:avLst/>
            </a:prstGeom>
          </p:spPr>
        </p:pic>
        <p:sp>
          <p:nvSpPr>
            <p:cNvPr id="29" name="TextBox 28"/>
            <p:cNvSpPr txBox="1"/>
            <p:nvPr/>
          </p:nvSpPr>
          <p:spPr>
            <a:xfrm>
              <a:off x="374904" y="1097280"/>
              <a:ext cx="2283004" cy="274320"/>
            </a:xfrm>
            <a:prstGeom prst="rect">
              <a:avLst/>
            </a:prstGeom>
            <a:noFill/>
          </p:spPr>
          <p:txBody>
            <a:bodyPr wrap="square" lIns="9144" rIns="9144" tIns="9144" bIns="9144" anchor="ctr">
              <a:noAutofit/>
            </a:bodyPr>
            <a:lstStyle/>
            <a:p>
              <a:pPr algn="l"/>
              <a:r>
                <a:rPr sz="1200" b="1" i="0">
                  <a:solidFill>
                    <a:srgbClr val="FFFFFF"/>
                  </a:solidFill>
                  <a:latin typeface="Arial"/>
                </a:rPr>
                <a:t>Physiology core (per patient)</a:t>
              </a:r>
            </a:p>
          </p:txBody>
        </p:sp>
        <p:sp>
          <p:nvSpPr>
            <p:cNvPr id="30" name="Rounded Rectangle 29"/>
            <p:cNvSpPr/>
            <p:nvPr/>
          </p:nvSpPr>
          <p:spPr>
            <a:xfrm>
              <a:off x="128016" y="1408176"/>
              <a:ext cx="1294756" cy="467281"/>
            </a:xfrm>
            <a:prstGeom prst="roundRect">
              <a:avLst>
                <a:gd name="adj" fmla="val 9784"/>
              </a:avLst>
            </a:prstGeom>
            <a:solidFill>
              <a:srgbClr val="173D6B"/>
            </a:solidFill>
            <a:ln>
              <a:noFill/>
            </a:ln>
          </p:spPr>
          <p:txBody>
            <a:bodyPr rtlCol="0" anchor="ctr" wrap="square" lIns="45720" rIns="45720" tIns="27432" bIns="27432">
              <a:noAutofit/>
            </a:bodyPr>
            <a:lstStyle/>
            <a:p>
              <a:pPr algn="ctr"/>
              <a:r>
                <a:rPr sz="1200" b="1" i="0">
                  <a:solidFill>
                    <a:srgbClr val="FFFFFF"/>
                  </a:solidFill>
                  <a:latin typeface="Arial"/>
                </a:rPr>
                <a:t>Glucose</a:t>
              </a:r>
            </a:p>
          </p:txBody>
        </p:sp>
        <p:sp>
          <p:nvSpPr>
            <p:cNvPr id="31" name="Rounded Rectangle 30"/>
            <p:cNvSpPr/>
            <p:nvPr/>
          </p:nvSpPr>
          <p:spPr>
            <a:xfrm>
              <a:off x="1459348" y="1408176"/>
              <a:ext cx="3021098" cy="467281"/>
            </a:xfrm>
            <a:prstGeom prst="roundRect">
              <a:avLst>
                <a:gd name="adj" fmla="val 9784"/>
              </a:avLst>
            </a:prstGeom>
            <a:solidFill>
              <a:srgbClr val="FFFFFF"/>
            </a:solidFill>
            <a:ln w="9525">
              <a:solidFill>
                <a:srgbClr val="466E9E"/>
              </a:solidFill>
              <a:prstDash val="sysDot"/>
            </a:ln>
          </p:spPr>
          <p:txBody>
            <a:bodyPr rtlCol="0" anchor="ctr" wrap="square" lIns="45720" rIns="45720" tIns="27432" bIns="27432">
              <a:noAutofit/>
            </a:bodyPr>
            <a:lstStyle/>
            <a:p>
              <a:pPr algn="l"/>
              <a:r>
                <a:rPr sz="1200" b="0" i="0">
                  <a:solidFill>
                    <a:srgbClr val="1A1A1A"/>
                  </a:solidFill>
                  <a:latin typeface="Arial"/>
                </a:rPr>
                <a:t>dG/dt = -(SG + X) G + SG Gb(t) + Ra(t)/V - ex steps G</a:t>
              </a:r>
            </a:p>
          </p:txBody>
        </p:sp>
        <p:sp>
          <p:nvSpPr>
            <p:cNvPr id="32" name="Rounded Rectangle 31"/>
            <p:cNvSpPr/>
            <p:nvPr/>
          </p:nvSpPr>
          <p:spPr>
            <a:xfrm>
              <a:off x="128016" y="1921177"/>
              <a:ext cx="1294756" cy="467281"/>
            </a:xfrm>
            <a:prstGeom prst="roundRect">
              <a:avLst>
                <a:gd name="adj" fmla="val 9784"/>
              </a:avLst>
            </a:prstGeom>
            <a:solidFill>
              <a:srgbClr val="173D6B"/>
            </a:solidFill>
            <a:ln>
              <a:noFill/>
            </a:ln>
          </p:spPr>
          <p:txBody>
            <a:bodyPr rtlCol="0" anchor="ctr" wrap="square" lIns="45720" rIns="45720" tIns="27432" bIns="27432">
              <a:noAutofit/>
            </a:bodyPr>
            <a:lstStyle/>
            <a:p>
              <a:pPr algn="ctr"/>
              <a:r>
                <a:rPr sz="1200" b="1" i="0">
                  <a:solidFill>
                    <a:srgbClr val="FFFFFF"/>
                  </a:solidFill>
                  <a:latin typeface="Arial"/>
                </a:rPr>
                <a:t>Insulin action</a:t>
              </a:r>
            </a:p>
          </p:txBody>
        </p:sp>
        <p:sp>
          <p:nvSpPr>
            <p:cNvPr id="33" name="Rounded Rectangle 32"/>
            <p:cNvSpPr/>
            <p:nvPr/>
          </p:nvSpPr>
          <p:spPr>
            <a:xfrm>
              <a:off x="1459348" y="1921177"/>
              <a:ext cx="3021098" cy="467281"/>
            </a:xfrm>
            <a:prstGeom prst="roundRect">
              <a:avLst>
                <a:gd name="adj" fmla="val 9784"/>
              </a:avLst>
            </a:prstGeom>
            <a:solidFill>
              <a:srgbClr val="FFFFFF"/>
            </a:solidFill>
            <a:ln w="9525">
              <a:solidFill>
                <a:srgbClr val="466E9E"/>
              </a:solidFill>
              <a:prstDash val="sysDot"/>
            </a:ln>
          </p:spPr>
          <p:txBody>
            <a:bodyPr rtlCol="0" anchor="ctr" wrap="square" lIns="45720" rIns="45720" tIns="27432" bIns="27432">
              <a:noAutofit/>
            </a:bodyPr>
            <a:lstStyle/>
            <a:p>
              <a:pPr algn="l"/>
              <a:r>
                <a:rPr sz="1200" b="0" i="0">
                  <a:solidFill>
                    <a:srgbClr val="1A1A1A"/>
                  </a:solidFill>
                  <a:latin typeface="Arial"/>
                </a:rPr>
                <a:t>dX/dt = -p2 X + p2 SI s(t) (I - Ib)</a:t>
              </a:r>
            </a:p>
          </p:txBody>
        </p:sp>
        <p:sp>
          <p:nvSpPr>
            <p:cNvPr id="34" name="Rounded Rectangle 33"/>
            <p:cNvSpPr/>
            <p:nvPr/>
          </p:nvSpPr>
          <p:spPr>
            <a:xfrm>
              <a:off x="128016" y="2434177"/>
              <a:ext cx="1294756" cy="467281"/>
            </a:xfrm>
            <a:prstGeom prst="roundRect">
              <a:avLst>
                <a:gd name="adj" fmla="val 9784"/>
              </a:avLst>
            </a:prstGeom>
            <a:solidFill>
              <a:srgbClr val="173D6B"/>
            </a:solidFill>
            <a:ln>
              <a:noFill/>
            </a:ln>
          </p:spPr>
          <p:txBody>
            <a:bodyPr rtlCol="0" anchor="ctr" wrap="square" lIns="45720" rIns="45720" tIns="27432" bIns="27432">
              <a:noAutofit/>
            </a:bodyPr>
            <a:lstStyle/>
            <a:p>
              <a:pPr algn="ctr"/>
              <a:r>
                <a:rPr sz="1200" b="1" i="0">
                  <a:solidFill>
                    <a:srgbClr val="FFFFFF"/>
                  </a:solidFill>
                  <a:latin typeface="Arial"/>
                </a:rPr>
                <a:t>Insulin release</a:t>
              </a:r>
            </a:p>
          </p:txBody>
        </p:sp>
        <p:sp>
          <p:nvSpPr>
            <p:cNvPr id="35" name="Rounded Rectangle 34"/>
            <p:cNvSpPr/>
            <p:nvPr/>
          </p:nvSpPr>
          <p:spPr>
            <a:xfrm>
              <a:off x="1459348" y="2434177"/>
              <a:ext cx="3021098" cy="467281"/>
            </a:xfrm>
            <a:prstGeom prst="roundRect">
              <a:avLst>
                <a:gd name="adj" fmla="val 9784"/>
              </a:avLst>
            </a:prstGeom>
            <a:solidFill>
              <a:srgbClr val="FFFFFF"/>
            </a:solidFill>
            <a:ln w="9525">
              <a:solidFill>
                <a:srgbClr val="466E9E"/>
              </a:solidFill>
              <a:prstDash val="sysDot"/>
            </a:ln>
          </p:spPr>
          <p:txBody>
            <a:bodyPr rtlCol="0" anchor="ctr" wrap="square" lIns="45720" rIns="45720" tIns="27432" bIns="27432">
              <a:noAutofit/>
            </a:bodyPr>
            <a:lstStyle/>
            <a:p>
              <a:pPr algn="l"/>
              <a:r>
                <a:rPr sz="1200" b="0" i="0">
                  <a:solidFill>
                    <a:srgbClr val="1A1A1A"/>
                  </a:solidFill>
                  <a:latin typeface="Arial"/>
                </a:rPr>
                <a:t>dI/dt = -n (I - Ib) + gamma max(G - Gb, 0)</a:t>
              </a:r>
            </a:p>
          </p:txBody>
        </p:sp>
        <p:sp>
          <p:nvSpPr>
            <p:cNvPr id="36" name="Rounded Rectangle 35"/>
            <p:cNvSpPr/>
            <p:nvPr/>
          </p:nvSpPr>
          <p:spPr>
            <a:xfrm>
              <a:off x="128016" y="2947178"/>
              <a:ext cx="1294756" cy="467281"/>
            </a:xfrm>
            <a:prstGeom prst="roundRect">
              <a:avLst>
                <a:gd name="adj" fmla="val 9784"/>
              </a:avLst>
            </a:prstGeom>
            <a:solidFill>
              <a:srgbClr val="173D6B"/>
            </a:solidFill>
            <a:ln>
              <a:noFill/>
            </a:ln>
          </p:spPr>
          <p:txBody>
            <a:bodyPr rtlCol="0" anchor="ctr" wrap="square" lIns="45720" rIns="45720" tIns="27432" bIns="27432">
              <a:noAutofit/>
            </a:bodyPr>
            <a:lstStyle/>
            <a:p>
              <a:pPr algn="ctr"/>
              <a:r>
                <a:rPr sz="1200" b="1" i="0">
                  <a:solidFill>
                    <a:srgbClr val="FFFFFF"/>
                  </a:solidFill>
                  <a:latin typeface="Arial"/>
                </a:rPr>
                <a:t>Gut</a:t>
              </a:r>
            </a:p>
          </p:txBody>
        </p:sp>
        <p:sp>
          <p:nvSpPr>
            <p:cNvPr id="37" name="Rounded Rectangle 36"/>
            <p:cNvSpPr/>
            <p:nvPr/>
          </p:nvSpPr>
          <p:spPr>
            <a:xfrm>
              <a:off x="1459348" y="2947178"/>
              <a:ext cx="3021098" cy="467281"/>
            </a:xfrm>
            <a:prstGeom prst="roundRect">
              <a:avLst>
                <a:gd name="adj" fmla="val 9784"/>
              </a:avLst>
            </a:prstGeom>
            <a:solidFill>
              <a:srgbClr val="FFFFFF"/>
            </a:solidFill>
            <a:ln w="9525">
              <a:solidFill>
                <a:srgbClr val="466E9E"/>
              </a:solidFill>
              <a:prstDash val="sysDot"/>
            </a:ln>
          </p:spPr>
          <p:txBody>
            <a:bodyPr rtlCol="0" anchor="ctr" wrap="square" lIns="45720" rIns="45720" tIns="27432" bIns="27432">
              <a:noAutofit/>
            </a:bodyPr>
            <a:lstStyle/>
            <a:p>
              <a:pPr algn="l"/>
              <a:r>
                <a:rPr sz="1200" b="0" i="0">
                  <a:solidFill>
                    <a:srgbClr val="1A1A1A"/>
                  </a:solidFill>
                  <a:latin typeface="Arial"/>
                </a:rPr>
                <a:t>fast and slow carb pools, split by each dish's GI</a:t>
              </a:r>
            </a:p>
          </p:txBody>
        </p:sp>
        <p:sp>
          <p:nvSpPr>
            <p:cNvPr id="38" name="Rounded Rectangle 37"/>
            <p:cNvSpPr/>
            <p:nvPr/>
          </p:nvSpPr>
          <p:spPr>
            <a:xfrm>
              <a:off x="128016" y="3460179"/>
              <a:ext cx="1294756" cy="467281"/>
            </a:xfrm>
            <a:prstGeom prst="roundRect">
              <a:avLst>
                <a:gd name="adj" fmla="val 9784"/>
              </a:avLst>
            </a:prstGeom>
            <a:solidFill>
              <a:srgbClr val="173D6B"/>
            </a:solidFill>
            <a:ln>
              <a:noFill/>
            </a:ln>
          </p:spPr>
          <p:txBody>
            <a:bodyPr rtlCol="0" anchor="ctr" wrap="square" lIns="45720" rIns="45720" tIns="27432" bIns="27432">
              <a:noAutofit/>
            </a:bodyPr>
            <a:lstStyle/>
            <a:p>
              <a:pPr algn="ctr"/>
              <a:r>
                <a:rPr sz="1200" b="1" i="0">
                  <a:solidFill>
                    <a:srgbClr val="FFFFFF"/>
                  </a:solidFill>
                  <a:latin typeface="Arial"/>
                </a:rPr>
                <a:t>Modifiers</a:t>
              </a:r>
            </a:p>
          </p:txBody>
        </p:sp>
        <p:sp>
          <p:nvSpPr>
            <p:cNvPr id="39" name="Rounded Rectangle 38"/>
            <p:cNvSpPr/>
            <p:nvPr/>
          </p:nvSpPr>
          <p:spPr>
            <a:xfrm>
              <a:off x="1459348" y="3460179"/>
              <a:ext cx="3021098" cy="467281"/>
            </a:xfrm>
            <a:prstGeom prst="roundRect">
              <a:avLst>
                <a:gd name="adj" fmla="val 9784"/>
              </a:avLst>
            </a:prstGeom>
            <a:solidFill>
              <a:srgbClr val="FFFFFF"/>
            </a:solidFill>
            <a:ln w="9525">
              <a:solidFill>
                <a:srgbClr val="466E9E"/>
              </a:solidFill>
              <a:prstDash val="sysDot"/>
            </a:ln>
          </p:spPr>
          <p:txBody>
            <a:bodyPr rtlCol="0" anchor="ctr" wrap="square" lIns="45720" rIns="45720" tIns="27432" bIns="27432">
              <a:noAutofit/>
            </a:bodyPr>
            <a:lstStyle/>
            <a:p>
              <a:pPr algn="l"/>
              <a:r>
                <a:rPr sz="1200" b="0" i="0">
                  <a:solidFill>
                    <a:srgbClr val="1A1A1A"/>
                  </a:solidFill>
                  <a:latin typeface="Arial"/>
                </a:rPr>
                <a:t>dawn effect on Gb(t); sleep debt, stress lower s(t)</a:t>
              </a:r>
            </a:p>
          </p:txBody>
        </p:sp>
      </p:grpSp>
      <p:grpSp>
        <p:nvGrpSpPr>
          <p:cNvPr id="40" name="Group 39"/>
          <p:cNvGrpSpPr/>
          <p:nvPr/>
        </p:nvGrpSpPr>
        <p:grpSpPr>
          <a:xfrm>
            <a:off x="4608462" y="1097280"/>
            <a:ext cx="3904388" cy="2885044"/>
            <a:chOff x="4608462" y="1097280"/>
            <a:chExt cx="3904388" cy="2885044"/>
          </a:xfrm>
        </p:grpSpPr>
        <p:sp>
          <p:nvSpPr>
            <p:cNvPr id="41" name="frame:Calibration in the o"/>
            <p:cNvSpPr/>
            <p:nvPr/>
          </p:nvSpPr>
          <p:spPr>
            <a:xfrm>
              <a:off x="4608462" y="1234440"/>
              <a:ext cx="3904388" cy="2747884"/>
            </a:xfrm>
            <a:prstGeom prst="roundRect">
              <a:avLst>
                <a:gd name="adj" fmla="val 1663"/>
              </a:avLst>
            </a:prstGeom>
            <a:solidFill>
              <a:srgbClr val="F1F4F8"/>
            </a:solidFill>
            <a:ln w="15875">
              <a:solidFill>
                <a:srgbClr val="466E9E"/>
              </a:solidFill>
              <a:prstDash val="sysDot"/>
            </a:ln>
          </p:spPr>
          <p:txBody>
            <a:bodyPr rtlCol="0" anchor="ctr"/>
            <a:lstStyle/>
            <a:p/>
          </p:txBody>
        </p:sp>
        <p:sp>
          <p:nvSpPr>
            <p:cNvPr id="42" name="Rounded Rectangle 41"/>
            <p:cNvSpPr/>
            <p:nvPr/>
          </p:nvSpPr>
          <p:spPr>
            <a:xfrm>
              <a:off x="4608462" y="1097280"/>
              <a:ext cx="3052243" cy="274320"/>
            </a:xfrm>
            <a:prstGeom prst="roundRect">
              <a:avLst>
                <a:gd name="adj" fmla="val 13333"/>
              </a:avLst>
            </a:prstGeom>
            <a:solidFill>
              <a:srgbClr val="1D4E89"/>
            </a:solidFill>
            <a:ln>
              <a:noFill/>
            </a:ln>
          </p:spPr>
          <p:txBody>
            <a:bodyPr rtlCol="0" anchor="ctr"/>
            <a:lstStyle/>
            <a:p/>
          </p:txBody>
        </p:sp>
        <p:pic>
          <p:nvPicPr>
            <p:cNvPr id="43" name="Picture 42" descr="ic_fa6_FaSliders_FFFFFF.png"/>
            <p:cNvPicPr>
              <a:picLocks noChangeAspect="1"/>
            </p:cNvPicPr>
            <p:nvPr/>
          </p:nvPicPr>
          <p:blipFill>
            <a:blip r:embed="rId3"/>
            <a:stretch>
              <a:fillRect/>
            </a:stretch>
          </p:blipFill>
          <p:spPr>
            <a:xfrm>
              <a:off x="4663326" y="1133856"/>
              <a:ext cx="201168" cy="201168"/>
            </a:xfrm>
            <a:prstGeom prst="rect">
              <a:avLst/>
            </a:prstGeom>
          </p:spPr>
        </p:pic>
        <p:sp>
          <p:nvSpPr>
            <p:cNvPr id="44" name="TextBox 43"/>
            <p:cNvSpPr txBox="1"/>
            <p:nvPr/>
          </p:nvSpPr>
          <p:spPr>
            <a:xfrm>
              <a:off x="4910214" y="1097280"/>
              <a:ext cx="2723059" cy="274320"/>
            </a:xfrm>
            <a:prstGeom prst="rect">
              <a:avLst/>
            </a:prstGeom>
            <a:noFill/>
          </p:spPr>
          <p:txBody>
            <a:bodyPr wrap="square" lIns="9144" rIns="9144" tIns="9144" bIns="9144" anchor="ctr">
              <a:noAutofit/>
            </a:bodyPr>
            <a:lstStyle/>
            <a:p>
              <a:pPr algn="l"/>
              <a:r>
                <a:rPr sz="1200" b="1" i="0">
                  <a:solidFill>
                    <a:srgbClr val="FFFFFF"/>
                  </a:solidFill>
                  <a:latin typeface="Arial"/>
                </a:rPr>
                <a:t>Calibration in the onboarding week</a:t>
              </a:r>
            </a:p>
          </p:txBody>
        </p:sp>
        <p:sp>
          <p:nvSpPr>
            <p:cNvPr id="45" name="ig:formula_tree"/>
            <p:cNvSpPr/>
            <p:nvPr/>
          </p:nvSpPr>
          <p:spPr>
            <a:xfrm>
              <a:off x="4663326" y="1408176"/>
              <a:ext cx="1805890" cy="408733"/>
            </a:xfrm>
            <a:prstGeom prst="roundRect">
              <a:avLst>
                <a:gd name="adj" fmla="val 11185"/>
              </a:avLst>
            </a:prstGeom>
            <a:solidFill>
              <a:srgbClr val="FFFFFF"/>
            </a:solidFill>
            <a:ln w="9525">
              <a:solidFill>
                <a:srgbClr val="1D4E89"/>
              </a:solidFill>
            </a:ln>
          </p:spPr>
          <p:txBody>
            <a:bodyPr rtlCol="0" anchor="ctr"/>
            <a:lstStyle/>
            <a:p/>
          </p:txBody>
        </p:sp>
        <p:sp>
          <p:nvSpPr>
            <p:cNvPr id="46" name="TextBox 45"/>
            <p:cNvSpPr txBox="1"/>
            <p:nvPr/>
          </p:nvSpPr>
          <p:spPr>
            <a:xfrm>
              <a:off x="4663326" y="1408176"/>
              <a:ext cx="1805890" cy="408733"/>
            </a:xfrm>
            <a:prstGeom prst="rect">
              <a:avLst/>
            </a:prstGeom>
            <a:noFill/>
          </p:spPr>
          <p:txBody>
            <a:bodyPr wrap="square" lIns="36576" rIns="36576" tIns="27432" bIns="27432" anchor="ctr">
              <a:noAutofit/>
            </a:bodyPr>
            <a:lstStyle/>
            <a:p>
              <a:pPr algn="ctr"/>
              <a:r>
                <a:rPr sz="1000" b="0" i="0">
                  <a:solidFill>
                    <a:srgbClr val="1A1A1A"/>
                  </a:solidFill>
                  <a:latin typeface="Arial"/>
                </a:rPr>
                <a:t>Forecast error</a:t>
              </a:r>
            </a:p>
            <a:p>
              <a:pPr algn="ctr"/>
              <a:r>
                <a:rPr sz="1000" b="1" i="0">
                  <a:solidFill>
                    <a:srgbClr val="1A1A1A"/>
                  </a:solidFill>
                  <a:latin typeface="Arial"/>
                </a:rPr>
                <a:t>(fit)</a:t>
              </a:r>
            </a:p>
          </p:txBody>
        </p:sp>
        <p:sp>
          <p:nvSpPr>
            <p:cNvPr id="47" name="Rounded Rectangle 46"/>
            <p:cNvSpPr/>
            <p:nvPr/>
          </p:nvSpPr>
          <p:spPr>
            <a:xfrm>
              <a:off x="6652096" y="1408176"/>
              <a:ext cx="1805890" cy="408733"/>
            </a:xfrm>
            <a:prstGeom prst="roundRect">
              <a:avLst>
                <a:gd name="adj" fmla="val 11185"/>
              </a:avLst>
            </a:prstGeom>
            <a:solidFill>
              <a:srgbClr val="FFFFFF"/>
            </a:solidFill>
            <a:ln w="9525">
              <a:solidFill>
                <a:srgbClr val="1D4E89"/>
              </a:solidFill>
            </a:ln>
          </p:spPr>
          <p:txBody>
            <a:bodyPr rtlCol="0" anchor="ctr"/>
            <a:lstStyle/>
            <a:p/>
          </p:txBody>
        </p:sp>
        <p:sp>
          <p:nvSpPr>
            <p:cNvPr id="48" name="TextBox 47"/>
            <p:cNvSpPr txBox="1"/>
            <p:nvPr/>
          </p:nvSpPr>
          <p:spPr>
            <a:xfrm>
              <a:off x="6652096" y="1408176"/>
              <a:ext cx="1805890" cy="408733"/>
            </a:xfrm>
            <a:prstGeom prst="rect">
              <a:avLst/>
            </a:prstGeom>
            <a:noFill/>
          </p:spPr>
          <p:txBody>
            <a:bodyPr wrap="square" lIns="36576" rIns="36576" tIns="27432" bIns="27432" anchor="ctr">
              <a:noAutofit/>
            </a:bodyPr>
            <a:lstStyle/>
            <a:p>
              <a:pPr algn="ctr"/>
              <a:r>
                <a:rPr sz="1000" b="0" i="0">
                  <a:solidFill>
                    <a:srgbClr val="1A1A1A"/>
                  </a:solidFill>
                  <a:latin typeface="Arial"/>
                </a:rPr>
                <a:t>Gap to EHR prior</a:t>
              </a:r>
            </a:p>
            <a:p>
              <a:pPr algn="ctr"/>
              <a:r>
                <a:rPr sz="1000" b="1" i="0">
                  <a:solidFill>
                    <a:srgbClr val="1A1A1A"/>
                  </a:solidFill>
                  <a:latin typeface="Arial"/>
                </a:rPr>
                <a:t>(penalty)</a:t>
              </a:r>
            </a:p>
          </p:txBody>
        </p:sp>
        <p:sp>
          <p:nvSpPr>
            <p:cNvPr id="49" name="Rounded Rectangle 48"/>
            <p:cNvSpPr/>
            <p:nvPr/>
          </p:nvSpPr>
          <p:spPr>
            <a:xfrm>
              <a:off x="5611991" y="2136949"/>
              <a:ext cx="1897330" cy="312561"/>
            </a:xfrm>
            <a:prstGeom prst="roundRect">
              <a:avLst>
                <a:gd name="adj" fmla="val 14627"/>
              </a:avLst>
            </a:prstGeom>
            <a:solidFill>
              <a:srgbClr val="1D4E89"/>
            </a:solidFill>
            <a:ln>
              <a:noFill/>
            </a:ln>
          </p:spPr>
          <p:txBody>
            <a:bodyPr rtlCol="0" anchor="ctr"/>
            <a:lstStyle/>
            <a:p/>
          </p:txBody>
        </p:sp>
        <p:sp>
          <p:nvSpPr>
            <p:cNvPr id="50" name="TextBox 49"/>
            <p:cNvSpPr txBox="1"/>
            <p:nvPr/>
          </p:nvSpPr>
          <p:spPr>
            <a:xfrm>
              <a:off x="5611991" y="2136949"/>
              <a:ext cx="1897330" cy="312561"/>
            </a:xfrm>
            <a:prstGeom prst="rect">
              <a:avLst/>
            </a:prstGeom>
            <a:noFill/>
          </p:spPr>
          <p:txBody>
            <a:bodyPr wrap="square" lIns="36576" rIns="36576" tIns="27432" bIns="27432" anchor="ctr">
              <a:noAutofit/>
            </a:bodyPr>
            <a:lstStyle/>
            <a:p>
              <a:pPr algn="ctr"/>
              <a:r>
                <a:rPr sz="1100" b="0" i="0">
                  <a:solidFill>
                    <a:srgbClr val="FFFFFF"/>
                  </a:solidFill>
                  <a:latin typeface="Arial"/>
                </a:rPr>
                <a:t>Best of 881 physiologies</a:t>
              </a:r>
            </a:p>
          </p:txBody>
        </p:sp>
        <p:cxnSp>
          <p:nvCxnSpPr>
            <p:cNvPr id="51" name="Connector 50"/>
            <p:cNvCxnSpPr/>
            <p:nvPr/>
          </p:nvCxnSpPr>
          <p:spPr>
            <a:xfrm>
              <a:off x="5566271" y="1816909"/>
              <a:ext cx="0" cy="160020"/>
            </a:xfrm>
            <a:prstGeom prst="line">
              <a:avLst/>
            </a:prstGeom>
            <a:ln w="19050">
              <a:solidFill>
                <a:srgbClr val="1D4E89"/>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566271" y="1976929"/>
              <a:ext cx="994385" cy="0"/>
            </a:xfrm>
            <a:prstGeom prst="line">
              <a:avLst/>
            </a:prstGeom>
            <a:ln w="19050">
              <a:solidFill>
                <a:srgbClr val="1D4E8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560656" y="1976929"/>
              <a:ext cx="0" cy="160020"/>
            </a:xfrm>
            <a:prstGeom prst="line">
              <a:avLst/>
            </a:prstGeom>
            <a:ln w="19050">
              <a:solidFill>
                <a:srgbClr val="1D4E8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555041" y="1816909"/>
              <a:ext cx="0" cy="160020"/>
            </a:xfrm>
            <a:prstGeom prst="line">
              <a:avLst/>
            </a:prstGeom>
            <a:ln w="19050">
              <a:solidFill>
                <a:srgbClr val="1D4E89"/>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6560656" y="1976929"/>
              <a:ext cx="994385" cy="0"/>
            </a:xfrm>
            <a:prstGeom prst="line">
              <a:avLst/>
            </a:prstGeom>
            <a:ln w="19050">
              <a:solidFill>
                <a:srgbClr val="1D4E89"/>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560656" y="1976929"/>
              <a:ext cx="0" cy="160020"/>
            </a:xfrm>
            <a:prstGeom prst="line">
              <a:avLst/>
            </a:prstGeom>
            <a:ln w="19050">
              <a:solidFill>
                <a:srgbClr val="1D4E8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Rounded Rectangle 56"/>
            <p:cNvSpPr/>
            <p:nvPr/>
          </p:nvSpPr>
          <p:spPr>
            <a:xfrm>
              <a:off x="5611991" y="2369901"/>
              <a:ext cx="1897330" cy="240431"/>
            </a:xfrm>
            <a:prstGeom prst="roundRect">
              <a:avLst>
                <a:gd name="adj" fmla="val 19015"/>
              </a:avLst>
            </a:prstGeom>
            <a:solidFill>
              <a:srgbClr val="E2E8F0"/>
            </a:solidFill>
            <a:ln w="9525">
              <a:solidFill>
                <a:srgbClr val="1D4E89"/>
              </a:solidFill>
            </a:ln>
          </p:spPr>
          <p:txBody>
            <a:bodyPr rtlCol="0" anchor="ctr"/>
            <a:lstStyle/>
            <a:p/>
          </p:txBody>
        </p:sp>
        <p:sp>
          <p:nvSpPr>
            <p:cNvPr id="58" name="TextBox 57"/>
            <p:cNvSpPr txBox="1"/>
            <p:nvPr/>
          </p:nvSpPr>
          <p:spPr>
            <a:xfrm>
              <a:off x="5611991" y="2369901"/>
              <a:ext cx="1897330" cy="240431"/>
            </a:xfrm>
            <a:prstGeom prst="rect">
              <a:avLst/>
            </a:prstGeom>
            <a:noFill/>
          </p:spPr>
          <p:txBody>
            <a:bodyPr wrap="square" lIns="36576" rIns="36576" tIns="27432" bIns="27432" anchor="ctr">
              <a:noAutofit/>
            </a:bodyPr>
            <a:lstStyle/>
            <a:p>
              <a:pPr algn="ctr"/>
              <a:r>
                <a:rPr sz="1000" b="0" i="0">
                  <a:solidFill>
                    <a:srgbClr val="1A1A1A"/>
                  </a:solidFill>
                  <a:latin typeface="Arial"/>
                </a:rPr>
                <a:t>SI, gamma, Gb, dawn</a:t>
              </a:r>
            </a:p>
          </p:txBody>
        </p:sp>
        <p:cxnSp>
          <p:nvCxnSpPr>
            <p:cNvPr id="59" name="Connector 58"/>
            <p:cNvCxnSpPr>
              <a:stCxn id="49" idx="2"/>
              <a:endCxn id="57" idx="0"/>
            </p:cNvCxnSpPr>
            <p:nvPr/>
          </p:nvCxnSpPr>
          <p:spPr>
            <a:xfrm flipV="1">
              <a:off x="6560656" y="2369901"/>
              <a:ext cx="0" cy="79609"/>
            </a:xfrm>
            <a:prstGeom prst="line">
              <a:avLst/>
            </a:prstGeom>
            <a:ln w="19050">
              <a:solidFill>
                <a:srgbClr val="1D4E8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ig:stat"/>
            <p:cNvSpPr/>
            <p:nvPr/>
          </p:nvSpPr>
          <p:spPr>
            <a:xfrm>
              <a:off x="4663326" y="2665196"/>
              <a:ext cx="1869898" cy="253554"/>
            </a:xfrm>
            <a:prstGeom prst="roundRect">
              <a:avLst>
                <a:gd name="adj" fmla="val 10819"/>
              </a:avLst>
            </a:prstGeom>
            <a:solidFill>
              <a:srgbClr val="C9D5E3"/>
            </a:solidFill>
            <a:ln w="6350">
              <a:solidFill>
                <a:srgbClr val="BFBFBF"/>
              </a:solidFill>
            </a:ln>
          </p:spPr>
          <p:txBody>
            <a:bodyPr rtlCol="0" anchor="ctr" wrap="square" lIns="45720" rIns="45720" tIns="27432" bIns="27432">
              <a:noAutofit/>
            </a:bodyPr>
            <a:lstStyle/>
            <a:p>
              <a:pPr algn="ctr"/>
              <a:r>
                <a:rPr sz="1237" b="1" i="0">
                  <a:solidFill>
                    <a:srgbClr val="1A1A1A"/>
                  </a:solidFill>
                  <a:latin typeface="Arial"/>
                </a:rPr>
                <a:t>625 + 256</a:t>
              </a:r>
            </a:p>
          </p:txBody>
        </p:sp>
        <p:sp>
          <p:nvSpPr>
            <p:cNvPr id="61" name="TextBox 60"/>
            <p:cNvSpPr txBox="1"/>
            <p:nvPr/>
          </p:nvSpPr>
          <p:spPr>
            <a:xfrm>
              <a:off x="4663326" y="2946182"/>
              <a:ext cx="1869898" cy="322714"/>
            </a:xfrm>
            <a:prstGeom prst="rect">
              <a:avLst/>
            </a:prstGeom>
            <a:noFill/>
          </p:spPr>
          <p:txBody>
            <a:bodyPr wrap="square" lIns="45720" rIns="45720" tIns="27432" bIns="27432" anchor="t">
              <a:noAutofit/>
            </a:bodyPr>
            <a:lstStyle/>
            <a:p>
              <a:pPr algn="ctr"/>
              <a:r>
                <a:rPr sz="1100" b="0" i="1">
                  <a:solidFill>
                    <a:srgbClr val="1A1A1A"/>
                  </a:solidFill>
                  <a:latin typeface="Arial"/>
                </a:rPr>
                <a:t>candidates, 2 rounds</a:t>
              </a:r>
            </a:p>
          </p:txBody>
        </p:sp>
        <p:sp>
          <p:nvSpPr>
            <p:cNvPr id="62" name="ig:stat"/>
            <p:cNvSpPr/>
            <p:nvPr/>
          </p:nvSpPr>
          <p:spPr>
            <a:xfrm>
              <a:off x="6588088" y="2665196"/>
              <a:ext cx="1869898" cy="253554"/>
            </a:xfrm>
            <a:prstGeom prst="roundRect">
              <a:avLst>
                <a:gd name="adj" fmla="val 10819"/>
              </a:avLst>
            </a:prstGeom>
            <a:solidFill>
              <a:srgbClr val="C9D5E3"/>
            </a:solidFill>
            <a:ln w="6350">
              <a:solidFill>
                <a:srgbClr val="BFBFBF"/>
              </a:solidFill>
            </a:ln>
          </p:spPr>
          <p:txBody>
            <a:bodyPr rtlCol="0" anchor="ctr" wrap="square" lIns="45720" rIns="45720" tIns="27432" bIns="27432">
              <a:noAutofit/>
            </a:bodyPr>
            <a:lstStyle/>
            <a:p>
              <a:pPr algn="ctr"/>
              <a:r>
                <a:rPr sz="1237" b="1" i="0">
                  <a:solidFill>
                    <a:srgbClr val="1A1A1A"/>
                  </a:solidFill>
                  <a:latin typeface="Arial"/>
                </a:rPr>
                <a:t>1 pass</a:t>
              </a:r>
            </a:p>
          </p:txBody>
        </p:sp>
        <p:sp>
          <p:nvSpPr>
            <p:cNvPr id="63" name="TextBox 62"/>
            <p:cNvSpPr txBox="1"/>
            <p:nvPr/>
          </p:nvSpPr>
          <p:spPr>
            <a:xfrm>
              <a:off x="6588088" y="2946182"/>
              <a:ext cx="1869898" cy="322714"/>
            </a:xfrm>
            <a:prstGeom prst="rect">
              <a:avLst/>
            </a:prstGeom>
            <a:noFill/>
          </p:spPr>
          <p:txBody>
            <a:bodyPr wrap="square" lIns="45720" rIns="45720" tIns="27432" bIns="27432" anchor="t">
              <a:noAutofit/>
            </a:bodyPr>
            <a:lstStyle/>
            <a:p>
              <a:pPr algn="ctr"/>
              <a:r>
                <a:rPr sz="1100" b="0" i="1">
                  <a:solidFill>
                    <a:srgbClr val="1A1A1A"/>
                  </a:solidFill>
                  <a:latin typeface="Arial"/>
                </a:rPr>
                <a:t>vectorised NumPy</a:t>
              </a:r>
            </a:p>
          </p:txBody>
        </p:sp>
        <p:sp>
          <p:nvSpPr>
            <p:cNvPr id="64" name="ig:stat"/>
            <p:cNvSpPr/>
            <p:nvPr/>
          </p:nvSpPr>
          <p:spPr>
            <a:xfrm>
              <a:off x="4663326" y="3323760"/>
              <a:ext cx="1869898" cy="253554"/>
            </a:xfrm>
            <a:prstGeom prst="roundRect">
              <a:avLst>
                <a:gd name="adj" fmla="val 10819"/>
              </a:avLst>
            </a:prstGeom>
            <a:solidFill>
              <a:srgbClr val="C9D5E3"/>
            </a:solidFill>
            <a:ln w="6350">
              <a:solidFill>
                <a:srgbClr val="BFBFBF"/>
              </a:solidFill>
            </a:ln>
          </p:spPr>
          <p:txBody>
            <a:bodyPr rtlCol="0" anchor="ctr" wrap="square" lIns="45720" rIns="45720" tIns="27432" bIns="27432">
              <a:noAutofit/>
            </a:bodyPr>
            <a:lstStyle/>
            <a:p>
              <a:pPr algn="ctr"/>
              <a:r>
                <a:rPr sz="1237" b="1" i="0">
                  <a:solidFill>
                    <a:srgbClr val="1A1A1A"/>
                  </a:solidFill>
                  <a:latin typeface="Arial"/>
                </a:rPr>
                <a:t>5.5 s</a:t>
              </a:r>
            </a:p>
          </p:txBody>
        </p:sp>
        <p:sp>
          <p:nvSpPr>
            <p:cNvPr id="65" name="TextBox 64"/>
            <p:cNvSpPr txBox="1"/>
            <p:nvPr/>
          </p:nvSpPr>
          <p:spPr>
            <a:xfrm>
              <a:off x="4663326" y="3604746"/>
              <a:ext cx="1869898" cy="322714"/>
            </a:xfrm>
            <a:prstGeom prst="rect">
              <a:avLst/>
            </a:prstGeom>
            <a:noFill/>
          </p:spPr>
          <p:txBody>
            <a:bodyPr wrap="square" lIns="45720" rIns="45720" tIns="27432" bIns="27432" anchor="t">
              <a:noAutofit/>
            </a:bodyPr>
            <a:lstStyle/>
            <a:p>
              <a:pPr algn="ctr"/>
              <a:r>
                <a:rPr sz="1100" b="0" i="1">
                  <a:solidFill>
                    <a:srgbClr val="1A1A1A"/>
                  </a:solidFill>
                  <a:latin typeface="Arial"/>
                </a:rPr>
                <a:t>CPU per patient</a:t>
              </a:r>
            </a:p>
          </p:txBody>
        </p:sp>
        <p:sp>
          <p:nvSpPr>
            <p:cNvPr id="66" name="ig:stat"/>
            <p:cNvSpPr/>
            <p:nvPr/>
          </p:nvSpPr>
          <p:spPr>
            <a:xfrm>
              <a:off x="6588088" y="3323760"/>
              <a:ext cx="1869898" cy="253554"/>
            </a:xfrm>
            <a:prstGeom prst="roundRect">
              <a:avLst>
                <a:gd name="adj" fmla="val 10819"/>
              </a:avLst>
            </a:prstGeom>
            <a:solidFill>
              <a:srgbClr val="C9D5E3"/>
            </a:solidFill>
            <a:ln w="6350">
              <a:solidFill>
                <a:srgbClr val="BFBFBF"/>
              </a:solidFill>
            </a:ln>
          </p:spPr>
          <p:txBody>
            <a:bodyPr rtlCol="0" anchor="ctr" wrap="square" lIns="45720" rIns="45720" tIns="27432" bIns="27432">
              <a:noAutofit/>
            </a:bodyPr>
            <a:lstStyle/>
            <a:p>
              <a:pPr algn="ctr"/>
              <a:r>
                <a:rPr sz="1237" b="1" i="0">
                  <a:solidFill>
                    <a:srgbClr val="1A1A1A"/>
                  </a:solidFill>
                  <a:latin typeface="Arial"/>
                </a:rPr>
                <a:t>28 mg/dL</a:t>
              </a:r>
            </a:p>
          </p:txBody>
        </p:sp>
        <p:sp>
          <p:nvSpPr>
            <p:cNvPr id="67" name="TextBox 66"/>
            <p:cNvSpPr txBox="1"/>
            <p:nvPr/>
          </p:nvSpPr>
          <p:spPr>
            <a:xfrm>
              <a:off x="6588088" y="3604746"/>
              <a:ext cx="1869898" cy="322714"/>
            </a:xfrm>
            <a:prstGeom prst="rect">
              <a:avLst/>
            </a:prstGeom>
            <a:noFill/>
          </p:spPr>
          <p:txBody>
            <a:bodyPr wrap="square" lIns="45720" rIns="45720" tIns="27432" bIns="27432" anchor="t">
              <a:noAutofit/>
            </a:bodyPr>
            <a:lstStyle/>
            <a:p>
              <a:pPr algn="ctr"/>
              <a:r>
                <a:rPr sz="1100" b="0" i="1">
                  <a:solidFill>
                    <a:srgbClr val="1A1A1A"/>
                  </a:solidFill>
                  <a:latin typeface="Arial"/>
                </a:rPr>
                <a:t>median 2-h fit error</a:t>
              </a:r>
            </a:p>
          </p:txBody>
        </p:sp>
      </p:grpSp>
      <p:grpSp>
        <p:nvGrpSpPr>
          <p:cNvPr id="68" name="Group 67"/>
          <p:cNvGrpSpPr/>
          <p:nvPr/>
        </p:nvGrpSpPr>
        <p:grpSpPr>
          <a:xfrm>
            <a:off x="8586002" y="1097280"/>
            <a:ext cx="3532542" cy="2885044"/>
            <a:chOff x="8586002" y="1097280"/>
            <a:chExt cx="3532542" cy="2885044"/>
          </a:xfrm>
        </p:grpSpPr>
        <p:sp>
          <p:nvSpPr>
            <p:cNvPr id="69" name="frame:Recovered vs true ph"/>
            <p:cNvSpPr/>
            <p:nvPr/>
          </p:nvSpPr>
          <p:spPr>
            <a:xfrm>
              <a:off x="8586002" y="1234440"/>
              <a:ext cx="3532542" cy="2747884"/>
            </a:xfrm>
            <a:prstGeom prst="roundRect">
              <a:avLst>
                <a:gd name="adj" fmla="val 1663"/>
              </a:avLst>
            </a:prstGeom>
            <a:solidFill>
              <a:srgbClr val="F1F4F8"/>
            </a:solidFill>
            <a:ln w="15875">
              <a:solidFill>
                <a:srgbClr val="466E9E"/>
              </a:solidFill>
              <a:prstDash val="sysDot"/>
            </a:ln>
          </p:spPr>
          <p:txBody>
            <a:bodyPr rtlCol="0" anchor="ctr"/>
            <a:lstStyle/>
            <a:p/>
          </p:txBody>
        </p:sp>
        <p:sp>
          <p:nvSpPr>
            <p:cNvPr id="70" name="Rounded Rectangle 69"/>
            <p:cNvSpPr/>
            <p:nvPr/>
          </p:nvSpPr>
          <p:spPr>
            <a:xfrm>
              <a:off x="8586002" y="1097280"/>
              <a:ext cx="2680212" cy="274320"/>
            </a:xfrm>
            <a:prstGeom prst="roundRect">
              <a:avLst>
                <a:gd name="adj" fmla="val 13333"/>
              </a:avLst>
            </a:prstGeom>
            <a:solidFill>
              <a:srgbClr val="1D4E89"/>
            </a:solidFill>
            <a:ln>
              <a:noFill/>
            </a:ln>
          </p:spPr>
          <p:txBody>
            <a:bodyPr rtlCol="0" anchor="ctr"/>
            <a:lstStyle/>
            <a:p/>
          </p:txBody>
        </p:sp>
        <p:pic>
          <p:nvPicPr>
            <p:cNvPr id="71" name="Picture 70" descr="ic_fa6_FaBullseye_FFFFFF.png"/>
            <p:cNvPicPr>
              <a:picLocks noChangeAspect="1"/>
            </p:cNvPicPr>
            <p:nvPr/>
          </p:nvPicPr>
          <p:blipFill>
            <a:blip r:embed="rId4"/>
            <a:stretch>
              <a:fillRect/>
            </a:stretch>
          </p:blipFill>
          <p:spPr>
            <a:xfrm>
              <a:off x="8640866" y="1133856"/>
              <a:ext cx="201168" cy="201168"/>
            </a:xfrm>
            <a:prstGeom prst="rect">
              <a:avLst/>
            </a:prstGeom>
          </p:spPr>
        </p:pic>
        <p:sp>
          <p:nvSpPr>
            <p:cNvPr id="72" name="TextBox 71"/>
            <p:cNvSpPr txBox="1"/>
            <p:nvPr/>
          </p:nvSpPr>
          <p:spPr>
            <a:xfrm>
              <a:off x="8887754" y="1097280"/>
              <a:ext cx="2351028" cy="274320"/>
            </a:xfrm>
            <a:prstGeom prst="rect">
              <a:avLst/>
            </a:prstGeom>
            <a:noFill/>
          </p:spPr>
          <p:txBody>
            <a:bodyPr wrap="square" lIns="9144" rIns="9144" tIns="9144" bIns="9144" anchor="ctr">
              <a:noAutofit/>
            </a:bodyPr>
            <a:lstStyle/>
            <a:p>
              <a:pPr algn="l"/>
              <a:r>
                <a:rPr sz="1200" b="1" i="0">
                  <a:solidFill>
                    <a:srgbClr val="FFFFFF"/>
                  </a:solidFill>
                  <a:latin typeface="Arial"/>
                </a:rPr>
                <a:t>Recovered vs true physiology</a:t>
              </a:r>
            </a:p>
          </p:txBody>
        </p:sp>
        <p:pic>
          <p:nvPicPr>
            <p:cNvPr id="73" name="Picture 72" descr="fig_parameter_recovery.png"/>
            <p:cNvPicPr>
              <a:picLocks noChangeAspect="1"/>
            </p:cNvPicPr>
            <p:nvPr/>
          </p:nvPicPr>
          <p:blipFill>
            <a:blip r:embed="rId5"/>
            <a:stretch>
              <a:fillRect/>
            </a:stretch>
          </p:blipFill>
          <p:spPr>
            <a:xfrm>
              <a:off x="8804097" y="1408176"/>
              <a:ext cx="3096350" cy="2519284"/>
            </a:xfrm>
            <a:prstGeom prst="rect">
              <a:avLst/>
            </a:prstGeom>
          </p:spPr>
        </p:pic>
      </p:grpSp>
      <p:grpSp>
        <p:nvGrpSpPr>
          <p:cNvPr id="74" name="Group 73"/>
          <p:cNvGrpSpPr/>
          <p:nvPr/>
        </p:nvGrpSpPr>
        <p:grpSpPr>
          <a:xfrm>
            <a:off x="73152" y="4055476"/>
            <a:ext cx="5187970" cy="2747660"/>
            <a:chOff x="73152" y="4055476"/>
            <a:chExt cx="5187970" cy="2747660"/>
          </a:xfrm>
        </p:grpSpPr>
        <p:sp>
          <p:nvSpPr>
            <p:cNvPr id="75" name="frame:Live assimilation ke"/>
            <p:cNvSpPr/>
            <p:nvPr/>
          </p:nvSpPr>
          <p:spPr>
            <a:xfrm>
              <a:off x="73152" y="4192636"/>
              <a:ext cx="5187970" cy="2610500"/>
            </a:xfrm>
            <a:prstGeom prst="roundRect">
              <a:avLst>
                <a:gd name="adj" fmla="val 1751"/>
              </a:avLst>
            </a:prstGeom>
            <a:solidFill>
              <a:srgbClr val="F1F4F8"/>
            </a:solidFill>
            <a:ln w="15875">
              <a:solidFill>
                <a:srgbClr val="466E9E"/>
              </a:solidFill>
              <a:prstDash val="sysDot"/>
            </a:ln>
          </p:spPr>
          <p:txBody>
            <a:bodyPr rtlCol="0" anchor="ctr"/>
            <a:lstStyle/>
            <a:p/>
          </p:txBody>
        </p:sp>
        <p:sp>
          <p:nvSpPr>
            <p:cNvPr id="76" name="Rounded Rectangle 75"/>
            <p:cNvSpPr/>
            <p:nvPr/>
          </p:nvSpPr>
          <p:spPr>
            <a:xfrm>
              <a:off x="73152" y="4055476"/>
              <a:ext cx="3400143" cy="274320"/>
            </a:xfrm>
            <a:prstGeom prst="roundRect">
              <a:avLst>
                <a:gd name="adj" fmla="val 13333"/>
              </a:avLst>
            </a:prstGeom>
            <a:solidFill>
              <a:srgbClr val="1D4E89"/>
            </a:solidFill>
            <a:ln>
              <a:noFill/>
            </a:ln>
          </p:spPr>
          <p:txBody>
            <a:bodyPr rtlCol="0" anchor="ctr"/>
            <a:lstStyle/>
            <a:p/>
          </p:txBody>
        </p:sp>
        <p:pic>
          <p:nvPicPr>
            <p:cNvPr id="77" name="Picture 76" descr="ic_fa6_FaSatelliteDish_FFFFFF.png"/>
            <p:cNvPicPr>
              <a:picLocks noChangeAspect="1"/>
            </p:cNvPicPr>
            <p:nvPr/>
          </p:nvPicPr>
          <p:blipFill>
            <a:blip r:embed="rId6"/>
            <a:stretch>
              <a:fillRect/>
            </a:stretch>
          </p:blipFill>
          <p:spPr>
            <a:xfrm>
              <a:off x="128016" y="4092052"/>
              <a:ext cx="201168" cy="201168"/>
            </a:xfrm>
            <a:prstGeom prst="rect">
              <a:avLst/>
            </a:prstGeom>
          </p:spPr>
        </p:pic>
        <p:sp>
          <p:nvSpPr>
            <p:cNvPr id="78" name="TextBox 77"/>
            <p:cNvSpPr txBox="1"/>
            <p:nvPr/>
          </p:nvSpPr>
          <p:spPr>
            <a:xfrm>
              <a:off x="374904" y="4055476"/>
              <a:ext cx="3070959" cy="274320"/>
            </a:xfrm>
            <a:prstGeom prst="rect">
              <a:avLst/>
            </a:prstGeom>
            <a:noFill/>
          </p:spPr>
          <p:txBody>
            <a:bodyPr wrap="square" lIns="9144" rIns="9144" tIns="9144" bIns="9144" anchor="ctr">
              <a:noAutofit/>
            </a:bodyPr>
            <a:lstStyle/>
            <a:p>
              <a:pPr algn="l"/>
              <a:r>
                <a:rPr sz="1200" b="1" i="0">
                  <a:solidFill>
                    <a:srgbClr val="FFFFFF"/>
                  </a:solidFill>
                  <a:latin typeface="Arial"/>
                </a:rPr>
                <a:t>Live assimilation keeps the twin in sync</a:t>
              </a:r>
            </a:p>
          </p:txBody>
        </p:sp>
        <p:sp>
          <p:nvSpPr>
            <p:cNvPr id="79" name="ig:flow"/>
            <p:cNvSpPr/>
            <p:nvPr/>
          </p:nvSpPr>
          <p:spPr>
            <a:xfrm>
              <a:off x="128016" y="4366372"/>
              <a:ext cx="1077537" cy="1332788"/>
            </a:xfrm>
            <a:prstGeom prst="roundRect">
              <a:avLst>
                <a:gd name="adj" fmla="val 4243"/>
              </a:avLst>
            </a:prstGeom>
            <a:solidFill>
              <a:srgbClr val="FFFFFF"/>
            </a:solidFill>
            <a:ln w="9525">
              <a:solidFill>
                <a:srgbClr val="466E9E"/>
              </a:solidFill>
              <a:prstDash val="sysDot"/>
            </a:ln>
          </p:spPr>
          <p:txBody>
            <a:bodyPr rtlCol="0" anchor="ctr"/>
            <a:lstStyle/>
            <a:p/>
          </p:txBody>
        </p:sp>
        <p:pic>
          <p:nvPicPr>
            <p:cNvPr id="80" name="Picture 79" descr="ic_fa6_FaDroplet_1A1A1A.png"/>
            <p:cNvPicPr>
              <a:picLocks noChangeAspect="1"/>
            </p:cNvPicPr>
            <p:nvPr/>
          </p:nvPicPr>
          <p:blipFill>
            <a:blip r:embed="rId7"/>
            <a:stretch>
              <a:fillRect/>
            </a:stretch>
          </p:blipFill>
          <p:spPr>
            <a:xfrm>
              <a:off x="483904" y="4402948"/>
              <a:ext cx="365760" cy="365760"/>
            </a:xfrm>
            <a:prstGeom prst="rect">
              <a:avLst/>
            </a:prstGeom>
          </p:spPr>
        </p:pic>
        <p:sp>
          <p:nvSpPr>
            <p:cNvPr id="81" name="TextBox 80"/>
            <p:cNvSpPr txBox="1"/>
            <p:nvPr/>
          </p:nvSpPr>
          <p:spPr>
            <a:xfrm>
              <a:off x="128016" y="4768708"/>
              <a:ext cx="1077537" cy="912164"/>
            </a:xfrm>
            <a:prstGeom prst="rect">
              <a:avLst/>
            </a:prstGeom>
            <a:noFill/>
          </p:spPr>
          <p:txBody>
            <a:bodyPr wrap="square" lIns="36576" rIns="36576" tIns="27432" bIns="27432" anchor="ctr">
              <a:noAutofit/>
            </a:bodyPr>
            <a:lstStyle/>
            <a:p>
              <a:pPr algn="ctr"/>
              <a:r>
                <a:rPr sz="1200" b="1" i="0">
                  <a:solidFill>
                    <a:srgbClr val="1A1A1A"/>
                  </a:solidFill>
                  <a:latin typeface="Arial"/>
                </a:rPr>
                <a:t>New CGM</a:t>
              </a:r>
              <a:r>
                <a:rPr sz="1200" b="0" i="0">
                  <a:solidFill>
                    <a:srgbClr val="1A1A1A"/>
                  </a:solidFill>
                  <a:latin typeface="Arial"/>
                </a:rPr>
                <a:t> every 5 min</a:t>
              </a:r>
            </a:p>
          </p:txBody>
        </p:sp>
        <p:sp>
          <p:nvSpPr>
            <p:cNvPr id="82" name="Rounded Rectangle 81"/>
            <p:cNvSpPr/>
            <p:nvPr/>
          </p:nvSpPr>
          <p:spPr>
            <a:xfrm>
              <a:off x="1461585" y="4366372"/>
              <a:ext cx="1077537" cy="1332788"/>
            </a:xfrm>
            <a:prstGeom prst="roundRect">
              <a:avLst>
                <a:gd name="adj" fmla="val 4243"/>
              </a:avLst>
            </a:prstGeom>
            <a:solidFill>
              <a:srgbClr val="FFFFFF"/>
            </a:solidFill>
            <a:ln w="9525">
              <a:solidFill>
                <a:srgbClr val="466E9E"/>
              </a:solidFill>
              <a:prstDash val="sysDot"/>
            </a:ln>
          </p:spPr>
          <p:txBody>
            <a:bodyPr rtlCol="0" anchor="ctr"/>
            <a:lstStyle/>
            <a:p/>
          </p:txBody>
        </p:sp>
        <p:pic>
          <p:nvPicPr>
            <p:cNvPr id="83" name="Picture 82" descr="ic_fa6_FaCodeCompare_1A1A1A.png"/>
            <p:cNvPicPr>
              <a:picLocks noChangeAspect="1"/>
            </p:cNvPicPr>
            <p:nvPr/>
          </p:nvPicPr>
          <p:blipFill>
            <a:blip r:embed="rId8"/>
            <a:stretch>
              <a:fillRect/>
            </a:stretch>
          </p:blipFill>
          <p:spPr>
            <a:xfrm>
              <a:off x="1817473" y="4402948"/>
              <a:ext cx="365760" cy="365760"/>
            </a:xfrm>
            <a:prstGeom prst="rect">
              <a:avLst/>
            </a:prstGeom>
          </p:spPr>
        </p:pic>
        <p:sp>
          <p:nvSpPr>
            <p:cNvPr id="84" name="TextBox 83"/>
            <p:cNvSpPr txBox="1"/>
            <p:nvPr/>
          </p:nvSpPr>
          <p:spPr>
            <a:xfrm>
              <a:off x="1461585" y="4768708"/>
              <a:ext cx="1077537" cy="912164"/>
            </a:xfrm>
            <a:prstGeom prst="rect">
              <a:avLst/>
            </a:prstGeom>
            <a:noFill/>
          </p:spPr>
          <p:txBody>
            <a:bodyPr wrap="square" lIns="36576" rIns="36576" tIns="27432" bIns="27432" anchor="ctr">
              <a:noAutofit/>
            </a:bodyPr>
            <a:lstStyle/>
            <a:p>
              <a:pPr algn="ctr"/>
              <a:r>
                <a:rPr sz="1200" b="1" i="0">
                  <a:solidFill>
                    <a:srgbClr val="1A1A1A"/>
                  </a:solidFill>
                  <a:latin typeface="Arial"/>
                </a:rPr>
                <a:t>Compare</a:t>
              </a:r>
              <a:r>
                <a:rPr sz="1200" b="0" i="0">
                  <a:solidFill>
                    <a:srgbClr val="1A1A1A"/>
                  </a:solidFill>
                  <a:latin typeface="Arial"/>
                </a:rPr>
                <a:t> with twin</a:t>
              </a:r>
            </a:p>
          </p:txBody>
        </p:sp>
        <p:sp>
          <p:nvSpPr>
            <p:cNvPr id="85" name="Rounded Rectangle 84"/>
            <p:cNvSpPr/>
            <p:nvPr/>
          </p:nvSpPr>
          <p:spPr>
            <a:xfrm>
              <a:off x="2795153" y="4366372"/>
              <a:ext cx="1077537" cy="1332788"/>
            </a:xfrm>
            <a:prstGeom prst="roundRect">
              <a:avLst>
                <a:gd name="adj" fmla="val 4243"/>
              </a:avLst>
            </a:prstGeom>
            <a:solidFill>
              <a:srgbClr val="FFFFFF"/>
            </a:solidFill>
            <a:ln w="9525">
              <a:solidFill>
                <a:srgbClr val="466E9E"/>
              </a:solidFill>
              <a:prstDash val="sysDot"/>
            </a:ln>
          </p:spPr>
          <p:txBody>
            <a:bodyPr rtlCol="0" anchor="ctr"/>
            <a:lstStyle/>
            <a:p/>
          </p:txBody>
        </p:sp>
        <p:pic>
          <p:nvPicPr>
            <p:cNvPr id="86" name="Picture 85" descr="ic_fa6_FaArrowsToDot_1A1A1A.png"/>
            <p:cNvPicPr>
              <a:picLocks noChangeAspect="1"/>
            </p:cNvPicPr>
            <p:nvPr/>
          </p:nvPicPr>
          <p:blipFill>
            <a:blip r:embed="rId9"/>
            <a:stretch>
              <a:fillRect/>
            </a:stretch>
          </p:blipFill>
          <p:spPr>
            <a:xfrm>
              <a:off x="3151041" y="4402948"/>
              <a:ext cx="365760" cy="365760"/>
            </a:xfrm>
            <a:prstGeom prst="rect">
              <a:avLst/>
            </a:prstGeom>
          </p:spPr>
        </p:pic>
        <p:sp>
          <p:nvSpPr>
            <p:cNvPr id="87" name="TextBox 86"/>
            <p:cNvSpPr txBox="1"/>
            <p:nvPr/>
          </p:nvSpPr>
          <p:spPr>
            <a:xfrm>
              <a:off x="2795153" y="4768708"/>
              <a:ext cx="1077537" cy="912164"/>
            </a:xfrm>
            <a:prstGeom prst="rect">
              <a:avLst/>
            </a:prstGeom>
            <a:noFill/>
          </p:spPr>
          <p:txBody>
            <a:bodyPr wrap="square" lIns="36576" rIns="36576" tIns="27432" bIns="27432" anchor="ctr">
              <a:noAutofit/>
            </a:bodyPr>
            <a:lstStyle/>
            <a:p>
              <a:pPr algn="ctr"/>
              <a:r>
                <a:rPr sz="1200" b="1" i="0">
                  <a:solidFill>
                    <a:srgbClr val="1A1A1A"/>
                  </a:solidFill>
                  <a:latin typeface="Arial"/>
                </a:rPr>
                <a:t>Nudge</a:t>
              </a:r>
              <a:r>
                <a:rPr sz="1200" b="0" i="0">
                  <a:solidFill>
                    <a:srgbClr val="1A1A1A"/>
                  </a:solidFill>
                  <a:latin typeface="Arial"/>
                </a:rPr>
                <a:t> 60% of gap</a:t>
              </a:r>
            </a:p>
          </p:txBody>
        </p:sp>
        <p:sp>
          <p:nvSpPr>
            <p:cNvPr id="88" name="Rounded Rectangle 87"/>
            <p:cNvSpPr/>
            <p:nvPr/>
          </p:nvSpPr>
          <p:spPr>
            <a:xfrm>
              <a:off x="4128722" y="4366372"/>
              <a:ext cx="1077537" cy="1332788"/>
            </a:xfrm>
            <a:prstGeom prst="roundRect">
              <a:avLst>
                <a:gd name="adj" fmla="val 4243"/>
              </a:avLst>
            </a:prstGeom>
            <a:solidFill>
              <a:srgbClr val="173D6B"/>
            </a:solidFill>
            <a:ln w="9525">
              <a:solidFill>
                <a:srgbClr val="466E9E"/>
              </a:solidFill>
            </a:ln>
          </p:spPr>
          <p:txBody>
            <a:bodyPr rtlCol="0" anchor="ctr"/>
            <a:lstStyle/>
            <a:p/>
          </p:txBody>
        </p:sp>
        <p:pic>
          <p:nvPicPr>
            <p:cNvPr id="89" name="Picture 88" descr="ic_fa6_FaForward_FFFFFF.png"/>
            <p:cNvPicPr>
              <a:picLocks noChangeAspect="1"/>
            </p:cNvPicPr>
            <p:nvPr/>
          </p:nvPicPr>
          <p:blipFill>
            <a:blip r:embed="rId10"/>
            <a:stretch>
              <a:fillRect/>
            </a:stretch>
          </p:blipFill>
          <p:spPr>
            <a:xfrm>
              <a:off x="4484610" y="4402948"/>
              <a:ext cx="365760" cy="365760"/>
            </a:xfrm>
            <a:prstGeom prst="rect">
              <a:avLst/>
            </a:prstGeom>
          </p:spPr>
        </p:pic>
        <p:sp>
          <p:nvSpPr>
            <p:cNvPr id="90" name="TextBox 89"/>
            <p:cNvSpPr txBox="1"/>
            <p:nvPr/>
          </p:nvSpPr>
          <p:spPr>
            <a:xfrm>
              <a:off x="4128722" y="4768708"/>
              <a:ext cx="1077537" cy="912164"/>
            </a:xfrm>
            <a:prstGeom prst="rect">
              <a:avLst/>
            </a:prstGeom>
            <a:noFill/>
          </p:spPr>
          <p:txBody>
            <a:bodyPr wrap="square" lIns="36576" rIns="36576" tIns="27432" bIns="27432" anchor="ctr">
              <a:noAutofit/>
            </a:bodyPr>
            <a:lstStyle/>
            <a:p>
              <a:pPr algn="ctr"/>
              <a:r>
                <a:rPr sz="1200" b="1" i="0">
                  <a:solidFill>
                    <a:srgbClr val="FFFFFF"/>
                  </a:solidFill>
                  <a:latin typeface="Arial"/>
                </a:rPr>
                <a:t>Project</a:t>
              </a:r>
              <a:r>
                <a:rPr sz="1200" b="0" i="0">
                  <a:solidFill>
                    <a:srgbClr val="FFFFFF"/>
                  </a:solidFill>
                  <a:latin typeface="Arial"/>
                </a:rPr>
                <a:t> 2 h ahead</a:t>
              </a:r>
            </a:p>
          </p:txBody>
        </p:sp>
        <p:cxnSp>
          <p:nvCxnSpPr>
            <p:cNvPr id="91" name="Connector 90"/>
            <p:cNvCxnSpPr>
              <a:stCxn id="79" idx="3"/>
              <a:endCxn id="82" idx="1"/>
            </p:cNvCxnSpPr>
            <p:nvPr/>
          </p:nvCxnSpPr>
          <p:spPr>
            <a:xfrm>
              <a:off x="1205553" y="5032766"/>
              <a:ext cx="256032" cy="0"/>
            </a:xfrm>
            <a:prstGeom prst="line">
              <a:avLst/>
            </a:prstGeom>
            <a:ln w="19050">
              <a:solidFill>
                <a:srgbClr val="1D4E8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Connector 91"/>
            <p:cNvCxnSpPr>
              <a:stCxn id="82" idx="3"/>
              <a:endCxn id="85" idx="1"/>
            </p:cNvCxnSpPr>
            <p:nvPr/>
          </p:nvCxnSpPr>
          <p:spPr>
            <a:xfrm>
              <a:off x="2539122" y="5032766"/>
              <a:ext cx="256031" cy="0"/>
            </a:xfrm>
            <a:prstGeom prst="line">
              <a:avLst/>
            </a:prstGeom>
            <a:ln w="19050">
              <a:solidFill>
                <a:srgbClr val="1D4E8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3" name="Connector 92"/>
            <p:cNvCxnSpPr>
              <a:stCxn id="85" idx="3"/>
              <a:endCxn id="88" idx="1"/>
            </p:cNvCxnSpPr>
            <p:nvPr/>
          </p:nvCxnSpPr>
          <p:spPr>
            <a:xfrm>
              <a:off x="3872690" y="5032766"/>
              <a:ext cx="256032" cy="0"/>
            </a:xfrm>
            <a:prstGeom prst="line">
              <a:avLst/>
            </a:prstGeom>
            <a:ln w="19050">
              <a:solidFill>
                <a:srgbClr val="1D4E8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4" name="ig:stat"/>
            <p:cNvSpPr/>
            <p:nvPr/>
          </p:nvSpPr>
          <p:spPr>
            <a:xfrm>
              <a:off x="128016" y="5763168"/>
              <a:ext cx="1221555" cy="413744"/>
            </a:xfrm>
            <a:prstGeom prst="roundRect">
              <a:avLst>
                <a:gd name="adj" fmla="val 6630"/>
              </a:avLst>
            </a:prstGeom>
            <a:solidFill>
              <a:srgbClr val="C9D5E3"/>
            </a:solidFill>
            <a:ln w="6350">
              <a:solidFill>
                <a:srgbClr val="BFBFBF"/>
              </a:solidFill>
            </a:ln>
          </p:spPr>
          <p:txBody>
            <a:bodyPr rtlCol="0" anchor="ctr" wrap="square" lIns="45720" rIns="45720" tIns="27432" bIns="27432">
              <a:noAutofit/>
            </a:bodyPr>
            <a:lstStyle/>
            <a:p>
              <a:pPr algn="ctr"/>
              <a:r>
                <a:rPr sz="1800" b="1" i="0">
                  <a:solidFill>
                    <a:srgbClr val="1A1A1A"/>
                  </a:solidFill>
                  <a:latin typeface="Arial"/>
                </a:rPr>
                <a:t>22.3</a:t>
              </a:r>
            </a:p>
          </p:txBody>
        </p:sp>
        <p:sp>
          <p:nvSpPr>
            <p:cNvPr id="95" name="TextBox 94"/>
            <p:cNvSpPr txBox="1"/>
            <p:nvPr/>
          </p:nvSpPr>
          <p:spPr>
            <a:xfrm>
              <a:off x="128016" y="6204344"/>
              <a:ext cx="1221555" cy="543928"/>
            </a:xfrm>
            <a:prstGeom prst="rect">
              <a:avLst/>
            </a:prstGeom>
            <a:noFill/>
          </p:spPr>
          <p:txBody>
            <a:bodyPr wrap="square" lIns="45720" rIns="45720" tIns="27432" bIns="27432" anchor="t">
              <a:noAutofit/>
            </a:bodyPr>
            <a:lstStyle/>
            <a:p>
              <a:pPr algn="ctr"/>
              <a:r>
                <a:rPr sz="1100" b="0" i="1">
                  <a:solidFill>
                    <a:srgbClr val="1A1A1A"/>
                  </a:solidFill>
                  <a:latin typeface="Arial"/>
                </a:rPr>
                <a:t>twin RMSE, 30 min</a:t>
              </a:r>
            </a:p>
          </p:txBody>
        </p:sp>
        <p:sp>
          <p:nvSpPr>
            <p:cNvPr id="96" name="ig:stat"/>
            <p:cNvSpPr/>
            <p:nvPr/>
          </p:nvSpPr>
          <p:spPr>
            <a:xfrm>
              <a:off x="1413579" y="5763168"/>
              <a:ext cx="1221555" cy="413744"/>
            </a:xfrm>
            <a:prstGeom prst="roundRect">
              <a:avLst>
                <a:gd name="adj" fmla="val 6630"/>
              </a:avLst>
            </a:prstGeom>
            <a:solidFill>
              <a:srgbClr val="C9D5E3"/>
            </a:solidFill>
            <a:ln w="6350">
              <a:solidFill>
                <a:srgbClr val="BFBFBF"/>
              </a:solidFill>
            </a:ln>
          </p:spPr>
          <p:txBody>
            <a:bodyPr rtlCol="0" anchor="ctr" wrap="square" lIns="45720" rIns="45720" tIns="27432" bIns="27432">
              <a:noAutofit/>
            </a:bodyPr>
            <a:lstStyle/>
            <a:p>
              <a:pPr algn="ctr"/>
              <a:r>
                <a:rPr sz="1800" b="1" i="0">
                  <a:solidFill>
                    <a:srgbClr val="1A1A1A"/>
                  </a:solidFill>
                  <a:latin typeface="Arial"/>
                </a:rPr>
                <a:t>27.1</a:t>
              </a:r>
            </a:p>
          </p:txBody>
        </p:sp>
        <p:sp>
          <p:nvSpPr>
            <p:cNvPr id="97" name="TextBox 96"/>
            <p:cNvSpPr txBox="1"/>
            <p:nvPr/>
          </p:nvSpPr>
          <p:spPr>
            <a:xfrm>
              <a:off x="1413579" y="6204344"/>
              <a:ext cx="1221555" cy="543928"/>
            </a:xfrm>
            <a:prstGeom prst="rect">
              <a:avLst/>
            </a:prstGeom>
            <a:noFill/>
          </p:spPr>
          <p:txBody>
            <a:bodyPr wrap="square" lIns="45720" rIns="45720" tIns="27432" bIns="27432" anchor="t">
              <a:noAutofit/>
            </a:bodyPr>
            <a:lstStyle/>
            <a:p>
              <a:pPr algn="ctr"/>
              <a:r>
                <a:rPr sz="1100" b="0" i="1">
                  <a:solidFill>
                    <a:srgbClr val="1A1A1A"/>
                  </a:solidFill>
                  <a:latin typeface="Arial"/>
                </a:rPr>
                <a:t>twin RMSE, 60 min</a:t>
              </a:r>
            </a:p>
          </p:txBody>
        </p:sp>
        <p:sp>
          <p:nvSpPr>
            <p:cNvPr id="98" name="ig:stat"/>
            <p:cNvSpPr/>
            <p:nvPr/>
          </p:nvSpPr>
          <p:spPr>
            <a:xfrm>
              <a:off x="2699141" y="5763168"/>
              <a:ext cx="1221555" cy="413744"/>
            </a:xfrm>
            <a:prstGeom prst="roundRect">
              <a:avLst>
                <a:gd name="adj" fmla="val 6630"/>
              </a:avLst>
            </a:prstGeom>
            <a:solidFill>
              <a:srgbClr val="C9D5E3"/>
            </a:solidFill>
            <a:ln w="6350">
              <a:solidFill>
                <a:srgbClr val="BFBFBF"/>
              </a:solidFill>
            </a:ln>
          </p:spPr>
          <p:txBody>
            <a:bodyPr rtlCol="0" anchor="ctr" wrap="square" lIns="45720" rIns="45720" tIns="27432" bIns="27432">
              <a:noAutofit/>
            </a:bodyPr>
            <a:lstStyle/>
            <a:p>
              <a:pPr algn="ctr"/>
              <a:r>
                <a:rPr sz="1800" b="1" i="0">
                  <a:solidFill>
                    <a:srgbClr val="1A1A1A"/>
                  </a:solidFill>
                  <a:latin typeface="Arial"/>
                </a:rPr>
                <a:t>43.1</a:t>
              </a:r>
            </a:p>
          </p:txBody>
        </p:sp>
        <p:sp>
          <p:nvSpPr>
            <p:cNvPr id="99" name="TextBox 98"/>
            <p:cNvSpPr txBox="1"/>
            <p:nvPr/>
          </p:nvSpPr>
          <p:spPr>
            <a:xfrm>
              <a:off x="2699141" y="6204344"/>
              <a:ext cx="1221555" cy="543928"/>
            </a:xfrm>
            <a:prstGeom prst="rect">
              <a:avLst/>
            </a:prstGeom>
            <a:noFill/>
          </p:spPr>
          <p:txBody>
            <a:bodyPr wrap="square" lIns="45720" rIns="45720" tIns="27432" bIns="27432" anchor="t">
              <a:noAutofit/>
            </a:bodyPr>
            <a:lstStyle/>
            <a:p>
              <a:pPr algn="ctr"/>
              <a:r>
                <a:rPr sz="1100" b="0" i="1">
                  <a:solidFill>
                    <a:srgbClr val="1A1A1A"/>
                  </a:solidFill>
                  <a:latin typeface="Arial"/>
                </a:rPr>
                <a:t>no-change, 60 min</a:t>
              </a:r>
            </a:p>
          </p:txBody>
        </p:sp>
        <p:sp>
          <p:nvSpPr>
            <p:cNvPr id="100" name="ig:stat"/>
            <p:cNvSpPr/>
            <p:nvPr/>
          </p:nvSpPr>
          <p:spPr>
            <a:xfrm>
              <a:off x="3984704" y="5763168"/>
              <a:ext cx="1221555" cy="413744"/>
            </a:xfrm>
            <a:prstGeom prst="roundRect">
              <a:avLst>
                <a:gd name="adj" fmla="val 6630"/>
              </a:avLst>
            </a:prstGeom>
            <a:solidFill>
              <a:srgbClr val="C9D5E3"/>
            </a:solidFill>
            <a:ln w="6350">
              <a:solidFill>
                <a:srgbClr val="BFBFBF"/>
              </a:solidFill>
            </a:ln>
          </p:spPr>
          <p:txBody>
            <a:bodyPr rtlCol="0" anchor="ctr" wrap="square" lIns="45720" rIns="45720" tIns="27432" bIns="27432">
              <a:noAutofit/>
            </a:bodyPr>
            <a:lstStyle/>
            <a:p>
              <a:pPr algn="ctr"/>
              <a:r>
                <a:rPr sz="1800" b="1" i="0">
                  <a:solidFill>
                    <a:srgbClr val="1A1A1A"/>
                  </a:solidFill>
                  <a:latin typeface="Arial"/>
                </a:rPr>
                <a:t>0.921</a:t>
              </a:r>
            </a:p>
          </p:txBody>
        </p:sp>
        <p:sp>
          <p:nvSpPr>
            <p:cNvPr id="101" name="TextBox 100"/>
            <p:cNvSpPr txBox="1"/>
            <p:nvPr/>
          </p:nvSpPr>
          <p:spPr>
            <a:xfrm>
              <a:off x="3984704" y="6204344"/>
              <a:ext cx="1221555" cy="543928"/>
            </a:xfrm>
            <a:prstGeom prst="rect">
              <a:avLst/>
            </a:prstGeom>
            <a:noFill/>
          </p:spPr>
          <p:txBody>
            <a:bodyPr wrap="square" lIns="45720" rIns="45720" tIns="27432" bIns="27432" anchor="t">
              <a:noAutofit/>
            </a:bodyPr>
            <a:lstStyle/>
            <a:p>
              <a:pPr algn="ctr"/>
              <a:r>
                <a:rPr sz="1100" b="0" i="1">
                  <a:solidFill>
                    <a:srgbClr val="1A1A1A"/>
                  </a:solidFill>
                  <a:latin typeface="Arial"/>
                </a:rPr>
                <a:t>AUROC, twin alone</a:t>
              </a:r>
            </a:p>
          </p:txBody>
        </p:sp>
      </p:grpSp>
      <p:grpSp>
        <p:nvGrpSpPr>
          <p:cNvPr id="102" name="Group 101"/>
          <p:cNvGrpSpPr/>
          <p:nvPr/>
        </p:nvGrpSpPr>
        <p:grpSpPr>
          <a:xfrm>
            <a:off x="5334274" y="4055476"/>
            <a:ext cx="6784269" cy="2747660"/>
            <a:chOff x="5334274" y="4055476"/>
            <a:chExt cx="6784269" cy="2747660"/>
          </a:xfrm>
        </p:grpSpPr>
        <p:sp>
          <p:nvSpPr>
            <p:cNvPr id="103" name="frame:What the twin can si"/>
            <p:cNvSpPr/>
            <p:nvPr/>
          </p:nvSpPr>
          <p:spPr>
            <a:xfrm>
              <a:off x="5334274" y="4192636"/>
              <a:ext cx="6784269" cy="2610500"/>
            </a:xfrm>
            <a:prstGeom prst="roundRect">
              <a:avLst>
                <a:gd name="adj" fmla="val 1751"/>
              </a:avLst>
            </a:prstGeom>
            <a:solidFill>
              <a:srgbClr val="F1F4F8"/>
            </a:solidFill>
            <a:ln w="15875">
              <a:solidFill>
                <a:srgbClr val="466E9E"/>
              </a:solidFill>
              <a:prstDash val="sysDot"/>
            </a:ln>
          </p:spPr>
          <p:txBody>
            <a:bodyPr rtlCol="0" anchor="ctr"/>
            <a:lstStyle/>
            <a:p/>
          </p:txBody>
        </p:sp>
        <p:sp>
          <p:nvSpPr>
            <p:cNvPr id="104" name="Rounded Rectangle 103"/>
            <p:cNvSpPr/>
            <p:nvPr/>
          </p:nvSpPr>
          <p:spPr>
            <a:xfrm>
              <a:off x="5334274" y="4055476"/>
              <a:ext cx="4204470" cy="274320"/>
            </a:xfrm>
            <a:prstGeom prst="roundRect">
              <a:avLst>
                <a:gd name="adj" fmla="val 13333"/>
              </a:avLst>
            </a:prstGeom>
            <a:solidFill>
              <a:srgbClr val="1D4E89"/>
            </a:solidFill>
            <a:ln>
              <a:noFill/>
            </a:ln>
          </p:spPr>
          <p:txBody>
            <a:bodyPr rtlCol="0" anchor="ctr"/>
            <a:lstStyle/>
            <a:p/>
          </p:txBody>
        </p:sp>
        <p:pic>
          <p:nvPicPr>
            <p:cNvPr id="105" name="Picture 104" descr="ic_fa6_FaFlask_FFFFFF.png"/>
            <p:cNvPicPr>
              <a:picLocks noChangeAspect="1"/>
            </p:cNvPicPr>
            <p:nvPr/>
          </p:nvPicPr>
          <p:blipFill>
            <a:blip r:embed="rId11"/>
            <a:stretch>
              <a:fillRect/>
            </a:stretch>
          </p:blipFill>
          <p:spPr>
            <a:xfrm>
              <a:off x="5389138" y="4092052"/>
              <a:ext cx="201168" cy="201168"/>
            </a:xfrm>
            <a:prstGeom prst="rect">
              <a:avLst/>
            </a:prstGeom>
          </p:spPr>
        </p:pic>
        <p:sp>
          <p:nvSpPr>
            <p:cNvPr id="106" name="TextBox 105"/>
            <p:cNvSpPr txBox="1"/>
            <p:nvPr/>
          </p:nvSpPr>
          <p:spPr>
            <a:xfrm>
              <a:off x="5636026" y="4055476"/>
              <a:ext cx="3875286" cy="274320"/>
            </a:xfrm>
            <a:prstGeom prst="rect">
              <a:avLst/>
            </a:prstGeom>
            <a:noFill/>
          </p:spPr>
          <p:txBody>
            <a:bodyPr wrap="square" lIns="9144" rIns="9144" tIns="9144" bIns="9144" anchor="ctr">
              <a:noAutofit/>
            </a:bodyPr>
            <a:lstStyle/>
            <a:p>
              <a:pPr algn="l"/>
              <a:r>
                <a:rPr sz="1200" b="1" i="0">
                  <a:solidFill>
                    <a:srgbClr val="FFFFFF"/>
                  </a:solidFill>
                  <a:latin typeface="Arial"/>
                </a:rPr>
                <a:t>What the twin can simulate (patient PT-0054, 12:30)</a:t>
              </a:r>
            </a:p>
          </p:txBody>
        </p:sp>
        <p:pic>
          <p:nvPicPr>
            <p:cNvPr id="107" name="Picture 106" descr="fig_whatif.png"/>
            <p:cNvPicPr>
              <a:picLocks noChangeAspect="1"/>
            </p:cNvPicPr>
            <p:nvPr/>
          </p:nvPicPr>
          <p:blipFill>
            <a:blip r:embed="rId12"/>
            <a:stretch>
              <a:fillRect/>
            </a:stretch>
          </p:blipFill>
          <p:spPr>
            <a:xfrm>
              <a:off x="5545717" y="4366372"/>
              <a:ext cx="3233790" cy="2381900"/>
            </a:xfrm>
            <a:prstGeom prst="rect">
              <a:avLst/>
            </a:prstGeom>
          </p:spPr>
        </p:pic>
        <p:sp>
          <p:nvSpPr>
            <p:cNvPr id="108" name="Rounded Rectangle 107"/>
            <p:cNvSpPr/>
            <p:nvPr/>
          </p:nvSpPr>
          <p:spPr>
            <a:xfrm>
              <a:off x="9000093" y="4366372"/>
              <a:ext cx="919579" cy="1158946"/>
            </a:xfrm>
            <a:prstGeom prst="roundRect">
              <a:avLst>
                <a:gd name="adj" fmla="val 5966"/>
              </a:avLst>
            </a:prstGeom>
            <a:solidFill>
              <a:srgbClr val="F1F4F8"/>
            </a:solidFill>
            <a:ln>
              <a:noFill/>
            </a:ln>
          </p:spPr>
          <p:txBody>
            <a:bodyPr rtlCol="0" anchor="ctr"/>
            <a:lstStyle/>
            <a:p/>
          </p:txBody>
        </p:sp>
        <p:pic>
          <p:nvPicPr>
            <p:cNvPr id="109" name="Picture 108" descr="rice_plate.png"/>
            <p:cNvPicPr>
              <a:picLocks noChangeAspect="1"/>
            </p:cNvPicPr>
            <p:nvPr/>
          </p:nvPicPr>
          <p:blipFill>
            <a:blip r:embed="rId13"/>
            <a:stretch>
              <a:fillRect/>
            </a:stretch>
          </p:blipFill>
          <p:spPr>
            <a:xfrm>
              <a:off x="9045813" y="4514370"/>
              <a:ext cx="828139" cy="606918"/>
            </a:xfrm>
            <a:prstGeom prst="rect">
              <a:avLst/>
            </a:prstGeom>
          </p:spPr>
        </p:pic>
        <p:sp>
          <p:nvSpPr>
            <p:cNvPr id="110" name="TextBox 109"/>
            <p:cNvSpPr txBox="1"/>
            <p:nvPr/>
          </p:nvSpPr>
          <p:spPr>
            <a:xfrm>
              <a:off x="9000093" y="5250998"/>
              <a:ext cx="919579" cy="274320"/>
            </a:xfrm>
            <a:prstGeom prst="rect">
              <a:avLst/>
            </a:prstGeom>
            <a:noFill/>
          </p:spPr>
          <p:txBody>
            <a:bodyPr wrap="square" lIns="45720" rIns="45720" tIns="27432" bIns="27432" anchor="ctr">
              <a:noAutofit/>
            </a:bodyPr>
            <a:lstStyle/>
            <a:p>
              <a:pPr algn="ctr"/>
              <a:r>
                <a:rPr sz="1000" b="1" i="0">
                  <a:solidFill>
                    <a:srgbClr val="173D6B"/>
                  </a:solidFill>
                  <a:latin typeface="Arial"/>
                </a:rPr>
                <a:t>Rice</a:t>
              </a:r>
            </a:p>
          </p:txBody>
        </p:sp>
        <p:sp>
          <p:nvSpPr>
            <p:cNvPr id="111" name="Rounded Rectangle 110"/>
            <p:cNvSpPr/>
            <p:nvPr/>
          </p:nvSpPr>
          <p:spPr>
            <a:xfrm>
              <a:off x="9000093" y="5589326"/>
              <a:ext cx="919579" cy="1158946"/>
            </a:xfrm>
            <a:prstGeom prst="roundRect">
              <a:avLst>
                <a:gd name="adj" fmla="val 5966"/>
              </a:avLst>
            </a:prstGeom>
            <a:solidFill>
              <a:srgbClr val="F1F4F8"/>
            </a:solidFill>
            <a:ln>
              <a:noFill/>
            </a:ln>
          </p:spPr>
          <p:txBody>
            <a:bodyPr rtlCol="0" anchor="ctr"/>
            <a:lstStyle/>
            <a:p/>
          </p:txBody>
        </p:sp>
        <p:pic>
          <p:nvPicPr>
            <p:cNvPr id="112" name="Picture 111" descr="millet_plate.png"/>
            <p:cNvPicPr>
              <a:picLocks noChangeAspect="1"/>
            </p:cNvPicPr>
            <p:nvPr/>
          </p:nvPicPr>
          <p:blipFill>
            <a:blip r:embed="rId14"/>
            <a:stretch>
              <a:fillRect/>
            </a:stretch>
          </p:blipFill>
          <p:spPr>
            <a:xfrm>
              <a:off x="9045813" y="5753211"/>
              <a:ext cx="828139" cy="575143"/>
            </a:xfrm>
            <a:prstGeom prst="rect">
              <a:avLst/>
            </a:prstGeom>
          </p:spPr>
        </p:pic>
        <p:sp>
          <p:nvSpPr>
            <p:cNvPr id="113" name="TextBox 112"/>
            <p:cNvSpPr txBox="1"/>
            <p:nvPr/>
          </p:nvSpPr>
          <p:spPr>
            <a:xfrm>
              <a:off x="9000093" y="6473952"/>
              <a:ext cx="919579" cy="274320"/>
            </a:xfrm>
            <a:prstGeom prst="rect">
              <a:avLst/>
            </a:prstGeom>
            <a:noFill/>
          </p:spPr>
          <p:txBody>
            <a:bodyPr wrap="square" lIns="45720" rIns="45720" tIns="27432" bIns="27432" anchor="ctr">
              <a:noAutofit/>
            </a:bodyPr>
            <a:lstStyle/>
            <a:p>
              <a:pPr algn="ctr"/>
              <a:r>
                <a:rPr sz="1000" b="1" i="0">
                  <a:solidFill>
                    <a:srgbClr val="173D6B"/>
                  </a:solidFill>
                  <a:latin typeface="Arial"/>
                </a:rPr>
                <a:t>Bajra roti</a:t>
              </a:r>
            </a:p>
          </p:txBody>
        </p:sp>
        <p:sp>
          <p:nvSpPr>
            <p:cNvPr id="114" name="Rounded Rectangle 113"/>
            <p:cNvSpPr/>
            <p:nvPr/>
          </p:nvSpPr>
          <p:spPr>
            <a:xfrm>
              <a:off x="9983680" y="4366372"/>
              <a:ext cx="858238" cy="554327"/>
            </a:xfrm>
            <a:prstGeom prst="roundRect">
              <a:avLst>
                <a:gd name="adj" fmla="val 8247"/>
              </a:avLst>
            </a:prstGeom>
            <a:solidFill>
              <a:srgbClr val="112F52"/>
            </a:solidFill>
            <a:ln>
              <a:noFill/>
            </a:ln>
          </p:spPr>
          <p:txBody>
            <a:bodyPr rtlCol="0" anchor="ctr" wrap="square" lIns="45720" rIns="45720" tIns="27432" bIns="27432">
              <a:noAutofit/>
            </a:bodyPr>
            <a:lstStyle/>
            <a:p>
              <a:pPr algn="ctr"/>
              <a:r>
                <a:rPr sz="1600" b="1" i="0">
                  <a:solidFill>
                    <a:srgbClr val="FFFFFF"/>
                  </a:solidFill>
                  <a:latin typeface="Arial"/>
                </a:rPr>
                <a:t>328</a:t>
              </a:r>
            </a:p>
          </p:txBody>
        </p:sp>
        <p:sp>
          <p:nvSpPr>
            <p:cNvPr id="115" name="Rounded Rectangle 114"/>
            <p:cNvSpPr/>
            <p:nvPr/>
          </p:nvSpPr>
          <p:spPr>
            <a:xfrm>
              <a:off x="10878494" y="4366372"/>
              <a:ext cx="1185186" cy="554327"/>
            </a:xfrm>
            <a:prstGeom prst="roundRect">
              <a:avLst>
                <a:gd name="adj" fmla="val 8247"/>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usual rice lunch, peak</a:t>
              </a:r>
            </a:p>
          </p:txBody>
        </p:sp>
        <p:sp>
          <p:nvSpPr>
            <p:cNvPr id="116" name="Rounded Rectangle 115"/>
            <p:cNvSpPr/>
            <p:nvPr/>
          </p:nvSpPr>
          <p:spPr>
            <a:xfrm>
              <a:off x="9983680" y="4975563"/>
              <a:ext cx="858238" cy="554327"/>
            </a:xfrm>
            <a:prstGeom prst="roundRect">
              <a:avLst>
                <a:gd name="adj" fmla="val 8247"/>
              </a:avLst>
            </a:prstGeom>
            <a:solidFill>
              <a:srgbClr val="112F52"/>
            </a:solidFill>
            <a:ln>
              <a:noFill/>
            </a:ln>
          </p:spPr>
          <p:txBody>
            <a:bodyPr rtlCol="0" anchor="ctr" wrap="square" lIns="45720" rIns="45720" tIns="27432" bIns="27432">
              <a:noAutofit/>
            </a:bodyPr>
            <a:lstStyle/>
            <a:p>
              <a:pPr algn="ctr"/>
              <a:r>
                <a:rPr sz="1600" b="1" i="0">
                  <a:solidFill>
                    <a:srgbClr val="FFFFFF"/>
                  </a:solidFill>
                  <a:latin typeface="Arial"/>
                </a:rPr>
                <a:t>220</a:t>
              </a:r>
            </a:p>
          </p:txBody>
        </p:sp>
        <p:sp>
          <p:nvSpPr>
            <p:cNvPr id="117" name="Rounded Rectangle 116"/>
            <p:cNvSpPr/>
            <p:nvPr/>
          </p:nvSpPr>
          <p:spPr>
            <a:xfrm>
              <a:off x="10878494" y="4975563"/>
              <a:ext cx="1185186" cy="554327"/>
            </a:xfrm>
            <a:prstGeom prst="roundRect">
              <a:avLst>
                <a:gd name="adj" fmla="val 8247"/>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bajra roti + dal</a:t>
              </a:r>
            </a:p>
          </p:txBody>
        </p:sp>
        <p:sp>
          <p:nvSpPr>
            <p:cNvPr id="118" name="Rounded Rectangle 117"/>
            <p:cNvSpPr/>
            <p:nvPr/>
          </p:nvSpPr>
          <p:spPr>
            <a:xfrm>
              <a:off x="9983680" y="5584754"/>
              <a:ext cx="858238" cy="554327"/>
            </a:xfrm>
            <a:prstGeom prst="roundRect">
              <a:avLst>
                <a:gd name="adj" fmla="val 8247"/>
              </a:avLst>
            </a:prstGeom>
            <a:solidFill>
              <a:srgbClr val="112F52"/>
            </a:solidFill>
            <a:ln>
              <a:noFill/>
            </a:ln>
          </p:spPr>
          <p:txBody>
            <a:bodyPr rtlCol="0" anchor="ctr" wrap="square" lIns="45720" rIns="45720" tIns="27432" bIns="27432">
              <a:noAutofit/>
            </a:bodyPr>
            <a:lstStyle/>
            <a:p>
              <a:pPr algn="ctr"/>
              <a:r>
                <a:rPr sz="1600" b="1" i="0">
                  <a:solidFill>
                    <a:srgbClr val="FFFFFF"/>
                  </a:solidFill>
                  <a:latin typeface="Arial"/>
                </a:rPr>
                <a:t>-108</a:t>
              </a:r>
            </a:p>
          </p:txBody>
        </p:sp>
        <p:sp>
          <p:nvSpPr>
            <p:cNvPr id="119" name="Rounded Rectangle 118"/>
            <p:cNvSpPr/>
            <p:nvPr/>
          </p:nvSpPr>
          <p:spPr>
            <a:xfrm>
              <a:off x="10878494" y="5584754"/>
              <a:ext cx="1185186" cy="554327"/>
            </a:xfrm>
            <a:prstGeom prst="roundRect">
              <a:avLst>
                <a:gd name="adj" fmla="val 8247"/>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mg/dL, one swap</a:t>
              </a:r>
            </a:p>
          </p:txBody>
        </p:sp>
        <p:sp>
          <p:nvSpPr>
            <p:cNvPr id="120" name="Rounded Rectangle 119"/>
            <p:cNvSpPr/>
            <p:nvPr/>
          </p:nvSpPr>
          <p:spPr>
            <a:xfrm>
              <a:off x="9983680" y="6193945"/>
              <a:ext cx="858238" cy="554327"/>
            </a:xfrm>
            <a:prstGeom prst="roundRect">
              <a:avLst>
                <a:gd name="adj" fmla="val 8247"/>
              </a:avLst>
            </a:prstGeom>
            <a:solidFill>
              <a:srgbClr val="112F52"/>
            </a:solidFill>
            <a:ln>
              <a:noFill/>
            </a:ln>
          </p:spPr>
          <p:txBody>
            <a:bodyPr rtlCol="0" anchor="ctr" wrap="square" lIns="45720" rIns="45720" tIns="27432" bIns="27432">
              <a:noAutofit/>
            </a:bodyPr>
            <a:lstStyle/>
            <a:p>
              <a:pPr algn="ctr"/>
              <a:r>
                <a:rPr sz="1600" b="1" i="0">
                  <a:solidFill>
                    <a:srgbClr val="FFFFFF"/>
                  </a:solidFill>
                  <a:latin typeface="Arial"/>
                </a:rPr>
                <a:t>313</a:t>
              </a:r>
            </a:p>
          </p:txBody>
        </p:sp>
        <p:sp>
          <p:nvSpPr>
            <p:cNvPr id="121" name="Rounded Rectangle 120"/>
            <p:cNvSpPr/>
            <p:nvPr/>
          </p:nvSpPr>
          <p:spPr>
            <a:xfrm>
              <a:off x="10878494" y="6193945"/>
              <a:ext cx="1185186" cy="554327"/>
            </a:xfrm>
            <a:prstGeom prst="roundRect">
              <a:avLst>
                <a:gd name="adj" fmla="val 8247"/>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same lunch + walk</a:t>
              </a:r>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v:0">
            <a:hlinkClick action="ppaction://hlinksldjump" r:id="rId14"/>
          </p:cNvPr>
          <p:cNvSpPr/>
          <p:nvPr/>
        </p:nvSpPr>
        <p:spPr>
          <a:xfrm>
            <a:off x="0" y="0"/>
            <a:ext cx="1359073" cy="457200"/>
          </a:xfrm>
          <a:prstGeom prst="homePlate">
            <a:avLst>
              <a:gd name="adj" fmla="val 34000"/>
            </a:avLst>
          </a:prstGeom>
          <a:solidFill>
            <a:srgbClr val="6587AF"/>
          </a:solidFill>
          <a:ln w="12700">
            <a:solidFill>
              <a:srgbClr val="FFFFFF"/>
            </a:solidFill>
          </a:ln>
        </p:spPr>
        <p:txBody>
          <a:bodyPr rtlCol="0" anchor="ctr"/>
          <a:lstStyle/>
          <a:p/>
        </p:txBody>
      </p:sp>
      <p:sp>
        <p:nvSpPr>
          <p:cNvPr id="3" name="nav:t0">
            <a:hlinkClick action="ppaction://hlinksldjump" r:id="rId14"/>
          </p:cNvPr>
          <p:cNvSpPr txBox="1"/>
          <p:nvPr/>
        </p:nvSpPr>
        <p:spPr>
          <a:xfrm>
            <a:off x="64008" y="0"/>
            <a:ext cx="1121329" cy="457200"/>
          </a:xfrm>
          <a:prstGeom prst="rect">
            <a:avLst/>
          </a:prstGeom>
          <a:noFill/>
        </p:spPr>
        <p:txBody>
          <a:bodyPr wrap="square" lIns="9144" rIns="9144" tIns="9144" bIns="9144" anchor="ctr">
            <a:noAutofit/>
          </a:bodyPr>
          <a:lstStyle/>
          <a:p>
            <a:pPr algn="ctr"/>
            <a:r>
              <a:rPr sz="1000" b="0" i="0">
                <a:solidFill>
                  <a:srgbClr val="FFFFFF"/>
                </a:solidFill>
                <a:latin typeface="Arial"/>
              </a:rPr>
              <a:t>Executive Summary</a:t>
            </a:r>
          </a:p>
        </p:txBody>
      </p:sp>
      <p:sp>
        <p:nvSpPr>
          <p:cNvPr id="4" name="nav:1">
            <a:hlinkClick action="ppaction://hlinksldjump" r:id="rId15"/>
          </p:cNvPr>
          <p:cNvSpPr/>
          <p:nvPr/>
        </p:nvSpPr>
        <p:spPr>
          <a:xfrm>
            <a:off x="1203625"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5" name="nav:t1">
            <a:hlinkClick action="ppaction://hlinksldjump" r:id="rId15"/>
          </p:cNvPr>
          <p:cNvSpPr txBox="1"/>
          <p:nvPr/>
        </p:nvSpPr>
        <p:spPr>
          <a:xfrm>
            <a:off x="1386505"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Problem</a:t>
            </a:r>
          </a:p>
        </p:txBody>
      </p:sp>
      <p:sp>
        <p:nvSpPr>
          <p:cNvPr id="6" name="nav:2">
            <a:hlinkClick action="ppaction://hlinksldjump" r:id="rId16"/>
          </p:cNvPr>
          <p:cNvSpPr/>
          <p:nvPr/>
        </p:nvSpPr>
        <p:spPr>
          <a:xfrm>
            <a:off x="2407249"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7" name="nav:t2">
            <a:hlinkClick action="ppaction://hlinksldjump" r:id="rId16"/>
          </p:cNvPr>
          <p:cNvSpPr txBox="1"/>
          <p:nvPr/>
        </p:nvSpPr>
        <p:spPr>
          <a:xfrm>
            <a:off x="2590129"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Solution</a:t>
            </a:r>
          </a:p>
        </p:txBody>
      </p:sp>
      <p:sp>
        <p:nvSpPr>
          <p:cNvPr id="8" name="nav:3">
            <a:hlinkClick action="ppaction://hlinksldjump" r:id="rId17"/>
          </p:cNvPr>
          <p:cNvSpPr/>
          <p:nvPr/>
        </p:nvSpPr>
        <p:spPr>
          <a:xfrm>
            <a:off x="3610874"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9" name="nav:t3">
            <a:hlinkClick action="ppaction://hlinksldjump" r:id="rId17"/>
          </p:cNvPr>
          <p:cNvSpPr txBox="1"/>
          <p:nvPr/>
        </p:nvSpPr>
        <p:spPr>
          <a:xfrm>
            <a:off x="3793754"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Data</a:t>
            </a:r>
          </a:p>
        </p:txBody>
      </p:sp>
      <p:sp>
        <p:nvSpPr>
          <p:cNvPr id="10" name="nav:4">
            <a:hlinkClick action="ppaction://hlinksldjump" r:id="rId18"/>
          </p:cNvPr>
          <p:cNvSpPr/>
          <p:nvPr/>
        </p:nvSpPr>
        <p:spPr>
          <a:xfrm>
            <a:off x="4814499"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1" name="nav:t4">
            <a:hlinkClick action="ppaction://hlinksldjump" r:id="rId18"/>
          </p:cNvPr>
          <p:cNvSpPr txBox="1"/>
          <p:nvPr/>
        </p:nvSpPr>
        <p:spPr>
          <a:xfrm>
            <a:off x="4997379"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Twin Engine</a:t>
            </a:r>
          </a:p>
        </p:txBody>
      </p:sp>
      <p:sp>
        <p:nvSpPr>
          <p:cNvPr id="12" name="nav:5"/>
          <p:cNvSpPr/>
          <p:nvPr/>
        </p:nvSpPr>
        <p:spPr>
          <a:xfrm>
            <a:off x="6018124" y="0"/>
            <a:ext cx="1359073" cy="457200"/>
          </a:xfrm>
          <a:prstGeom prst="chevron">
            <a:avLst>
              <a:gd name="adj" fmla="val 34000"/>
            </a:avLst>
          </a:prstGeom>
          <a:solidFill>
            <a:srgbClr val="112F52"/>
          </a:solidFill>
          <a:ln w="12700">
            <a:solidFill>
              <a:srgbClr val="FFFFFF"/>
            </a:solidFill>
          </a:ln>
        </p:spPr>
        <p:txBody>
          <a:bodyPr rtlCol="0" anchor="ctr"/>
          <a:lstStyle/>
          <a:p/>
        </p:txBody>
      </p:sp>
      <p:sp>
        <p:nvSpPr>
          <p:cNvPr id="13" name="nav:t5"/>
          <p:cNvSpPr txBox="1"/>
          <p:nvPr/>
        </p:nvSpPr>
        <p:spPr>
          <a:xfrm>
            <a:off x="6201004" y="0"/>
            <a:ext cx="1002457" cy="457200"/>
          </a:xfrm>
          <a:prstGeom prst="rect">
            <a:avLst/>
          </a:prstGeom>
          <a:noFill/>
        </p:spPr>
        <p:txBody>
          <a:bodyPr wrap="square" lIns="9144" rIns="9144" tIns="9144" bIns="9144" anchor="ctr">
            <a:noAutofit/>
          </a:bodyPr>
          <a:lstStyle/>
          <a:p>
            <a:pPr algn="ctr"/>
            <a:r>
              <a:rPr sz="1000" b="1" i="0">
                <a:solidFill>
                  <a:srgbClr val="FFFFFF"/>
                </a:solidFill>
                <a:latin typeface="Arial"/>
              </a:rPr>
              <a:t>AI Model</a:t>
            </a:r>
          </a:p>
        </p:txBody>
      </p:sp>
      <p:sp>
        <p:nvSpPr>
          <p:cNvPr id="14" name="nav:6">
            <a:hlinkClick action="ppaction://hlinksldjump" r:id="rId19"/>
          </p:cNvPr>
          <p:cNvSpPr/>
          <p:nvPr/>
        </p:nvSpPr>
        <p:spPr>
          <a:xfrm>
            <a:off x="7221748"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5" name="nav:t6">
            <a:hlinkClick action="ppaction://hlinksldjump" r:id="rId19"/>
          </p:cNvPr>
          <p:cNvSpPr txBox="1"/>
          <p:nvPr/>
        </p:nvSpPr>
        <p:spPr>
          <a:xfrm>
            <a:off x="7404628"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Results</a:t>
            </a:r>
          </a:p>
        </p:txBody>
      </p:sp>
      <p:sp>
        <p:nvSpPr>
          <p:cNvPr id="16" name="nav:7">
            <a:hlinkClick action="ppaction://hlinksldjump" r:id="rId20"/>
          </p:cNvPr>
          <p:cNvSpPr/>
          <p:nvPr/>
        </p:nvSpPr>
        <p:spPr>
          <a:xfrm>
            <a:off x="8425373"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7" name="nav:t7">
            <a:hlinkClick action="ppaction://hlinksldjump" r:id="rId20"/>
          </p:cNvPr>
          <p:cNvSpPr txBox="1"/>
          <p:nvPr/>
        </p:nvSpPr>
        <p:spPr>
          <a:xfrm>
            <a:off x="8608253"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Dashboard</a:t>
            </a:r>
          </a:p>
        </p:txBody>
      </p:sp>
      <p:sp>
        <p:nvSpPr>
          <p:cNvPr id="18" name="nav:8">
            <a:hlinkClick action="ppaction://hlinksldjump" r:id="rId21"/>
          </p:cNvPr>
          <p:cNvSpPr/>
          <p:nvPr/>
        </p:nvSpPr>
        <p:spPr>
          <a:xfrm>
            <a:off x="9628998"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9" name="nav:t8">
            <a:hlinkClick action="ppaction://hlinksldjump" r:id="rId21"/>
          </p:cNvPr>
          <p:cNvSpPr txBox="1"/>
          <p:nvPr/>
        </p:nvSpPr>
        <p:spPr>
          <a:xfrm>
            <a:off x="9811878"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Impact</a:t>
            </a:r>
          </a:p>
        </p:txBody>
      </p:sp>
      <p:sp>
        <p:nvSpPr>
          <p:cNvPr id="20" name="nav:9">
            <a:hlinkClick action="ppaction://hlinksldjump" r:id="rId22"/>
          </p:cNvPr>
          <p:cNvSpPr/>
          <p:nvPr/>
        </p:nvSpPr>
        <p:spPr>
          <a:xfrm>
            <a:off x="10832622"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21" name="nav:t9">
            <a:hlinkClick action="ppaction://hlinksldjump" r:id="rId22"/>
          </p:cNvPr>
          <p:cNvSpPr txBox="1"/>
          <p:nvPr/>
        </p:nvSpPr>
        <p:spPr>
          <a:xfrm>
            <a:off x="11015502"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Roadmap &amp; Cost</a:t>
            </a:r>
          </a:p>
        </p:txBody>
      </p:sp>
      <p:sp>
        <p:nvSpPr>
          <p:cNvPr id="22" name="TextBox 21"/>
          <p:cNvSpPr txBox="1"/>
          <p:nvPr/>
        </p:nvSpPr>
        <p:spPr>
          <a:xfrm>
            <a:off x="73152" y="502920"/>
            <a:ext cx="12045391" cy="329184"/>
          </a:xfrm>
          <a:prstGeom prst="rect">
            <a:avLst/>
          </a:prstGeom>
          <a:noFill/>
        </p:spPr>
        <p:txBody>
          <a:bodyPr wrap="square" lIns="18288" rIns="18288" tIns="18288" bIns="18288" anchor="ctr">
            <a:noAutofit/>
          </a:bodyPr>
          <a:lstStyle/>
          <a:p>
            <a:pPr algn="l"/>
            <a:r>
              <a:rPr sz="1600" b="1" i="0">
                <a:solidFill>
                  <a:srgbClr val="1D4E89"/>
                </a:solidFill>
                <a:latin typeface="Arial"/>
              </a:rPr>
              <a:t>81 fused features feed a LightGBM model, tested honestly on unseen patients and an unseen week</a:t>
            </a:r>
          </a:p>
        </p:txBody>
      </p:sp>
      <p:sp>
        <p:nvSpPr>
          <p:cNvPr id="23" name="TextBox 22"/>
          <p:cNvSpPr txBox="1"/>
          <p:nvPr/>
        </p:nvSpPr>
        <p:spPr>
          <a:xfrm>
            <a:off x="73152" y="795528"/>
            <a:ext cx="12045391" cy="237744"/>
          </a:xfrm>
          <a:prstGeom prst="rect">
            <a:avLst/>
          </a:prstGeom>
          <a:noFill/>
        </p:spPr>
        <p:txBody>
          <a:bodyPr wrap="square" lIns="18288" rIns="18288" tIns="18288" bIns="18288" anchor="ctr">
            <a:noAutofit/>
          </a:bodyPr>
          <a:lstStyle/>
          <a:p>
            <a:pPr algn="l"/>
            <a:r>
              <a:rPr sz="1200" b="1" i="0">
                <a:solidFill>
                  <a:srgbClr val="4A5168"/>
                </a:solidFill>
                <a:latin typeface="Arial"/>
              </a:rPr>
              <a:t>Target: onset of a CGM excursion above 180 mg/dL lasting 15+ minutes within the next 120 minutes</a:t>
            </a:r>
          </a:p>
        </p:txBody>
      </p:sp>
      <p:cxnSp>
        <p:nvCxnSpPr>
          <p:cNvPr id="24" name="Connector 23"/>
          <p:cNvCxnSpPr/>
          <p:nvPr/>
        </p:nvCxnSpPr>
        <p:spPr>
          <a:xfrm>
            <a:off x="73152" y="1042416"/>
            <a:ext cx="12045391" cy="0"/>
          </a:xfrm>
          <a:prstGeom prst="line">
            <a:avLst/>
          </a:prstGeom>
          <a:ln w="19050">
            <a:solidFill>
              <a:srgbClr val="1D4E89"/>
            </a:solidFill>
          </a:ln>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73152" y="1097280"/>
            <a:ext cx="4015942" cy="2747660"/>
            <a:chOff x="73152" y="1097280"/>
            <a:chExt cx="4015942" cy="2747660"/>
          </a:xfrm>
        </p:grpSpPr>
        <p:sp>
          <p:nvSpPr>
            <p:cNvPr id="26" name="frame:Four feature familie"/>
            <p:cNvSpPr/>
            <p:nvPr/>
          </p:nvSpPr>
          <p:spPr>
            <a:xfrm>
              <a:off x="73152" y="1234440"/>
              <a:ext cx="4015942" cy="2610500"/>
            </a:xfrm>
            <a:prstGeom prst="roundRect">
              <a:avLst>
                <a:gd name="adj" fmla="val 1751"/>
              </a:avLst>
            </a:prstGeom>
            <a:solidFill>
              <a:srgbClr val="F1F4F8"/>
            </a:solidFill>
            <a:ln w="15875">
              <a:solidFill>
                <a:srgbClr val="466E9E"/>
              </a:solidFill>
              <a:prstDash val="sysDot"/>
            </a:ln>
          </p:spPr>
          <p:txBody>
            <a:bodyPr rtlCol="0" anchor="ctr"/>
            <a:lstStyle/>
            <a:p/>
          </p:txBody>
        </p:sp>
        <p:sp>
          <p:nvSpPr>
            <p:cNvPr id="27" name="Rounded Rectangle 26"/>
            <p:cNvSpPr/>
            <p:nvPr/>
          </p:nvSpPr>
          <p:spPr>
            <a:xfrm>
              <a:off x="73152" y="1097280"/>
              <a:ext cx="2011081" cy="274320"/>
            </a:xfrm>
            <a:prstGeom prst="roundRect">
              <a:avLst>
                <a:gd name="adj" fmla="val 13333"/>
              </a:avLst>
            </a:prstGeom>
            <a:solidFill>
              <a:srgbClr val="1D4E89"/>
            </a:solidFill>
            <a:ln>
              <a:noFill/>
            </a:ln>
          </p:spPr>
          <p:txBody>
            <a:bodyPr rtlCol="0" anchor="ctr"/>
            <a:lstStyle/>
            <a:p/>
          </p:txBody>
        </p:sp>
        <p:pic>
          <p:nvPicPr>
            <p:cNvPr id="28" name="Picture 27" descr="ic_fa6_FaLayerGroup_FFFFFF.png"/>
            <p:cNvPicPr>
              <a:picLocks noChangeAspect="1"/>
            </p:cNvPicPr>
            <p:nvPr/>
          </p:nvPicPr>
          <p:blipFill>
            <a:blip r:embed="rId2"/>
            <a:stretch>
              <a:fillRect/>
            </a:stretch>
          </p:blipFill>
          <p:spPr>
            <a:xfrm>
              <a:off x="128016" y="1133856"/>
              <a:ext cx="201168" cy="201168"/>
            </a:xfrm>
            <a:prstGeom prst="rect">
              <a:avLst/>
            </a:prstGeom>
          </p:spPr>
        </p:pic>
        <p:sp>
          <p:nvSpPr>
            <p:cNvPr id="29" name="TextBox 28"/>
            <p:cNvSpPr txBox="1"/>
            <p:nvPr/>
          </p:nvSpPr>
          <p:spPr>
            <a:xfrm>
              <a:off x="374904" y="1097280"/>
              <a:ext cx="1681897" cy="274320"/>
            </a:xfrm>
            <a:prstGeom prst="rect">
              <a:avLst/>
            </a:prstGeom>
            <a:noFill/>
          </p:spPr>
          <p:txBody>
            <a:bodyPr wrap="square" lIns="9144" rIns="9144" tIns="9144" bIns="9144" anchor="ctr">
              <a:noAutofit/>
            </a:bodyPr>
            <a:lstStyle/>
            <a:p>
              <a:pPr algn="l"/>
              <a:r>
                <a:rPr sz="1200" b="1" i="0">
                  <a:solidFill>
                    <a:srgbClr val="FFFFFF"/>
                  </a:solidFill>
                  <a:latin typeface="Arial"/>
                </a:rPr>
                <a:t>Four feature families</a:t>
              </a:r>
            </a:p>
          </p:txBody>
        </p:sp>
        <p:sp>
          <p:nvSpPr>
            <p:cNvPr id="30" name="Rounded Rectangle 29"/>
            <p:cNvSpPr/>
            <p:nvPr/>
          </p:nvSpPr>
          <p:spPr>
            <a:xfrm>
              <a:off x="128016" y="1408176"/>
              <a:ext cx="773928" cy="561185"/>
            </a:xfrm>
            <a:prstGeom prst="roundRect">
              <a:avLst>
                <a:gd name="adj" fmla="val 8147"/>
              </a:avLst>
            </a:prstGeom>
            <a:solidFill>
              <a:srgbClr val="1D4E89"/>
            </a:solidFill>
            <a:ln>
              <a:noFill/>
            </a:ln>
          </p:spPr>
          <p:txBody>
            <a:bodyPr rtlCol="0" anchor="ctr" wrap="square" lIns="45720" rIns="45720" tIns="27432" bIns="27432">
              <a:noAutofit/>
            </a:bodyPr>
            <a:lstStyle/>
            <a:p>
              <a:pPr algn="ctr"/>
              <a:r>
                <a:rPr sz="1300" b="1" i="0">
                  <a:solidFill>
                    <a:srgbClr val="FFFFFF"/>
                  </a:solidFill>
                  <a:latin typeface="Arial"/>
                </a:rPr>
                <a:t>E</a:t>
              </a:r>
            </a:p>
            <a:p>
              <a:pPr algn="ctr"/>
              <a:r>
                <a:rPr sz="1300" b="1" i="0">
                  <a:solidFill>
                    <a:srgbClr val="FFFFFF"/>
                  </a:solidFill>
                  <a:latin typeface="Arial"/>
                </a:rPr>
                <a:t>23</a:t>
              </a:r>
            </a:p>
          </p:txBody>
        </p:sp>
        <p:sp>
          <p:nvSpPr>
            <p:cNvPr id="31" name="Rounded Rectangle 30"/>
            <p:cNvSpPr/>
            <p:nvPr/>
          </p:nvSpPr>
          <p:spPr>
            <a:xfrm>
              <a:off x="938520" y="1408176"/>
              <a:ext cx="3095710" cy="561185"/>
            </a:xfrm>
            <a:prstGeom prst="roundRect">
              <a:avLst>
                <a:gd name="adj" fmla="val 8147"/>
              </a:avLst>
            </a:prstGeom>
            <a:solidFill>
              <a:srgbClr val="FFFFFF"/>
            </a:solidFill>
            <a:ln w="9525">
              <a:solidFill>
                <a:srgbClr val="466E9E"/>
              </a:solidFill>
              <a:prstDash val="sysDot"/>
            </a:ln>
          </p:spPr>
          <p:txBody>
            <a:bodyPr rtlCol="0" anchor="ctr" wrap="square" lIns="45720" rIns="45720" tIns="27432" bIns="27432">
              <a:noAutofit/>
            </a:bodyPr>
            <a:lstStyle/>
            <a:p>
              <a:pPr algn="l"/>
              <a:r>
                <a:rPr sz="1100" b="1" i="0">
                  <a:solidFill>
                    <a:srgbClr val="1A1A1A"/>
                  </a:solidFill>
                  <a:latin typeface="Arial"/>
                </a:rPr>
                <a:t>EHR</a:t>
              </a:r>
              <a:r>
                <a:rPr sz="1100" b="0" i="0">
                  <a:solidFill>
                    <a:srgbClr val="1A1A1A"/>
                  </a:solidFill>
                  <a:latin typeface="Arial"/>
                </a:rPr>
                <a:t>: HbA1c and trend, FPG, BMI, duration, meds, TCF7L2, PRS, lipids, eGFR</a:t>
              </a:r>
            </a:p>
          </p:txBody>
        </p:sp>
        <p:sp>
          <p:nvSpPr>
            <p:cNvPr id="32" name="Rounded Rectangle 31"/>
            <p:cNvSpPr/>
            <p:nvPr/>
          </p:nvSpPr>
          <p:spPr>
            <a:xfrm>
              <a:off x="128016" y="2015081"/>
              <a:ext cx="773928" cy="561185"/>
            </a:xfrm>
            <a:prstGeom prst="roundRect">
              <a:avLst>
                <a:gd name="adj" fmla="val 8147"/>
              </a:avLst>
            </a:prstGeom>
            <a:solidFill>
              <a:srgbClr val="1D4E89"/>
            </a:solidFill>
            <a:ln>
              <a:noFill/>
            </a:ln>
          </p:spPr>
          <p:txBody>
            <a:bodyPr rtlCol="0" anchor="ctr" wrap="square" lIns="45720" rIns="45720" tIns="27432" bIns="27432">
              <a:noAutofit/>
            </a:bodyPr>
            <a:lstStyle/>
            <a:p>
              <a:pPr algn="ctr"/>
              <a:r>
                <a:rPr sz="1300" b="1" i="0">
                  <a:solidFill>
                    <a:srgbClr val="FFFFFF"/>
                  </a:solidFill>
                  <a:latin typeface="Arial"/>
                </a:rPr>
                <a:t>W</a:t>
              </a:r>
            </a:p>
            <a:p>
              <a:pPr algn="ctr"/>
              <a:r>
                <a:rPr sz="1300" b="1" i="0">
                  <a:solidFill>
                    <a:srgbClr val="FFFFFF"/>
                  </a:solidFill>
                  <a:latin typeface="Arial"/>
                </a:rPr>
                <a:t>40</a:t>
              </a:r>
            </a:p>
          </p:txBody>
        </p:sp>
        <p:sp>
          <p:nvSpPr>
            <p:cNvPr id="33" name="Rounded Rectangle 32"/>
            <p:cNvSpPr/>
            <p:nvPr/>
          </p:nvSpPr>
          <p:spPr>
            <a:xfrm>
              <a:off x="938520" y="2015081"/>
              <a:ext cx="3095710" cy="561185"/>
            </a:xfrm>
            <a:prstGeom prst="roundRect">
              <a:avLst>
                <a:gd name="adj" fmla="val 8147"/>
              </a:avLst>
            </a:prstGeom>
            <a:solidFill>
              <a:srgbClr val="FFFFFF"/>
            </a:solidFill>
            <a:ln w="9525">
              <a:solidFill>
                <a:srgbClr val="466E9E"/>
              </a:solidFill>
              <a:prstDash val="sysDot"/>
            </a:ln>
          </p:spPr>
          <p:txBody>
            <a:bodyPr rtlCol="0" anchor="ctr" wrap="square" lIns="45720" rIns="45720" tIns="27432" bIns="27432">
              <a:noAutofit/>
            </a:bodyPr>
            <a:lstStyle/>
            <a:p>
              <a:pPr algn="l"/>
              <a:r>
                <a:rPr sz="1100" b="1" i="0">
                  <a:solidFill>
                    <a:srgbClr val="1A1A1A"/>
                  </a:solidFill>
                  <a:latin typeface="Arial"/>
                </a:rPr>
                <a:t>Wearables</a:t>
              </a:r>
              <a:r>
                <a:rPr sz="1100" b="0" i="0">
                  <a:solidFill>
                    <a:srgbClr val="1A1A1A"/>
                  </a:solidFill>
                  <a:latin typeface="Arial"/>
                </a:rPr>
                <a:t>: CGM level, slopes, variability; carbs, steps, HR, HRV, sleep</a:t>
              </a:r>
            </a:p>
          </p:txBody>
        </p:sp>
        <p:sp>
          <p:nvSpPr>
            <p:cNvPr id="34" name="Rounded Rectangle 33"/>
            <p:cNvSpPr/>
            <p:nvPr/>
          </p:nvSpPr>
          <p:spPr>
            <a:xfrm>
              <a:off x="128016" y="2621986"/>
              <a:ext cx="773928" cy="561185"/>
            </a:xfrm>
            <a:prstGeom prst="roundRect">
              <a:avLst>
                <a:gd name="adj" fmla="val 8147"/>
              </a:avLst>
            </a:prstGeom>
            <a:solidFill>
              <a:srgbClr val="1D4E89"/>
            </a:solidFill>
            <a:ln>
              <a:noFill/>
            </a:ln>
          </p:spPr>
          <p:txBody>
            <a:bodyPr rtlCol="0" anchor="ctr" wrap="square" lIns="45720" rIns="45720" tIns="27432" bIns="27432">
              <a:noAutofit/>
            </a:bodyPr>
            <a:lstStyle/>
            <a:p>
              <a:pPr algn="ctr"/>
              <a:r>
                <a:rPr sz="1300" b="1" i="0">
                  <a:solidFill>
                    <a:srgbClr val="FFFFFF"/>
                  </a:solidFill>
                  <a:latin typeface="Arial"/>
                </a:rPr>
                <a:t>R</a:t>
              </a:r>
            </a:p>
            <a:p>
              <a:pPr algn="ctr"/>
              <a:r>
                <a:rPr sz="1300" b="1" i="0">
                  <a:solidFill>
                    <a:srgbClr val="FFFFFF"/>
                  </a:solidFill>
                  <a:latin typeface="Arial"/>
                </a:rPr>
                <a:t>5</a:t>
              </a:r>
            </a:p>
          </p:txBody>
        </p:sp>
        <p:sp>
          <p:nvSpPr>
            <p:cNvPr id="35" name="Rounded Rectangle 34"/>
            <p:cNvSpPr/>
            <p:nvPr/>
          </p:nvSpPr>
          <p:spPr>
            <a:xfrm>
              <a:off x="938520" y="2621986"/>
              <a:ext cx="3095710" cy="561185"/>
            </a:xfrm>
            <a:prstGeom prst="roundRect">
              <a:avLst>
                <a:gd name="adj" fmla="val 8147"/>
              </a:avLst>
            </a:prstGeom>
            <a:solidFill>
              <a:srgbClr val="FFFFFF"/>
            </a:solidFill>
            <a:ln w="9525">
              <a:solidFill>
                <a:srgbClr val="466E9E"/>
              </a:solidFill>
              <a:prstDash val="sysDot"/>
            </a:ln>
          </p:spPr>
          <p:txBody>
            <a:bodyPr rtlCol="0" anchor="ctr" wrap="square" lIns="45720" rIns="45720" tIns="27432" bIns="27432">
              <a:noAutofit/>
            </a:bodyPr>
            <a:lstStyle/>
            <a:p>
              <a:pPr algn="l"/>
              <a:r>
                <a:rPr sz="1100" b="1" i="0">
                  <a:solidFill>
                    <a:srgbClr val="1A1A1A"/>
                  </a:solidFill>
                  <a:latin typeface="Arial"/>
                </a:rPr>
                <a:t>Routine</a:t>
              </a:r>
              <a:r>
                <a:rPr sz="1100" b="0" i="0">
                  <a:solidFill>
                    <a:srgbClr val="1A1A1A"/>
                  </a:solidFill>
                  <a:latin typeface="Arial"/>
                </a:rPr>
                <a:t>: usual spike rate, carbs and meal time at this hour, from week 1</a:t>
              </a:r>
            </a:p>
          </p:txBody>
        </p:sp>
        <p:sp>
          <p:nvSpPr>
            <p:cNvPr id="36" name="Rounded Rectangle 35"/>
            <p:cNvSpPr/>
            <p:nvPr/>
          </p:nvSpPr>
          <p:spPr>
            <a:xfrm>
              <a:off x="128016" y="3228891"/>
              <a:ext cx="773928" cy="561185"/>
            </a:xfrm>
            <a:prstGeom prst="roundRect">
              <a:avLst>
                <a:gd name="adj" fmla="val 8147"/>
              </a:avLst>
            </a:prstGeom>
            <a:solidFill>
              <a:srgbClr val="112F52"/>
            </a:solidFill>
            <a:ln>
              <a:noFill/>
            </a:ln>
          </p:spPr>
          <p:txBody>
            <a:bodyPr rtlCol="0" anchor="ctr" wrap="square" lIns="45720" rIns="45720" tIns="27432" bIns="27432">
              <a:noAutofit/>
            </a:bodyPr>
            <a:lstStyle/>
            <a:p>
              <a:pPr algn="ctr"/>
              <a:r>
                <a:rPr sz="1300" b="1" i="0">
                  <a:solidFill>
                    <a:srgbClr val="FFFFFF"/>
                  </a:solidFill>
                  <a:latin typeface="Arial"/>
                </a:rPr>
                <a:t>T</a:t>
              </a:r>
            </a:p>
            <a:p>
              <a:pPr algn="ctr"/>
              <a:r>
                <a:rPr sz="1300" b="1" i="0">
                  <a:solidFill>
                    <a:srgbClr val="FFFFFF"/>
                  </a:solidFill>
                  <a:latin typeface="Arial"/>
                </a:rPr>
                <a:t>13</a:t>
              </a:r>
            </a:p>
          </p:txBody>
        </p:sp>
        <p:sp>
          <p:nvSpPr>
            <p:cNvPr id="37" name="Rounded Rectangle 36"/>
            <p:cNvSpPr/>
            <p:nvPr/>
          </p:nvSpPr>
          <p:spPr>
            <a:xfrm>
              <a:off x="938520" y="3228891"/>
              <a:ext cx="3095710" cy="561185"/>
            </a:xfrm>
            <a:prstGeom prst="roundRect">
              <a:avLst>
                <a:gd name="adj" fmla="val 8147"/>
              </a:avLst>
            </a:prstGeom>
            <a:solidFill>
              <a:srgbClr val="FFFFFF"/>
            </a:solidFill>
            <a:ln w="9525">
              <a:solidFill>
                <a:srgbClr val="466E9E"/>
              </a:solidFill>
              <a:prstDash val="sysDot"/>
            </a:ln>
          </p:spPr>
          <p:txBody>
            <a:bodyPr rtlCol="0" anchor="ctr" wrap="square" lIns="45720" rIns="45720" tIns="27432" bIns="27432">
              <a:noAutofit/>
            </a:bodyPr>
            <a:lstStyle/>
            <a:p>
              <a:pPr algn="l"/>
              <a:r>
                <a:rPr sz="1100" b="1" i="0">
                  <a:solidFill>
                    <a:srgbClr val="1A1A1A"/>
                  </a:solidFill>
                  <a:latin typeface="Arial"/>
                </a:rPr>
                <a:t>Twin</a:t>
              </a:r>
              <a:r>
                <a:rPr sz="1100" b="0" i="0">
                  <a:solidFill>
                    <a:srgbClr val="1A1A1A"/>
                  </a:solidFill>
                  <a:latin typeface="Arial"/>
                </a:rPr>
                <a:t>: forecasts, peak if usual meal, carbs on board, insulin action</a:t>
              </a:r>
            </a:p>
          </p:txBody>
        </p:sp>
      </p:grpSp>
      <p:grpSp>
        <p:nvGrpSpPr>
          <p:cNvPr id="38" name="Group 37"/>
          <p:cNvGrpSpPr/>
          <p:nvPr/>
        </p:nvGrpSpPr>
        <p:grpSpPr>
          <a:xfrm>
            <a:off x="4162246" y="1097280"/>
            <a:ext cx="3718465" cy="2747660"/>
            <a:chOff x="4162246" y="1097280"/>
            <a:chExt cx="3718465" cy="2747660"/>
          </a:xfrm>
        </p:grpSpPr>
        <p:sp>
          <p:nvSpPr>
            <p:cNvPr id="39" name="frame:Evaluation protocol"/>
            <p:cNvSpPr/>
            <p:nvPr/>
          </p:nvSpPr>
          <p:spPr>
            <a:xfrm>
              <a:off x="4162246" y="1234440"/>
              <a:ext cx="3718465" cy="2610500"/>
            </a:xfrm>
            <a:prstGeom prst="roundRect">
              <a:avLst>
                <a:gd name="adj" fmla="val 1751"/>
              </a:avLst>
            </a:prstGeom>
            <a:solidFill>
              <a:srgbClr val="F1F4F8"/>
            </a:solidFill>
            <a:ln w="15875">
              <a:solidFill>
                <a:srgbClr val="466E9E"/>
              </a:solidFill>
              <a:prstDash val="sysDot"/>
            </a:ln>
          </p:spPr>
          <p:txBody>
            <a:bodyPr rtlCol="0" anchor="ctr"/>
            <a:lstStyle/>
            <a:p/>
          </p:txBody>
        </p:sp>
        <p:sp>
          <p:nvSpPr>
            <p:cNvPr id="40" name="Rounded Rectangle 39"/>
            <p:cNvSpPr/>
            <p:nvPr/>
          </p:nvSpPr>
          <p:spPr>
            <a:xfrm>
              <a:off x="4162246" y="1097280"/>
              <a:ext cx="1934563" cy="274320"/>
            </a:xfrm>
            <a:prstGeom prst="roundRect">
              <a:avLst>
                <a:gd name="adj" fmla="val 13333"/>
              </a:avLst>
            </a:prstGeom>
            <a:solidFill>
              <a:srgbClr val="1D4E89"/>
            </a:solidFill>
            <a:ln>
              <a:noFill/>
            </a:ln>
          </p:spPr>
          <p:txBody>
            <a:bodyPr rtlCol="0" anchor="ctr"/>
            <a:lstStyle/>
            <a:p/>
          </p:txBody>
        </p:sp>
        <p:pic>
          <p:nvPicPr>
            <p:cNvPr id="41" name="Picture 40" descr="ic_fa6_FaVialCircleCheck_FFFFFF.png"/>
            <p:cNvPicPr>
              <a:picLocks noChangeAspect="1"/>
            </p:cNvPicPr>
            <p:nvPr/>
          </p:nvPicPr>
          <p:blipFill>
            <a:blip r:embed="rId3"/>
            <a:stretch>
              <a:fillRect/>
            </a:stretch>
          </p:blipFill>
          <p:spPr>
            <a:xfrm>
              <a:off x="4217110" y="1133856"/>
              <a:ext cx="201168" cy="201168"/>
            </a:xfrm>
            <a:prstGeom prst="rect">
              <a:avLst/>
            </a:prstGeom>
          </p:spPr>
        </p:pic>
        <p:sp>
          <p:nvSpPr>
            <p:cNvPr id="42" name="TextBox 41"/>
            <p:cNvSpPr txBox="1"/>
            <p:nvPr/>
          </p:nvSpPr>
          <p:spPr>
            <a:xfrm>
              <a:off x="4463998" y="1097280"/>
              <a:ext cx="1605379" cy="274320"/>
            </a:xfrm>
            <a:prstGeom prst="rect">
              <a:avLst/>
            </a:prstGeom>
            <a:noFill/>
          </p:spPr>
          <p:txBody>
            <a:bodyPr wrap="square" lIns="9144" rIns="9144" tIns="9144" bIns="9144" anchor="ctr">
              <a:noAutofit/>
            </a:bodyPr>
            <a:lstStyle/>
            <a:p>
              <a:pPr algn="l"/>
              <a:r>
                <a:rPr sz="1200" b="1" i="0">
                  <a:solidFill>
                    <a:srgbClr val="FFFFFF"/>
                  </a:solidFill>
                  <a:latin typeface="Arial"/>
                </a:rPr>
                <a:t>Evaluation protocol</a:t>
              </a:r>
            </a:p>
          </p:txBody>
        </p:sp>
        <p:sp>
          <p:nvSpPr>
            <p:cNvPr id="43" name="ig:gantt"/>
            <p:cNvSpPr/>
            <p:nvPr/>
          </p:nvSpPr>
          <p:spPr>
            <a:xfrm>
              <a:off x="5660605" y="1408176"/>
              <a:ext cx="1082621" cy="256032"/>
            </a:xfrm>
            <a:prstGeom prst="rect">
              <a:avLst/>
            </a:prstGeom>
            <a:solidFill>
              <a:srgbClr val="1D4E89"/>
            </a:solidFill>
            <a:ln>
              <a:noFill/>
            </a:ln>
          </p:spPr>
          <p:txBody>
            <a:bodyPr rtlCol="0" anchor="ctr" wrap="square" lIns="0" rIns="0" tIns="0" bIns="0">
              <a:noAutofit/>
            </a:bodyPr>
            <a:lstStyle/>
            <a:p>
              <a:pPr algn="ctr"/>
              <a:r>
                <a:rPr sz="900" b="1" i="0">
                  <a:solidFill>
                    <a:srgbClr val="FFFFFF"/>
                  </a:solidFill>
                  <a:latin typeface="Arial"/>
                </a:rPr>
                <a:t>Week 1</a:t>
              </a:r>
            </a:p>
          </p:txBody>
        </p:sp>
        <p:sp>
          <p:nvSpPr>
            <p:cNvPr id="44" name="Rectangle 43"/>
            <p:cNvSpPr/>
            <p:nvPr/>
          </p:nvSpPr>
          <p:spPr>
            <a:xfrm>
              <a:off x="6743226" y="1408176"/>
              <a:ext cx="1082621" cy="256032"/>
            </a:xfrm>
            <a:prstGeom prst="rect">
              <a:avLst/>
            </a:prstGeom>
            <a:solidFill>
              <a:srgbClr val="466E9E"/>
            </a:solidFill>
            <a:ln>
              <a:noFill/>
            </a:ln>
          </p:spPr>
          <p:txBody>
            <a:bodyPr rtlCol="0" anchor="ctr" wrap="square" lIns="0" rIns="0" tIns="0" bIns="0">
              <a:noAutofit/>
            </a:bodyPr>
            <a:lstStyle/>
            <a:p>
              <a:pPr algn="ctr"/>
              <a:r>
                <a:rPr sz="900" b="1" i="0">
                  <a:solidFill>
                    <a:srgbClr val="FFFFFF"/>
                  </a:solidFill>
                  <a:latin typeface="Arial"/>
                </a:rPr>
                <a:t>Week 2</a:t>
              </a:r>
            </a:p>
          </p:txBody>
        </p:sp>
        <p:sp>
          <p:nvSpPr>
            <p:cNvPr id="45" name="Rectangle 44"/>
            <p:cNvSpPr/>
            <p:nvPr/>
          </p:nvSpPr>
          <p:spPr>
            <a:xfrm>
              <a:off x="4217110" y="1408176"/>
              <a:ext cx="1406919" cy="256032"/>
            </a:xfrm>
            <a:prstGeom prst="rect">
              <a:avLst/>
            </a:prstGeom>
            <a:solidFill>
              <a:srgbClr val="1D4E89"/>
            </a:solidFill>
            <a:ln>
              <a:noFill/>
            </a:ln>
          </p:spPr>
          <p:txBody>
            <a:bodyPr rtlCol="0" anchor="ctr" wrap="square" lIns="36576" rIns="36576" tIns="27432" bIns="27432">
              <a:noAutofit/>
            </a:bodyPr>
            <a:lstStyle/>
            <a:p>
              <a:pPr algn="l"/>
              <a:r>
                <a:rPr sz="900" b="1" i="0">
                  <a:solidFill>
                    <a:srgbClr val="FFFFFF"/>
                  </a:solidFill>
                  <a:latin typeface="Arial"/>
                </a:rPr>
                <a:t>Activity</a:t>
              </a:r>
            </a:p>
          </p:txBody>
        </p:sp>
        <p:sp>
          <p:nvSpPr>
            <p:cNvPr id="46" name="Rectangle 45"/>
            <p:cNvSpPr/>
            <p:nvPr/>
          </p:nvSpPr>
          <p:spPr>
            <a:xfrm>
              <a:off x="4217110" y="1664208"/>
              <a:ext cx="3608737" cy="263684"/>
            </a:xfrm>
            <a:prstGeom prst="rect">
              <a:avLst/>
            </a:prstGeom>
            <a:solidFill>
              <a:srgbClr val="F1F4F8"/>
            </a:solidFill>
            <a:ln>
              <a:noFill/>
            </a:ln>
          </p:spPr>
          <p:txBody>
            <a:bodyPr rtlCol="0" anchor="ctr"/>
            <a:lstStyle/>
            <a:p/>
          </p:txBody>
        </p:sp>
        <p:cxnSp>
          <p:nvCxnSpPr>
            <p:cNvPr id="47" name="Connector 46"/>
            <p:cNvCxnSpPr/>
            <p:nvPr/>
          </p:nvCxnSpPr>
          <p:spPr>
            <a:xfrm>
              <a:off x="5660605" y="1664208"/>
              <a:ext cx="0" cy="263684"/>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743226" y="1664208"/>
              <a:ext cx="0" cy="263684"/>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217110" y="1664208"/>
              <a:ext cx="1406919" cy="263684"/>
            </a:xfrm>
            <a:prstGeom prst="rect">
              <a:avLst/>
            </a:prstGeom>
            <a:noFill/>
          </p:spPr>
          <p:txBody>
            <a:bodyPr wrap="square" lIns="36576" rIns="36576" tIns="27432" bIns="27432" anchor="ctr">
              <a:noAutofit/>
            </a:bodyPr>
            <a:lstStyle/>
            <a:p>
              <a:pPr algn="l"/>
              <a:r>
                <a:rPr sz="900" b="1" i="0">
                  <a:solidFill>
                    <a:srgbClr val="1A1A1A"/>
                  </a:solidFill>
                  <a:latin typeface="Arial"/>
                </a:rPr>
                <a:t>Calibrate twin</a:t>
              </a:r>
            </a:p>
          </p:txBody>
        </p:sp>
        <p:sp>
          <p:nvSpPr>
            <p:cNvPr id="50" name="Rounded Rectangle 49"/>
            <p:cNvSpPr/>
            <p:nvPr/>
          </p:nvSpPr>
          <p:spPr>
            <a:xfrm>
              <a:off x="5678893" y="1711671"/>
              <a:ext cx="1046045" cy="168758"/>
            </a:xfrm>
            <a:prstGeom prst="roundRect">
              <a:avLst>
                <a:gd name="adj" fmla="val 32510"/>
              </a:avLst>
            </a:prstGeom>
            <a:solidFill>
              <a:srgbClr val="A9BCD2"/>
            </a:solidFill>
            <a:ln>
              <a:noFill/>
            </a:ln>
          </p:spPr>
          <p:txBody>
            <a:bodyPr rtlCol="0" anchor="ctr" wrap="square" lIns="18288" rIns="18288" tIns="18288" bIns="18288">
              <a:noAutofit/>
            </a:bodyPr>
            <a:lstStyle/>
            <a:p>
              <a:pPr algn="ctr"/>
              <a:r>
                <a:rPr sz="900" b="0" i="0">
                  <a:solidFill>
                    <a:srgbClr val="1A1A1A"/>
                  </a:solidFill>
                  <a:latin typeface="Arial"/>
                </a:rPr>
                <a:t>onboard</a:t>
              </a:r>
            </a:p>
          </p:txBody>
        </p:sp>
        <p:sp>
          <p:nvSpPr>
            <p:cNvPr id="51" name="Rectangle 50"/>
            <p:cNvSpPr/>
            <p:nvPr/>
          </p:nvSpPr>
          <p:spPr>
            <a:xfrm>
              <a:off x="4217110" y="1927892"/>
              <a:ext cx="3608737" cy="263684"/>
            </a:xfrm>
            <a:prstGeom prst="rect">
              <a:avLst/>
            </a:prstGeom>
            <a:solidFill>
              <a:srgbClr val="FFFFFF"/>
            </a:solidFill>
            <a:ln>
              <a:noFill/>
            </a:ln>
          </p:spPr>
          <p:txBody>
            <a:bodyPr rtlCol="0" anchor="ctr"/>
            <a:lstStyle/>
            <a:p/>
          </p:txBody>
        </p:sp>
        <p:cxnSp>
          <p:nvCxnSpPr>
            <p:cNvPr id="52" name="Connector 51"/>
            <p:cNvCxnSpPr/>
            <p:nvPr/>
          </p:nvCxnSpPr>
          <p:spPr>
            <a:xfrm>
              <a:off x="5660605" y="1927892"/>
              <a:ext cx="0" cy="263684"/>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743226" y="1927892"/>
              <a:ext cx="0" cy="263684"/>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217110" y="1927892"/>
              <a:ext cx="1406919" cy="263684"/>
            </a:xfrm>
            <a:prstGeom prst="rect">
              <a:avLst/>
            </a:prstGeom>
            <a:noFill/>
          </p:spPr>
          <p:txBody>
            <a:bodyPr wrap="square" lIns="36576" rIns="36576" tIns="27432" bIns="27432" anchor="ctr">
              <a:noAutofit/>
            </a:bodyPr>
            <a:lstStyle/>
            <a:p>
              <a:pPr algn="l"/>
              <a:r>
                <a:rPr sz="900" b="1" i="0">
                  <a:solidFill>
                    <a:srgbClr val="1A1A1A"/>
                  </a:solidFill>
                  <a:latin typeface="Arial"/>
                </a:rPr>
                <a:t>Learn routine</a:t>
              </a:r>
            </a:p>
          </p:txBody>
        </p:sp>
        <p:sp>
          <p:nvSpPr>
            <p:cNvPr id="55" name="Rounded Rectangle 54"/>
            <p:cNvSpPr/>
            <p:nvPr/>
          </p:nvSpPr>
          <p:spPr>
            <a:xfrm>
              <a:off x="5678893" y="1975355"/>
              <a:ext cx="1046045" cy="168758"/>
            </a:xfrm>
            <a:prstGeom prst="roundRect">
              <a:avLst>
                <a:gd name="adj" fmla="val 32510"/>
              </a:avLst>
            </a:prstGeom>
            <a:solidFill>
              <a:srgbClr val="89A3C2"/>
            </a:solidFill>
            <a:ln>
              <a:noFill/>
            </a:ln>
          </p:spPr>
          <p:txBody>
            <a:bodyPr rtlCol="0" anchor="ctr" wrap="square" lIns="18288" rIns="18288" tIns="18288" bIns="18288">
              <a:noAutofit/>
            </a:bodyPr>
            <a:lstStyle/>
            <a:p>
              <a:pPr algn="ctr"/>
              <a:r>
                <a:rPr sz="900" b="0" i="0">
                  <a:solidFill>
                    <a:srgbClr val="1A1A1A"/>
                  </a:solidFill>
                  <a:latin typeface="Arial"/>
                </a:rPr>
                <a:t>week 1</a:t>
              </a:r>
            </a:p>
          </p:txBody>
        </p:sp>
        <p:sp>
          <p:nvSpPr>
            <p:cNvPr id="56" name="Rectangle 55"/>
            <p:cNvSpPr/>
            <p:nvPr/>
          </p:nvSpPr>
          <p:spPr>
            <a:xfrm>
              <a:off x="4217110" y="2191576"/>
              <a:ext cx="3608737" cy="263684"/>
            </a:xfrm>
            <a:prstGeom prst="rect">
              <a:avLst/>
            </a:prstGeom>
            <a:solidFill>
              <a:srgbClr val="F1F4F8"/>
            </a:solidFill>
            <a:ln>
              <a:noFill/>
            </a:ln>
          </p:spPr>
          <p:txBody>
            <a:bodyPr rtlCol="0" anchor="ctr"/>
            <a:lstStyle/>
            <a:p/>
          </p:txBody>
        </p:sp>
        <p:cxnSp>
          <p:nvCxnSpPr>
            <p:cNvPr id="57" name="Connector 56"/>
            <p:cNvCxnSpPr/>
            <p:nvPr/>
          </p:nvCxnSpPr>
          <p:spPr>
            <a:xfrm>
              <a:off x="5660605" y="2191576"/>
              <a:ext cx="0" cy="263684"/>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743226" y="2191576"/>
              <a:ext cx="0" cy="263684"/>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4217110" y="2191576"/>
              <a:ext cx="1406919" cy="263684"/>
            </a:xfrm>
            <a:prstGeom prst="rect">
              <a:avLst/>
            </a:prstGeom>
            <a:noFill/>
          </p:spPr>
          <p:txBody>
            <a:bodyPr wrap="square" lIns="36576" rIns="36576" tIns="27432" bIns="27432" anchor="ctr">
              <a:noAutofit/>
            </a:bodyPr>
            <a:lstStyle/>
            <a:p>
              <a:pPr algn="l"/>
              <a:r>
                <a:rPr sz="900" b="1" i="0">
                  <a:solidFill>
                    <a:srgbClr val="1A1A1A"/>
                  </a:solidFill>
                  <a:latin typeface="Arial"/>
                </a:rPr>
                <a:t>Train and test</a:t>
              </a:r>
            </a:p>
          </p:txBody>
        </p:sp>
        <p:sp>
          <p:nvSpPr>
            <p:cNvPr id="60" name="Rounded Rectangle 59"/>
            <p:cNvSpPr/>
            <p:nvPr/>
          </p:nvSpPr>
          <p:spPr>
            <a:xfrm>
              <a:off x="6761514" y="2239039"/>
              <a:ext cx="1046045" cy="168758"/>
            </a:xfrm>
            <a:prstGeom prst="roundRect">
              <a:avLst>
                <a:gd name="adj" fmla="val 32510"/>
              </a:avLst>
            </a:prstGeom>
            <a:solidFill>
              <a:srgbClr val="6587AF"/>
            </a:solidFill>
            <a:ln>
              <a:noFill/>
            </a:ln>
          </p:spPr>
          <p:txBody>
            <a:bodyPr rtlCol="0" anchor="ctr" wrap="square" lIns="18288" rIns="18288" tIns="18288" bIns="18288">
              <a:noAutofit/>
            </a:bodyPr>
            <a:lstStyle/>
            <a:p>
              <a:pPr algn="ctr"/>
              <a:r>
                <a:rPr sz="900" b="0" i="0">
                  <a:solidFill>
                    <a:srgbClr val="FFFFFF"/>
                  </a:solidFill>
                  <a:latin typeface="Arial"/>
                </a:rPr>
                <a:t>week 2</a:t>
              </a:r>
            </a:p>
          </p:txBody>
        </p:sp>
        <p:sp>
          <p:nvSpPr>
            <p:cNvPr id="61" name="ig:stat"/>
            <p:cNvSpPr/>
            <p:nvPr/>
          </p:nvSpPr>
          <p:spPr>
            <a:xfrm>
              <a:off x="4217110" y="2510124"/>
              <a:ext cx="1172432" cy="272661"/>
            </a:xfrm>
            <a:prstGeom prst="roundRect">
              <a:avLst>
                <a:gd name="adj" fmla="val 10060"/>
              </a:avLst>
            </a:prstGeom>
            <a:solidFill>
              <a:srgbClr val="C9D5E3"/>
            </a:solidFill>
            <a:ln w="6350">
              <a:solidFill>
                <a:srgbClr val="BFBFBF"/>
              </a:solidFill>
            </a:ln>
          </p:spPr>
          <p:txBody>
            <a:bodyPr rtlCol="0" anchor="ctr" wrap="square" lIns="45720" rIns="45720" tIns="27432" bIns="27432">
              <a:noAutofit/>
            </a:bodyPr>
            <a:lstStyle/>
            <a:p>
              <a:pPr algn="ctr"/>
              <a:r>
                <a:rPr sz="1331" b="1" i="0">
                  <a:solidFill>
                    <a:srgbClr val="1A1A1A"/>
                  </a:solidFill>
                  <a:latin typeface="Arial"/>
                </a:rPr>
                <a:t>84</a:t>
              </a:r>
            </a:p>
          </p:txBody>
        </p:sp>
        <p:sp>
          <p:nvSpPr>
            <p:cNvPr id="62" name="TextBox 61"/>
            <p:cNvSpPr txBox="1"/>
            <p:nvPr/>
          </p:nvSpPr>
          <p:spPr>
            <a:xfrm>
              <a:off x="4217110" y="2810217"/>
              <a:ext cx="1172432" cy="349099"/>
            </a:xfrm>
            <a:prstGeom prst="rect">
              <a:avLst/>
            </a:prstGeom>
            <a:noFill/>
          </p:spPr>
          <p:txBody>
            <a:bodyPr wrap="square" lIns="45720" rIns="45720" tIns="27432" bIns="27432" anchor="t">
              <a:noAutofit/>
            </a:bodyPr>
            <a:lstStyle/>
            <a:p>
              <a:pPr algn="ctr"/>
              <a:r>
                <a:rPr sz="1100" b="0" i="1">
                  <a:solidFill>
                    <a:srgbClr val="1A1A1A"/>
                  </a:solidFill>
                  <a:latin typeface="Arial"/>
                </a:rPr>
                <a:t>train</a:t>
              </a:r>
            </a:p>
          </p:txBody>
        </p:sp>
        <p:sp>
          <p:nvSpPr>
            <p:cNvPr id="63" name="ig:stat"/>
            <p:cNvSpPr/>
            <p:nvPr/>
          </p:nvSpPr>
          <p:spPr>
            <a:xfrm>
              <a:off x="5435262" y="2510124"/>
              <a:ext cx="1172432" cy="272661"/>
            </a:xfrm>
            <a:prstGeom prst="roundRect">
              <a:avLst>
                <a:gd name="adj" fmla="val 10060"/>
              </a:avLst>
            </a:prstGeom>
            <a:solidFill>
              <a:srgbClr val="C9D5E3"/>
            </a:solidFill>
            <a:ln w="6350">
              <a:solidFill>
                <a:srgbClr val="BFBFBF"/>
              </a:solidFill>
            </a:ln>
          </p:spPr>
          <p:txBody>
            <a:bodyPr rtlCol="0" anchor="ctr" wrap="square" lIns="45720" rIns="45720" tIns="27432" bIns="27432">
              <a:noAutofit/>
            </a:bodyPr>
            <a:lstStyle/>
            <a:p>
              <a:pPr algn="ctr"/>
              <a:r>
                <a:rPr sz="1331" b="1" i="0">
                  <a:solidFill>
                    <a:srgbClr val="1A1A1A"/>
                  </a:solidFill>
                  <a:latin typeface="Arial"/>
                </a:rPr>
                <a:t>12</a:t>
              </a:r>
            </a:p>
          </p:txBody>
        </p:sp>
        <p:sp>
          <p:nvSpPr>
            <p:cNvPr id="64" name="TextBox 63"/>
            <p:cNvSpPr txBox="1"/>
            <p:nvPr/>
          </p:nvSpPr>
          <p:spPr>
            <a:xfrm>
              <a:off x="5435262" y="2810217"/>
              <a:ext cx="1172432" cy="349099"/>
            </a:xfrm>
            <a:prstGeom prst="rect">
              <a:avLst/>
            </a:prstGeom>
            <a:noFill/>
          </p:spPr>
          <p:txBody>
            <a:bodyPr wrap="square" lIns="45720" rIns="45720" tIns="27432" bIns="27432" anchor="t">
              <a:noAutofit/>
            </a:bodyPr>
            <a:lstStyle/>
            <a:p>
              <a:pPr algn="ctr"/>
              <a:r>
                <a:rPr sz="1100" b="0" i="1">
                  <a:solidFill>
                    <a:srgbClr val="1A1A1A"/>
                  </a:solidFill>
                  <a:latin typeface="Arial"/>
                </a:rPr>
                <a:t>validation</a:t>
              </a:r>
            </a:p>
          </p:txBody>
        </p:sp>
        <p:sp>
          <p:nvSpPr>
            <p:cNvPr id="65" name="ig:stat"/>
            <p:cNvSpPr/>
            <p:nvPr/>
          </p:nvSpPr>
          <p:spPr>
            <a:xfrm>
              <a:off x="6653414" y="2510124"/>
              <a:ext cx="1172432" cy="272661"/>
            </a:xfrm>
            <a:prstGeom prst="roundRect">
              <a:avLst>
                <a:gd name="adj" fmla="val 10060"/>
              </a:avLst>
            </a:prstGeom>
            <a:solidFill>
              <a:srgbClr val="C9D5E3"/>
            </a:solidFill>
            <a:ln w="6350">
              <a:solidFill>
                <a:srgbClr val="BFBFBF"/>
              </a:solidFill>
            </a:ln>
          </p:spPr>
          <p:txBody>
            <a:bodyPr rtlCol="0" anchor="ctr" wrap="square" lIns="45720" rIns="45720" tIns="27432" bIns="27432">
              <a:noAutofit/>
            </a:bodyPr>
            <a:lstStyle/>
            <a:p>
              <a:pPr algn="ctr"/>
              <a:r>
                <a:rPr sz="1331" b="1" i="0">
                  <a:solidFill>
                    <a:srgbClr val="1A1A1A"/>
                  </a:solidFill>
                  <a:latin typeface="Arial"/>
                </a:rPr>
                <a:t>24</a:t>
              </a:r>
            </a:p>
          </p:txBody>
        </p:sp>
        <p:sp>
          <p:nvSpPr>
            <p:cNvPr id="66" name="TextBox 65"/>
            <p:cNvSpPr txBox="1"/>
            <p:nvPr/>
          </p:nvSpPr>
          <p:spPr>
            <a:xfrm>
              <a:off x="6653414" y="2810217"/>
              <a:ext cx="1172432" cy="349099"/>
            </a:xfrm>
            <a:prstGeom prst="rect">
              <a:avLst/>
            </a:prstGeom>
            <a:noFill/>
          </p:spPr>
          <p:txBody>
            <a:bodyPr wrap="square" lIns="45720" rIns="45720" tIns="27432" bIns="27432" anchor="t">
              <a:noAutofit/>
            </a:bodyPr>
            <a:lstStyle/>
            <a:p>
              <a:pPr algn="ctr"/>
              <a:r>
                <a:rPr sz="1100" b="0" i="1">
                  <a:solidFill>
                    <a:srgbClr val="1A1A1A"/>
                  </a:solidFill>
                  <a:latin typeface="Arial"/>
                </a:rPr>
                <a:t>test, unseen</a:t>
              </a:r>
            </a:p>
          </p:txBody>
        </p:sp>
        <p:sp>
          <p:nvSpPr>
            <p:cNvPr id="67" name="Rounded Rectangle 66"/>
            <p:cNvSpPr/>
            <p:nvPr/>
          </p:nvSpPr>
          <p:spPr>
            <a:xfrm>
              <a:off x="4217110" y="3214180"/>
              <a:ext cx="3608737" cy="575896"/>
            </a:xfrm>
            <a:prstGeom prst="roundRect">
              <a:avLst>
                <a:gd name="adj" fmla="val 7938"/>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No person and no day shared between fitting and scoring. </a:t>
              </a:r>
              <a:r>
                <a:rPr sz="1200" b="1" i="0">
                  <a:solidFill>
                    <a:srgbClr val="1A1A1A"/>
                  </a:solidFill>
                  <a:latin typeface="Arial"/>
                </a:rPr>
                <a:t>35,601</a:t>
              </a:r>
              <a:r>
                <a:rPr sz="1200" b="0" i="0">
                  <a:solidFill>
                    <a:srgbClr val="1A1A1A"/>
                  </a:solidFill>
                  <a:latin typeface="Arial"/>
                </a:rPr>
                <a:t> test rows, </a:t>
              </a:r>
              <a:r>
                <a:rPr sz="1200" b="1" i="0">
                  <a:solidFill>
                    <a:srgbClr val="1A1A1A"/>
                  </a:solidFill>
                  <a:latin typeface="Arial"/>
                </a:rPr>
                <a:t>30%</a:t>
              </a:r>
              <a:r>
                <a:rPr sz="1200" b="0" i="0">
                  <a:solidFill>
                    <a:srgbClr val="1A1A1A"/>
                  </a:solidFill>
                  <a:latin typeface="Arial"/>
                </a:rPr>
                <a:t> positive.</a:t>
              </a:r>
            </a:p>
          </p:txBody>
        </p:sp>
      </p:grpSp>
      <p:grpSp>
        <p:nvGrpSpPr>
          <p:cNvPr id="68" name="Group 67"/>
          <p:cNvGrpSpPr/>
          <p:nvPr/>
        </p:nvGrpSpPr>
        <p:grpSpPr>
          <a:xfrm>
            <a:off x="7953863" y="1097280"/>
            <a:ext cx="4164681" cy="2747660"/>
            <a:chOff x="7953863" y="1097280"/>
            <a:chExt cx="4164681" cy="2747660"/>
          </a:xfrm>
        </p:grpSpPr>
        <p:sp>
          <p:nvSpPr>
            <p:cNvPr id="69" name="frame:Model and alert poli"/>
            <p:cNvSpPr/>
            <p:nvPr/>
          </p:nvSpPr>
          <p:spPr>
            <a:xfrm>
              <a:off x="7953863" y="1234440"/>
              <a:ext cx="4164681" cy="2610500"/>
            </a:xfrm>
            <a:prstGeom prst="roundRect">
              <a:avLst>
                <a:gd name="adj" fmla="val 1751"/>
              </a:avLst>
            </a:prstGeom>
            <a:solidFill>
              <a:srgbClr val="F1F4F8"/>
            </a:solidFill>
            <a:ln w="15875">
              <a:solidFill>
                <a:srgbClr val="466E9E"/>
              </a:solidFill>
              <a:prstDash val="sysDot"/>
            </a:ln>
          </p:spPr>
          <p:txBody>
            <a:bodyPr rtlCol="0" anchor="ctr"/>
            <a:lstStyle/>
            <a:p/>
          </p:txBody>
        </p:sp>
        <p:sp>
          <p:nvSpPr>
            <p:cNvPr id="70" name="Rounded Rectangle 69"/>
            <p:cNvSpPr/>
            <p:nvPr/>
          </p:nvSpPr>
          <p:spPr>
            <a:xfrm>
              <a:off x="7953863" y="1097280"/>
              <a:ext cx="2112562" cy="274320"/>
            </a:xfrm>
            <a:prstGeom prst="roundRect">
              <a:avLst>
                <a:gd name="adj" fmla="val 13333"/>
              </a:avLst>
            </a:prstGeom>
            <a:solidFill>
              <a:srgbClr val="1D4E89"/>
            </a:solidFill>
            <a:ln>
              <a:noFill/>
            </a:ln>
          </p:spPr>
          <p:txBody>
            <a:bodyPr rtlCol="0" anchor="ctr"/>
            <a:lstStyle/>
            <a:p/>
          </p:txBody>
        </p:sp>
        <p:pic>
          <p:nvPicPr>
            <p:cNvPr id="71" name="Picture 70" descr="ic_fa6_FaTree_FFFFFF.png"/>
            <p:cNvPicPr>
              <a:picLocks noChangeAspect="1"/>
            </p:cNvPicPr>
            <p:nvPr/>
          </p:nvPicPr>
          <p:blipFill>
            <a:blip r:embed="rId4"/>
            <a:stretch>
              <a:fillRect/>
            </a:stretch>
          </p:blipFill>
          <p:spPr>
            <a:xfrm>
              <a:off x="8008727" y="1133856"/>
              <a:ext cx="201168" cy="201168"/>
            </a:xfrm>
            <a:prstGeom prst="rect">
              <a:avLst/>
            </a:prstGeom>
          </p:spPr>
        </p:pic>
        <p:sp>
          <p:nvSpPr>
            <p:cNvPr id="72" name="TextBox 71"/>
            <p:cNvSpPr txBox="1"/>
            <p:nvPr/>
          </p:nvSpPr>
          <p:spPr>
            <a:xfrm>
              <a:off x="8255615" y="1097280"/>
              <a:ext cx="1783378" cy="274320"/>
            </a:xfrm>
            <a:prstGeom prst="rect">
              <a:avLst/>
            </a:prstGeom>
            <a:noFill/>
          </p:spPr>
          <p:txBody>
            <a:bodyPr wrap="square" lIns="9144" rIns="9144" tIns="9144" bIns="9144" anchor="ctr">
              <a:noAutofit/>
            </a:bodyPr>
            <a:lstStyle/>
            <a:p>
              <a:pPr algn="l"/>
              <a:r>
                <a:rPr sz="1200" b="1" i="0">
                  <a:solidFill>
                    <a:srgbClr val="FFFFFF"/>
                  </a:solidFill>
                  <a:latin typeface="Arial"/>
                </a:rPr>
                <a:t>Model and alert policy</a:t>
              </a:r>
            </a:p>
          </p:txBody>
        </p:sp>
        <p:sp>
          <p:nvSpPr>
            <p:cNvPr id="73" name="ig:flow"/>
            <p:cNvSpPr/>
            <p:nvPr/>
          </p:nvSpPr>
          <p:spPr>
            <a:xfrm>
              <a:off x="8008727" y="1408176"/>
              <a:ext cx="4054953" cy="506321"/>
            </a:xfrm>
            <a:prstGeom prst="roundRect">
              <a:avLst>
                <a:gd name="adj" fmla="val 9029"/>
              </a:avLst>
            </a:prstGeom>
            <a:solidFill>
              <a:srgbClr val="FFFFFF"/>
            </a:solidFill>
            <a:ln w="9525">
              <a:solidFill>
                <a:srgbClr val="466E9E"/>
              </a:solidFill>
              <a:prstDash val="sysDot"/>
            </a:ln>
          </p:spPr>
          <p:txBody>
            <a:bodyPr rtlCol="0" anchor="ctr"/>
            <a:lstStyle/>
            <a:p/>
          </p:txBody>
        </p:sp>
        <p:pic>
          <p:nvPicPr>
            <p:cNvPr id="74" name="Picture 73" descr="ic_fa6_FaTree_1A1A1A.png"/>
            <p:cNvPicPr>
              <a:picLocks noChangeAspect="1"/>
            </p:cNvPicPr>
            <p:nvPr/>
          </p:nvPicPr>
          <p:blipFill>
            <a:blip r:embed="rId5"/>
            <a:stretch>
              <a:fillRect/>
            </a:stretch>
          </p:blipFill>
          <p:spPr>
            <a:xfrm>
              <a:off x="8054447" y="1504377"/>
              <a:ext cx="313919" cy="313919"/>
            </a:xfrm>
            <a:prstGeom prst="rect">
              <a:avLst/>
            </a:prstGeom>
          </p:spPr>
        </p:pic>
        <p:sp>
          <p:nvSpPr>
            <p:cNvPr id="75" name="TextBox 74"/>
            <p:cNvSpPr txBox="1"/>
            <p:nvPr/>
          </p:nvSpPr>
          <p:spPr>
            <a:xfrm>
              <a:off x="8386654" y="1408176"/>
              <a:ext cx="3658737" cy="506321"/>
            </a:xfrm>
            <a:prstGeom prst="rect">
              <a:avLst/>
            </a:prstGeom>
            <a:noFill/>
          </p:spPr>
          <p:txBody>
            <a:bodyPr wrap="square" lIns="36576" rIns="36576" tIns="27432" bIns="27432" anchor="ctr">
              <a:noAutofit/>
            </a:bodyPr>
            <a:lstStyle/>
            <a:p>
              <a:pPr algn="l"/>
              <a:r>
                <a:rPr sz="1200" b="1" i="0">
                  <a:solidFill>
                    <a:srgbClr val="1A1A1A"/>
                  </a:solidFill>
                  <a:latin typeface="Arial"/>
                </a:rPr>
                <a:t>LightGBM</a:t>
              </a:r>
              <a:r>
                <a:rPr sz="1200" b="0" i="0">
                  <a:solidFill>
                    <a:srgbClr val="1A1A1A"/>
                  </a:solidFill>
                  <a:latin typeface="Arial"/>
                </a:rPr>
                <a:t>: 31 leaves, lr 0.04, early stopping</a:t>
              </a:r>
            </a:p>
          </p:txBody>
        </p:sp>
        <p:sp>
          <p:nvSpPr>
            <p:cNvPr id="76" name="Rounded Rectangle 75"/>
            <p:cNvSpPr/>
            <p:nvPr/>
          </p:nvSpPr>
          <p:spPr>
            <a:xfrm>
              <a:off x="8008727" y="2033369"/>
              <a:ext cx="4054953" cy="506321"/>
            </a:xfrm>
            <a:prstGeom prst="roundRect">
              <a:avLst>
                <a:gd name="adj" fmla="val 9029"/>
              </a:avLst>
            </a:prstGeom>
            <a:solidFill>
              <a:srgbClr val="FFFFFF"/>
            </a:solidFill>
            <a:ln w="9525">
              <a:solidFill>
                <a:srgbClr val="466E9E"/>
              </a:solidFill>
              <a:prstDash val="sysDot"/>
            </a:ln>
          </p:spPr>
          <p:txBody>
            <a:bodyPr rtlCol="0" anchor="ctr"/>
            <a:lstStyle/>
            <a:p/>
          </p:txBody>
        </p:sp>
        <p:pic>
          <p:nvPicPr>
            <p:cNvPr id="77" name="Picture 76" descr="ic_fa6_FaChartLine_1A1A1A.png"/>
            <p:cNvPicPr>
              <a:picLocks noChangeAspect="1"/>
            </p:cNvPicPr>
            <p:nvPr/>
          </p:nvPicPr>
          <p:blipFill>
            <a:blip r:embed="rId6"/>
            <a:stretch>
              <a:fillRect/>
            </a:stretch>
          </p:blipFill>
          <p:spPr>
            <a:xfrm>
              <a:off x="8054447" y="2129570"/>
              <a:ext cx="313919" cy="313919"/>
            </a:xfrm>
            <a:prstGeom prst="rect">
              <a:avLst/>
            </a:prstGeom>
          </p:spPr>
        </p:pic>
        <p:sp>
          <p:nvSpPr>
            <p:cNvPr id="78" name="TextBox 77"/>
            <p:cNvSpPr txBox="1"/>
            <p:nvPr/>
          </p:nvSpPr>
          <p:spPr>
            <a:xfrm>
              <a:off x="8386654" y="2033369"/>
              <a:ext cx="3658737" cy="506321"/>
            </a:xfrm>
            <a:prstGeom prst="rect">
              <a:avLst/>
            </a:prstGeom>
            <a:noFill/>
          </p:spPr>
          <p:txBody>
            <a:bodyPr wrap="square" lIns="36576" rIns="36576" tIns="27432" bIns="27432" anchor="ctr">
              <a:noAutofit/>
            </a:bodyPr>
            <a:lstStyle/>
            <a:p>
              <a:pPr algn="l"/>
              <a:r>
                <a:rPr sz="1200" b="1" i="0">
                  <a:solidFill>
                    <a:srgbClr val="1A1A1A"/>
                  </a:solidFill>
                  <a:latin typeface="Arial"/>
                </a:rPr>
                <a:t>4 forecasters</a:t>
              </a:r>
              <a:r>
                <a:rPr sz="1200" b="0" i="0">
                  <a:solidFill>
                    <a:srgbClr val="1A1A1A"/>
                  </a:solidFill>
                  <a:latin typeface="Arial"/>
                </a:rPr>
                <a:t>: glucose at +30 to +120 min</a:t>
              </a:r>
            </a:p>
          </p:txBody>
        </p:sp>
        <p:sp>
          <p:nvSpPr>
            <p:cNvPr id="79" name="Rounded Rectangle 78"/>
            <p:cNvSpPr/>
            <p:nvPr/>
          </p:nvSpPr>
          <p:spPr>
            <a:xfrm>
              <a:off x="8008727" y="2658562"/>
              <a:ext cx="4054953" cy="506321"/>
            </a:xfrm>
            <a:prstGeom prst="roundRect">
              <a:avLst>
                <a:gd name="adj" fmla="val 9029"/>
              </a:avLst>
            </a:prstGeom>
            <a:solidFill>
              <a:srgbClr val="173D6B"/>
            </a:solidFill>
            <a:ln w="9525">
              <a:solidFill>
                <a:srgbClr val="466E9E"/>
              </a:solidFill>
            </a:ln>
          </p:spPr>
          <p:txBody>
            <a:bodyPr rtlCol="0" anchor="ctr"/>
            <a:lstStyle/>
            <a:p/>
          </p:txBody>
        </p:sp>
        <p:pic>
          <p:nvPicPr>
            <p:cNvPr id="80" name="Picture 79" descr="ic_fa6_FaSliders_FFFFFF.png"/>
            <p:cNvPicPr>
              <a:picLocks noChangeAspect="1"/>
            </p:cNvPicPr>
            <p:nvPr/>
          </p:nvPicPr>
          <p:blipFill>
            <a:blip r:embed="rId7"/>
            <a:stretch>
              <a:fillRect/>
            </a:stretch>
          </p:blipFill>
          <p:spPr>
            <a:xfrm>
              <a:off x="8054447" y="2754763"/>
              <a:ext cx="313919" cy="313919"/>
            </a:xfrm>
            <a:prstGeom prst="rect">
              <a:avLst/>
            </a:prstGeom>
          </p:spPr>
        </p:pic>
        <p:sp>
          <p:nvSpPr>
            <p:cNvPr id="81" name="TextBox 80"/>
            <p:cNvSpPr txBox="1"/>
            <p:nvPr/>
          </p:nvSpPr>
          <p:spPr>
            <a:xfrm>
              <a:off x="8386654" y="2658562"/>
              <a:ext cx="3658737" cy="506321"/>
            </a:xfrm>
            <a:prstGeom prst="rect">
              <a:avLst/>
            </a:prstGeom>
            <a:noFill/>
          </p:spPr>
          <p:txBody>
            <a:bodyPr wrap="square" lIns="36576" rIns="36576" tIns="27432" bIns="27432" anchor="ctr">
              <a:noAutofit/>
            </a:bodyPr>
            <a:lstStyle/>
            <a:p>
              <a:pPr algn="l"/>
              <a:r>
                <a:rPr sz="1200" b="1" i="0">
                  <a:solidFill>
                    <a:srgbClr val="FFFFFF"/>
                  </a:solidFill>
                  <a:latin typeface="Arial"/>
                </a:rPr>
                <a:t>Threshold 0.75</a:t>
              </a:r>
              <a:r>
                <a:rPr sz="1200" b="0" i="0">
                  <a:solidFill>
                    <a:srgbClr val="FFFFFF"/>
                  </a:solidFill>
                  <a:latin typeface="Arial"/>
                </a:rPr>
                <a:t>, set on validation: &lt;= 1 false alert a day</a:t>
              </a:r>
            </a:p>
          </p:txBody>
        </p:sp>
        <p:sp>
          <p:nvSpPr>
            <p:cNvPr id="82" name="Rounded Rectangle 81"/>
            <p:cNvSpPr/>
            <p:nvPr/>
          </p:nvSpPr>
          <p:spPr>
            <a:xfrm>
              <a:off x="8008727" y="3283755"/>
              <a:ext cx="4054953" cy="506321"/>
            </a:xfrm>
            <a:prstGeom prst="roundRect">
              <a:avLst>
                <a:gd name="adj" fmla="val 9029"/>
              </a:avLst>
            </a:prstGeom>
            <a:solidFill>
              <a:srgbClr val="FFFFFF"/>
            </a:solidFill>
            <a:ln w="9525">
              <a:solidFill>
                <a:srgbClr val="466E9E"/>
              </a:solidFill>
              <a:prstDash val="sysDot"/>
            </a:ln>
          </p:spPr>
          <p:txBody>
            <a:bodyPr rtlCol="0" anchor="ctr"/>
            <a:lstStyle/>
            <a:p/>
          </p:txBody>
        </p:sp>
        <p:pic>
          <p:nvPicPr>
            <p:cNvPr id="83" name="Picture 82" descr="ic_fa6_FaBell_1A1A1A.png"/>
            <p:cNvPicPr>
              <a:picLocks noChangeAspect="1"/>
            </p:cNvPicPr>
            <p:nvPr/>
          </p:nvPicPr>
          <p:blipFill>
            <a:blip r:embed="rId8"/>
            <a:stretch>
              <a:fillRect/>
            </a:stretch>
          </p:blipFill>
          <p:spPr>
            <a:xfrm>
              <a:off x="8054447" y="3379956"/>
              <a:ext cx="313919" cy="313919"/>
            </a:xfrm>
            <a:prstGeom prst="rect">
              <a:avLst/>
            </a:prstGeom>
          </p:spPr>
        </p:pic>
        <p:sp>
          <p:nvSpPr>
            <p:cNvPr id="84" name="TextBox 83"/>
            <p:cNvSpPr txBox="1"/>
            <p:nvPr/>
          </p:nvSpPr>
          <p:spPr>
            <a:xfrm>
              <a:off x="8386654" y="3283755"/>
              <a:ext cx="3658737" cy="506321"/>
            </a:xfrm>
            <a:prstGeom prst="rect">
              <a:avLst/>
            </a:prstGeom>
            <a:noFill/>
          </p:spPr>
          <p:txBody>
            <a:bodyPr wrap="square" lIns="36576" rIns="36576" tIns="27432" bIns="27432" anchor="ctr">
              <a:noAutofit/>
            </a:bodyPr>
            <a:lstStyle/>
            <a:p>
              <a:pPr algn="l"/>
              <a:r>
                <a:rPr sz="1200" b="1" i="0">
                  <a:solidFill>
                    <a:srgbClr val="1A1A1A"/>
                  </a:solidFill>
                  <a:latin typeface="Arial"/>
                </a:rPr>
                <a:t>Max 1 alert an hour</a:t>
              </a:r>
              <a:r>
                <a:rPr sz="1200" b="0" i="0">
                  <a:solidFill>
                    <a:srgbClr val="1A1A1A"/>
                  </a:solidFill>
                  <a:latin typeface="Arial"/>
                </a:rPr>
                <a:t>; paused while above 180</a:t>
              </a:r>
            </a:p>
          </p:txBody>
        </p:sp>
        <p:cxnSp>
          <p:nvCxnSpPr>
            <p:cNvPr id="85" name="Connector 84"/>
            <p:cNvCxnSpPr>
              <a:stCxn id="73" idx="2"/>
              <a:endCxn id="76" idx="0"/>
            </p:cNvCxnSpPr>
            <p:nvPr/>
          </p:nvCxnSpPr>
          <p:spPr>
            <a:xfrm>
              <a:off x="10036203" y="1914497"/>
              <a:ext cx="0" cy="118872"/>
            </a:xfrm>
            <a:prstGeom prst="line">
              <a:avLst/>
            </a:prstGeom>
            <a:ln w="19050">
              <a:solidFill>
                <a:srgbClr val="1D4E8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Connector 85"/>
            <p:cNvCxnSpPr>
              <a:stCxn id="76" idx="2"/>
              <a:endCxn id="79" idx="0"/>
            </p:cNvCxnSpPr>
            <p:nvPr/>
          </p:nvCxnSpPr>
          <p:spPr>
            <a:xfrm>
              <a:off x="10036203" y="2539690"/>
              <a:ext cx="0" cy="118872"/>
            </a:xfrm>
            <a:prstGeom prst="line">
              <a:avLst/>
            </a:prstGeom>
            <a:ln w="19050">
              <a:solidFill>
                <a:srgbClr val="1D4E8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Connector 86"/>
            <p:cNvCxnSpPr>
              <a:stCxn id="79" idx="2"/>
              <a:endCxn id="82" idx="0"/>
            </p:cNvCxnSpPr>
            <p:nvPr/>
          </p:nvCxnSpPr>
          <p:spPr>
            <a:xfrm>
              <a:off x="10036203" y="3164883"/>
              <a:ext cx="0" cy="118872"/>
            </a:xfrm>
            <a:prstGeom prst="line">
              <a:avLst/>
            </a:prstGeom>
            <a:ln w="19050">
              <a:solidFill>
                <a:srgbClr val="1D4E89"/>
              </a:solidFill>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88" name="Group 87"/>
          <p:cNvGrpSpPr/>
          <p:nvPr/>
        </p:nvGrpSpPr>
        <p:grpSpPr>
          <a:xfrm>
            <a:off x="73152" y="3918092"/>
            <a:ext cx="4788896" cy="2885044"/>
            <a:chOff x="73152" y="3918092"/>
            <a:chExt cx="4788896" cy="2885044"/>
          </a:xfrm>
        </p:grpSpPr>
        <p:sp>
          <p:nvSpPr>
            <p:cNvPr id="89" name="frame:Signal by data strea"/>
            <p:cNvSpPr/>
            <p:nvPr/>
          </p:nvSpPr>
          <p:spPr>
            <a:xfrm>
              <a:off x="73152" y="4055252"/>
              <a:ext cx="4788896" cy="2747884"/>
            </a:xfrm>
            <a:prstGeom prst="roundRect">
              <a:avLst>
                <a:gd name="adj" fmla="val 1663"/>
              </a:avLst>
            </a:prstGeom>
            <a:solidFill>
              <a:srgbClr val="F1F4F8"/>
            </a:solidFill>
            <a:ln w="15875">
              <a:solidFill>
                <a:srgbClr val="466E9E"/>
              </a:solidFill>
              <a:prstDash val="sysDot"/>
            </a:ln>
          </p:spPr>
          <p:txBody>
            <a:bodyPr rtlCol="0" anchor="ctr"/>
            <a:lstStyle/>
            <a:p/>
          </p:txBody>
        </p:sp>
        <p:sp>
          <p:nvSpPr>
            <p:cNvPr id="90" name="Rounded Rectangle 89"/>
            <p:cNvSpPr/>
            <p:nvPr/>
          </p:nvSpPr>
          <p:spPr>
            <a:xfrm>
              <a:off x="73152" y="3918092"/>
              <a:ext cx="2087420" cy="274320"/>
            </a:xfrm>
            <a:prstGeom prst="roundRect">
              <a:avLst>
                <a:gd name="adj" fmla="val 13333"/>
              </a:avLst>
            </a:prstGeom>
            <a:solidFill>
              <a:srgbClr val="1D4E89"/>
            </a:solidFill>
            <a:ln>
              <a:noFill/>
            </a:ln>
          </p:spPr>
          <p:txBody>
            <a:bodyPr rtlCol="0" anchor="ctr"/>
            <a:lstStyle/>
            <a:p/>
          </p:txBody>
        </p:sp>
        <p:pic>
          <p:nvPicPr>
            <p:cNvPr id="91" name="Picture 90" descr="ic_fa6_FaChartPie_FFFFFF.png"/>
            <p:cNvPicPr>
              <a:picLocks noChangeAspect="1"/>
            </p:cNvPicPr>
            <p:nvPr/>
          </p:nvPicPr>
          <p:blipFill>
            <a:blip r:embed="rId9"/>
            <a:stretch>
              <a:fillRect/>
            </a:stretch>
          </p:blipFill>
          <p:spPr>
            <a:xfrm>
              <a:off x="128016" y="3954668"/>
              <a:ext cx="201168" cy="201168"/>
            </a:xfrm>
            <a:prstGeom prst="rect">
              <a:avLst/>
            </a:prstGeom>
          </p:spPr>
        </p:pic>
        <p:sp>
          <p:nvSpPr>
            <p:cNvPr id="92" name="TextBox 91"/>
            <p:cNvSpPr txBox="1"/>
            <p:nvPr/>
          </p:nvSpPr>
          <p:spPr>
            <a:xfrm>
              <a:off x="374904" y="3918092"/>
              <a:ext cx="1758236" cy="274320"/>
            </a:xfrm>
            <a:prstGeom prst="rect">
              <a:avLst/>
            </a:prstGeom>
            <a:noFill/>
          </p:spPr>
          <p:txBody>
            <a:bodyPr wrap="square" lIns="9144" rIns="9144" tIns="9144" bIns="9144" anchor="ctr">
              <a:noAutofit/>
            </a:bodyPr>
            <a:lstStyle/>
            <a:p>
              <a:pPr algn="l"/>
              <a:r>
                <a:rPr sz="1200" b="1" i="0">
                  <a:solidFill>
                    <a:srgbClr val="FFFFFF"/>
                  </a:solidFill>
                  <a:latin typeface="Arial"/>
                </a:rPr>
                <a:t>Signal by data stream</a:t>
              </a:r>
            </a:p>
          </p:txBody>
        </p:sp>
        <p:graphicFrame>
          <p:nvGraphicFramePr>
            <p:cNvPr id="93" name="ig:donut"/>
            <p:cNvGraphicFramePr>
              <a:graphicFrameLocks noGrp="1"/>
            </p:cNvGraphicFramePr>
            <p:nvPr/>
          </p:nvGraphicFramePr>
          <p:xfrm>
            <a:off x="128016" y="4228988"/>
            <a:ext cx="2422254" cy="2519284"/>
          </p:xfrm>
          <a:graphic>
            <a:graphicData uri="http://schemas.openxmlformats.org/drawingml/2006/chart">
              <c:chart xmlns:c="http://schemas.openxmlformats.org/drawingml/2006/chart" r:id="rId10"/>
            </a:graphicData>
          </a:graphic>
        </p:graphicFrame>
        <p:sp>
          <p:nvSpPr>
            <p:cNvPr id="94" name="Rounded Rectangle 93"/>
            <p:cNvSpPr/>
            <p:nvPr/>
          </p:nvSpPr>
          <p:spPr>
            <a:xfrm>
              <a:off x="2605134" y="4228988"/>
              <a:ext cx="822880" cy="803185"/>
            </a:xfrm>
            <a:prstGeom prst="roundRect">
              <a:avLst>
                <a:gd name="adj" fmla="val 5692"/>
              </a:avLst>
            </a:prstGeom>
            <a:solidFill>
              <a:srgbClr val="112F52"/>
            </a:solidFill>
            <a:ln>
              <a:noFill/>
            </a:ln>
          </p:spPr>
          <p:txBody>
            <a:bodyPr rtlCol="0" anchor="ctr" wrap="square" lIns="45720" rIns="45720" tIns="27432" bIns="27432">
              <a:noAutofit/>
            </a:bodyPr>
            <a:lstStyle/>
            <a:p>
              <a:pPr algn="ctr"/>
              <a:r>
                <a:rPr sz="1600" b="1" i="0">
                  <a:solidFill>
                    <a:srgbClr val="FFFFFF"/>
                  </a:solidFill>
                  <a:latin typeface="Arial"/>
                </a:rPr>
                <a:t>76%</a:t>
              </a:r>
            </a:p>
          </p:txBody>
        </p:sp>
        <p:sp>
          <p:nvSpPr>
            <p:cNvPr id="95" name="Rounded Rectangle 94"/>
            <p:cNvSpPr/>
            <p:nvPr/>
          </p:nvSpPr>
          <p:spPr>
            <a:xfrm>
              <a:off x="3464590" y="4228988"/>
              <a:ext cx="1342593" cy="803185"/>
            </a:xfrm>
            <a:prstGeom prst="roundRect">
              <a:avLst>
                <a:gd name="adj" fmla="val 5692"/>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routine + twin share of SHAP</a:t>
              </a:r>
            </a:p>
          </p:txBody>
        </p:sp>
        <p:sp>
          <p:nvSpPr>
            <p:cNvPr id="96" name="Rounded Rectangle 95"/>
            <p:cNvSpPr/>
            <p:nvPr/>
          </p:nvSpPr>
          <p:spPr>
            <a:xfrm>
              <a:off x="2605134" y="5087038"/>
              <a:ext cx="822880" cy="803185"/>
            </a:xfrm>
            <a:prstGeom prst="roundRect">
              <a:avLst>
                <a:gd name="adj" fmla="val 5692"/>
              </a:avLst>
            </a:prstGeom>
            <a:solidFill>
              <a:srgbClr val="112F52"/>
            </a:solidFill>
            <a:ln>
              <a:noFill/>
            </a:ln>
          </p:spPr>
          <p:txBody>
            <a:bodyPr rtlCol="0" anchor="ctr" wrap="square" lIns="45720" rIns="45720" tIns="27432" bIns="27432">
              <a:noAutofit/>
            </a:bodyPr>
            <a:lstStyle/>
            <a:p>
              <a:pPr algn="ctr"/>
              <a:r>
                <a:rPr sz="1600" b="1" i="0">
                  <a:solidFill>
                    <a:srgbClr val="FFFFFF"/>
                  </a:solidFill>
                  <a:latin typeface="Arial"/>
                </a:rPr>
                <a:t>20%</a:t>
              </a:r>
            </a:p>
          </p:txBody>
        </p:sp>
        <p:sp>
          <p:nvSpPr>
            <p:cNvPr id="97" name="Rounded Rectangle 96"/>
            <p:cNvSpPr/>
            <p:nvPr/>
          </p:nvSpPr>
          <p:spPr>
            <a:xfrm>
              <a:off x="3464590" y="5087038"/>
              <a:ext cx="1342593" cy="803185"/>
            </a:xfrm>
            <a:prstGeom prst="roundRect">
              <a:avLst>
                <a:gd name="adj" fmla="val 5692"/>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raw wearables + CGM</a:t>
              </a:r>
            </a:p>
          </p:txBody>
        </p:sp>
        <p:sp>
          <p:nvSpPr>
            <p:cNvPr id="98" name="Rounded Rectangle 97"/>
            <p:cNvSpPr/>
            <p:nvPr/>
          </p:nvSpPr>
          <p:spPr>
            <a:xfrm>
              <a:off x="2605134" y="5945087"/>
              <a:ext cx="822880" cy="803185"/>
            </a:xfrm>
            <a:prstGeom prst="roundRect">
              <a:avLst>
                <a:gd name="adj" fmla="val 5692"/>
              </a:avLst>
            </a:prstGeom>
            <a:solidFill>
              <a:srgbClr val="112F52"/>
            </a:solidFill>
            <a:ln>
              <a:noFill/>
            </a:ln>
          </p:spPr>
          <p:txBody>
            <a:bodyPr rtlCol="0" anchor="ctr" wrap="square" lIns="45720" rIns="45720" tIns="27432" bIns="27432">
              <a:noAutofit/>
            </a:bodyPr>
            <a:lstStyle/>
            <a:p>
              <a:pPr algn="ctr"/>
              <a:r>
                <a:rPr sz="1600" b="1" i="0">
                  <a:solidFill>
                    <a:srgbClr val="FFFFFF"/>
                  </a:solidFill>
                  <a:latin typeface="Arial"/>
                </a:rPr>
                <a:t>3.5%</a:t>
              </a:r>
            </a:p>
          </p:txBody>
        </p:sp>
        <p:sp>
          <p:nvSpPr>
            <p:cNvPr id="99" name="Rounded Rectangle 98"/>
            <p:cNvSpPr/>
            <p:nvPr/>
          </p:nvSpPr>
          <p:spPr>
            <a:xfrm>
              <a:off x="3464590" y="5945087"/>
              <a:ext cx="1342593" cy="803185"/>
            </a:xfrm>
            <a:prstGeom prst="roundRect">
              <a:avLst>
                <a:gd name="adj" fmla="val 5692"/>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EHR directly; the rest flows via the twin prior</a:t>
              </a:r>
            </a:p>
          </p:txBody>
        </p:sp>
      </p:grpSp>
      <p:grpSp>
        <p:nvGrpSpPr>
          <p:cNvPr id="100" name="Group 99"/>
          <p:cNvGrpSpPr/>
          <p:nvPr/>
        </p:nvGrpSpPr>
        <p:grpSpPr>
          <a:xfrm>
            <a:off x="4935200" y="3918092"/>
            <a:ext cx="7183344" cy="2885044"/>
            <a:chOff x="4935200" y="3918092"/>
            <a:chExt cx="7183344" cy="2885044"/>
          </a:xfrm>
        </p:grpSpPr>
        <p:sp>
          <p:nvSpPr>
            <p:cNvPr id="101" name="frame:What drives each pre"/>
            <p:cNvSpPr/>
            <p:nvPr/>
          </p:nvSpPr>
          <p:spPr>
            <a:xfrm>
              <a:off x="4935200" y="4055252"/>
              <a:ext cx="7183344" cy="2747884"/>
            </a:xfrm>
            <a:prstGeom prst="roundRect">
              <a:avLst>
                <a:gd name="adj" fmla="val 1663"/>
              </a:avLst>
            </a:prstGeom>
            <a:solidFill>
              <a:srgbClr val="F1F4F8"/>
            </a:solidFill>
            <a:ln w="15875">
              <a:solidFill>
                <a:srgbClr val="466E9E"/>
              </a:solidFill>
              <a:prstDash val="sysDot"/>
            </a:ln>
          </p:spPr>
          <p:txBody>
            <a:bodyPr rtlCol="0" anchor="ctr"/>
            <a:lstStyle/>
            <a:p/>
          </p:txBody>
        </p:sp>
        <p:sp>
          <p:nvSpPr>
            <p:cNvPr id="102" name="Rounded Rectangle 101"/>
            <p:cNvSpPr/>
            <p:nvPr/>
          </p:nvSpPr>
          <p:spPr>
            <a:xfrm>
              <a:off x="4935200" y="3918092"/>
              <a:ext cx="4391319" cy="274320"/>
            </a:xfrm>
            <a:prstGeom prst="roundRect">
              <a:avLst>
                <a:gd name="adj" fmla="val 13333"/>
              </a:avLst>
            </a:prstGeom>
            <a:solidFill>
              <a:srgbClr val="1D4E89"/>
            </a:solidFill>
            <a:ln>
              <a:noFill/>
            </a:ln>
          </p:spPr>
          <p:txBody>
            <a:bodyPr rtlCol="0" anchor="ctr"/>
            <a:lstStyle/>
            <a:p/>
          </p:txBody>
        </p:sp>
        <p:pic>
          <p:nvPicPr>
            <p:cNvPr id="103" name="Picture 102" descr="ic_fa6_FaMagnifyingGlassChart_FFFFFF.png"/>
            <p:cNvPicPr>
              <a:picLocks noChangeAspect="1"/>
            </p:cNvPicPr>
            <p:nvPr/>
          </p:nvPicPr>
          <p:blipFill>
            <a:blip r:embed="rId11"/>
            <a:stretch>
              <a:fillRect/>
            </a:stretch>
          </p:blipFill>
          <p:spPr>
            <a:xfrm>
              <a:off x="4990064" y="3954668"/>
              <a:ext cx="201168" cy="201168"/>
            </a:xfrm>
            <a:prstGeom prst="rect">
              <a:avLst/>
            </a:prstGeom>
          </p:spPr>
        </p:pic>
        <p:sp>
          <p:nvSpPr>
            <p:cNvPr id="104" name="TextBox 103"/>
            <p:cNvSpPr txBox="1"/>
            <p:nvPr/>
          </p:nvSpPr>
          <p:spPr>
            <a:xfrm>
              <a:off x="5236952" y="3918092"/>
              <a:ext cx="4062135" cy="274320"/>
            </a:xfrm>
            <a:prstGeom prst="rect">
              <a:avLst/>
            </a:prstGeom>
            <a:noFill/>
          </p:spPr>
          <p:txBody>
            <a:bodyPr wrap="square" lIns="9144" rIns="9144" tIns="9144" bIns="9144" anchor="ctr">
              <a:noAutofit/>
            </a:bodyPr>
            <a:lstStyle/>
            <a:p>
              <a:pPr algn="l"/>
              <a:r>
                <a:rPr sz="1200" b="1" i="0">
                  <a:solidFill>
                    <a:srgbClr val="FFFFFF"/>
                  </a:solidFill>
                  <a:latin typeface="Arial"/>
                </a:rPr>
                <a:t>What drives each prediction (mean |SHAP|, test rows)</a:t>
              </a:r>
            </a:p>
          </p:txBody>
        </p:sp>
        <p:pic>
          <p:nvPicPr>
            <p:cNvPr id="105" name="Picture 104" descr="fig_importance_bars.png"/>
            <p:cNvPicPr>
              <a:picLocks noChangeAspect="1"/>
            </p:cNvPicPr>
            <p:nvPr/>
          </p:nvPicPr>
          <p:blipFill>
            <a:blip r:embed="rId12"/>
            <a:stretch>
              <a:fillRect/>
            </a:stretch>
          </p:blipFill>
          <p:spPr>
            <a:xfrm>
              <a:off x="4990064" y="4331513"/>
              <a:ext cx="7073616" cy="2314234"/>
            </a:xfrm>
            <a:prstGeom prst="rect">
              <a:avLst/>
            </a:prstGeom>
          </p:spPr>
        </p:pic>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v:0">
            <a:hlinkClick action="ppaction://hlinksldjump" r:id="rId12"/>
          </p:cNvPr>
          <p:cNvSpPr/>
          <p:nvPr/>
        </p:nvSpPr>
        <p:spPr>
          <a:xfrm>
            <a:off x="0" y="0"/>
            <a:ext cx="1359073" cy="457200"/>
          </a:xfrm>
          <a:prstGeom prst="homePlate">
            <a:avLst>
              <a:gd name="adj" fmla="val 34000"/>
            </a:avLst>
          </a:prstGeom>
          <a:solidFill>
            <a:srgbClr val="6587AF"/>
          </a:solidFill>
          <a:ln w="12700">
            <a:solidFill>
              <a:srgbClr val="FFFFFF"/>
            </a:solidFill>
          </a:ln>
        </p:spPr>
        <p:txBody>
          <a:bodyPr rtlCol="0" anchor="ctr"/>
          <a:lstStyle/>
          <a:p/>
        </p:txBody>
      </p:sp>
      <p:sp>
        <p:nvSpPr>
          <p:cNvPr id="3" name="nav:t0">
            <a:hlinkClick action="ppaction://hlinksldjump" r:id="rId12"/>
          </p:cNvPr>
          <p:cNvSpPr txBox="1"/>
          <p:nvPr/>
        </p:nvSpPr>
        <p:spPr>
          <a:xfrm>
            <a:off x="64008" y="0"/>
            <a:ext cx="1121329" cy="457200"/>
          </a:xfrm>
          <a:prstGeom prst="rect">
            <a:avLst/>
          </a:prstGeom>
          <a:noFill/>
        </p:spPr>
        <p:txBody>
          <a:bodyPr wrap="square" lIns="9144" rIns="9144" tIns="9144" bIns="9144" anchor="ctr">
            <a:noAutofit/>
          </a:bodyPr>
          <a:lstStyle/>
          <a:p>
            <a:pPr algn="ctr"/>
            <a:r>
              <a:rPr sz="1000" b="0" i="0">
                <a:solidFill>
                  <a:srgbClr val="FFFFFF"/>
                </a:solidFill>
                <a:latin typeface="Arial"/>
              </a:rPr>
              <a:t>Executive Summary</a:t>
            </a:r>
          </a:p>
        </p:txBody>
      </p:sp>
      <p:sp>
        <p:nvSpPr>
          <p:cNvPr id="4" name="nav:1">
            <a:hlinkClick action="ppaction://hlinksldjump" r:id="rId13"/>
          </p:cNvPr>
          <p:cNvSpPr/>
          <p:nvPr/>
        </p:nvSpPr>
        <p:spPr>
          <a:xfrm>
            <a:off x="1203625"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5" name="nav:t1">
            <a:hlinkClick action="ppaction://hlinksldjump" r:id="rId13"/>
          </p:cNvPr>
          <p:cNvSpPr txBox="1"/>
          <p:nvPr/>
        </p:nvSpPr>
        <p:spPr>
          <a:xfrm>
            <a:off x="1386505"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Problem</a:t>
            </a:r>
          </a:p>
        </p:txBody>
      </p:sp>
      <p:sp>
        <p:nvSpPr>
          <p:cNvPr id="6" name="nav:2">
            <a:hlinkClick action="ppaction://hlinksldjump" r:id="rId14"/>
          </p:cNvPr>
          <p:cNvSpPr/>
          <p:nvPr/>
        </p:nvSpPr>
        <p:spPr>
          <a:xfrm>
            <a:off x="2407249"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7" name="nav:t2">
            <a:hlinkClick action="ppaction://hlinksldjump" r:id="rId14"/>
          </p:cNvPr>
          <p:cNvSpPr txBox="1"/>
          <p:nvPr/>
        </p:nvSpPr>
        <p:spPr>
          <a:xfrm>
            <a:off x="2590129"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Solution</a:t>
            </a:r>
          </a:p>
        </p:txBody>
      </p:sp>
      <p:sp>
        <p:nvSpPr>
          <p:cNvPr id="8" name="nav:3">
            <a:hlinkClick action="ppaction://hlinksldjump" r:id="rId15"/>
          </p:cNvPr>
          <p:cNvSpPr/>
          <p:nvPr/>
        </p:nvSpPr>
        <p:spPr>
          <a:xfrm>
            <a:off x="3610874"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9" name="nav:t3">
            <a:hlinkClick action="ppaction://hlinksldjump" r:id="rId15"/>
          </p:cNvPr>
          <p:cNvSpPr txBox="1"/>
          <p:nvPr/>
        </p:nvSpPr>
        <p:spPr>
          <a:xfrm>
            <a:off x="3793754"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Data</a:t>
            </a:r>
          </a:p>
        </p:txBody>
      </p:sp>
      <p:sp>
        <p:nvSpPr>
          <p:cNvPr id="10" name="nav:4">
            <a:hlinkClick action="ppaction://hlinksldjump" r:id="rId16"/>
          </p:cNvPr>
          <p:cNvSpPr/>
          <p:nvPr/>
        </p:nvSpPr>
        <p:spPr>
          <a:xfrm>
            <a:off x="4814499"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1" name="nav:t4">
            <a:hlinkClick action="ppaction://hlinksldjump" r:id="rId16"/>
          </p:cNvPr>
          <p:cNvSpPr txBox="1"/>
          <p:nvPr/>
        </p:nvSpPr>
        <p:spPr>
          <a:xfrm>
            <a:off x="4997379"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Twin Engine</a:t>
            </a:r>
          </a:p>
        </p:txBody>
      </p:sp>
      <p:sp>
        <p:nvSpPr>
          <p:cNvPr id="12" name="nav:5">
            <a:hlinkClick action="ppaction://hlinksldjump" r:id="rId17"/>
          </p:cNvPr>
          <p:cNvSpPr/>
          <p:nvPr/>
        </p:nvSpPr>
        <p:spPr>
          <a:xfrm>
            <a:off x="6018124"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3" name="nav:t5">
            <a:hlinkClick action="ppaction://hlinksldjump" r:id="rId17"/>
          </p:cNvPr>
          <p:cNvSpPr txBox="1"/>
          <p:nvPr/>
        </p:nvSpPr>
        <p:spPr>
          <a:xfrm>
            <a:off x="6201004"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AI Model</a:t>
            </a:r>
          </a:p>
        </p:txBody>
      </p:sp>
      <p:sp>
        <p:nvSpPr>
          <p:cNvPr id="14" name="nav:6"/>
          <p:cNvSpPr/>
          <p:nvPr/>
        </p:nvSpPr>
        <p:spPr>
          <a:xfrm>
            <a:off x="7221748" y="0"/>
            <a:ext cx="1359073" cy="457200"/>
          </a:xfrm>
          <a:prstGeom prst="chevron">
            <a:avLst>
              <a:gd name="adj" fmla="val 34000"/>
            </a:avLst>
          </a:prstGeom>
          <a:solidFill>
            <a:srgbClr val="112F52"/>
          </a:solidFill>
          <a:ln w="12700">
            <a:solidFill>
              <a:srgbClr val="FFFFFF"/>
            </a:solidFill>
          </a:ln>
        </p:spPr>
        <p:txBody>
          <a:bodyPr rtlCol="0" anchor="ctr"/>
          <a:lstStyle/>
          <a:p/>
        </p:txBody>
      </p:sp>
      <p:sp>
        <p:nvSpPr>
          <p:cNvPr id="15" name="nav:t6"/>
          <p:cNvSpPr txBox="1"/>
          <p:nvPr/>
        </p:nvSpPr>
        <p:spPr>
          <a:xfrm>
            <a:off x="7404628" y="0"/>
            <a:ext cx="1002457" cy="457200"/>
          </a:xfrm>
          <a:prstGeom prst="rect">
            <a:avLst/>
          </a:prstGeom>
          <a:noFill/>
        </p:spPr>
        <p:txBody>
          <a:bodyPr wrap="square" lIns="9144" rIns="9144" tIns="9144" bIns="9144" anchor="ctr">
            <a:noAutofit/>
          </a:bodyPr>
          <a:lstStyle/>
          <a:p>
            <a:pPr algn="ctr"/>
            <a:r>
              <a:rPr sz="1000" b="1" i="0">
                <a:solidFill>
                  <a:srgbClr val="FFFFFF"/>
                </a:solidFill>
                <a:latin typeface="Arial"/>
              </a:rPr>
              <a:t>Results</a:t>
            </a:r>
          </a:p>
        </p:txBody>
      </p:sp>
      <p:sp>
        <p:nvSpPr>
          <p:cNvPr id="16" name="nav:7">
            <a:hlinkClick action="ppaction://hlinksldjump" r:id="rId18"/>
          </p:cNvPr>
          <p:cNvSpPr/>
          <p:nvPr/>
        </p:nvSpPr>
        <p:spPr>
          <a:xfrm>
            <a:off x="8425373"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7" name="nav:t7">
            <a:hlinkClick action="ppaction://hlinksldjump" r:id="rId18"/>
          </p:cNvPr>
          <p:cNvSpPr txBox="1"/>
          <p:nvPr/>
        </p:nvSpPr>
        <p:spPr>
          <a:xfrm>
            <a:off x="8608253"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Dashboard</a:t>
            </a:r>
          </a:p>
        </p:txBody>
      </p:sp>
      <p:sp>
        <p:nvSpPr>
          <p:cNvPr id="18" name="nav:8">
            <a:hlinkClick action="ppaction://hlinksldjump" r:id="rId19"/>
          </p:cNvPr>
          <p:cNvSpPr/>
          <p:nvPr/>
        </p:nvSpPr>
        <p:spPr>
          <a:xfrm>
            <a:off x="9628998"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9" name="nav:t8">
            <a:hlinkClick action="ppaction://hlinksldjump" r:id="rId19"/>
          </p:cNvPr>
          <p:cNvSpPr txBox="1"/>
          <p:nvPr/>
        </p:nvSpPr>
        <p:spPr>
          <a:xfrm>
            <a:off x="9811878"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Impact</a:t>
            </a:r>
          </a:p>
        </p:txBody>
      </p:sp>
      <p:sp>
        <p:nvSpPr>
          <p:cNvPr id="20" name="nav:9">
            <a:hlinkClick action="ppaction://hlinksldjump" r:id="rId20"/>
          </p:cNvPr>
          <p:cNvSpPr/>
          <p:nvPr/>
        </p:nvSpPr>
        <p:spPr>
          <a:xfrm>
            <a:off x="10832622"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21" name="nav:t9">
            <a:hlinkClick action="ppaction://hlinksldjump" r:id="rId20"/>
          </p:cNvPr>
          <p:cNvSpPr txBox="1"/>
          <p:nvPr/>
        </p:nvSpPr>
        <p:spPr>
          <a:xfrm>
            <a:off x="11015502"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Roadmap &amp; Cost</a:t>
            </a:r>
          </a:p>
        </p:txBody>
      </p:sp>
      <p:sp>
        <p:nvSpPr>
          <p:cNvPr id="22" name="TextBox 21"/>
          <p:cNvSpPr txBox="1"/>
          <p:nvPr/>
        </p:nvSpPr>
        <p:spPr>
          <a:xfrm>
            <a:off x="73152" y="502920"/>
            <a:ext cx="12045391" cy="329184"/>
          </a:xfrm>
          <a:prstGeom prst="rect">
            <a:avLst/>
          </a:prstGeom>
          <a:noFill/>
        </p:spPr>
        <p:txBody>
          <a:bodyPr wrap="square" lIns="18288" rIns="18288" tIns="18288" bIns="18288" anchor="ctr">
            <a:noAutofit/>
          </a:bodyPr>
          <a:lstStyle/>
          <a:p>
            <a:pPr algn="l"/>
            <a:r>
              <a:rPr sz="1600" b="1" i="0">
                <a:solidFill>
                  <a:srgbClr val="1D4E89"/>
                </a:solidFill>
                <a:latin typeface="Arial"/>
              </a:rPr>
              <a:t>Adding the twin lifts AUROC from 0.930 to 0.961 and gives a 95-minute median warning</a:t>
            </a:r>
          </a:p>
        </p:txBody>
      </p:sp>
      <p:sp>
        <p:nvSpPr>
          <p:cNvPr id="23" name="TextBox 22"/>
          <p:cNvSpPr txBox="1"/>
          <p:nvPr/>
        </p:nvSpPr>
        <p:spPr>
          <a:xfrm>
            <a:off x="73152" y="795528"/>
            <a:ext cx="12045391" cy="237744"/>
          </a:xfrm>
          <a:prstGeom prst="rect">
            <a:avLst/>
          </a:prstGeom>
          <a:noFill/>
        </p:spPr>
        <p:txBody>
          <a:bodyPr wrap="square" lIns="18288" rIns="18288" tIns="18288" bIns="18288" anchor="ctr">
            <a:noAutofit/>
          </a:bodyPr>
          <a:lstStyle/>
          <a:p>
            <a:pPr algn="l"/>
            <a:r>
              <a:rPr sz="1200" b="1" i="0">
                <a:solidFill>
                  <a:srgbClr val="4A5168"/>
                </a:solidFill>
                <a:latin typeface="Arial"/>
              </a:rPr>
              <a:t>All numbers on 24 unseen test patients, week 2: 35,601 five-minute rows and 582 spike episodes</a:t>
            </a:r>
          </a:p>
        </p:txBody>
      </p:sp>
      <p:cxnSp>
        <p:nvCxnSpPr>
          <p:cNvPr id="24" name="Connector 23"/>
          <p:cNvCxnSpPr/>
          <p:nvPr/>
        </p:nvCxnSpPr>
        <p:spPr>
          <a:xfrm>
            <a:off x="73152" y="1042416"/>
            <a:ext cx="12045391" cy="0"/>
          </a:xfrm>
          <a:prstGeom prst="line">
            <a:avLst/>
          </a:prstGeom>
          <a:ln w="19050">
            <a:solidFill>
              <a:srgbClr val="1D4E89"/>
            </a:solidFill>
          </a:ln>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73152" y="1097280"/>
            <a:ext cx="6185657" cy="2708031"/>
            <a:chOff x="73152" y="1097280"/>
            <a:chExt cx="6185657" cy="2708031"/>
          </a:xfrm>
        </p:grpSpPr>
        <p:sp>
          <p:nvSpPr>
            <p:cNvPr id="26" name="frame:Ablation: each strea"/>
            <p:cNvSpPr/>
            <p:nvPr/>
          </p:nvSpPr>
          <p:spPr>
            <a:xfrm>
              <a:off x="73152" y="1234440"/>
              <a:ext cx="6185657" cy="2570871"/>
            </a:xfrm>
            <a:prstGeom prst="roundRect">
              <a:avLst>
                <a:gd name="adj" fmla="val 1778"/>
              </a:avLst>
            </a:prstGeom>
            <a:solidFill>
              <a:srgbClr val="F1F4F8"/>
            </a:solidFill>
            <a:ln w="15875">
              <a:solidFill>
                <a:srgbClr val="466E9E"/>
              </a:solidFill>
              <a:prstDash val="sysDot"/>
            </a:ln>
          </p:spPr>
          <p:txBody>
            <a:bodyPr rtlCol="0" anchor="ctr"/>
            <a:lstStyle/>
            <a:p/>
          </p:txBody>
        </p:sp>
        <p:sp>
          <p:nvSpPr>
            <p:cNvPr id="27" name="Rounded Rectangle 26"/>
            <p:cNvSpPr/>
            <p:nvPr/>
          </p:nvSpPr>
          <p:spPr>
            <a:xfrm>
              <a:off x="73152" y="1097280"/>
              <a:ext cx="3831526" cy="274320"/>
            </a:xfrm>
            <a:prstGeom prst="roundRect">
              <a:avLst>
                <a:gd name="adj" fmla="val 13333"/>
              </a:avLst>
            </a:prstGeom>
            <a:solidFill>
              <a:srgbClr val="1D4E89"/>
            </a:solidFill>
            <a:ln>
              <a:noFill/>
            </a:ln>
          </p:spPr>
          <p:txBody>
            <a:bodyPr rtlCol="0" anchor="ctr"/>
            <a:lstStyle/>
            <a:p/>
          </p:txBody>
        </p:sp>
        <p:pic>
          <p:nvPicPr>
            <p:cNvPr id="28" name="Picture 27" descr="ic_fa6_FaLayerGroup_FFFFFF.png"/>
            <p:cNvPicPr>
              <a:picLocks noChangeAspect="1"/>
            </p:cNvPicPr>
            <p:nvPr/>
          </p:nvPicPr>
          <p:blipFill>
            <a:blip r:embed="rId2"/>
            <a:stretch>
              <a:fillRect/>
            </a:stretch>
          </p:blipFill>
          <p:spPr>
            <a:xfrm>
              <a:off x="128016" y="1133856"/>
              <a:ext cx="201168" cy="201168"/>
            </a:xfrm>
            <a:prstGeom prst="rect">
              <a:avLst/>
            </a:prstGeom>
          </p:spPr>
        </p:pic>
        <p:sp>
          <p:nvSpPr>
            <p:cNvPr id="29" name="TextBox 28"/>
            <p:cNvSpPr txBox="1"/>
            <p:nvPr/>
          </p:nvSpPr>
          <p:spPr>
            <a:xfrm>
              <a:off x="374904" y="1097280"/>
              <a:ext cx="3502343" cy="274320"/>
            </a:xfrm>
            <a:prstGeom prst="rect">
              <a:avLst/>
            </a:prstGeom>
            <a:noFill/>
          </p:spPr>
          <p:txBody>
            <a:bodyPr wrap="square" lIns="9144" rIns="9144" tIns="9144" bIns="9144" anchor="ctr">
              <a:noAutofit/>
            </a:bodyPr>
            <a:lstStyle/>
            <a:p>
              <a:pPr algn="l"/>
              <a:r>
                <a:rPr sz="1200" b="1" i="0">
                  <a:solidFill>
                    <a:srgbClr val="FFFFFF"/>
                  </a:solidFill>
                  <a:latin typeface="Arial"/>
                </a:rPr>
                <a:t>Ablation: each stream and the twin add signal</a:t>
              </a:r>
            </a:p>
          </p:txBody>
        </p:sp>
        <p:pic>
          <p:nvPicPr>
            <p:cNvPr id="30" name="Picture 29" descr="fig_ablation.png"/>
            <p:cNvPicPr>
              <a:picLocks noChangeAspect="1"/>
            </p:cNvPicPr>
            <p:nvPr/>
          </p:nvPicPr>
          <p:blipFill>
            <a:blip r:embed="rId3"/>
            <a:stretch>
              <a:fillRect/>
            </a:stretch>
          </p:blipFill>
          <p:spPr>
            <a:xfrm>
              <a:off x="128016" y="1606712"/>
              <a:ext cx="6075929" cy="1945199"/>
            </a:xfrm>
            <a:prstGeom prst="rect">
              <a:avLst/>
            </a:prstGeom>
          </p:spPr>
        </p:pic>
      </p:grpSp>
      <p:grpSp>
        <p:nvGrpSpPr>
          <p:cNvPr id="31" name="Group 30"/>
          <p:cNvGrpSpPr/>
          <p:nvPr/>
        </p:nvGrpSpPr>
        <p:grpSpPr>
          <a:xfrm>
            <a:off x="6331961" y="1097280"/>
            <a:ext cx="5786582" cy="2708031"/>
            <a:chOff x="6331961" y="1097280"/>
            <a:chExt cx="5786582" cy="2708031"/>
          </a:xfrm>
        </p:grpSpPr>
        <p:sp>
          <p:nvSpPr>
            <p:cNvPr id="32" name="frame:Clinical view: earli"/>
            <p:cNvSpPr/>
            <p:nvPr/>
          </p:nvSpPr>
          <p:spPr>
            <a:xfrm>
              <a:off x="6331961" y="1234440"/>
              <a:ext cx="5786582" cy="2570871"/>
            </a:xfrm>
            <a:prstGeom prst="roundRect">
              <a:avLst>
                <a:gd name="adj" fmla="val 1778"/>
              </a:avLst>
            </a:prstGeom>
            <a:solidFill>
              <a:srgbClr val="F1F4F8"/>
            </a:solidFill>
            <a:ln w="15875">
              <a:solidFill>
                <a:srgbClr val="466E9E"/>
              </a:solidFill>
              <a:prstDash val="sysDot"/>
            </a:ln>
          </p:spPr>
          <p:txBody>
            <a:bodyPr rtlCol="0" anchor="ctr"/>
            <a:lstStyle/>
            <a:p/>
          </p:txBody>
        </p:sp>
        <p:sp>
          <p:nvSpPr>
            <p:cNvPr id="33" name="Rounded Rectangle 32"/>
            <p:cNvSpPr/>
            <p:nvPr/>
          </p:nvSpPr>
          <p:spPr>
            <a:xfrm>
              <a:off x="6331961" y="1097280"/>
              <a:ext cx="4095151" cy="274320"/>
            </a:xfrm>
            <a:prstGeom prst="roundRect">
              <a:avLst>
                <a:gd name="adj" fmla="val 13333"/>
              </a:avLst>
            </a:prstGeom>
            <a:solidFill>
              <a:srgbClr val="1D4E89"/>
            </a:solidFill>
            <a:ln>
              <a:noFill/>
            </a:ln>
          </p:spPr>
          <p:txBody>
            <a:bodyPr rtlCol="0" anchor="ctr"/>
            <a:lstStyle/>
            <a:p/>
          </p:txBody>
        </p:sp>
        <p:pic>
          <p:nvPicPr>
            <p:cNvPr id="34" name="Picture 33" descr="ic_fa6_FaBell_FFFFFF.png"/>
            <p:cNvPicPr>
              <a:picLocks noChangeAspect="1"/>
            </p:cNvPicPr>
            <p:nvPr/>
          </p:nvPicPr>
          <p:blipFill>
            <a:blip r:embed="rId4"/>
            <a:stretch>
              <a:fillRect/>
            </a:stretch>
          </p:blipFill>
          <p:spPr>
            <a:xfrm>
              <a:off x="6386825" y="1133856"/>
              <a:ext cx="201168" cy="201168"/>
            </a:xfrm>
            <a:prstGeom prst="rect">
              <a:avLst/>
            </a:prstGeom>
          </p:spPr>
        </p:pic>
        <p:sp>
          <p:nvSpPr>
            <p:cNvPr id="35" name="TextBox 34"/>
            <p:cNvSpPr txBox="1"/>
            <p:nvPr/>
          </p:nvSpPr>
          <p:spPr>
            <a:xfrm>
              <a:off x="6633713" y="1097280"/>
              <a:ext cx="3765967" cy="274320"/>
            </a:xfrm>
            <a:prstGeom prst="rect">
              <a:avLst/>
            </a:prstGeom>
            <a:noFill/>
          </p:spPr>
          <p:txBody>
            <a:bodyPr wrap="square" lIns="9144" rIns="9144" tIns="9144" bIns="9144" anchor="ctr">
              <a:noAutofit/>
            </a:bodyPr>
            <a:lstStyle/>
            <a:p>
              <a:pPr algn="l"/>
              <a:r>
                <a:rPr sz="1200" b="1" i="0">
                  <a:solidFill>
                    <a:srgbClr val="FFFFFF"/>
                  </a:solidFill>
                  <a:latin typeface="Arial"/>
                </a:rPr>
                <a:t>Clinical view: earlier warnings, fewer false alarms</a:t>
              </a:r>
            </a:p>
          </p:txBody>
        </p:sp>
        <p:pic>
          <p:nvPicPr>
            <p:cNvPr id="36" name="Picture 35" descr="fig_alarm_comparison.png"/>
            <p:cNvPicPr>
              <a:picLocks noChangeAspect="1"/>
            </p:cNvPicPr>
            <p:nvPr/>
          </p:nvPicPr>
          <p:blipFill>
            <a:blip r:embed="rId5"/>
            <a:stretch>
              <a:fillRect/>
            </a:stretch>
          </p:blipFill>
          <p:spPr>
            <a:xfrm>
              <a:off x="7170125" y="1408176"/>
              <a:ext cx="4110254" cy="2342271"/>
            </a:xfrm>
            <a:prstGeom prst="rect">
              <a:avLst/>
            </a:prstGeom>
          </p:spPr>
        </p:pic>
      </p:grpSp>
      <p:grpSp>
        <p:nvGrpSpPr>
          <p:cNvPr id="37" name="Group 36"/>
          <p:cNvGrpSpPr/>
          <p:nvPr/>
        </p:nvGrpSpPr>
        <p:grpSpPr>
          <a:xfrm>
            <a:off x="73152" y="3878463"/>
            <a:ext cx="4442326" cy="2924673"/>
            <a:chOff x="73152" y="3878463"/>
            <a:chExt cx="4442326" cy="2924673"/>
          </a:xfrm>
        </p:grpSpPr>
        <p:sp>
          <p:nvSpPr>
            <p:cNvPr id="38" name="frame:Glucose forecast err"/>
            <p:cNvSpPr/>
            <p:nvPr/>
          </p:nvSpPr>
          <p:spPr>
            <a:xfrm>
              <a:off x="73152" y="4015623"/>
              <a:ext cx="4442326" cy="2787513"/>
            </a:xfrm>
            <a:prstGeom prst="roundRect">
              <a:avLst>
                <a:gd name="adj" fmla="val 1640"/>
              </a:avLst>
            </a:prstGeom>
            <a:solidFill>
              <a:srgbClr val="F1F4F8"/>
            </a:solidFill>
            <a:ln w="15875">
              <a:solidFill>
                <a:srgbClr val="466E9E"/>
              </a:solidFill>
              <a:prstDash val="sysDot"/>
            </a:ln>
          </p:spPr>
          <p:txBody>
            <a:bodyPr rtlCol="0" anchor="ctr"/>
            <a:lstStyle/>
            <a:p/>
          </p:txBody>
        </p:sp>
        <p:sp>
          <p:nvSpPr>
            <p:cNvPr id="39" name="Rounded Rectangle 38"/>
            <p:cNvSpPr/>
            <p:nvPr/>
          </p:nvSpPr>
          <p:spPr>
            <a:xfrm>
              <a:off x="73152" y="3878463"/>
              <a:ext cx="2680192" cy="274320"/>
            </a:xfrm>
            <a:prstGeom prst="roundRect">
              <a:avLst>
                <a:gd name="adj" fmla="val 13333"/>
              </a:avLst>
            </a:prstGeom>
            <a:solidFill>
              <a:srgbClr val="1D4E89"/>
            </a:solidFill>
            <a:ln>
              <a:noFill/>
            </a:ln>
          </p:spPr>
          <p:txBody>
            <a:bodyPr rtlCol="0" anchor="ctr"/>
            <a:lstStyle/>
            <a:p/>
          </p:txBody>
        </p:sp>
        <p:pic>
          <p:nvPicPr>
            <p:cNvPr id="40" name="Picture 39" descr="ic_fa6_FaChartLine_FFFFFF.png"/>
            <p:cNvPicPr>
              <a:picLocks noChangeAspect="1"/>
            </p:cNvPicPr>
            <p:nvPr/>
          </p:nvPicPr>
          <p:blipFill>
            <a:blip r:embed="rId6"/>
            <a:stretch>
              <a:fillRect/>
            </a:stretch>
          </p:blipFill>
          <p:spPr>
            <a:xfrm>
              <a:off x="128016" y="3915039"/>
              <a:ext cx="201168" cy="201168"/>
            </a:xfrm>
            <a:prstGeom prst="rect">
              <a:avLst/>
            </a:prstGeom>
          </p:spPr>
        </p:pic>
        <p:sp>
          <p:nvSpPr>
            <p:cNvPr id="41" name="TextBox 40"/>
            <p:cNvSpPr txBox="1"/>
            <p:nvPr/>
          </p:nvSpPr>
          <p:spPr>
            <a:xfrm>
              <a:off x="374904" y="3878463"/>
              <a:ext cx="2351008" cy="274320"/>
            </a:xfrm>
            <a:prstGeom prst="rect">
              <a:avLst/>
            </a:prstGeom>
            <a:noFill/>
          </p:spPr>
          <p:txBody>
            <a:bodyPr wrap="square" lIns="9144" rIns="9144" tIns="9144" bIns="9144" anchor="ctr">
              <a:noAutofit/>
            </a:bodyPr>
            <a:lstStyle/>
            <a:p>
              <a:pPr algn="l"/>
              <a:r>
                <a:rPr sz="1200" b="1" i="0">
                  <a:solidFill>
                    <a:srgbClr val="FFFFFF"/>
                  </a:solidFill>
                  <a:latin typeface="Arial"/>
                </a:rPr>
                <a:t>Glucose forecast error, mg/dL</a:t>
              </a:r>
            </a:p>
          </p:txBody>
        </p:sp>
        <p:pic>
          <p:nvPicPr>
            <p:cNvPr id="42" name="Picture 41" descr="fig_forecast_rmse.png"/>
            <p:cNvPicPr>
              <a:picLocks noChangeAspect="1"/>
            </p:cNvPicPr>
            <p:nvPr/>
          </p:nvPicPr>
          <p:blipFill>
            <a:blip r:embed="rId7"/>
            <a:stretch>
              <a:fillRect/>
            </a:stretch>
          </p:blipFill>
          <p:spPr>
            <a:xfrm>
              <a:off x="309428" y="4189359"/>
              <a:ext cx="3969773" cy="2558913"/>
            </a:xfrm>
            <a:prstGeom prst="rect">
              <a:avLst/>
            </a:prstGeom>
          </p:spPr>
        </p:pic>
      </p:grpSp>
      <p:grpSp>
        <p:nvGrpSpPr>
          <p:cNvPr id="43" name="Group 42"/>
          <p:cNvGrpSpPr/>
          <p:nvPr/>
        </p:nvGrpSpPr>
        <p:grpSpPr>
          <a:xfrm>
            <a:off x="4588630" y="3878463"/>
            <a:ext cx="3252417" cy="2924673"/>
            <a:chOff x="4588630" y="3878463"/>
            <a:chExt cx="3252417" cy="2924673"/>
          </a:xfrm>
        </p:grpSpPr>
        <p:sp>
          <p:nvSpPr>
            <p:cNvPr id="44" name="frame:Clarke error grid, 6"/>
            <p:cNvSpPr/>
            <p:nvPr/>
          </p:nvSpPr>
          <p:spPr>
            <a:xfrm>
              <a:off x="4588630" y="4015623"/>
              <a:ext cx="3252417" cy="2787513"/>
            </a:xfrm>
            <a:prstGeom prst="roundRect">
              <a:avLst>
                <a:gd name="adj" fmla="val 1640"/>
              </a:avLst>
            </a:prstGeom>
            <a:solidFill>
              <a:srgbClr val="F1F4F8"/>
            </a:solidFill>
            <a:ln w="15875">
              <a:solidFill>
                <a:srgbClr val="466E9E"/>
              </a:solidFill>
              <a:prstDash val="sysDot"/>
            </a:ln>
          </p:spPr>
          <p:txBody>
            <a:bodyPr rtlCol="0" anchor="ctr"/>
            <a:lstStyle/>
            <a:p/>
          </p:txBody>
        </p:sp>
        <p:sp>
          <p:nvSpPr>
            <p:cNvPr id="45" name="Rounded Rectangle 44"/>
            <p:cNvSpPr/>
            <p:nvPr/>
          </p:nvSpPr>
          <p:spPr>
            <a:xfrm>
              <a:off x="4588630" y="3878463"/>
              <a:ext cx="2273832" cy="274320"/>
            </a:xfrm>
            <a:prstGeom prst="roundRect">
              <a:avLst>
                <a:gd name="adj" fmla="val 13333"/>
              </a:avLst>
            </a:prstGeom>
            <a:solidFill>
              <a:srgbClr val="1D4E89"/>
            </a:solidFill>
            <a:ln>
              <a:noFill/>
            </a:ln>
          </p:spPr>
          <p:txBody>
            <a:bodyPr rtlCol="0" anchor="ctr"/>
            <a:lstStyle/>
            <a:p/>
          </p:txBody>
        </p:sp>
        <p:pic>
          <p:nvPicPr>
            <p:cNvPr id="46" name="Picture 45" descr="ic_fa6_FaBorderAll_FFFFFF.png"/>
            <p:cNvPicPr>
              <a:picLocks noChangeAspect="1"/>
            </p:cNvPicPr>
            <p:nvPr/>
          </p:nvPicPr>
          <p:blipFill>
            <a:blip r:embed="rId8"/>
            <a:stretch>
              <a:fillRect/>
            </a:stretch>
          </p:blipFill>
          <p:spPr>
            <a:xfrm>
              <a:off x="4643494" y="3915039"/>
              <a:ext cx="201168" cy="201168"/>
            </a:xfrm>
            <a:prstGeom prst="rect">
              <a:avLst/>
            </a:prstGeom>
          </p:spPr>
        </p:pic>
        <p:sp>
          <p:nvSpPr>
            <p:cNvPr id="47" name="TextBox 46"/>
            <p:cNvSpPr txBox="1"/>
            <p:nvPr/>
          </p:nvSpPr>
          <p:spPr>
            <a:xfrm>
              <a:off x="4890382" y="3878463"/>
              <a:ext cx="1944648" cy="274320"/>
            </a:xfrm>
            <a:prstGeom prst="rect">
              <a:avLst/>
            </a:prstGeom>
            <a:noFill/>
          </p:spPr>
          <p:txBody>
            <a:bodyPr wrap="square" lIns="9144" rIns="9144" tIns="9144" bIns="9144" anchor="ctr">
              <a:noAutofit/>
            </a:bodyPr>
            <a:lstStyle/>
            <a:p>
              <a:pPr algn="l"/>
              <a:r>
                <a:rPr sz="1200" b="1" i="0">
                  <a:solidFill>
                    <a:srgbClr val="FFFFFF"/>
                  </a:solidFill>
                  <a:latin typeface="Arial"/>
                </a:rPr>
                <a:t>Clarke error grid, 60 min</a:t>
              </a:r>
            </a:p>
          </p:txBody>
        </p:sp>
        <p:pic>
          <p:nvPicPr>
            <p:cNvPr id="48" name="Picture 47" descr="fig_clarke.png"/>
            <p:cNvPicPr>
              <a:picLocks noChangeAspect="1"/>
            </p:cNvPicPr>
            <p:nvPr/>
          </p:nvPicPr>
          <p:blipFill>
            <a:blip r:embed="rId9"/>
            <a:stretch>
              <a:fillRect/>
            </a:stretch>
          </p:blipFill>
          <p:spPr>
            <a:xfrm>
              <a:off x="4792767" y="4189359"/>
              <a:ext cx="2844142" cy="2558913"/>
            </a:xfrm>
            <a:prstGeom prst="rect">
              <a:avLst/>
            </a:prstGeom>
          </p:spPr>
        </p:pic>
      </p:grpSp>
      <p:grpSp>
        <p:nvGrpSpPr>
          <p:cNvPr id="49" name="Group 48"/>
          <p:cNvGrpSpPr/>
          <p:nvPr/>
        </p:nvGrpSpPr>
        <p:grpSpPr>
          <a:xfrm>
            <a:off x="7914199" y="3878463"/>
            <a:ext cx="4204344" cy="2924673"/>
            <a:chOff x="7914199" y="3878463"/>
            <a:chExt cx="4204344" cy="2924673"/>
          </a:xfrm>
        </p:grpSpPr>
        <p:sp>
          <p:nvSpPr>
            <p:cNvPr id="50" name="frame:Fair across groups"/>
            <p:cNvSpPr/>
            <p:nvPr/>
          </p:nvSpPr>
          <p:spPr>
            <a:xfrm>
              <a:off x="7914199" y="4015623"/>
              <a:ext cx="4204344" cy="2787513"/>
            </a:xfrm>
            <a:prstGeom prst="roundRect">
              <a:avLst>
                <a:gd name="adj" fmla="val 1640"/>
              </a:avLst>
            </a:prstGeom>
            <a:solidFill>
              <a:srgbClr val="E2E8F0"/>
            </a:solidFill>
            <a:ln w="15875">
              <a:solidFill>
                <a:srgbClr val="466E9E"/>
              </a:solidFill>
              <a:prstDash val="sysDot"/>
            </a:ln>
          </p:spPr>
          <p:txBody>
            <a:bodyPr rtlCol="0" anchor="ctr"/>
            <a:lstStyle/>
            <a:p/>
          </p:txBody>
        </p:sp>
        <p:sp>
          <p:nvSpPr>
            <p:cNvPr id="51" name="Rounded Rectangle 50"/>
            <p:cNvSpPr/>
            <p:nvPr/>
          </p:nvSpPr>
          <p:spPr>
            <a:xfrm>
              <a:off x="7914199" y="3878463"/>
              <a:ext cx="1884081" cy="274320"/>
            </a:xfrm>
            <a:prstGeom prst="roundRect">
              <a:avLst>
                <a:gd name="adj" fmla="val 13333"/>
              </a:avLst>
            </a:prstGeom>
            <a:solidFill>
              <a:srgbClr val="1D4E89"/>
            </a:solidFill>
            <a:ln>
              <a:noFill/>
            </a:ln>
          </p:spPr>
          <p:txBody>
            <a:bodyPr rtlCol="0" anchor="ctr"/>
            <a:lstStyle/>
            <a:p/>
          </p:txBody>
        </p:sp>
        <p:pic>
          <p:nvPicPr>
            <p:cNvPr id="52" name="Picture 51" descr="ic_fa6_FaScaleBalanced_FFFFFF.png"/>
            <p:cNvPicPr>
              <a:picLocks noChangeAspect="1"/>
            </p:cNvPicPr>
            <p:nvPr/>
          </p:nvPicPr>
          <p:blipFill>
            <a:blip r:embed="rId10"/>
            <a:stretch>
              <a:fillRect/>
            </a:stretch>
          </p:blipFill>
          <p:spPr>
            <a:xfrm>
              <a:off x="7969063" y="3915039"/>
              <a:ext cx="201168" cy="201168"/>
            </a:xfrm>
            <a:prstGeom prst="rect">
              <a:avLst/>
            </a:prstGeom>
          </p:spPr>
        </p:pic>
        <p:sp>
          <p:nvSpPr>
            <p:cNvPr id="53" name="TextBox 52"/>
            <p:cNvSpPr txBox="1"/>
            <p:nvPr/>
          </p:nvSpPr>
          <p:spPr>
            <a:xfrm>
              <a:off x="8215951" y="3878463"/>
              <a:ext cx="1554897" cy="274320"/>
            </a:xfrm>
            <a:prstGeom prst="rect">
              <a:avLst/>
            </a:prstGeom>
            <a:noFill/>
          </p:spPr>
          <p:txBody>
            <a:bodyPr wrap="square" lIns="9144" rIns="9144" tIns="9144" bIns="9144" anchor="ctr">
              <a:noAutofit/>
            </a:bodyPr>
            <a:lstStyle/>
            <a:p>
              <a:pPr algn="l"/>
              <a:r>
                <a:rPr sz="1200" b="1" i="0">
                  <a:solidFill>
                    <a:srgbClr val="FFFFFF"/>
                  </a:solidFill>
                  <a:latin typeface="Arial"/>
                </a:rPr>
                <a:t>Fair across groups</a:t>
              </a:r>
            </a:p>
          </p:txBody>
        </p:sp>
        <p:sp>
          <p:nvSpPr>
            <p:cNvPr id="55" name="Rounded Rectangle 54"/>
            <p:cNvSpPr/>
            <p:nvPr/>
          </p:nvSpPr>
          <p:spPr>
            <a:xfrm>
              <a:off x="7969063" y="5788715"/>
              <a:ext cx="912318" cy="452347"/>
            </a:xfrm>
            <a:prstGeom prst="roundRect">
              <a:avLst>
                <a:gd name="adj" fmla="val 10107"/>
              </a:avLst>
            </a:prstGeom>
            <a:solidFill>
              <a:srgbClr val="112F52"/>
            </a:solidFill>
            <a:ln>
              <a:noFill/>
            </a:ln>
          </p:spPr>
          <p:txBody>
            <a:bodyPr rtlCol="0" anchor="ctr" wrap="square" lIns="45720" rIns="45720" tIns="27432" bIns="27432">
              <a:noAutofit/>
            </a:bodyPr>
            <a:lstStyle/>
            <a:p>
              <a:pPr algn="ctr"/>
              <a:r>
                <a:rPr sz="1600" b="1" i="0">
                  <a:solidFill>
                    <a:srgbClr val="FFFFFF"/>
                  </a:solidFill>
                  <a:latin typeface="Arial"/>
                </a:rPr>
                <a:t>0.908</a:t>
              </a:r>
            </a:p>
          </p:txBody>
        </p:sp>
        <p:sp>
          <p:nvSpPr>
            <p:cNvPr id="56" name="Rounded Rectangle 55"/>
            <p:cNvSpPr/>
            <p:nvPr/>
          </p:nvSpPr>
          <p:spPr>
            <a:xfrm>
              <a:off x="8917957" y="5788715"/>
              <a:ext cx="1070982" cy="452347"/>
            </a:xfrm>
            <a:prstGeom prst="roundRect">
              <a:avLst>
                <a:gd name="adj" fmla="val 10107"/>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AUPRC</a:t>
              </a:r>
            </a:p>
          </p:txBody>
        </p:sp>
        <p:sp>
          <p:nvSpPr>
            <p:cNvPr id="57" name="Rounded Rectangle 56"/>
            <p:cNvSpPr/>
            <p:nvPr/>
          </p:nvSpPr>
          <p:spPr>
            <a:xfrm>
              <a:off x="10043803" y="5788715"/>
              <a:ext cx="912318" cy="452347"/>
            </a:xfrm>
            <a:prstGeom prst="roundRect">
              <a:avLst>
                <a:gd name="adj" fmla="val 10107"/>
              </a:avLst>
            </a:prstGeom>
            <a:solidFill>
              <a:srgbClr val="112F52"/>
            </a:solidFill>
            <a:ln>
              <a:noFill/>
            </a:ln>
          </p:spPr>
          <p:txBody>
            <a:bodyPr rtlCol="0" anchor="ctr" wrap="square" lIns="45720" rIns="45720" tIns="27432" bIns="27432">
              <a:noAutofit/>
            </a:bodyPr>
            <a:lstStyle/>
            <a:p>
              <a:pPr algn="ctr"/>
              <a:r>
                <a:rPr sz="1600" b="1" i="0">
                  <a:solidFill>
                    <a:srgbClr val="FFFFFF"/>
                  </a:solidFill>
                  <a:latin typeface="Arial"/>
                </a:rPr>
                <a:t>79%</a:t>
              </a:r>
            </a:p>
          </p:txBody>
        </p:sp>
        <p:sp>
          <p:nvSpPr>
            <p:cNvPr id="58" name="Rounded Rectangle 57"/>
            <p:cNvSpPr/>
            <p:nvPr/>
          </p:nvSpPr>
          <p:spPr>
            <a:xfrm>
              <a:off x="10992697" y="5788715"/>
              <a:ext cx="1070982" cy="452347"/>
            </a:xfrm>
            <a:prstGeom prst="roundRect">
              <a:avLst>
                <a:gd name="adj" fmla="val 10107"/>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alert precision</a:t>
              </a:r>
            </a:p>
          </p:txBody>
        </p:sp>
        <p:sp>
          <p:nvSpPr>
            <p:cNvPr id="59" name="Rounded Rectangle 58"/>
            <p:cNvSpPr/>
            <p:nvPr/>
          </p:nvSpPr>
          <p:spPr>
            <a:xfrm>
              <a:off x="7969063" y="6295925"/>
              <a:ext cx="912318" cy="452347"/>
            </a:xfrm>
            <a:prstGeom prst="roundRect">
              <a:avLst>
                <a:gd name="adj" fmla="val 10107"/>
              </a:avLst>
            </a:prstGeom>
            <a:solidFill>
              <a:srgbClr val="112F52"/>
            </a:solidFill>
            <a:ln>
              <a:noFill/>
            </a:ln>
          </p:spPr>
          <p:txBody>
            <a:bodyPr rtlCol="0" anchor="ctr" wrap="square" lIns="45720" rIns="45720" tIns="27432" bIns="27432">
              <a:noAutofit/>
            </a:bodyPr>
            <a:lstStyle/>
            <a:p>
              <a:pPr algn="ctr"/>
              <a:r>
                <a:rPr sz="1600" b="1" i="0">
                  <a:solidFill>
                    <a:srgbClr val="FFFFFF"/>
                  </a:solidFill>
                  <a:latin typeface="Arial"/>
                </a:rPr>
                <a:t>99.6%</a:t>
              </a:r>
            </a:p>
          </p:txBody>
        </p:sp>
        <p:sp>
          <p:nvSpPr>
            <p:cNvPr id="60" name="Rounded Rectangle 59"/>
            <p:cNvSpPr/>
            <p:nvPr/>
          </p:nvSpPr>
          <p:spPr>
            <a:xfrm>
              <a:off x="8917957" y="6295925"/>
              <a:ext cx="1070982" cy="452347"/>
            </a:xfrm>
            <a:prstGeom prst="roundRect">
              <a:avLst>
                <a:gd name="adj" fmla="val 10107"/>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Clarke A + B</a:t>
              </a:r>
            </a:p>
          </p:txBody>
        </p:sp>
        <p:sp>
          <p:nvSpPr>
            <p:cNvPr id="61" name="Rounded Rectangle 60"/>
            <p:cNvSpPr/>
            <p:nvPr/>
          </p:nvSpPr>
          <p:spPr>
            <a:xfrm>
              <a:off x="10043803" y="6295925"/>
              <a:ext cx="912318" cy="452347"/>
            </a:xfrm>
            <a:prstGeom prst="roundRect">
              <a:avLst>
                <a:gd name="adj" fmla="val 10107"/>
              </a:avLst>
            </a:prstGeom>
            <a:solidFill>
              <a:srgbClr val="112F52"/>
            </a:solidFill>
            <a:ln>
              <a:noFill/>
            </a:ln>
          </p:spPr>
          <p:txBody>
            <a:bodyPr rtlCol="0" anchor="ctr" wrap="square" lIns="45720" rIns="45720" tIns="27432" bIns="27432">
              <a:noAutofit/>
            </a:bodyPr>
            <a:lstStyle/>
            <a:p>
              <a:pPr algn="ctr"/>
              <a:r>
                <a:rPr sz="1600" b="1" i="0">
                  <a:solidFill>
                    <a:srgbClr val="FFFFFF"/>
                  </a:solidFill>
                  <a:latin typeface="Arial"/>
                </a:rPr>
                <a:t>12.0</a:t>
              </a:r>
            </a:p>
          </p:txBody>
        </p:sp>
        <p:sp>
          <p:nvSpPr>
            <p:cNvPr id="62" name="Rounded Rectangle 61"/>
            <p:cNvSpPr/>
            <p:nvPr/>
          </p:nvSpPr>
          <p:spPr>
            <a:xfrm>
              <a:off x="10992697" y="6295925"/>
              <a:ext cx="1070982" cy="452347"/>
            </a:xfrm>
            <a:prstGeom prst="roundRect">
              <a:avLst>
                <a:gd name="adj" fmla="val 10107"/>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RMSE, 30 min</a:t>
              </a:r>
            </a:p>
          </p:txBody>
        </p:sp>
      </p:grpSp>
      <p:graphicFrame>
        <p:nvGraphicFramePr>
          <p:cNvPr id="54" name="ig:table"/>
          <p:cNvGraphicFramePr>
            <a:graphicFrameLocks noGrp="1"/>
          </p:cNvGraphicFramePr>
          <p:nvPr/>
        </p:nvGraphicFramePr>
        <p:xfrm>
          <a:off x="7969063" y="4189359"/>
          <a:ext cx="4094616" cy="1535345"/>
        </p:xfrm>
        <a:graphic>
          <a:graphicData uri="http://schemas.openxmlformats.org/drawingml/2006/table">
            <a:tbl>
              <a:tblPr firstRow="1" bandRow="1">
                <a:tableStyleId>{5940675A-B579-460E-94D1-54222C63F5DA}</a:tableStyleId>
              </a:tblPr>
              <a:tblGrid>
                <a:gridCol w="2193544"/>
                <a:gridCol w="804300"/>
                <a:gridCol w="1096772"/>
              </a:tblGrid>
              <a:tr h="219335">
                <a:tc>
                  <a:txBody>
                    <a:bodyPr wrap="square" lIns="45720" rIns="45720" tIns="27432" bIns="27432" anchor="ctr">
                      <a:noAutofit/>
                    </a:bodyPr>
                    <a:lstStyle/>
                    <a:p>
                      <a:pPr algn="l"/>
                      <a:r>
                        <a:rPr sz="1000" b="1" i="0">
                          <a:solidFill>
                            <a:srgbClr val="FFFFFF"/>
                          </a:solidFill>
                          <a:latin typeface="Arial"/>
                        </a:rPr>
                        <a:t>Subgroup (test)</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c>
                  <a:txBody>
                    <a:bodyPr wrap="square" lIns="45720" rIns="45720" tIns="27432" bIns="27432" anchor="ctr">
                      <a:noAutofit/>
                    </a:bodyPr>
                    <a:lstStyle/>
                    <a:p>
                      <a:pPr algn="r"/>
                      <a:r>
                        <a:rPr sz="1000" b="1" i="0">
                          <a:solidFill>
                            <a:srgbClr val="FFFFFF"/>
                          </a:solidFill>
                          <a:latin typeface="Arial"/>
                        </a:rPr>
                        <a:t>Pts</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c>
                  <a:txBody>
                    <a:bodyPr wrap="square" lIns="45720" rIns="45720" tIns="27432" bIns="27432" anchor="ctr">
                      <a:noAutofit/>
                    </a:bodyPr>
                    <a:lstStyle/>
                    <a:p>
                      <a:pPr algn="r"/>
                      <a:r>
                        <a:rPr sz="1000" b="1" i="0">
                          <a:solidFill>
                            <a:srgbClr val="FFFFFF"/>
                          </a:solidFill>
                          <a:latin typeface="Arial"/>
                        </a:rPr>
                        <a:t>AUROC</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r>
              <a:tr h="219335">
                <a:tc>
                  <a:txBody>
                    <a:bodyPr wrap="square" lIns="45720" rIns="45720" tIns="27432" bIns="27432" anchor="ctr">
                      <a:noAutofit/>
                    </a:bodyPr>
                    <a:lstStyle/>
                    <a:p>
                      <a:pPr algn="l"/>
                      <a:r>
                        <a:rPr sz="1000" b="1" i="0">
                          <a:solidFill>
                            <a:srgbClr val="1A1A1A"/>
                          </a:solidFill>
                          <a:latin typeface="Arial"/>
                        </a:rPr>
                        <a:t>Women</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8</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0.967</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219335">
                <a:tc>
                  <a:txBody>
                    <a:bodyPr wrap="square" lIns="45720" rIns="45720" tIns="27432" bIns="27432" anchor="ctr">
                      <a:noAutofit/>
                    </a:bodyPr>
                    <a:lstStyle/>
                    <a:p>
                      <a:pPr algn="l"/>
                      <a:r>
                        <a:rPr sz="1000" b="1" i="0">
                          <a:solidFill>
                            <a:srgbClr val="1A1A1A"/>
                          </a:solidFill>
                          <a:latin typeface="Arial"/>
                        </a:rPr>
                        <a:t>Men</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16</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0.957</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219335">
                <a:tc>
                  <a:txBody>
                    <a:bodyPr wrap="square" lIns="45720" rIns="45720" tIns="27432" bIns="27432" anchor="ctr">
                      <a:noAutofit/>
                    </a:bodyPr>
                    <a:lstStyle/>
                    <a:p>
                      <a:pPr algn="l"/>
                      <a:r>
                        <a:rPr sz="1000" b="1" i="0">
                          <a:solidFill>
                            <a:srgbClr val="1A1A1A"/>
                          </a:solidFill>
                          <a:latin typeface="Arial"/>
                        </a:rPr>
                        <a:t>South India</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12</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0.961</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219335">
                <a:tc>
                  <a:txBody>
                    <a:bodyPr wrap="square" lIns="45720" rIns="45720" tIns="27432" bIns="27432" anchor="ctr">
                      <a:noAutofit/>
                    </a:bodyPr>
                    <a:lstStyle/>
                    <a:p>
                      <a:pPr algn="l"/>
                      <a:r>
                        <a:rPr sz="1000" b="1" i="0">
                          <a:solidFill>
                            <a:srgbClr val="1A1A1A"/>
                          </a:solidFill>
                          <a:latin typeface="Arial"/>
                        </a:rPr>
                        <a:t>West India</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8</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0.957</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219335">
                <a:tc>
                  <a:txBody>
                    <a:bodyPr wrap="square" lIns="45720" rIns="45720" tIns="27432" bIns="27432" anchor="ctr">
                      <a:noAutofit/>
                    </a:bodyPr>
                    <a:lstStyle/>
                    <a:p>
                      <a:pPr algn="l"/>
                      <a:r>
                        <a:rPr sz="1000" b="1" i="0">
                          <a:solidFill>
                            <a:srgbClr val="1A1A1A"/>
                          </a:solidFill>
                          <a:latin typeface="Arial"/>
                        </a:rPr>
                        <a:t>Prediabetes</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3</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0.965</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219335">
                <a:tc>
                  <a:txBody>
                    <a:bodyPr wrap="square" lIns="45720" rIns="45720" tIns="27432" bIns="27432" anchor="ctr">
                      <a:noAutofit/>
                    </a:bodyPr>
                    <a:lstStyle/>
                    <a:p>
                      <a:pPr algn="l"/>
                      <a:r>
                        <a:rPr sz="1000" b="1" i="0">
                          <a:solidFill>
                            <a:srgbClr val="1A1A1A"/>
                          </a:solidFill>
                          <a:latin typeface="Arial"/>
                        </a:rPr>
                        <a:t>T2D</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21</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0.958</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v:0">
            <a:hlinkClick action="ppaction://hlinksldjump" r:id="rId8"/>
          </p:cNvPr>
          <p:cNvSpPr/>
          <p:nvPr/>
        </p:nvSpPr>
        <p:spPr>
          <a:xfrm>
            <a:off x="0" y="0"/>
            <a:ext cx="1359073" cy="457200"/>
          </a:xfrm>
          <a:prstGeom prst="homePlate">
            <a:avLst>
              <a:gd name="adj" fmla="val 34000"/>
            </a:avLst>
          </a:prstGeom>
          <a:solidFill>
            <a:srgbClr val="6587AF"/>
          </a:solidFill>
          <a:ln w="12700">
            <a:solidFill>
              <a:srgbClr val="FFFFFF"/>
            </a:solidFill>
          </a:ln>
        </p:spPr>
        <p:txBody>
          <a:bodyPr rtlCol="0" anchor="ctr"/>
          <a:lstStyle/>
          <a:p/>
        </p:txBody>
      </p:sp>
      <p:sp>
        <p:nvSpPr>
          <p:cNvPr id="3" name="nav:t0">
            <a:hlinkClick action="ppaction://hlinksldjump" r:id="rId8"/>
          </p:cNvPr>
          <p:cNvSpPr txBox="1"/>
          <p:nvPr/>
        </p:nvSpPr>
        <p:spPr>
          <a:xfrm>
            <a:off x="64008" y="0"/>
            <a:ext cx="1121329" cy="457200"/>
          </a:xfrm>
          <a:prstGeom prst="rect">
            <a:avLst/>
          </a:prstGeom>
          <a:noFill/>
        </p:spPr>
        <p:txBody>
          <a:bodyPr wrap="square" lIns="9144" rIns="9144" tIns="9144" bIns="9144" anchor="ctr">
            <a:noAutofit/>
          </a:bodyPr>
          <a:lstStyle/>
          <a:p>
            <a:pPr algn="ctr"/>
            <a:r>
              <a:rPr sz="1000" b="0" i="0">
                <a:solidFill>
                  <a:srgbClr val="FFFFFF"/>
                </a:solidFill>
                <a:latin typeface="Arial"/>
              </a:rPr>
              <a:t>Executive Summary</a:t>
            </a:r>
          </a:p>
        </p:txBody>
      </p:sp>
      <p:sp>
        <p:nvSpPr>
          <p:cNvPr id="4" name="nav:1">
            <a:hlinkClick action="ppaction://hlinksldjump" r:id="rId9"/>
          </p:cNvPr>
          <p:cNvSpPr/>
          <p:nvPr/>
        </p:nvSpPr>
        <p:spPr>
          <a:xfrm>
            <a:off x="1203625"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5" name="nav:t1">
            <a:hlinkClick action="ppaction://hlinksldjump" r:id="rId9"/>
          </p:cNvPr>
          <p:cNvSpPr txBox="1"/>
          <p:nvPr/>
        </p:nvSpPr>
        <p:spPr>
          <a:xfrm>
            <a:off x="1386505"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Problem</a:t>
            </a:r>
          </a:p>
        </p:txBody>
      </p:sp>
      <p:sp>
        <p:nvSpPr>
          <p:cNvPr id="6" name="nav:2">
            <a:hlinkClick action="ppaction://hlinksldjump" r:id="rId10"/>
          </p:cNvPr>
          <p:cNvSpPr/>
          <p:nvPr/>
        </p:nvSpPr>
        <p:spPr>
          <a:xfrm>
            <a:off x="2407249"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7" name="nav:t2">
            <a:hlinkClick action="ppaction://hlinksldjump" r:id="rId10"/>
          </p:cNvPr>
          <p:cNvSpPr txBox="1"/>
          <p:nvPr/>
        </p:nvSpPr>
        <p:spPr>
          <a:xfrm>
            <a:off x="2590129"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Solution</a:t>
            </a:r>
          </a:p>
        </p:txBody>
      </p:sp>
      <p:sp>
        <p:nvSpPr>
          <p:cNvPr id="8" name="nav:3">
            <a:hlinkClick action="ppaction://hlinksldjump" r:id="rId11"/>
          </p:cNvPr>
          <p:cNvSpPr/>
          <p:nvPr/>
        </p:nvSpPr>
        <p:spPr>
          <a:xfrm>
            <a:off x="3610874"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9" name="nav:t3">
            <a:hlinkClick action="ppaction://hlinksldjump" r:id="rId11"/>
          </p:cNvPr>
          <p:cNvSpPr txBox="1"/>
          <p:nvPr/>
        </p:nvSpPr>
        <p:spPr>
          <a:xfrm>
            <a:off x="3793754"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Data</a:t>
            </a:r>
          </a:p>
        </p:txBody>
      </p:sp>
      <p:sp>
        <p:nvSpPr>
          <p:cNvPr id="10" name="nav:4">
            <a:hlinkClick action="ppaction://hlinksldjump" r:id="rId12"/>
          </p:cNvPr>
          <p:cNvSpPr/>
          <p:nvPr/>
        </p:nvSpPr>
        <p:spPr>
          <a:xfrm>
            <a:off x="4814499"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1" name="nav:t4">
            <a:hlinkClick action="ppaction://hlinksldjump" r:id="rId12"/>
          </p:cNvPr>
          <p:cNvSpPr txBox="1"/>
          <p:nvPr/>
        </p:nvSpPr>
        <p:spPr>
          <a:xfrm>
            <a:off x="4997379"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Twin Engine</a:t>
            </a:r>
          </a:p>
        </p:txBody>
      </p:sp>
      <p:sp>
        <p:nvSpPr>
          <p:cNvPr id="12" name="nav:5">
            <a:hlinkClick action="ppaction://hlinksldjump" r:id="rId13"/>
          </p:cNvPr>
          <p:cNvSpPr/>
          <p:nvPr/>
        </p:nvSpPr>
        <p:spPr>
          <a:xfrm>
            <a:off x="6018124"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3" name="nav:t5">
            <a:hlinkClick action="ppaction://hlinksldjump" r:id="rId13"/>
          </p:cNvPr>
          <p:cNvSpPr txBox="1"/>
          <p:nvPr/>
        </p:nvSpPr>
        <p:spPr>
          <a:xfrm>
            <a:off x="6201004"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AI Model</a:t>
            </a:r>
          </a:p>
        </p:txBody>
      </p:sp>
      <p:sp>
        <p:nvSpPr>
          <p:cNvPr id="14" name="nav:6">
            <a:hlinkClick action="ppaction://hlinksldjump" r:id="rId14"/>
          </p:cNvPr>
          <p:cNvSpPr/>
          <p:nvPr/>
        </p:nvSpPr>
        <p:spPr>
          <a:xfrm>
            <a:off x="7221748" y="0"/>
            <a:ext cx="1359073" cy="457200"/>
          </a:xfrm>
          <a:prstGeom prst="chevron">
            <a:avLst>
              <a:gd name="adj" fmla="val 34000"/>
            </a:avLst>
          </a:prstGeom>
          <a:solidFill>
            <a:srgbClr val="112F52"/>
          </a:solidFill>
          <a:ln w="12700">
            <a:solidFill>
              <a:srgbClr val="FFFFFF"/>
            </a:solidFill>
          </a:ln>
        </p:spPr>
        <p:txBody>
          <a:bodyPr rtlCol="0" anchor="ctr"/>
          <a:lstStyle/>
          <a:p/>
        </p:txBody>
      </p:sp>
      <p:sp>
        <p:nvSpPr>
          <p:cNvPr id="15" name="nav:t6">
            <a:hlinkClick action="ppaction://hlinksldjump" r:id="rId14"/>
          </p:cNvPr>
          <p:cNvSpPr txBox="1"/>
          <p:nvPr/>
        </p:nvSpPr>
        <p:spPr>
          <a:xfrm>
            <a:off x="7404628" y="0"/>
            <a:ext cx="1002457" cy="457200"/>
          </a:xfrm>
          <a:prstGeom prst="rect">
            <a:avLst/>
          </a:prstGeom>
          <a:noFill/>
        </p:spPr>
        <p:txBody>
          <a:bodyPr wrap="square" lIns="9144" rIns="9144" tIns="9144" bIns="9144" anchor="ctr">
            <a:noAutofit/>
          </a:bodyPr>
          <a:lstStyle/>
          <a:p>
            <a:pPr algn="ctr"/>
            <a:r>
              <a:rPr sz="1000" b="1" i="0">
                <a:solidFill>
                  <a:srgbClr val="FFFFFF"/>
                </a:solidFill>
                <a:latin typeface="Arial"/>
              </a:rPr>
              <a:t>Results</a:t>
            </a:r>
          </a:p>
        </p:txBody>
      </p:sp>
      <p:sp>
        <p:nvSpPr>
          <p:cNvPr id="16" name="nav:7">
            <a:hlinkClick action="ppaction://hlinksldjump" r:id="rId15"/>
          </p:cNvPr>
          <p:cNvSpPr/>
          <p:nvPr/>
        </p:nvSpPr>
        <p:spPr>
          <a:xfrm>
            <a:off x="8425373"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7" name="nav:t7">
            <a:hlinkClick action="ppaction://hlinksldjump" r:id="rId15"/>
          </p:cNvPr>
          <p:cNvSpPr txBox="1"/>
          <p:nvPr/>
        </p:nvSpPr>
        <p:spPr>
          <a:xfrm>
            <a:off x="8608253"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Dashboard</a:t>
            </a:r>
          </a:p>
        </p:txBody>
      </p:sp>
      <p:sp>
        <p:nvSpPr>
          <p:cNvPr id="18" name="nav:8">
            <a:hlinkClick action="ppaction://hlinksldjump" r:id="rId16"/>
          </p:cNvPr>
          <p:cNvSpPr/>
          <p:nvPr/>
        </p:nvSpPr>
        <p:spPr>
          <a:xfrm>
            <a:off x="9628998"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9" name="nav:t8">
            <a:hlinkClick action="ppaction://hlinksldjump" r:id="rId16"/>
          </p:cNvPr>
          <p:cNvSpPr txBox="1"/>
          <p:nvPr/>
        </p:nvSpPr>
        <p:spPr>
          <a:xfrm>
            <a:off x="9811878"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Impact</a:t>
            </a:r>
          </a:p>
        </p:txBody>
      </p:sp>
      <p:sp>
        <p:nvSpPr>
          <p:cNvPr id="20" name="nav:9">
            <a:hlinkClick action="ppaction://hlinksldjump" r:id="rId17"/>
          </p:cNvPr>
          <p:cNvSpPr/>
          <p:nvPr/>
        </p:nvSpPr>
        <p:spPr>
          <a:xfrm>
            <a:off x="10832622"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21" name="nav:t9">
            <a:hlinkClick action="ppaction://hlinksldjump" r:id="rId17"/>
          </p:cNvPr>
          <p:cNvSpPr txBox="1"/>
          <p:nvPr/>
        </p:nvSpPr>
        <p:spPr>
          <a:xfrm>
            <a:off x="11015502"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Roadmap &amp; Cost</a:t>
            </a:r>
          </a:p>
        </p:txBody>
      </p:sp>
      <p:sp>
        <p:nvSpPr>
          <p:cNvPr id="22" name="TextBox 21"/>
          <p:cNvSpPr txBox="1"/>
          <p:nvPr/>
        </p:nvSpPr>
        <p:spPr>
          <a:xfrm>
            <a:off x="73152" y="502920"/>
            <a:ext cx="12045391" cy="329184"/>
          </a:xfrm>
          <a:prstGeom prst="rect">
            <a:avLst/>
          </a:prstGeom>
          <a:noFill/>
        </p:spPr>
        <p:txBody>
          <a:bodyPr wrap="square" lIns="18288" rIns="18288" tIns="18288" bIns="18288" anchor="ctr">
            <a:noAutofit/>
          </a:bodyPr>
          <a:lstStyle/>
          <a:p>
            <a:pPr algn="l"/>
            <a:r>
              <a:rPr sz="1600" b="1" i="0">
                <a:solidFill>
                  <a:srgbClr val="1D4E89"/>
                </a:solidFill>
                <a:latin typeface="Arial"/>
              </a:rPr>
              <a:t>One test patient, one day: three warnings, each 60 to 105 minutes before the spike</a:t>
            </a:r>
          </a:p>
        </p:txBody>
      </p:sp>
      <p:sp>
        <p:nvSpPr>
          <p:cNvPr id="23" name="TextBox 22"/>
          <p:cNvSpPr txBox="1"/>
          <p:nvPr/>
        </p:nvSpPr>
        <p:spPr>
          <a:xfrm>
            <a:off x="73152" y="795528"/>
            <a:ext cx="12045391" cy="237744"/>
          </a:xfrm>
          <a:prstGeom prst="rect">
            <a:avLst/>
          </a:prstGeom>
          <a:noFill/>
        </p:spPr>
        <p:txBody>
          <a:bodyPr wrap="square" lIns="18288" rIns="18288" tIns="18288" bIns="18288" anchor="ctr">
            <a:noAutofit/>
          </a:bodyPr>
          <a:lstStyle/>
          <a:p>
            <a:pPr algn="l"/>
            <a:r>
              <a:rPr sz="1200" b="1" i="0">
                <a:solidFill>
                  <a:srgbClr val="4A5168"/>
                </a:solidFill>
                <a:latin typeface="Arial"/>
              </a:rPr>
              <a:t>Gurpreet K. (PT-0054), 47, type 2 diabetes for 12.5 years, HbA1c 6.7%: never seen during training</a:t>
            </a:r>
          </a:p>
        </p:txBody>
      </p:sp>
      <p:cxnSp>
        <p:nvCxnSpPr>
          <p:cNvPr id="24" name="Connector 23"/>
          <p:cNvCxnSpPr/>
          <p:nvPr/>
        </p:nvCxnSpPr>
        <p:spPr>
          <a:xfrm>
            <a:off x="73152" y="1042416"/>
            <a:ext cx="12045391" cy="0"/>
          </a:xfrm>
          <a:prstGeom prst="line">
            <a:avLst/>
          </a:prstGeom>
          <a:ln w="19050">
            <a:solidFill>
              <a:srgbClr val="1D4E89"/>
            </a:solidFill>
          </a:ln>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73152" y="1097280"/>
            <a:ext cx="12045391" cy="3423800"/>
            <a:chOff x="73152" y="1097280"/>
            <a:chExt cx="12045391" cy="3423800"/>
          </a:xfrm>
        </p:grpSpPr>
        <p:sp>
          <p:nvSpPr>
            <p:cNvPr id="26" name="frame:CGM (dark), forecast"/>
            <p:cNvSpPr/>
            <p:nvPr/>
          </p:nvSpPr>
          <p:spPr>
            <a:xfrm>
              <a:off x="73152" y="1234440"/>
              <a:ext cx="12045391" cy="3286640"/>
            </a:xfrm>
            <a:prstGeom prst="roundRect">
              <a:avLst>
                <a:gd name="adj" fmla="val 1391"/>
              </a:avLst>
            </a:prstGeom>
            <a:solidFill>
              <a:srgbClr val="F1F4F8"/>
            </a:solidFill>
            <a:ln w="15875">
              <a:solidFill>
                <a:srgbClr val="466E9E"/>
              </a:solidFill>
              <a:prstDash val="sysDot"/>
            </a:ln>
          </p:spPr>
          <p:txBody>
            <a:bodyPr rtlCol="0" anchor="ctr"/>
            <a:lstStyle/>
            <a:p/>
          </p:txBody>
        </p:sp>
        <p:sp>
          <p:nvSpPr>
            <p:cNvPr id="27" name="Rounded Rectangle 26"/>
            <p:cNvSpPr/>
            <p:nvPr/>
          </p:nvSpPr>
          <p:spPr>
            <a:xfrm>
              <a:off x="73152" y="1097280"/>
              <a:ext cx="5839258" cy="274320"/>
            </a:xfrm>
            <a:prstGeom prst="roundRect">
              <a:avLst>
                <a:gd name="adj" fmla="val 13333"/>
              </a:avLst>
            </a:prstGeom>
            <a:solidFill>
              <a:srgbClr val="1D4E89"/>
            </a:solidFill>
            <a:ln>
              <a:noFill/>
            </a:ln>
          </p:spPr>
          <p:txBody>
            <a:bodyPr rtlCol="0" anchor="ctr"/>
            <a:lstStyle/>
            <a:p/>
          </p:txBody>
        </p:sp>
        <p:pic>
          <p:nvPicPr>
            <p:cNvPr id="28" name="Picture 27" descr="ic_fa6_FaCalendarDay_FFFFFF.png"/>
            <p:cNvPicPr>
              <a:picLocks noChangeAspect="1"/>
            </p:cNvPicPr>
            <p:nvPr/>
          </p:nvPicPr>
          <p:blipFill>
            <a:blip r:embed="rId2"/>
            <a:stretch>
              <a:fillRect/>
            </a:stretch>
          </p:blipFill>
          <p:spPr>
            <a:xfrm>
              <a:off x="128016" y="1133856"/>
              <a:ext cx="201168" cy="201168"/>
            </a:xfrm>
            <a:prstGeom prst="rect">
              <a:avLst/>
            </a:prstGeom>
          </p:spPr>
        </p:pic>
        <p:sp>
          <p:nvSpPr>
            <p:cNvPr id="29" name="TextBox 28"/>
            <p:cNvSpPr txBox="1"/>
            <p:nvPr/>
          </p:nvSpPr>
          <p:spPr>
            <a:xfrm>
              <a:off x="374904" y="1097280"/>
              <a:ext cx="5510074" cy="274320"/>
            </a:xfrm>
            <a:prstGeom prst="rect">
              <a:avLst/>
            </a:prstGeom>
            <a:noFill/>
          </p:spPr>
          <p:txBody>
            <a:bodyPr wrap="square" lIns="9144" rIns="9144" tIns="9144" bIns="9144" anchor="ctr">
              <a:noAutofit/>
            </a:bodyPr>
            <a:lstStyle/>
            <a:p>
              <a:pPr algn="l"/>
              <a:r>
                <a:rPr sz="1200" b="1" i="0">
                  <a:solidFill>
                    <a:srgbClr val="FFFFFF"/>
                  </a:solidFill>
                  <a:latin typeface="Arial"/>
                </a:rPr>
                <a:t>CGM (dark), forecast made 60 min earlier (light), risk and alerts (triangles)</a:t>
              </a:r>
            </a:p>
          </p:txBody>
        </p:sp>
        <p:pic>
          <p:nvPicPr>
            <p:cNvPr id="30" name="Picture 29" descr="fig_example_day.png"/>
            <p:cNvPicPr>
              <a:picLocks noChangeAspect="1"/>
            </p:cNvPicPr>
            <p:nvPr/>
          </p:nvPicPr>
          <p:blipFill>
            <a:blip r:embed="rId3"/>
            <a:stretch>
              <a:fillRect/>
            </a:stretch>
          </p:blipFill>
          <p:spPr>
            <a:xfrm>
              <a:off x="470920" y="1408176"/>
              <a:ext cx="6637719" cy="3058040"/>
            </a:xfrm>
            <a:prstGeom prst="rect">
              <a:avLst/>
            </a:prstGeom>
          </p:spPr>
        </p:pic>
        <p:sp>
          <p:nvSpPr>
            <p:cNvPr id="31" name="Rounded Rectangle 30"/>
            <p:cNvSpPr/>
            <p:nvPr/>
          </p:nvSpPr>
          <p:spPr>
            <a:xfrm>
              <a:off x="7542983" y="1408176"/>
              <a:ext cx="4520696" cy="274320"/>
            </a:xfrm>
            <a:prstGeom prst="roundRect">
              <a:avLst>
                <a:gd name="adj" fmla="val 16666"/>
              </a:avLst>
            </a:prstGeom>
            <a:solidFill>
              <a:srgbClr val="112F52"/>
            </a:solidFill>
            <a:ln>
              <a:noFill/>
            </a:ln>
          </p:spPr>
          <p:txBody>
            <a:bodyPr rtlCol="0" anchor="ctr" wrap="square" lIns="54864" rIns="54864" tIns="27432" bIns="27432">
              <a:noAutofit/>
            </a:bodyPr>
            <a:lstStyle/>
            <a:p>
              <a:pPr algn="l"/>
              <a:r>
                <a:rPr sz="1100" b="1" i="0">
                  <a:solidFill>
                    <a:srgbClr val="FFFFFF"/>
                  </a:solidFill>
                  <a:latin typeface="Arial"/>
                </a:rPr>
                <a:t>08:20 alert: 60 min ahead</a:t>
              </a:r>
            </a:p>
          </p:txBody>
        </p:sp>
        <p:sp>
          <p:nvSpPr>
            <p:cNvPr id="32" name="Rounded Rectangle 31"/>
            <p:cNvSpPr/>
            <p:nvPr/>
          </p:nvSpPr>
          <p:spPr>
            <a:xfrm>
              <a:off x="7542983" y="1682496"/>
              <a:ext cx="4520696" cy="702355"/>
            </a:xfrm>
            <a:prstGeom prst="roundRect">
              <a:avLst>
                <a:gd name="adj" fmla="val 6509"/>
              </a:avLst>
            </a:prstGeom>
            <a:solidFill>
              <a:srgbClr val="E2E8F0"/>
            </a:solidFill>
            <a:ln w="9525">
              <a:solidFill>
                <a:srgbClr val="466E9E"/>
              </a:solidFill>
              <a:prstDash val="sysDot"/>
            </a:ln>
          </p:spPr>
          <p:txBody>
            <a:bodyPr rtlCol="0" anchor="t" wrap="square" lIns="45720" rIns="45720" tIns="27432" bIns="27432">
              <a:noAutofit/>
            </a:bodyPr>
            <a:lstStyle/>
            <a:p>
              <a:pPr algn="l" marL="137160" indent="-137160">
                <a:buClr>
                  <a:srgbClr val="1A1A1A"/>
                </a:buClr>
                <a:buFont typeface="Arial"/>
                <a:buChar char="•"/>
              </a:pPr>
              <a:r>
                <a:rPr sz="1100" b="0" i="0">
                  <a:solidFill>
                    <a:srgbClr val="1A1A1A"/>
                  </a:solidFill>
                  <a:latin typeface="Arial"/>
                </a:rPr>
                <a:t>Idli breakfast logged </a:t>
              </a:r>
              <a:r>
                <a:rPr sz="1100" b="1" i="0">
                  <a:solidFill>
                    <a:srgbClr val="1A1A1A"/>
                  </a:solidFill>
                  <a:latin typeface="Arial"/>
                </a:rPr>
                <a:t>08:44</a:t>
              </a:r>
              <a:r>
                <a:rPr sz="1100" b="0" i="0">
                  <a:solidFill>
                    <a:srgbClr val="1A1A1A"/>
                  </a:solidFill>
                  <a:latin typeface="Arial"/>
                </a:rPr>
                <a:t>, </a:t>
              </a:r>
              <a:r>
                <a:rPr sz="1100" b="1" i="0">
                  <a:solidFill>
                    <a:srgbClr val="1A1A1A"/>
                  </a:solidFill>
                  <a:latin typeface="Arial"/>
                </a:rPr>
                <a:t>40 g</a:t>
              </a:r>
              <a:r>
                <a:rPr sz="1100" b="0" i="0">
                  <a:solidFill>
                    <a:srgbClr val="1A1A1A"/>
                  </a:solidFill>
                  <a:latin typeface="Arial"/>
                </a:rPr>
                <a:t> carbs</a:t>
              </a:r>
            </a:p>
            <a:p>
              <a:pPr algn="l" marL="137160" indent="-137160">
                <a:buClr>
                  <a:srgbClr val="1A1A1A"/>
                </a:buClr>
                <a:buFont typeface="Arial"/>
                <a:buChar char="•"/>
              </a:pPr>
              <a:r>
                <a:rPr sz="1100" b="0" i="0">
                  <a:solidFill>
                    <a:srgbClr val="1A1A1A"/>
                  </a:solidFill>
                  <a:latin typeface="Arial"/>
                </a:rPr>
                <a:t>Spike began </a:t>
              </a:r>
              <a:r>
                <a:rPr sz="1100" b="1" i="0">
                  <a:solidFill>
                    <a:srgbClr val="1A1A1A"/>
                  </a:solidFill>
                  <a:latin typeface="Arial"/>
                </a:rPr>
                <a:t>09:20</a:t>
              </a:r>
              <a:r>
                <a:rPr sz="1100" b="0" i="0">
                  <a:solidFill>
                    <a:srgbClr val="1A1A1A"/>
                  </a:solidFill>
                  <a:latin typeface="Arial"/>
                </a:rPr>
                <a:t>, peak </a:t>
              </a:r>
              <a:r>
                <a:rPr sz="1100" b="1" i="0">
                  <a:solidFill>
                    <a:srgbClr val="1A1A1A"/>
                  </a:solidFill>
                  <a:latin typeface="Arial"/>
                </a:rPr>
                <a:t>220</a:t>
              </a:r>
              <a:r>
                <a:rPr sz="1100" b="0" i="0">
                  <a:solidFill>
                    <a:srgbClr val="1A1A1A"/>
                  </a:solidFill>
                  <a:latin typeface="Arial"/>
                </a:rPr>
                <a:t> at 09:40</a:t>
              </a:r>
            </a:p>
            <a:p>
              <a:pPr algn="l" marL="137160" indent="-137160">
                <a:buClr>
                  <a:srgbClr val="1A1A1A"/>
                </a:buClr>
                <a:buFont typeface="Arial"/>
                <a:buChar char="•"/>
              </a:pPr>
              <a:r>
                <a:rPr sz="1100" b="1" i="0">
                  <a:solidFill>
                    <a:srgbClr val="1A1A1A"/>
                  </a:solidFill>
                  <a:latin typeface="Arial"/>
                </a:rPr>
                <a:t>50 min</a:t>
              </a:r>
              <a:r>
                <a:rPr sz="1100" b="0" i="0">
                  <a:solidFill>
                    <a:srgbClr val="1A1A1A"/>
                  </a:solidFill>
                  <a:latin typeface="Arial"/>
                </a:rPr>
                <a:t> above 180</a:t>
              </a:r>
            </a:p>
          </p:txBody>
        </p:sp>
        <p:sp>
          <p:nvSpPr>
            <p:cNvPr id="33" name="Rounded Rectangle 32"/>
            <p:cNvSpPr/>
            <p:nvPr/>
          </p:nvSpPr>
          <p:spPr>
            <a:xfrm>
              <a:off x="7542983" y="2448859"/>
              <a:ext cx="4520696" cy="274320"/>
            </a:xfrm>
            <a:prstGeom prst="roundRect">
              <a:avLst>
                <a:gd name="adj" fmla="val 16666"/>
              </a:avLst>
            </a:prstGeom>
            <a:solidFill>
              <a:srgbClr val="112F52"/>
            </a:solidFill>
            <a:ln>
              <a:noFill/>
            </a:ln>
          </p:spPr>
          <p:txBody>
            <a:bodyPr rtlCol="0" anchor="ctr" wrap="square" lIns="54864" rIns="54864" tIns="27432" bIns="27432">
              <a:noAutofit/>
            </a:bodyPr>
            <a:lstStyle/>
            <a:p>
              <a:pPr algn="l"/>
              <a:r>
                <a:rPr sz="1100" b="1" i="0">
                  <a:solidFill>
                    <a:srgbClr val="FFFFFF"/>
                  </a:solidFill>
                  <a:latin typeface="Arial"/>
                </a:rPr>
                <a:t>12:30 alert: 105 min ahead</a:t>
              </a:r>
            </a:p>
          </p:txBody>
        </p:sp>
        <p:sp>
          <p:nvSpPr>
            <p:cNvPr id="34" name="Rounded Rectangle 33"/>
            <p:cNvSpPr/>
            <p:nvPr/>
          </p:nvSpPr>
          <p:spPr>
            <a:xfrm>
              <a:off x="7542983" y="2723179"/>
              <a:ext cx="4520696" cy="702355"/>
            </a:xfrm>
            <a:prstGeom prst="roundRect">
              <a:avLst>
                <a:gd name="adj" fmla="val 6509"/>
              </a:avLst>
            </a:prstGeom>
            <a:solidFill>
              <a:srgbClr val="E2E8F0"/>
            </a:solidFill>
            <a:ln w="9525">
              <a:solidFill>
                <a:srgbClr val="466E9E"/>
              </a:solidFill>
              <a:prstDash val="sysDot"/>
            </a:ln>
          </p:spPr>
          <p:txBody>
            <a:bodyPr rtlCol="0" anchor="t" wrap="square" lIns="45720" rIns="45720" tIns="27432" bIns="27432">
              <a:noAutofit/>
            </a:bodyPr>
            <a:lstStyle/>
            <a:p>
              <a:pPr algn="l" marL="137160" indent="-137160">
                <a:buClr>
                  <a:srgbClr val="1A1A1A"/>
                </a:buClr>
                <a:buFont typeface="Arial"/>
                <a:buChar char="•"/>
              </a:pPr>
              <a:r>
                <a:rPr sz="1100" b="0" i="0">
                  <a:solidFill>
                    <a:srgbClr val="1A1A1A"/>
                  </a:solidFill>
                  <a:latin typeface="Arial"/>
                </a:rPr>
                <a:t>Curd rice lunch logged </a:t>
              </a:r>
              <a:r>
                <a:rPr sz="1100" b="1" i="0">
                  <a:solidFill>
                    <a:srgbClr val="1A1A1A"/>
                  </a:solidFill>
                  <a:latin typeface="Arial"/>
                </a:rPr>
                <a:t>13:30</a:t>
              </a:r>
              <a:r>
                <a:rPr sz="1100" b="0" i="0">
                  <a:solidFill>
                    <a:srgbClr val="1A1A1A"/>
                  </a:solidFill>
                  <a:latin typeface="Arial"/>
                </a:rPr>
                <a:t>, </a:t>
              </a:r>
              <a:r>
                <a:rPr sz="1100" b="1" i="0">
                  <a:solidFill>
                    <a:srgbClr val="1A1A1A"/>
                  </a:solidFill>
                  <a:latin typeface="Arial"/>
                </a:rPr>
                <a:t>85 g</a:t>
              </a:r>
              <a:r>
                <a:rPr sz="1100" b="0" i="0">
                  <a:solidFill>
                    <a:srgbClr val="1A1A1A"/>
                  </a:solidFill>
                  <a:latin typeface="Arial"/>
                </a:rPr>
                <a:t> carbs</a:t>
              </a:r>
            </a:p>
            <a:p>
              <a:pPr algn="l" marL="137160" indent="-137160">
                <a:buClr>
                  <a:srgbClr val="1A1A1A"/>
                </a:buClr>
                <a:buFont typeface="Arial"/>
                <a:buChar char="•"/>
              </a:pPr>
              <a:r>
                <a:rPr sz="1100" b="0" i="0">
                  <a:solidFill>
                    <a:srgbClr val="1A1A1A"/>
                  </a:solidFill>
                  <a:latin typeface="Arial"/>
                </a:rPr>
                <a:t>Spike began </a:t>
              </a:r>
              <a:r>
                <a:rPr sz="1100" b="1" i="0">
                  <a:solidFill>
                    <a:srgbClr val="1A1A1A"/>
                  </a:solidFill>
                  <a:latin typeface="Arial"/>
                </a:rPr>
                <a:t>14:15</a:t>
              </a:r>
              <a:r>
                <a:rPr sz="1100" b="0" i="0">
                  <a:solidFill>
                    <a:srgbClr val="1A1A1A"/>
                  </a:solidFill>
                  <a:latin typeface="Arial"/>
                </a:rPr>
                <a:t>, peak </a:t>
              </a:r>
              <a:r>
                <a:rPr sz="1100" b="1" i="0">
                  <a:solidFill>
                    <a:srgbClr val="1A1A1A"/>
                  </a:solidFill>
                  <a:latin typeface="Arial"/>
                </a:rPr>
                <a:t>246</a:t>
              </a:r>
              <a:r>
                <a:rPr sz="1100" b="0" i="0">
                  <a:solidFill>
                    <a:srgbClr val="1A1A1A"/>
                  </a:solidFill>
                  <a:latin typeface="Arial"/>
                </a:rPr>
                <a:t> at 14:50</a:t>
              </a:r>
            </a:p>
            <a:p>
              <a:pPr algn="l" marL="137160" indent="-137160">
                <a:buClr>
                  <a:srgbClr val="1A1A1A"/>
                </a:buClr>
                <a:buFont typeface="Arial"/>
                <a:buChar char="•"/>
              </a:pPr>
              <a:r>
                <a:rPr sz="1100" b="1" i="0">
                  <a:solidFill>
                    <a:srgbClr val="1A1A1A"/>
                  </a:solidFill>
                  <a:latin typeface="Arial"/>
                </a:rPr>
                <a:t>70 min</a:t>
              </a:r>
              <a:r>
                <a:rPr sz="1100" b="0" i="0">
                  <a:solidFill>
                    <a:srgbClr val="1A1A1A"/>
                  </a:solidFill>
                  <a:latin typeface="Arial"/>
                </a:rPr>
                <a:t> above 180</a:t>
              </a:r>
            </a:p>
          </p:txBody>
        </p:sp>
        <p:sp>
          <p:nvSpPr>
            <p:cNvPr id="35" name="Rounded Rectangle 34"/>
            <p:cNvSpPr/>
            <p:nvPr/>
          </p:nvSpPr>
          <p:spPr>
            <a:xfrm>
              <a:off x="7542983" y="3489542"/>
              <a:ext cx="4520696" cy="274320"/>
            </a:xfrm>
            <a:prstGeom prst="roundRect">
              <a:avLst>
                <a:gd name="adj" fmla="val 16666"/>
              </a:avLst>
            </a:prstGeom>
            <a:solidFill>
              <a:srgbClr val="112F52"/>
            </a:solidFill>
            <a:ln>
              <a:noFill/>
            </a:ln>
          </p:spPr>
          <p:txBody>
            <a:bodyPr rtlCol="0" anchor="ctr" wrap="square" lIns="54864" rIns="54864" tIns="27432" bIns="27432">
              <a:noAutofit/>
            </a:bodyPr>
            <a:lstStyle/>
            <a:p>
              <a:pPr algn="l"/>
              <a:r>
                <a:rPr sz="1100" b="1" i="0">
                  <a:solidFill>
                    <a:srgbClr val="FFFFFF"/>
                  </a:solidFill>
                  <a:latin typeface="Arial"/>
                </a:rPr>
                <a:t>20:35 alert: 70 min ahead</a:t>
              </a:r>
            </a:p>
          </p:txBody>
        </p:sp>
        <p:sp>
          <p:nvSpPr>
            <p:cNvPr id="36" name="Rounded Rectangle 35"/>
            <p:cNvSpPr/>
            <p:nvPr/>
          </p:nvSpPr>
          <p:spPr>
            <a:xfrm>
              <a:off x="7542983" y="3763862"/>
              <a:ext cx="4520696" cy="702355"/>
            </a:xfrm>
            <a:prstGeom prst="roundRect">
              <a:avLst>
                <a:gd name="adj" fmla="val 6509"/>
              </a:avLst>
            </a:prstGeom>
            <a:solidFill>
              <a:srgbClr val="E2E8F0"/>
            </a:solidFill>
            <a:ln w="9525">
              <a:solidFill>
                <a:srgbClr val="466E9E"/>
              </a:solidFill>
              <a:prstDash val="sysDot"/>
            </a:ln>
          </p:spPr>
          <p:txBody>
            <a:bodyPr rtlCol="0" anchor="t" wrap="square" lIns="45720" rIns="45720" tIns="27432" bIns="27432">
              <a:noAutofit/>
            </a:bodyPr>
            <a:lstStyle/>
            <a:p>
              <a:pPr algn="l" marL="137160" indent="-137160">
                <a:buClr>
                  <a:srgbClr val="1A1A1A"/>
                </a:buClr>
                <a:buFont typeface="Arial"/>
                <a:buChar char="•"/>
              </a:pPr>
              <a:r>
                <a:rPr sz="1100" b="0" i="0">
                  <a:solidFill>
                    <a:srgbClr val="1A1A1A"/>
                  </a:solidFill>
                  <a:latin typeface="Arial"/>
                </a:rPr>
                <a:t>Dinner </a:t>
              </a:r>
              <a:r>
                <a:rPr sz="1100" b="1" i="0">
                  <a:solidFill>
                    <a:srgbClr val="1A1A1A"/>
                  </a:solidFill>
                  <a:latin typeface="Arial"/>
                </a:rPr>
                <a:t>not logged</a:t>
              </a:r>
              <a:r>
                <a:rPr sz="1100" b="0" i="0">
                  <a:solidFill>
                    <a:srgbClr val="1A1A1A"/>
                  </a:solidFill>
                  <a:latin typeface="Arial"/>
                </a:rPr>
                <a:t>; routine and twin still fired</a:t>
              </a:r>
            </a:p>
            <a:p>
              <a:pPr algn="l" marL="137160" indent="-137160">
                <a:buClr>
                  <a:srgbClr val="1A1A1A"/>
                </a:buClr>
                <a:buFont typeface="Arial"/>
                <a:buChar char="•"/>
              </a:pPr>
              <a:r>
                <a:rPr sz="1100" b="0" i="0">
                  <a:solidFill>
                    <a:srgbClr val="1A1A1A"/>
                  </a:solidFill>
                  <a:latin typeface="Arial"/>
                </a:rPr>
                <a:t>Spike began </a:t>
              </a:r>
              <a:r>
                <a:rPr sz="1100" b="1" i="0">
                  <a:solidFill>
                    <a:srgbClr val="1A1A1A"/>
                  </a:solidFill>
                  <a:latin typeface="Arial"/>
                </a:rPr>
                <a:t>21:45</a:t>
              </a:r>
              <a:r>
                <a:rPr sz="1100" b="0" i="0">
                  <a:solidFill>
                    <a:srgbClr val="1A1A1A"/>
                  </a:solidFill>
                  <a:latin typeface="Arial"/>
                </a:rPr>
                <a:t>, peak </a:t>
              </a:r>
              <a:r>
                <a:rPr sz="1100" b="1" i="0">
                  <a:solidFill>
                    <a:srgbClr val="1A1A1A"/>
                  </a:solidFill>
                  <a:latin typeface="Arial"/>
                </a:rPr>
                <a:t>237</a:t>
              </a:r>
              <a:r>
                <a:rPr sz="1100" b="0" i="0">
                  <a:solidFill>
                    <a:srgbClr val="1A1A1A"/>
                  </a:solidFill>
                  <a:latin typeface="Arial"/>
                </a:rPr>
                <a:t> at 22:10</a:t>
              </a:r>
            </a:p>
            <a:p>
              <a:pPr algn="l" marL="137160" indent="-137160">
                <a:buClr>
                  <a:srgbClr val="1A1A1A"/>
                </a:buClr>
                <a:buFont typeface="Arial"/>
                <a:buChar char="•"/>
              </a:pPr>
              <a:r>
                <a:rPr sz="1100" b="1" i="0">
                  <a:solidFill>
                    <a:srgbClr val="1A1A1A"/>
                  </a:solidFill>
                  <a:latin typeface="Arial"/>
                </a:rPr>
                <a:t>60 min</a:t>
              </a:r>
              <a:r>
                <a:rPr sz="1100" b="0" i="0">
                  <a:solidFill>
                    <a:srgbClr val="1A1A1A"/>
                  </a:solidFill>
                  <a:latin typeface="Arial"/>
                </a:rPr>
                <a:t> above 180</a:t>
              </a:r>
            </a:p>
          </p:txBody>
        </p:sp>
      </p:grpSp>
      <p:grpSp>
        <p:nvGrpSpPr>
          <p:cNvPr id="37" name="Group 36"/>
          <p:cNvGrpSpPr/>
          <p:nvPr/>
        </p:nvGrpSpPr>
        <p:grpSpPr>
          <a:xfrm>
            <a:off x="73152" y="4594232"/>
            <a:ext cx="3838415" cy="2208904"/>
            <a:chOff x="73152" y="4594232"/>
            <a:chExt cx="3838415" cy="2208904"/>
          </a:xfrm>
        </p:grpSpPr>
        <p:sp>
          <p:nvSpPr>
            <p:cNvPr id="38" name="frame:Why the 12:30 alert "/>
            <p:cNvSpPr/>
            <p:nvPr/>
          </p:nvSpPr>
          <p:spPr>
            <a:xfrm>
              <a:off x="73152" y="4731392"/>
              <a:ext cx="3838415" cy="2071744"/>
            </a:xfrm>
            <a:prstGeom prst="roundRect">
              <a:avLst>
                <a:gd name="adj" fmla="val 2206"/>
              </a:avLst>
            </a:prstGeom>
            <a:solidFill>
              <a:srgbClr val="F1F4F8"/>
            </a:solidFill>
            <a:ln w="15875">
              <a:solidFill>
                <a:srgbClr val="466E9E"/>
              </a:solidFill>
              <a:prstDash val="sysDot"/>
            </a:ln>
          </p:spPr>
          <p:txBody>
            <a:bodyPr rtlCol="0" anchor="ctr"/>
            <a:lstStyle/>
            <a:p/>
          </p:txBody>
        </p:sp>
        <p:sp>
          <p:nvSpPr>
            <p:cNvPr id="39" name="Rounded Rectangle 38"/>
            <p:cNvSpPr/>
            <p:nvPr/>
          </p:nvSpPr>
          <p:spPr>
            <a:xfrm>
              <a:off x="73152" y="4594232"/>
              <a:ext cx="3287232" cy="274320"/>
            </a:xfrm>
            <a:prstGeom prst="roundRect">
              <a:avLst>
                <a:gd name="adj" fmla="val 13333"/>
              </a:avLst>
            </a:prstGeom>
            <a:solidFill>
              <a:srgbClr val="1D4E89"/>
            </a:solidFill>
            <a:ln>
              <a:noFill/>
            </a:ln>
          </p:spPr>
          <p:txBody>
            <a:bodyPr rtlCol="0" anchor="ctr"/>
            <a:lstStyle/>
            <a:p/>
          </p:txBody>
        </p:sp>
        <p:pic>
          <p:nvPicPr>
            <p:cNvPr id="40" name="Picture 39" descr="ic_fa6_FaListCheck_FFFFFF.png"/>
            <p:cNvPicPr>
              <a:picLocks noChangeAspect="1"/>
            </p:cNvPicPr>
            <p:nvPr/>
          </p:nvPicPr>
          <p:blipFill>
            <a:blip r:embed="rId4"/>
            <a:stretch>
              <a:fillRect/>
            </a:stretch>
          </p:blipFill>
          <p:spPr>
            <a:xfrm>
              <a:off x="128016" y="4630808"/>
              <a:ext cx="201168" cy="201168"/>
            </a:xfrm>
            <a:prstGeom prst="rect">
              <a:avLst/>
            </a:prstGeom>
          </p:spPr>
        </p:pic>
        <p:sp>
          <p:nvSpPr>
            <p:cNvPr id="41" name="TextBox 40"/>
            <p:cNvSpPr txBox="1"/>
            <p:nvPr/>
          </p:nvSpPr>
          <p:spPr>
            <a:xfrm>
              <a:off x="374904" y="4594232"/>
              <a:ext cx="2958048" cy="274320"/>
            </a:xfrm>
            <a:prstGeom prst="rect">
              <a:avLst/>
            </a:prstGeom>
            <a:noFill/>
          </p:spPr>
          <p:txBody>
            <a:bodyPr wrap="square" lIns="9144" rIns="9144" tIns="9144" bIns="9144" anchor="ctr">
              <a:noAutofit/>
            </a:bodyPr>
            <a:lstStyle/>
            <a:p>
              <a:pPr algn="l"/>
              <a:r>
                <a:rPr sz="1200" b="1" i="0">
                  <a:solidFill>
                    <a:srgbClr val="FFFFFF"/>
                  </a:solidFill>
                  <a:latin typeface="Arial"/>
                </a:rPr>
                <a:t>Why the 12:30 alert fired (SHAP share)</a:t>
              </a:r>
            </a:p>
          </p:txBody>
        </p:sp>
        <p:sp>
          <p:nvSpPr>
            <p:cNvPr id="42" name="ig:progress"/>
            <p:cNvSpPr/>
            <p:nvPr/>
          </p:nvSpPr>
          <p:spPr>
            <a:xfrm>
              <a:off x="128016" y="4969847"/>
              <a:ext cx="1567470" cy="211187"/>
            </a:xfrm>
            <a:prstGeom prst="roundRect">
              <a:avLst>
                <a:gd name="adj" fmla="val 50000"/>
              </a:avLst>
            </a:prstGeom>
            <a:solidFill>
              <a:srgbClr val="E2E8F0"/>
            </a:solidFill>
            <a:ln>
              <a:noFill/>
            </a:ln>
          </p:spPr>
          <p:txBody>
            <a:bodyPr rtlCol="0" anchor="ctr"/>
            <a:lstStyle/>
            <a:p/>
          </p:txBody>
        </p:sp>
        <p:sp>
          <p:nvSpPr>
            <p:cNvPr id="43" name="Rounded Rectangle 42"/>
            <p:cNvSpPr/>
            <p:nvPr/>
          </p:nvSpPr>
          <p:spPr>
            <a:xfrm>
              <a:off x="128016" y="4969847"/>
              <a:ext cx="666175" cy="211187"/>
            </a:xfrm>
            <a:prstGeom prst="roundRect">
              <a:avLst>
                <a:gd name="adj" fmla="val 50000"/>
              </a:avLst>
            </a:prstGeom>
            <a:solidFill>
              <a:srgbClr val="1D4E89"/>
            </a:solidFill>
            <a:ln>
              <a:noFill/>
            </a:ln>
          </p:spPr>
          <p:txBody>
            <a:bodyPr rtlCol="0" anchor="ctr"/>
            <a:lstStyle/>
            <a:p/>
          </p:txBody>
        </p:sp>
        <p:sp>
          <p:nvSpPr>
            <p:cNvPr id="44" name="TextBox 43"/>
            <p:cNvSpPr txBox="1"/>
            <p:nvPr/>
          </p:nvSpPr>
          <p:spPr>
            <a:xfrm>
              <a:off x="128016" y="4969847"/>
              <a:ext cx="629599" cy="211187"/>
            </a:xfrm>
            <a:prstGeom prst="rect">
              <a:avLst/>
            </a:prstGeom>
            <a:noFill/>
          </p:spPr>
          <p:txBody>
            <a:bodyPr wrap="square" lIns="18288" rIns="18288" tIns="18288" bIns="18288" anchor="ctr">
              <a:noAutofit/>
            </a:bodyPr>
            <a:lstStyle/>
            <a:p>
              <a:pPr algn="r"/>
              <a:r>
                <a:rPr sz="900" b="1" i="0">
                  <a:solidFill>
                    <a:srgbClr val="FFFFFF"/>
                  </a:solidFill>
                  <a:latin typeface="Arial"/>
                </a:rPr>
                <a:t>42%</a:t>
              </a:r>
            </a:p>
          </p:txBody>
        </p:sp>
        <p:sp>
          <p:nvSpPr>
            <p:cNvPr id="45" name="TextBox 44"/>
            <p:cNvSpPr txBox="1"/>
            <p:nvPr/>
          </p:nvSpPr>
          <p:spPr>
            <a:xfrm>
              <a:off x="1768638" y="4905128"/>
              <a:ext cx="2088065" cy="340625"/>
            </a:xfrm>
            <a:prstGeom prst="rect">
              <a:avLst/>
            </a:prstGeom>
            <a:noFill/>
          </p:spPr>
          <p:txBody>
            <a:bodyPr wrap="square" lIns="45720" rIns="45720" tIns="27432" bIns="27432" anchor="ctr">
              <a:noAutofit/>
            </a:bodyPr>
            <a:lstStyle/>
            <a:p>
              <a:pPr algn="l"/>
              <a:r>
                <a:rPr sz="1000" b="1" i="0">
                  <a:solidFill>
                    <a:srgbClr val="1A1A1A"/>
                  </a:solidFill>
                  <a:latin typeface="Arial"/>
                </a:rPr>
                <a:t>Usual spike hour (5 of 7 days)</a:t>
              </a:r>
            </a:p>
          </p:txBody>
        </p:sp>
        <p:sp>
          <p:nvSpPr>
            <p:cNvPr id="46" name="Rounded Rectangle 45"/>
            <p:cNvSpPr/>
            <p:nvPr/>
          </p:nvSpPr>
          <p:spPr>
            <a:xfrm>
              <a:off x="128016" y="5310472"/>
              <a:ext cx="1567470" cy="211187"/>
            </a:xfrm>
            <a:prstGeom prst="roundRect">
              <a:avLst>
                <a:gd name="adj" fmla="val 50000"/>
              </a:avLst>
            </a:prstGeom>
            <a:solidFill>
              <a:srgbClr val="E2E8F0"/>
            </a:solidFill>
            <a:ln>
              <a:noFill/>
            </a:ln>
          </p:spPr>
          <p:txBody>
            <a:bodyPr rtlCol="0" anchor="ctr"/>
            <a:lstStyle/>
            <a:p/>
          </p:txBody>
        </p:sp>
        <p:sp>
          <p:nvSpPr>
            <p:cNvPr id="47" name="Rounded Rectangle 46"/>
            <p:cNvSpPr/>
            <p:nvPr/>
          </p:nvSpPr>
          <p:spPr>
            <a:xfrm>
              <a:off x="128016" y="5310472"/>
              <a:ext cx="231986" cy="211187"/>
            </a:xfrm>
            <a:prstGeom prst="roundRect">
              <a:avLst>
                <a:gd name="adj" fmla="val 50000"/>
              </a:avLst>
            </a:prstGeom>
            <a:solidFill>
              <a:srgbClr val="1D4E89"/>
            </a:solidFill>
            <a:ln>
              <a:noFill/>
            </a:ln>
          </p:spPr>
          <p:txBody>
            <a:bodyPr rtlCol="0" anchor="ctr"/>
            <a:lstStyle/>
            <a:p/>
          </p:txBody>
        </p:sp>
        <p:sp>
          <p:nvSpPr>
            <p:cNvPr id="48" name="TextBox 47"/>
            <p:cNvSpPr txBox="1"/>
            <p:nvPr/>
          </p:nvSpPr>
          <p:spPr>
            <a:xfrm>
              <a:off x="387434" y="5310472"/>
              <a:ext cx="347631" cy="211187"/>
            </a:xfrm>
            <a:prstGeom prst="rect">
              <a:avLst/>
            </a:prstGeom>
            <a:noFill/>
          </p:spPr>
          <p:txBody>
            <a:bodyPr wrap="square" lIns="0" rIns="0" tIns="0" bIns="0" anchor="ctr">
              <a:noAutofit/>
            </a:bodyPr>
            <a:lstStyle/>
            <a:p>
              <a:pPr algn="l"/>
              <a:r>
                <a:rPr sz="900" b="1" i="0">
                  <a:solidFill>
                    <a:srgbClr val="1D4E89"/>
                  </a:solidFill>
                  <a:latin typeface="Arial"/>
                </a:rPr>
                <a:t>15%</a:t>
              </a:r>
            </a:p>
          </p:txBody>
        </p:sp>
        <p:sp>
          <p:nvSpPr>
            <p:cNvPr id="49" name="TextBox 48"/>
            <p:cNvSpPr txBox="1"/>
            <p:nvPr/>
          </p:nvSpPr>
          <p:spPr>
            <a:xfrm>
              <a:off x="1768638" y="5245753"/>
              <a:ext cx="2088065" cy="340625"/>
            </a:xfrm>
            <a:prstGeom prst="rect">
              <a:avLst/>
            </a:prstGeom>
            <a:noFill/>
          </p:spPr>
          <p:txBody>
            <a:bodyPr wrap="square" lIns="45720" rIns="45720" tIns="27432" bIns="27432" anchor="ctr">
              <a:noAutofit/>
            </a:bodyPr>
            <a:lstStyle/>
            <a:p>
              <a:pPr algn="l"/>
              <a:r>
                <a:rPr sz="1000" b="1" i="0">
                  <a:solidFill>
                    <a:srgbClr val="1A1A1A"/>
                  </a:solidFill>
                  <a:latin typeface="Arial"/>
                </a:rPr>
                <a:t>Twin peak if usual meal: 262</a:t>
              </a:r>
            </a:p>
          </p:txBody>
        </p:sp>
        <p:sp>
          <p:nvSpPr>
            <p:cNvPr id="50" name="Rounded Rectangle 49"/>
            <p:cNvSpPr/>
            <p:nvPr/>
          </p:nvSpPr>
          <p:spPr>
            <a:xfrm>
              <a:off x="128016" y="5651097"/>
              <a:ext cx="1567470" cy="211187"/>
            </a:xfrm>
            <a:prstGeom prst="roundRect">
              <a:avLst>
                <a:gd name="adj" fmla="val 50000"/>
              </a:avLst>
            </a:prstGeom>
            <a:solidFill>
              <a:srgbClr val="E2E8F0"/>
            </a:solidFill>
            <a:ln>
              <a:noFill/>
            </a:ln>
          </p:spPr>
          <p:txBody>
            <a:bodyPr rtlCol="0" anchor="ctr"/>
            <a:lstStyle/>
            <a:p/>
          </p:txBody>
        </p:sp>
        <p:sp>
          <p:nvSpPr>
            <p:cNvPr id="51" name="Rounded Rectangle 50"/>
            <p:cNvSpPr/>
            <p:nvPr/>
          </p:nvSpPr>
          <p:spPr>
            <a:xfrm>
              <a:off x="128016" y="5651097"/>
              <a:ext cx="211187" cy="211187"/>
            </a:xfrm>
            <a:prstGeom prst="roundRect">
              <a:avLst>
                <a:gd name="adj" fmla="val 50000"/>
              </a:avLst>
            </a:prstGeom>
            <a:solidFill>
              <a:srgbClr val="1D4E89"/>
            </a:solidFill>
            <a:ln>
              <a:noFill/>
            </a:ln>
          </p:spPr>
          <p:txBody>
            <a:bodyPr rtlCol="0" anchor="ctr"/>
            <a:lstStyle/>
            <a:p/>
          </p:txBody>
        </p:sp>
        <p:sp>
          <p:nvSpPr>
            <p:cNvPr id="52" name="TextBox 51"/>
            <p:cNvSpPr txBox="1"/>
            <p:nvPr/>
          </p:nvSpPr>
          <p:spPr>
            <a:xfrm>
              <a:off x="366635" y="5651097"/>
              <a:ext cx="284071" cy="211187"/>
            </a:xfrm>
            <a:prstGeom prst="rect">
              <a:avLst/>
            </a:prstGeom>
            <a:noFill/>
          </p:spPr>
          <p:txBody>
            <a:bodyPr wrap="square" lIns="0" rIns="0" tIns="0" bIns="0" anchor="ctr">
              <a:noAutofit/>
            </a:bodyPr>
            <a:lstStyle/>
            <a:p>
              <a:pPr algn="l"/>
              <a:r>
                <a:rPr sz="900" b="1" i="0">
                  <a:solidFill>
                    <a:srgbClr val="1D4E89"/>
                  </a:solidFill>
                  <a:latin typeface="Arial"/>
                </a:rPr>
                <a:t>8%</a:t>
              </a:r>
            </a:p>
          </p:txBody>
        </p:sp>
        <p:sp>
          <p:nvSpPr>
            <p:cNvPr id="53" name="TextBox 52"/>
            <p:cNvSpPr txBox="1"/>
            <p:nvPr/>
          </p:nvSpPr>
          <p:spPr>
            <a:xfrm>
              <a:off x="1768638" y="5586378"/>
              <a:ext cx="2088065" cy="340625"/>
            </a:xfrm>
            <a:prstGeom prst="rect">
              <a:avLst/>
            </a:prstGeom>
            <a:noFill/>
          </p:spPr>
          <p:txBody>
            <a:bodyPr wrap="square" lIns="45720" rIns="45720" tIns="27432" bIns="27432" anchor="ctr">
              <a:noAutofit/>
            </a:bodyPr>
            <a:lstStyle/>
            <a:p>
              <a:pPr algn="l"/>
              <a:r>
                <a:rPr sz="1000" b="1" i="0">
                  <a:solidFill>
                    <a:srgbClr val="1A1A1A"/>
                  </a:solidFill>
                  <a:latin typeface="Arial"/>
                </a:rPr>
                <a:t>Time of day</a:t>
              </a:r>
            </a:p>
          </p:txBody>
        </p:sp>
        <p:sp>
          <p:nvSpPr>
            <p:cNvPr id="54" name="Rounded Rectangle 53"/>
            <p:cNvSpPr/>
            <p:nvPr/>
          </p:nvSpPr>
          <p:spPr>
            <a:xfrm>
              <a:off x="128016" y="5991721"/>
              <a:ext cx="1567470" cy="211187"/>
            </a:xfrm>
            <a:prstGeom prst="roundRect">
              <a:avLst>
                <a:gd name="adj" fmla="val 50000"/>
              </a:avLst>
            </a:prstGeom>
            <a:solidFill>
              <a:srgbClr val="E2E8F0"/>
            </a:solidFill>
            <a:ln>
              <a:noFill/>
            </a:ln>
          </p:spPr>
          <p:txBody>
            <a:bodyPr rtlCol="0" anchor="ctr"/>
            <a:lstStyle/>
            <a:p/>
          </p:txBody>
        </p:sp>
        <p:sp>
          <p:nvSpPr>
            <p:cNvPr id="55" name="Rounded Rectangle 54"/>
            <p:cNvSpPr/>
            <p:nvPr/>
          </p:nvSpPr>
          <p:spPr>
            <a:xfrm>
              <a:off x="128016" y="5991721"/>
              <a:ext cx="211187" cy="211187"/>
            </a:xfrm>
            <a:prstGeom prst="roundRect">
              <a:avLst>
                <a:gd name="adj" fmla="val 50000"/>
              </a:avLst>
            </a:prstGeom>
            <a:solidFill>
              <a:srgbClr val="1D4E89"/>
            </a:solidFill>
            <a:ln>
              <a:noFill/>
            </a:ln>
          </p:spPr>
          <p:txBody>
            <a:bodyPr rtlCol="0" anchor="ctr"/>
            <a:lstStyle/>
            <a:p/>
          </p:txBody>
        </p:sp>
        <p:sp>
          <p:nvSpPr>
            <p:cNvPr id="56" name="TextBox 55"/>
            <p:cNvSpPr txBox="1"/>
            <p:nvPr/>
          </p:nvSpPr>
          <p:spPr>
            <a:xfrm>
              <a:off x="366635" y="5991721"/>
              <a:ext cx="284071" cy="211187"/>
            </a:xfrm>
            <a:prstGeom prst="rect">
              <a:avLst/>
            </a:prstGeom>
            <a:noFill/>
          </p:spPr>
          <p:txBody>
            <a:bodyPr wrap="square" lIns="0" rIns="0" tIns="0" bIns="0" anchor="ctr">
              <a:noAutofit/>
            </a:bodyPr>
            <a:lstStyle/>
            <a:p>
              <a:pPr algn="l"/>
              <a:r>
                <a:rPr sz="900" b="1" i="0">
                  <a:solidFill>
                    <a:srgbClr val="1D4E89"/>
                  </a:solidFill>
                  <a:latin typeface="Arial"/>
                </a:rPr>
                <a:t>6%</a:t>
              </a:r>
            </a:p>
          </p:txBody>
        </p:sp>
        <p:sp>
          <p:nvSpPr>
            <p:cNvPr id="57" name="TextBox 56"/>
            <p:cNvSpPr txBox="1"/>
            <p:nvPr/>
          </p:nvSpPr>
          <p:spPr>
            <a:xfrm>
              <a:off x="1768638" y="5927002"/>
              <a:ext cx="2088065" cy="340625"/>
            </a:xfrm>
            <a:prstGeom prst="rect">
              <a:avLst/>
            </a:prstGeom>
            <a:noFill/>
          </p:spPr>
          <p:txBody>
            <a:bodyPr wrap="square" lIns="45720" rIns="45720" tIns="27432" bIns="27432" anchor="ctr">
              <a:noAutofit/>
            </a:bodyPr>
            <a:lstStyle/>
            <a:p>
              <a:pPr algn="l"/>
              <a:r>
                <a:rPr sz="1000" b="1" i="0">
                  <a:solidFill>
                    <a:srgbClr val="1A1A1A"/>
                  </a:solidFill>
                  <a:latin typeface="Arial"/>
                </a:rPr>
                <a:t>Usual carbs next 2 h: 69 g</a:t>
              </a:r>
            </a:p>
          </p:txBody>
        </p:sp>
        <p:sp>
          <p:nvSpPr>
            <p:cNvPr id="58" name="Rounded Rectangle 57"/>
            <p:cNvSpPr/>
            <p:nvPr/>
          </p:nvSpPr>
          <p:spPr>
            <a:xfrm>
              <a:off x="128016" y="6322491"/>
              <a:ext cx="3728687" cy="425781"/>
            </a:xfrm>
            <a:prstGeom prst="roundRect">
              <a:avLst>
                <a:gd name="adj" fmla="val 10737"/>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Risk </a:t>
              </a:r>
              <a:r>
                <a:rPr sz="1200" b="1" i="0">
                  <a:solidFill>
                    <a:srgbClr val="1A1A1A"/>
                  </a:solidFill>
                  <a:latin typeface="Arial"/>
                </a:rPr>
                <a:t>78%</a:t>
              </a:r>
              <a:r>
                <a:rPr sz="1200" b="0" i="0">
                  <a:solidFill>
                    <a:srgbClr val="1A1A1A"/>
                  </a:solidFill>
                  <a:latin typeface="Arial"/>
                </a:rPr>
                <a:t> vs threshold </a:t>
              </a:r>
              <a:r>
                <a:rPr sz="1200" b="1" i="0">
                  <a:solidFill>
                    <a:srgbClr val="1A1A1A"/>
                  </a:solidFill>
                  <a:latin typeface="Arial"/>
                </a:rPr>
                <a:t>0.75</a:t>
              </a:r>
              <a:r>
                <a:rPr sz="1200" b="0" i="0">
                  <a:solidFill>
                    <a:srgbClr val="1A1A1A"/>
                  </a:solidFill>
                  <a:latin typeface="Arial"/>
                </a:rPr>
                <a:t>, shown to the doctor in plain words</a:t>
              </a:r>
            </a:p>
          </p:txBody>
        </p:sp>
      </p:grpSp>
      <p:grpSp>
        <p:nvGrpSpPr>
          <p:cNvPr id="59" name="Group 58"/>
          <p:cNvGrpSpPr/>
          <p:nvPr/>
        </p:nvGrpSpPr>
        <p:grpSpPr>
          <a:xfrm>
            <a:off x="3984719" y="4594232"/>
            <a:ext cx="3838415" cy="2208904"/>
            <a:chOff x="3984719" y="4594232"/>
            <a:chExt cx="3838415" cy="2208904"/>
          </a:xfrm>
        </p:grpSpPr>
        <p:sp>
          <p:nvSpPr>
            <p:cNvPr id="60" name="frame:What the doctor does"/>
            <p:cNvSpPr/>
            <p:nvPr/>
          </p:nvSpPr>
          <p:spPr>
            <a:xfrm>
              <a:off x="3984719" y="4731392"/>
              <a:ext cx="3838415" cy="2071744"/>
            </a:xfrm>
            <a:prstGeom prst="roundRect">
              <a:avLst>
                <a:gd name="adj" fmla="val 2206"/>
              </a:avLst>
            </a:prstGeom>
            <a:solidFill>
              <a:srgbClr val="F1F4F8"/>
            </a:solidFill>
            <a:ln w="15875">
              <a:solidFill>
                <a:srgbClr val="466E9E"/>
              </a:solidFill>
              <a:prstDash val="sysDot"/>
            </a:ln>
          </p:spPr>
          <p:txBody>
            <a:bodyPr rtlCol="0" anchor="ctr"/>
            <a:lstStyle/>
            <a:p/>
          </p:txBody>
        </p:sp>
        <p:sp>
          <p:nvSpPr>
            <p:cNvPr id="61" name="Rounded Rectangle 60"/>
            <p:cNvSpPr/>
            <p:nvPr/>
          </p:nvSpPr>
          <p:spPr>
            <a:xfrm>
              <a:off x="3984719" y="4594232"/>
              <a:ext cx="2425617" cy="274320"/>
            </a:xfrm>
            <a:prstGeom prst="roundRect">
              <a:avLst>
                <a:gd name="adj" fmla="val 13333"/>
              </a:avLst>
            </a:prstGeom>
            <a:solidFill>
              <a:srgbClr val="1D4E89"/>
            </a:solidFill>
            <a:ln>
              <a:noFill/>
            </a:ln>
          </p:spPr>
          <p:txBody>
            <a:bodyPr rtlCol="0" anchor="ctr"/>
            <a:lstStyle/>
            <a:p/>
          </p:txBody>
        </p:sp>
        <p:pic>
          <p:nvPicPr>
            <p:cNvPr id="62" name="Picture 61" descr="ic_fa6_FaUserDoctor_FFFFFF.png"/>
            <p:cNvPicPr>
              <a:picLocks noChangeAspect="1"/>
            </p:cNvPicPr>
            <p:nvPr/>
          </p:nvPicPr>
          <p:blipFill>
            <a:blip r:embed="rId5"/>
            <a:stretch>
              <a:fillRect/>
            </a:stretch>
          </p:blipFill>
          <p:spPr>
            <a:xfrm>
              <a:off x="4039583" y="4630808"/>
              <a:ext cx="201168" cy="201168"/>
            </a:xfrm>
            <a:prstGeom prst="rect">
              <a:avLst/>
            </a:prstGeom>
          </p:spPr>
        </p:pic>
        <p:sp>
          <p:nvSpPr>
            <p:cNvPr id="63" name="TextBox 62"/>
            <p:cNvSpPr txBox="1"/>
            <p:nvPr/>
          </p:nvSpPr>
          <p:spPr>
            <a:xfrm>
              <a:off x="4286471" y="4594232"/>
              <a:ext cx="2096433" cy="274320"/>
            </a:xfrm>
            <a:prstGeom prst="rect">
              <a:avLst/>
            </a:prstGeom>
            <a:noFill/>
          </p:spPr>
          <p:txBody>
            <a:bodyPr wrap="square" lIns="9144" rIns="9144" tIns="9144" bIns="9144" anchor="ctr">
              <a:noAutofit/>
            </a:bodyPr>
            <a:lstStyle/>
            <a:p>
              <a:pPr algn="l"/>
              <a:r>
                <a:rPr sz="1200" b="1" i="0">
                  <a:solidFill>
                    <a:srgbClr val="FFFFFF"/>
                  </a:solidFill>
                  <a:latin typeface="Arial"/>
                </a:rPr>
                <a:t>What the doctor does next</a:t>
              </a:r>
            </a:p>
          </p:txBody>
        </p:sp>
        <p:sp>
          <p:nvSpPr>
            <p:cNvPr id="64" name="ig:steps"/>
            <p:cNvSpPr/>
            <p:nvPr/>
          </p:nvSpPr>
          <p:spPr>
            <a:xfrm>
              <a:off x="4195031" y="4905128"/>
              <a:ext cx="3573239" cy="419638"/>
            </a:xfrm>
            <a:prstGeom prst="roundRect">
              <a:avLst>
                <a:gd name="adj" fmla="val 10895"/>
              </a:avLst>
            </a:prstGeom>
            <a:solidFill>
              <a:srgbClr val="F1F4F8"/>
            </a:solidFill>
            <a:ln>
              <a:noFill/>
            </a:ln>
          </p:spPr>
          <p:txBody>
            <a:bodyPr rtlCol="0" anchor="ctr" wrap="square" lIns="228600" rIns="54864" tIns="27432" bIns="27432">
              <a:noAutofit/>
            </a:bodyPr>
            <a:lstStyle/>
            <a:p>
              <a:pPr algn="l"/>
              <a:r>
                <a:rPr sz="1200" b="0" i="0">
                  <a:solidFill>
                    <a:srgbClr val="1A1A1A"/>
                  </a:solidFill>
                  <a:latin typeface="Arial"/>
                </a:rPr>
                <a:t>Opens the risk card: </a:t>
              </a:r>
              <a:r>
                <a:rPr sz="1200" b="1" i="0">
                  <a:solidFill>
                    <a:srgbClr val="1A1A1A"/>
                  </a:solidFill>
                  <a:latin typeface="Arial"/>
                </a:rPr>
                <a:t>78%</a:t>
              </a:r>
              <a:r>
                <a:rPr sz="1200" b="0" i="0">
                  <a:solidFill>
                    <a:srgbClr val="1A1A1A"/>
                  </a:solidFill>
                  <a:latin typeface="Arial"/>
                </a:rPr>
                <a:t>, spike in about </a:t>
              </a:r>
              <a:r>
                <a:rPr sz="1200" b="1" i="0">
                  <a:solidFill>
                    <a:srgbClr val="1A1A1A"/>
                  </a:solidFill>
                  <a:latin typeface="Arial"/>
                </a:rPr>
                <a:t>2 h</a:t>
              </a:r>
            </a:p>
          </p:txBody>
        </p:sp>
        <p:sp>
          <p:nvSpPr>
            <p:cNvPr id="65" name="Oval 64"/>
            <p:cNvSpPr/>
            <p:nvPr/>
          </p:nvSpPr>
          <p:spPr>
            <a:xfrm>
              <a:off x="4039583" y="4959499"/>
              <a:ext cx="310896" cy="310896"/>
            </a:xfrm>
            <a:prstGeom prst="ellipse">
              <a:avLst/>
            </a:prstGeom>
            <a:solidFill>
              <a:srgbClr val="1D4E89"/>
            </a:solidFill>
            <a:ln>
              <a:noFill/>
            </a:ln>
          </p:spPr>
          <p:txBody>
            <a:bodyPr rtlCol="0" anchor="ctr" wrap="none" lIns="0" rIns="0" tIns="0" bIns="0">
              <a:noAutofit/>
            </a:bodyPr>
            <a:lstStyle/>
            <a:p>
              <a:pPr algn="ctr"/>
              <a:r>
                <a:rPr sz="1224" b="1" i="0">
                  <a:solidFill>
                    <a:srgbClr val="FFFFFF"/>
                  </a:solidFill>
                  <a:latin typeface="Arial"/>
                </a:rPr>
                <a:t>1</a:t>
              </a:r>
            </a:p>
          </p:txBody>
        </p:sp>
        <p:sp>
          <p:nvSpPr>
            <p:cNvPr id="66" name="Rounded Rectangle 65"/>
            <p:cNvSpPr/>
            <p:nvPr/>
          </p:nvSpPr>
          <p:spPr>
            <a:xfrm>
              <a:off x="4195031" y="5379630"/>
              <a:ext cx="3573239" cy="419638"/>
            </a:xfrm>
            <a:prstGeom prst="roundRect">
              <a:avLst>
                <a:gd name="adj" fmla="val 10895"/>
              </a:avLst>
            </a:prstGeom>
            <a:solidFill>
              <a:srgbClr val="E2E8F0"/>
            </a:solidFill>
            <a:ln>
              <a:noFill/>
            </a:ln>
          </p:spPr>
          <p:txBody>
            <a:bodyPr rtlCol="0" anchor="ctr" wrap="square" lIns="228600" rIns="54864" tIns="27432" bIns="27432">
              <a:noAutofit/>
            </a:bodyPr>
            <a:lstStyle/>
            <a:p>
              <a:pPr algn="l"/>
              <a:r>
                <a:rPr sz="1200" b="0" i="0">
                  <a:solidFill>
                    <a:srgbClr val="1A1A1A"/>
                  </a:solidFill>
                  <a:latin typeface="Arial"/>
                </a:rPr>
                <a:t>Runs the twin: usual curd rice peaks </a:t>
              </a:r>
              <a:r>
                <a:rPr sz="1200" b="1" i="0">
                  <a:solidFill>
                    <a:srgbClr val="1A1A1A"/>
                  </a:solidFill>
                  <a:latin typeface="Arial"/>
                </a:rPr>
                <a:t>279</a:t>
              </a:r>
            </a:p>
          </p:txBody>
        </p:sp>
        <p:sp>
          <p:nvSpPr>
            <p:cNvPr id="67" name="Oval 66"/>
            <p:cNvSpPr/>
            <p:nvPr/>
          </p:nvSpPr>
          <p:spPr>
            <a:xfrm>
              <a:off x="4039583" y="5434001"/>
              <a:ext cx="310896" cy="310896"/>
            </a:xfrm>
            <a:prstGeom prst="ellipse">
              <a:avLst/>
            </a:prstGeom>
            <a:solidFill>
              <a:srgbClr val="1D4E89"/>
            </a:solidFill>
            <a:ln>
              <a:noFill/>
            </a:ln>
          </p:spPr>
          <p:txBody>
            <a:bodyPr rtlCol="0" anchor="ctr" wrap="none" lIns="0" rIns="0" tIns="0" bIns="0">
              <a:noAutofit/>
            </a:bodyPr>
            <a:lstStyle/>
            <a:p>
              <a:pPr algn="ctr"/>
              <a:r>
                <a:rPr sz="1224" b="1" i="0">
                  <a:solidFill>
                    <a:srgbClr val="FFFFFF"/>
                  </a:solidFill>
                  <a:latin typeface="Arial"/>
                </a:rPr>
                <a:t>2</a:t>
              </a:r>
            </a:p>
          </p:txBody>
        </p:sp>
        <p:sp>
          <p:nvSpPr>
            <p:cNvPr id="68" name="Rounded Rectangle 67"/>
            <p:cNvSpPr/>
            <p:nvPr/>
          </p:nvSpPr>
          <p:spPr>
            <a:xfrm>
              <a:off x="4195031" y="5854132"/>
              <a:ext cx="3573239" cy="419638"/>
            </a:xfrm>
            <a:prstGeom prst="roundRect">
              <a:avLst>
                <a:gd name="adj" fmla="val 10895"/>
              </a:avLst>
            </a:prstGeom>
            <a:solidFill>
              <a:srgbClr val="F1F4F8"/>
            </a:solidFill>
            <a:ln>
              <a:noFill/>
            </a:ln>
          </p:spPr>
          <p:txBody>
            <a:bodyPr rtlCol="0" anchor="ctr" wrap="square" lIns="228600" rIns="54864" tIns="27432" bIns="27432">
              <a:noAutofit/>
            </a:bodyPr>
            <a:lstStyle/>
            <a:p>
              <a:pPr algn="l"/>
              <a:r>
                <a:rPr sz="1200" b="0" i="0">
                  <a:solidFill>
                    <a:srgbClr val="1A1A1A"/>
                  </a:solidFill>
                  <a:latin typeface="Arial"/>
                </a:rPr>
                <a:t>Tests millet khichdi + walk: peak </a:t>
              </a:r>
              <a:r>
                <a:rPr sz="1200" b="1" i="0">
                  <a:solidFill>
                    <a:srgbClr val="1A1A1A"/>
                  </a:solidFill>
                  <a:latin typeface="Arial"/>
                </a:rPr>
                <a:t>211</a:t>
              </a:r>
            </a:p>
          </p:txBody>
        </p:sp>
        <p:sp>
          <p:nvSpPr>
            <p:cNvPr id="69" name="Oval 68"/>
            <p:cNvSpPr/>
            <p:nvPr/>
          </p:nvSpPr>
          <p:spPr>
            <a:xfrm>
              <a:off x="4039583" y="5908503"/>
              <a:ext cx="310896" cy="310896"/>
            </a:xfrm>
            <a:prstGeom prst="ellipse">
              <a:avLst/>
            </a:prstGeom>
            <a:solidFill>
              <a:srgbClr val="1D4E89"/>
            </a:solidFill>
            <a:ln>
              <a:noFill/>
            </a:ln>
          </p:spPr>
          <p:txBody>
            <a:bodyPr rtlCol="0" anchor="ctr" wrap="none" lIns="0" rIns="0" tIns="0" bIns="0">
              <a:noAutofit/>
            </a:bodyPr>
            <a:lstStyle/>
            <a:p>
              <a:pPr algn="ctr"/>
              <a:r>
                <a:rPr sz="1224" b="1" i="0">
                  <a:solidFill>
                    <a:srgbClr val="FFFFFF"/>
                  </a:solidFill>
                  <a:latin typeface="Arial"/>
                </a:rPr>
                <a:t>3</a:t>
              </a:r>
            </a:p>
          </p:txBody>
        </p:sp>
        <p:sp>
          <p:nvSpPr>
            <p:cNvPr id="70" name="Rounded Rectangle 69"/>
            <p:cNvSpPr/>
            <p:nvPr/>
          </p:nvSpPr>
          <p:spPr>
            <a:xfrm>
              <a:off x="4195031" y="6328634"/>
              <a:ext cx="3573239" cy="419638"/>
            </a:xfrm>
            <a:prstGeom prst="roundRect">
              <a:avLst>
                <a:gd name="adj" fmla="val 10895"/>
              </a:avLst>
            </a:prstGeom>
            <a:solidFill>
              <a:srgbClr val="E2E8F0"/>
            </a:solidFill>
            <a:ln>
              <a:noFill/>
            </a:ln>
          </p:spPr>
          <p:txBody>
            <a:bodyPr rtlCol="0" anchor="ctr" wrap="square" lIns="228600" rIns="54864" tIns="27432" bIns="27432">
              <a:noAutofit/>
            </a:bodyPr>
            <a:lstStyle/>
            <a:p>
              <a:pPr algn="l"/>
              <a:r>
                <a:rPr sz="1200" b="0" i="0">
                  <a:solidFill>
                    <a:srgbClr val="1A1A1A"/>
                  </a:solidFill>
                  <a:latin typeface="Arial"/>
                </a:rPr>
                <a:t>Approves and sends the </a:t>
              </a:r>
              <a:r>
                <a:rPr sz="1200" b="1" i="0">
                  <a:solidFill>
                    <a:srgbClr val="1A1A1A"/>
                  </a:solidFill>
                  <a:latin typeface="Arial"/>
                </a:rPr>
                <a:t>nudge</a:t>
              </a:r>
              <a:r>
                <a:rPr sz="1200" b="0" i="0">
                  <a:solidFill>
                    <a:srgbClr val="1A1A1A"/>
                  </a:solidFill>
                  <a:latin typeface="Arial"/>
                </a:rPr>
                <a:t> to the patient</a:t>
              </a:r>
            </a:p>
          </p:txBody>
        </p:sp>
        <p:sp>
          <p:nvSpPr>
            <p:cNvPr id="71" name="Oval 70"/>
            <p:cNvSpPr/>
            <p:nvPr/>
          </p:nvSpPr>
          <p:spPr>
            <a:xfrm>
              <a:off x="4039583" y="6383005"/>
              <a:ext cx="310896" cy="310896"/>
            </a:xfrm>
            <a:prstGeom prst="ellipse">
              <a:avLst/>
            </a:prstGeom>
            <a:solidFill>
              <a:srgbClr val="1D4E89"/>
            </a:solidFill>
            <a:ln>
              <a:noFill/>
            </a:ln>
          </p:spPr>
          <p:txBody>
            <a:bodyPr rtlCol="0" anchor="ctr" wrap="none" lIns="0" rIns="0" tIns="0" bIns="0">
              <a:noAutofit/>
            </a:bodyPr>
            <a:lstStyle/>
            <a:p>
              <a:pPr algn="ctr"/>
              <a:r>
                <a:rPr sz="1224" b="1" i="0">
                  <a:solidFill>
                    <a:srgbClr val="FFFFFF"/>
                  </a:solidFill>
                  <a:latin typeface="Arial"/>
                </a:rPr>
                <a:t>4</a:t>
              </a:r>
            </a:p>
          </p:txBody>
        </p:sp>
      </p:grpSp>
      <p:grpSp>
        <p:nvGrpSpPr>
          <p:cNvPr id="72" name="Group 71"/>
          <p:cNvGrpSpPr/>
          <p:nvPr/>
        </p:nvGrpSpPr>
        <p:grpSpPr>
          <a:xfrm>
            <a:off x="7896286" y="4594232"/>
            <a:ext cx="4222257" cy="2208904"/>
            <a:chOff x="7896286" y="4594232"/>
            <a:chExt cx="4222257" cy="2208904"/>
          </a:xfrm>
        </p:grpSpPr>
        <p:sp>
          <p:nvSpPr>
            <p:cNvPr id="73" name="frame:Where it still strug"/>
            <p:cNvSpPr/>
            <p:nvPr/>
          </p:nvSpPr>
          <p:spPr>
            <a:xfrm>
              <a:off x="7896286" y="4731392"/>
              <a:ext cx="4222257" cy="2071744"/>
            </a:xfrm>
            <a:prstGeom prst="roundRect">
              <a:avLst>
                <a:gd name="adj" fmla="val 2206"/>
              </a:avLst>
            </a:prstGeom>
            <a:solidFill>
              <a:srgbClr val="E2E8F0"/>
            </a:solidFill>
            <a:ln w="15875">
              <a:solidFill>
                <a:srgbClr val="466E9E"/>
              </a:solidFill>
              <a:prstDash val="sysDot"/>
            </a:ln>
          </p:spPr>
          <p:txBody>
            <a:bodyPr rtlCol="0" anchor="ctr"/>
            <a:lstStyle/>
            <a:p/>
          </p:txBody>
        </p:sp>
        <p:sp>
          <p:nvSpPr>
            <p:cNvPr id="74" name="Rounded Rectangle 73"/>
            <p:cNvSpPr/>
            <p:nvPr/>
          </p:nvSpPr>
          <p:spPr>
            <a:xfrm>
              <a:off x="7896286" y="4594232"/>
              <a:ext cx="2146455" cy="274320"/>
            </a:xfrm>
            <a:prstGeom prst="roundRect">
              <a:avLst>
                <a:gd name="adj" fmla="val 13333"/>
              </a:avLst>
            </a:prstGeom>
            <a:solidFill>
              <a:srgbClr val="1D4E89"/>
            </a:solidFill>
            <a:ln>
              <a:noFill/>
            </a:ln>
          </p:spPr>
          <p:txBody>
            <a:bodyPr rtlCol="0" anchor="ctr"/>
            <a:lstStyle/>
            <a:p/>
          </p:txBody>
        </p:sp>
        <p:pic>
          <p:nvPicPr>
            <p:cNvPr id="75" name="Picture 74" descr="ic_fa6_FaMagnifyingGlass_FFFFFF.png"/>
            <p:cNvPicPr>
              <a:picLocks noChangeAspect="1"/>
            </p:cNvPicPr>
            <p:nvPr/>
          </p:nvPicPr>
          <p:blipFill>
            <a:blip r:embed="rId6"/>
            <a:stretch>
              <a:fillRect/>
            </a:stretch>
          </p:blipFill>
          <p:spPr>
            <a:xfrm>
              <a:off x="7951150" y="4630808"/>
              <a:ext cx="201168" cy="201168"/>
            </a:xfrm>
            <a:prstGeom prst="rect">
              <a:avLst/>
            </a:prstGeom>
          </p:spPr>
        </p:pic>
        <p:sp>
          <p:nvSpPr>
            <p:cNvPr id="76" name="TextBox 75"/>
            <p:cNvSpPr txBox="1"/>
            <p:nvPr/>
          </p:nvSpPr>
          <p:spPr>
            <a:xfrm>
              <a:off x="8198038" y="4594232"/>
              <a:ext cx="1817271" cy="274320"/>
            </a:xfrm>
            <a:prstGeom prst="rect">
              <a:avLst/>
            </a:prstGeom>
            <a:noFill/>
          </p:spPr>
          <p:txBody>
            <a:bodyPr wrap="square" lIns="9144" rIns="9144" tIns="9144" bIns="9144" anchor="ctr">
              <a:noAutofit/>
            </a:bodyPr>
            <a:lstStyle/>
            <a:p>
              <a:pPr algn="l"/>
              <a:r>
                <a:rPr sz="1200" b="1" i="0">
                  <a:solidFill>
                    <a:srgbClr val="FFFFFF"/>
                  </a:solidFill>
                  <a:latin typeface="Arial"/>
                </a:rPr>
                <a:t>Where it still struggles</a:t>
              </a:r>
            </a:p>
          </p:txBody>
        </p:sp>
        <p:sp>
          <p:nvSpPr>
            <p:cNvPr id="77" name="ig:stat"/>
            <p:cNvSpPr/>
            <p:nvPr/>
          </p:nvSpPr>
          <p:spPr>
            <a:xfrm>
              <a:off x="7951150" y="4905128"/>
              <a:ext cx="2028832" cy="266511"/>
            </a:xfrm>
            <a:prstGeom prst="roundRect">
              <a:avLst>
                <a:gd name="adj" fmla="val 10292"/>
              </a:avLst>
            </a:prstGeom>
            <a:solidFill>
              <a:srgbClr val="C9D5E3"/>
            </a:solidFill>
            <a:ln w="6350">
              <a:solidFill>
                <a:srgbClr val="BFBFBF"/>
              </a:solidFill>
            </a:ln>
          </p:spPr>
          <p:txBody>
            <a:bodyPr rtlCol="0" anchor="ctr" wrap="square" lIns="45720" rIns="45720" tIns="27432" bIns="27432">
              <a:noAutofit/>
            </a:bodyPr>
            <a:lstStyle/>
            <a:p>
              <a:pPr algn="ctr"/>
              <a:r>
                <a:rPr sz="1301" b="1" i="0">
                  <a:solidFill>
                    <a:srgbClr val="1A1A1A"/>
                  </a:solidFill>
                  <a:latin typeface="Arial"/>
                </a:rPr>
                <a:t>8%</a:t>
              </a:r>
            </a:p>
          </p:txBody>
        </p:sp>
        <p:sp>
          <p:nvSpPr>
            <p:cNvPr id="78" name="TextBox 77"/>
            <p:cNvSpPr txBox="1"/>
            <p:nvPr/>
          </p:nvSpPr>
          <p:spPr>
            <a:xfrm>
              <a:off x="7951150" y="5199072"/>
              <a:ext cx="2028832" cy="340607"/>
            </a:xfrm>
            <a:prstGeom prst="rect">
              <a:avLst/>
            </a:prstGeom>
            <a:noFill/>
          </p:spPr>
          <p:txBody>
            <a:bodyPr wrap="square" lIns="45720" rIns="45720" tIns="27432" bIns="27432" anchor="t">
              <a:noAutofit/>
            </a:bodyPr>
            <a:lstStyle/>
            <a:p>
              <a:pPr algn="ctr"/>
              <a:r>
                <a:rPr sz="1100" b="0" i="1">
                  <a:solidFill>
                    <a:srgbClr val="1A1A1A"/>
                  </a:solidFill>
                  <a:latin typeface="Arial"/>
                </a:rPr>
                <a:t>spikes never warned</a:t>
              </a:r>
            </a:p>
          </p:txBody>
        </p:sp>
        <p:sp>
          <p:nvSpPr>
            <p:cNvPr id="79" name="ig:stat"/>
            <p:cNvSpPr/>
            <p:nvPr/>
          </p:nvSpPr>
          <p:spPr>
            <a:xfrm>
              <a:off x="10034847" y="4905128"/>
              <a:ext cx="2028832" cy="266511"/>
            </a:xfrm>
            <a:prstGeom prst="roundRect">
              <a:avLst>
                <a:gd name="adj" fmla="val 10292"/>
              </a:avLst>
            </a:prstGeom>
            <a:solidFill>
              <a:srgbClr val="C9D5E3"/>
            </a:solidFill>
            <a:ln w="6350">
              <a:solidFill>
                <a:srgbClr val="BFBFBF"/>
              </a:solidFill>
            </a:ln>
          </p:spPr>
          <p:txBody>
            <a:bodyPr rtlCol="0" anchor="ctr" wrap="square" lIns="45720" rIns="45720" tIns="27432" bIns="27432">
              <a:noAutofit/>
            </a:bodyPr>
            <a:lstStyle/>
            <a:p>
              <a:pPr algn="ctr"/>
              <a:r>
                <a:rPr sz="1301" b="1" i="0">
                  <a:solidFill>
                    <a:srgbClr val="1A1A1A"/>
                  </a:solidFill>
                  <a:latin typeface="Arial"/>
                </a:rPr>
                <a:t>7%</a:t>
              </a:r>
            </a:p>
          </p:txBody>
        </p:sp>
        <p:sp>
          <p:nvSpPr>
            <p:cNvPr id="80" name="TextBox 79"/>
            <p:cNvSpPr txBox="1"/>
            <p:nvPr/>
          </p:nvSpPr>
          <p:spPr>
            <a:xfrm>
              <a:off x="10034847" y="5199072"/>
              <a:ext cx="2028832" cy="340607"/>
            </a:xfrm>
            <a:prstGeom prst="rect">
              <a:avLst/>
            </a:prstGeom>
            <a:noFill/>
          </p:spPr>
          <p:txBody>
            <a:bodyPr wrap="square" lIns="45720" rIns="45720" tIns="27432" bIns="27432" anchor="t">
              <a:noAutofit/>
            </a:bodyPr>
            <a:lstStyle/>
            <a:p>
              <a:pPr algn="ctr"/>
              <a:r>
                <a:rPr sz="1100" b="0" i="1">
                  <a:solidFill>
                    <a:srgbClr val="1A1A1A"/>
                  </a:solidFill>
                  <a:latin typeface="Arial"/>
                </a:rPr>
                <a:t>warned &lt; 30 min</a:t>
              </a:r>
            </a:p>
          </p:txBody>
        </p:sp>
        <p:sp>
          <p:nvSpPr>
            <p:cNvPr id="81" name="Rounded Rectangle 80"/>
            <p:cNvSpPr/>
            <p:nvPr/>
          </p:nvSpPr>
          <p:spPr>
            <a:xfrm>
              <a:off x="7951150" y="5594543"/>
              <a:ext cx="4112529" cy="1153729"/>
            </a:xfrm>
            <a:prstGeom prst="roundRect">
              <a:avLst>
                <a:gd name="adj" fmla="val 3962"/>
              </a:avLst>
            </a:prstGeom>
            <a:solidFill>
              <a:srgbClr val="FFFFFF"/>
            </a:solidFill>
            <a:ln w="9525">
              <a:solidFill>
                <a:srgbClr val="466E9E"/>
              </a:solidFill>
              <a:prstDash val="sysDot"/>
            </a:ln>
          </p:spPr>
          <p:txBody>
            <a:bodyPr rtlCol="0" anchor="t" wrap="square" lIns="45720" rIns="45720" tIns="27432" bIns="27432">
              <a:noAutofit/>
            </a:bodyPr>
            <a:lstStyle/>
            <a:p>
              <a:pPr algn="l" marL="137160" indent="-137160">
                <a:spcAft>
                  <a:spcPts val="200"/>
                </a:spcAft>
                <a:buClr>
                  <a:srgbClr val="1D4E89"/>
                </a:buClr>
                <a:buFont typeface="Arial"/>
                <a:buChar char="•"/>
              </a:pPr>
              <a:r>
                <a:rPr sz="1200" b="0" i="0">
                  <a:solidFill>
                    <a:srgbClr val="1A1A1A"/>
                  </a:solidFill>
                  <a:latin typeface="Arial"/>
                </a:rPr>
                <a:t>Off-routine meals and </a:t>
              </a:r>
              <a:r>
                <a:rPr sz="1200" b="1" i="0">
                  <a:solidFill>
                    <a:srgbClr val="1A1A1A"/>
                  </a:solidFill>
                  <a:latin typeface="Arial"/>
                </a:rPr>
                <a:t>festival sweets</a:t>
              </a:r>
              <a:r>
                <a:rPr sz="1200" b="0" i="0">
                  <a:solidFill>
                    <a:srgbClr val="1A1A1A"/>
                  </a:solidFill>
                  <a:latin typeface="Arial"/>
                </a:rPr>
                <a:t> cause most misses</a:t>
              </a:r>
            </a:p>
            <a:p>
              <a:pPr algn="l" marL="137160" indent="-137160">
                <a:spcAft>
                  <a:spcPts val="200"/>
                </a:spcAft>
                <a:buClr>
                  <a:srgbClr val="1D4E89"/>
                </a:buClr>
                <a:buFont typeface="Arial"/>
                <a:buChar char="•"/>
              </a:pPr>
              <a:r>
                <a:rPr sz="1200" b="0" i="0">
                  <a:solidFill>
                    <a:srgbClr val="1A1A1A"/>
                  </a:solidFill>
                  <a:latin typeface="Arial"/>
                </a:rPr>
                <a:t>Unlogged meals weaken the twin; routine features still fired at dinner</a:t>
              </a:r>
            </a:p>
            <a:p>
              <a:pPr algn="l" marL="137160" indent="-137160">
                <a:spcAft>
                  <a:spcPts val="200"/>
                </a:spcAft>
                <a:buClr>
                  <a:srgbClr val="1D4E89"/>
                </a:buClr>
                <a:buFont typeface="Arial"/>
                <a:buChar char="•"/>
              </a:pPr>
              <a:r>
                <a:rPr sz="1200" b="0" i="0">
                  <a:solidFill>
                    <a:srgbClr val="1A1A1A"/>
                  </a:solidFill>
                  <a:latin typeface="Arial"/>
                </a:rPr>
                <a:t>Fix: photo and voice meal logging in Indian languages</a:t>
              </a:r>
            </a:p>
          </p:txBody>
        </p:sp>
      </p:gr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v:0">
            <a:hlinkClick action="ppaction://hlinksldjump" r:id="rId9"/>
          </p:cNvPr>
          <p:cNvSpPr/>
          <p:nvPr/>
        </p:nvSpPr>
        <p:spPr>
          <a:xfrm>
            <a:off x="0" y="0"/>
            <a:ext cx="1359073" cy="457200"/>
          </a:xfrm>
          <a:prstGeom prst="homePlate">
            <a:avLst>
              <a:gd name="adj" fmla="val 34000"/>
            </a:avLst>
          </a:prstGeom>
          <a:solidFill>
            <a:srgbClr val="6587AF"/>
          </a:solidFill>
          <a:ln w="12700">
            <a:solidFill>
              <a:srgbClr val="FFFFFF"/>
            </a:solidFill>
          </a:ln>
        </p:spPr>
        <p:txBody>
          <a:bodyPr rtlCol="0" anchor="ctr"/>
          <a:lstStyle/>
          <a:p/>
        </p:txBody>
      </p:sp>
      <p:sp>
        <p:nvSpPr>
          <p:cNvPr id="3" name="nav:t0">
            <a:hlinkClick action="ppaction://hlinksldjump" r:id="rId9"/>
          </p:cNvPr>
          <p:cNvSpPr txBox="1"/>
          <p:nvPr/>
        </p:nvSpPr>
        <p:spPr>
          <a:xfrm>
            <a:off x="64008" y="0"/>
            <a:ext cx="1121329" cy="457200"/>
          </a:xfrm>
          <a:prstGeom prst="rect">
            <a:avLst/>
          </a:prstGeom>
          <a:noFill/>
        </p:spPr>
        <p:txBody>
          <a:bodyPr wrap="square" lIns="9144" rIns="9144" tIns="9144" bIns="9144" anchor="ctr">
            <a:noAutofit/>
          </a:bodyPr>
          <a:lstStyle/>
          <a:p>
            <a:pPr algn="ctr"/>
            <a:r>
              <a:rPr sz="1000" b="0" i="0">
                <a:solidFill>
                  <a:srgbClr val="FFFFFF"/>
                </a:solidFill>
                <a:latin typeface="Arial"/>
              </a:rPr>
              <a:t>Executive Summary</a:t>
            </a:r>
          </a:p>
        </p:txBody>
      </p:sp>
      <p:sp>
        <p:nvSpPr>
          <p:cNvPr id="4" name="nav:1">
            <a:hlinkClick action="ppaction://hlinksldjump" r:id="rId10"/>
          </p:cNvPr>
          <p:cNvSpPr/>
          <p:nvPr/>
        </p:nvSpPr>
        <p:spPr>
          <a:xfrm>
            <a:off x="1203625"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5" name="nav:t1">
            <a:hlinkClick action="ppaction://hlinksldjump" r:id="rId10"/>
          </p:cNvPr>
          <p:cNvSpPr txBox="1"/>
          <p:nvPr/>
        </p:nvSpPr>
        <p:spPr>
          <a:xfrm>
            <a:off x="1386505"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Problem</a:t>
            </a:r>
          </a:p>
        </p:txBody>
      </p:sp>
      <p:sp>
        <p:nvSpPr>
          <p:cNvPr id="6" name="nav:2">
            <a:hlinkClick action="ppaction://hlinksldjump" r:id="rId11"/>
          </p:cNvPr>
          <p:cNvSpPr/>
          <p:nvPr/>
        </p:nvSpPr>
        <p:spPr>
          <a:xfrm>
            <a:off x="2407249"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7" name="nav:t2">
            <a:hlinkClick action="ppaction://hlinksldjump" r:id="rId11"/>
          </p:cNvPr>
          <p:cNvSpPr txBox="1"/>
          <p:nvPr/>
        </p:nvSpPr>
        <p:spPr>
          <a:xfrm>
            <a:off x="2590129"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Solution</a:t>
            </a:r>
          </a:p>
        </p:txBody>
      </p:sp>
      <p:sp>
        <p:nvSpPr>
          <p:cNvPr id="8" name="nav:3">
            <a:hlinkClick action="ppaction://hlinksldjump" r:id="rId12"/>
          </p:cNvPr>
          <p:cNvSpPr/>
          <p:nvPr/>
        </p:nvSpPr>
        <p:spPr>
          <a:xfrm>
            <a:off x="3610874"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9" name="nav:t3">
            <a:hlinkClick action="ppaction://hlinksldjump" r:id="rId12"/>
          </p:cNvPr>
          <p:cNvSpPr txBox="1"/>
          <p:nvPr/>
        </p:nvSpPr>
        <p:spPr>
          <a:xfrm>
            <a:off x="3793754"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Data</a:t>
            </a:r>
          </a:p>
        </p:txBody>
      </p:sp>
      <p:sp>
        <p:nvSpPr>
          <p:cNvPr id="10" name="nav:4">
            <a:hlinkClick action="ppaction://hlinksldjump" r:id="rId13"/>
          </p:cNvPr>
          <p:cNvSpPr/>
          <p:nvPr/>
        </p:nvSpPr>
        <p:spPr>
          <a:xfrm>
            <a:off x="4814499"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1" name="nav:t4">
            <a:hlinkClick action="ppaction://hlinksldjump" r:id="rId13"/>
          </p:cNvPr>
          <p:cNvSpPr txBox="1"/>
          <p:nvPr/>
        </p:nvSpPr>
        <p:spPr>
          <a:xfrm>
            <a:off x="4997379"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Twin Engine</a:t>
            </a:r>
          </a:p>
        </p:txBody>
      </p:sp>
      <p:sp>
        <p:nvSpPr>
          <p:cNvPr id="12" name="nav:5">
            <a:hlinkClick action="ppaction://hlinksldjump" r:id="rId14"/>
          </p:cNvPr>
          <p:cNvSpPr/>
          <p:nvPr/>
        </p:nvSpPr>
        <p:spPr>
          <a:xfrm>
            <a:off x="6018124"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3" name="nav:t5">
            <a:hlinkClick action="ppaction://hlinksldjump" r:id="rId14"/>
          </p:cNvPr>
          <p:cNvSpPr txBox="1"/>
          <p:nvPr/>
        </p:nvSpPr>
        <p:spPr>
          <a:xfrm>
            <a:off x="6201004"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AI Model</a:t>
            </a:r>
          </a:p>
        </p:txBody>
      </p:sp>
      <p:sp>
        <p:nvSpPr>
          <p:cNvPr id="14" name="nav:6">
            <a:hlinkClick action="ppaction://hlinksldjump" r:id="rId15"/>
          </p:cNvPr>
          <p:cNvSpPr/>
          <p:nvPr/>
        </p:nvSpPr>
        <p:spPr>
          <a:xfrm>
            <a:off x="7221748"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5" name="nav:t6">
            <a:hlinkClick action="ppaction://hlinksldjump" r:id="rId15"/>
          </p:cNvPr>
          <p:cNvSpPr txBox="1"/>
          <p:nvPr/>
        </p:nvSpPr>
        <p:spPr>
          <a:xfrm>
            <a:off x="7404628"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Results</a:t>
            </a:r>
          </a:p>
        </p:txBody>
      </p:sp>
      <p:sp>
        <p:nvSpPr>
          <p:cNvPr id="16" name="nav:7"/>
          <p:cNvSpPr/>
          <p:nvPr/>
        </p:nvSpPr>
        <p:spPr>
          <a:xfrm>
            <a:off x="8425373" y="0"/>
            <a:ext cx="1359073" cy="457200"/>
          </a:xfrm>
          <a:prstGeom prst="chevron">
            <a:avLst>
              <a:gd name="adj" fmla="val 34000"/>
            </a:avLst>
          </a:prstGeom>
          <a:solidFill>
            <a:srgbClr val="112F52"/>
          </a:solidFill>
          <a:ln w="12700">
            <a:solidFill>
              <a:srgbClr val="FFFFFF"/>
            </a:solidFill>
          </a:ln>
        </p:spPr>
        <p:txBody>
          <a:bodyPr rtlCol="0" anchor="ctr"/>
          <a:lstStyle/>
          <a:p/>
        </p:txBody>
      </p:sp>
      <p:sp>
        <p:nvSpPr>
          <p:cNvPr id="17" name="nav:t7"/>
          <p:cNvSpPr txBox="1"/>
          <p:nvPr/>
        </p:nvSpPr>
        <p:spPr>
          <a:xfrm>
            <a:off x="8608253" y="0"/>
            <a:ext cx="1002457" cy="457200"/>
          </a:xfrm>
          <a:prstGeom prst="rect">
            <a:avLst/>
          </a:prstGeom>
          <a:noFill/>
        </p:spPr>
        <p:txBody>
          <a:bodyPr wrap="square" lIns="9144" rIns="9144" tIns="9144" bIns="9144" anchor="ctr">
            <a:noAutofit/>
          </a:bodyPr>
          <a:lstStyle/>
          <a:p>
            <a:pPr algn="ctr"/>
            <a:r>
              <a:rPr sz="1000" b="1" i="0">
                <a:solidFill>
                  <a:srgbClr val="FFFFFF"/>
                </a:solidFill>
                <a:latin typeface="Arial"/>
              </a:rPr>
              <a:t>Dashboard</a:t>
            </a:r>
          </a:p>
        </p:txBody>
      </p:sp>
      <p:sp>
        <p:nvSpPr>
          <p:cNvPr id="18" name="nav:8">
            <a:hlinkClick action="ppaction://hlinksldjump" r:id="rId16"/>
          </p:cNvPr>
          <p:cNvSpPr/>
          <p:nvPr/>
        </p:nvSpPr>
        <p:spPr>
          <a:xfrm>
            <a:off x="9628998"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9" name="nav:t8">
            <a:hlinkClick action="ppaction://hlinksldjump" r:id="rId16"/>
          </p:cNvPr>
          <p:cNvSpPr txBox="1"/>
          <p:nvPr/>
        </p:nvSpPr>
        <p:spPr>
          <a:xfrm>
            <a:off x="9811878"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Impact</a:t>
            </a:r>
          </a:p>
        </p:txBody>
      </p:sp>
      <p:sp>
        <p:nvSpPr>
          <p:cNvPr id="20" name="nav:9">
            <a:hlinkClick action="ppaction://hlinksldjump" r:id="rId17"/>
          </p:cNvPr>
          <p:cNvSpPr/>
          <p:nvPr/>
        </p:nvSpPr>
        <p:spPr>
          <a:xfrm>
            <a:off x="10832622"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21" name="nav:t9">
            <a:hlinkClick action="ppaction://hlinksldjump" r:id="rId17"/>
          </p:cNvPr>
          <p:cNvSpPr txBox="1"/>
          <p:nvPr/>
        </p:nvSpPr>
        <p:spPr>
          <a:xfrm>
            <a:off x="11015502"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Roadmap &amp; Cost</a:t>
            </a:r>
          </a:p>
        </p:txBody>
      </p:sp>
      <p:sp>
        <p:nvSpPr>
          <p:cNvPr id="22" name="TextBox 21"/>
          <p:cNvSpPr txBox="1"/>
          <p:nvPr/>
        </p:nvSpPr>
        <p:spPr>
          <a:xfrm>
            <a:off x="73152" y="502920"/>
            <a:ext cx="12045391" cy="329184"/>
          </a:xfrm>
          <a:prstGeom prst="rect">
            <a:avLst/>
          </a:prstGeom>
          <a:noFill/>
        </p:spPr>
        <p:txBody>
          <a:bodyPr wrap="square" lIns="18288" rIns="18288" tIns="18288" bIns="18288" anchor="ctr">
            <a:noAutofit/>
          </a:bodyPr>
          <a:lstStyle/>
          <a:p>
            <a:pPr algn="l"/>
            <a:r>
              <a:rPr sz="1600" b="1" i="0">
                <a:solidFill>
                  <a:srgbClr val="1D4E89"/>
                </a:solidFill>
                <a:latin typeface="Arial"/>
              </a:rPr>
              <a:t>The doctor console: one screen to see risk, understand why, test a plan and nudge the patient</a:t>
            </a:r>
          </a:p>
        </p:txBody>
      </p:sp>
      <p:sp>
        <p:nvSpPr>
          <p:cNvPr id="23" name="TextBox 22"/>
          <p:cNvSpPr txBox="1"/>
          <p:nvPr/>
        </p:nvSpPr>
        <p:spPr>
          <a:xfrm>
            <a:off x="73152" y="795528"/>
            <a:ext cx="12045391" cy="237744"/>
          </a:xfrm>
          <a:prstGeom prst="rect">
            <a:avLst/>
          </a:prstGeom>
          <a:noFill/>
        </p:spPr>
        <p:txBody>
          <a:bodyPr wrap="square" lIns="18288" rIns="18288" tIns="18288" bIns="18288" anchor="ctr">
            <a:noAutofit/>
          </a:bodyPr>
          <a:lstStyle/>
          <a:p>
            <a:pPr algn="l"/>
            <a:r>
              <a:rPr sz="1200" b="1" i="0">
                <a:solidFill>
                  <a:srgbClr val="4A5168"/>
                </a:solidFill>
                <a:latin typeface="Arial"/>
              </a:rPr>
              <a:t>Streamlit prototype on the test cohort; every number comes from the live twin and model in the repository</a:t>
            </a:r>
          </a:p>
        </p:txBody>
      </p:sp>
      <p:cxnSp>
        <p:nvCxnSpPr>
          <p:cNvPr id="24" name="Connector 23"/>
          <p:cNvCxnSpPr/>
          <p:nvPr/>
        </p:nvCxnSpPr>
        <p:spPr>
          <a:xfrm>
            <a:off x="73152" y="1042416"/>
            <a:ext cx="12045391" cy="0"/>
          </a:xfrm>
          <a:prstGeom prst="line">
            <a:avLst/>
          </a:prstGeom>
          <a:ln w="19050">
            <a:solidFill>
              <a:srgbClr val="1D4E89"/>
            </a:solidFill>
          </a:ln>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73152" y="1097280"/>
            <a:ext cx="7025033" cy="5705856"/>
            <a:chOff x="73152" y="1097280"/>
            <a:chExt cx="7025033" cy="5705856"/>
          </a:xfrm>
        </p:grpSpPr>
        <p:sp>
          <p:nvSpPr>
            <p:cNvPr id="26" name="frame:Patient view: FHIR r"/>
            <p:cNvSpPr/>
            <p:nvPr/>
          </p:nvSpPr>
          <p:spPr>
            <a:xfrm>
              <a:off x="73152" y="1234440"/>
              <a:ext cx="7025033" cy="5568696"/>
            </a:xfrm>
            <a:prstGeom prst="roundRect">
              <a:avLst>
                <a:gd name="adj" fmla="val 821"/>
              </a:avLst>
            </a:prstGeom>
            <a:solidFill>
              <a:srgbClr val="F1F4F8"/>
            </a:solidFill>
            <a:ln w="15875">
              <a:solidFill>
                <a:srgbClr val="466E9E"/>
              </a:solidFill>
              <a:prstDash val="sysDot"/>
            </a:ln>
          </p:spPr>
          <p:txBody>
            <a:bodyPr rtlCol="0" anchor="ctr"/>
            <a:lstStyle/>
            <a:p/>
          </p:txBody>
        </p:sp>
        <p:sp>
          <p:nvSpPr>
            <p:cNvPr id="27" name="Rounded Rectangle 26"/>
            <p:cNvSpPr/>
            <p:nvPr/>
          </p:nvSpPr>
          <p:spPr>
            <a:xfrm>
              <a:off x="73152" y="1097280"/>
              <a:ext cx="5068665" cy="274320"/>
            </a:xfrm>
            <a:prstGeom prst="roundRect">
              <a:avLst>
                <a:gd name="adj" fmla="val 13333"/>
              </a:avLst>
            </a:prstGeom>
            <a:solidFill>
              <a:srgbClr val="1D4E89"/>
            </a:solidFill>
            <a:ln>
              <a:noFill/>
            </a:ln>
          </p:spPr>
          <p:txBody>
            <a:bodyPr rtlCol="0" anchor="ctr"/>
            <a:lstStyle/>
            <a:p/>
          </p:txBody>
        </p:sp>
        <p:pic>
          <p:nvPicPr>
            <p:cNvPr id="28" name="Picture 27" descr="ic_fa6_FaDesktop_FFFFFF.png"/>
            <p:cNvPicPr>
              <a:picLocks noChangeAspect="1"/>
            </p:cNvPicPr>
            <p:nvPr/>
          </p:nvPicPr>
          <p:blipFill>
            <a:blip r:embed="rId2"/>
            <a:stretch>
              <a:fillRect/>
            </a:stretch>
          </p:blipFill>
          <p:spPr>
            <a:xfrm>
              <a:off x="128016" y="1133856"/>
              <a:ext cx="201168" cy="201168"/>
            </a:xfrm>
            <a:prstGeom prst="rect">
              <a:avLst/>
            </a:prstGeom>
          </p:spPr>
        </p:pic>
        <p:sp>
          <p:nvSpPr>
            <p:cNvPr id="29" name="TextBox 28"/>
            <p:cNvSpPr txBox="1"/>
            <p:nvPr/>
          </p:nvSpPr>
          <p:spPr>
            <a:xfrm>
              <a:off x="374904" y="1097280"/>
              <a:ext cx="4739481" cy="274320"/>
            </a:xfrm>
            <a:prstGeom prst="rect">
              <a:avLst/>
            </a:prstGeom>
            <a:noFill/>
          </p:spPr>
          <p:txBody>
            <a:bodyPr wrap="square" lIns="9144" rIns="9144" tIns="9144" bIns="9144" anchor="ctr">
              <a:noAutofit/>
            </a:bodyPr>
            <a:lstStyle/>
            <a:p>
              <a:pPr algn="l"/>
              <a:r>
                <a:rPr sz="1200" b="1" i="0">
                  <a:solidFill>
                    <a:srgbClr val="FFFFFF"/>
                  </a:solidFill>
                  <a:latin typeface="Arial"/>
                </a:rPr>
                <a:t>Patient view: FHIR record, virtual patient, risk, forecast, drivers</a:t>
              </a:r>
            </a:p>
          </p:txBody>
        </p:sp>
        <p:pic>
          <p:nvPicPr>
            <p:cNvPr id="30" name="Picture 29" descr="dash_overview_crop.png"/>
            <p:cNvPicPr>
              <a:picLocks noChangeAspect="1"/>
            </p:cNvPicPr>
            <p:nvPr/>
          </p:nvPicPr>
          <p:blipFill>
            <a:blip r:embed="rId3"/>
            <a:stretch>
              <a:fillRect/>
            </a:stretch>
          </p:blipFill>
          <p:spPr>
            <a:xfrm>
              <a:off x="324870" y="1408176"/>
              <a:ext cx="6521597" cy="4374242"/>
            </a:xfrm>
            <a:prstGeom prst="rect">
              <a:avLst/>
            </a:prstGeom>
          </p:spPr>
        </p:pic>
        <p:sp>
          <p:nvSpPr>
            <p:cNvPr id="31" name="ig:chevrons"/>
            <p:cNvSpPr/>
            <p:nvPr/>
          </p:nvSpPr>
          <p:spPr>
            <a:xfrm>
              <a:off x="128016" y="5855570"/>
              <a:ext cx="1228751" cy="892702"/>
            </a:xfrm>
            <a:prstGeom prst="homePlate">
              <a:avLst>
                <a:gd name="adj" fmla="val 32000"/>
              </a:avLst>
            </a:prstGeom>
            <a:solidFill>
              <a:srgbClr val="6587AF"/>
            </a:solidFill>
            <a:ln w="12700">
              <a:solidFill>
                <a:srgbClr val="FFFFFF"/>
              </a:solidFill>
            </a:ln>
          </p:spPr>
          <p:txBody>
            <a:bodyPr rtlCol="0" anchor="ctr"/>
            <a:lstStyle/>
            <a:p/>
          </p:txBody>
        </p:sp>
        <p:sp>
          <p:nvSpPr>
            <p:cNvPr id="32" name="TextBox 31"/>
            <p:cNvSpPr txBox="1"/>
            <p:nvPr/>
          </p:nvSpPr>
          <p:spPr>
            <a:xfrm>
              <a:off x="182880" y="5855570"/>
              <a:ext cx="869934" cy="892702"/>
            </a:xfrm>
            <a:prstGeom prst="rect">
              <a:avLst/>
            </a:prstGeom>
            <a:noFill/>
          </p:spPr>
          <p:txBody>
            <a:bodyPr wrap="square" lIns="9144" rIns="9144" tIns="9144" bIns="9144" anchor="ctr">
              <a:noAutofit/>
            </a:bodyPr>
            <a:lstStyle/>
            <a:p>
              <a:pPr algn="ctr"/>
              <a:r>
                <a:rPr sz="1100" b="1" i="0">
                  <a:solidFill>
                    <a:srgbClr val="FFFFFF"/>
                  </a:solidFill>
                  <a:latin typeface="Arial"/>
                </a:rPr>
                <a:t>Pick patient</a:t>
              </a:r>
            </a:p>
          </p:txBody>
        </p:sp>
        <p:sp>
          <p:nvSpPr>
            <p:cNvPr id="33" name="Chevron 32"/>
            <p:cNvSpPr/>
            <p:nvPr/>
          </p:nvSpPr>
          <p:spPr>
            <a:xfrm>
              <a:off x="1265327" y="5855570"/>
              <a:ext cx="1228751" cy="892702"/>
            </a:xfrm>
            <a:prstGeom prst="chevron">
              <a:avLst>
                <a:gd name="adj" fmla="val 32000"/>
              </a:avLst>
            </a:prstGeom>
            <a:solidFill>
              <a:srgbClr val="577CA7"/>
            </a:solidFill>
            <a:ln w="12700">
              <a:solidFill>
                <a:srgbClr val="FFFFFF"/>
              </a:solidFill>
            </a:ln>
          </p:spPr>
          <p:txBody>
            <a:bodyPr rtlCol="0" anchor="ctr"/>
            <a:lstStyle/>
            <a:p/>
          </p:txBody>
        </p:sp>
        <p:sp>
          <p:nvSpPr>
            <p:cNvPr id="34" name="TextBox 33"/>
            <p:cNvSpPr txBox="1"/>
            <p:nvPr/>
          </p:nvSpPr>
          <p:spPr>
            <a:xfrm>
              <a:off x="1569280" y="5855570"/>
              <a:ext cx="620845" cy="892702"/>
            </a:xfrm>
            <a:prstGeom prst="rect">
              <a:avLst/>
            </a:prstGeom>
            <a:noFill/>
          </p:spPr>
          <p:txBody>
            <a:bodyPr wrap="square" lIns="9144" rIns="9144" tIns="9144" bIns="9144" anchor="ctr">
              <a:noAutofit/>
            </a:bodyPr>
            <a:lstStyle/>
            <a:p>
              <a:pPr algn="ctr"/>
              <a:r>
                <a:rPr sz="1100" b="1" i="0">
                  <a:solidFill>
                    <a:srgbClr val="FFFFFF"/>
                  </a:solidFill>
                  <a:latin typeface="Arial"/>
                </a:rPr>
                <a:t>Read risk</a:t>
              </a:r>
            </a:p>
          </p:txBody>
        </p:sp>
        <p:sp>
          <p:nvSpPr>
            <p:cNvPr id="35" name="Chevron 34"/>
            <p:cNvSpPr/>
            <p:nvPr/>
          </p:nvSpPr>
          <p:spPr>
            <a:xfrm>
              <a:off x="2402638" y="5855570"/>
              <a:ext cx="1228751" cy="892702"/>
            </a:xfrm>
            <a:prstGeom prst="chevron">
              <a:avLst>
                <a:gd name="adj" fmla="val 32000"/>
              </a:avLst>
            </a:prstGeom>
            <a:solidFill>
              <a:srgbClr val="4870A0"/>
            </a:solidFill>
            <a:ln w="12700">
              <a:solidFill>
                <a:srgbClr val="FFFFFF"/>
              </a:solidFill>
            </a:ln>
          </p:spPr>
          <p:txBody>
            <a:bodyPr rtlCol="0" anchor="ctr"/>
            <a:lstStyle/>
            <a:p/>
          </p:txBody>
        </p:sp>
        <p:sp>
          <p:nvSpPr>
            <p:cNvPr id="36" name="TextBox 35"/>
            <p:cNvSpPr txBox="1"/>
            <p:nvPr/>
          </p:nvSpPr>
          <p:spPr>
            <a:xfrm>
              <a:off x="2706590" y="5855570"/>
              <a:ext cx="620845" cy="892702"/>
            </a:xfrm>
            <a:prstGeom prst="rect">
              <a:avLst/>
            </a:prstGeom>
            <a:noFill/>
          </p:spPr>
          <p:txBody>
            <a:bodyPr wrap="square" lIns="9144" rIns="9144" tIns="9144" bIns="9144" anchor="ctr">
              <a:noAutofit/>
            </a:bodyPr>
            <a:lstStyle/>
            <a:p>
              <a:pPr algn="ctr"/>
              <a:r>
                <a:rPr sz="1100" b="1" i="0">
                  <a:solidFill>
                    <a:srgbClr val="FFFFFF"/>
                  </a:solidFill>
                  <a:latin typeface="Arial"/>
                </a:rPr>
                <a:t>See why</a:t>
              </a:r>
            </a:p>
          </p:txBody>
        </p:sp>
        <p:sp>
          <p:nvSpPr>
            <p:cNvPr id="37" name="Chevron 36"/>
            <p:cNvSpPr/>
            <p:nvPr/>
          </p:nvSpPr>
          <p:spPr>
            <a:xfrm>
              <a:off x="3539948" y="5855570"/>
              <a:ext cx="1228751" cy="892702"/>
            </a:xfrm>
            <a:prstGeom prst="chevron">
              <a:avLst>
                <a:gd name="adj" fmla="val 32000"/>
              </a:avLst>
            </a:prstGeom>
            <a:solidFill>
              <a:srgbClr val="3A6598"/>
            </a:solidFill>
            <a:ln w="12700">
              <a:solidFill>
                <a:srgbClr val="FFFFFF"/>
              </a:solidFill>
            </a:ln>
          </p:spPr>
          <p:txBody>
            <a:bodyPr rtlCol="0" anchor="ctr"/>
            <a:lstStyle/>
            <a:p/>
          </p:txBody>
        </p:sp>
        <p:sp>
          <p:nvSpPr>
            <p:cNvPr id="38" name="TextBox 37"/>
            <p:cNvSpPr txBox="1"/>
            <p:nvPr/>
          </p:nvSpPr>
          <p:spPr>
            <a:xfrm>
              <a:off x="3843901" y="5855570"/>
              <a:ext cx="620845" cy="892702"/>
            </a:xfrm>
            <a:prstGeom prst="rect">
              <a:avLst/>
            </a:prstGeom>
            <a:noFill/>
          </p:spPr>
          <p:txBody>
            <a:bodyPr wrap="square" lIns="9144" rIns="9144" tIns="9144" bIns="9144" anchor="ctr">
              <a:noAutofit/>
            </a:bodyPr>
            <a:lstStyle/>
            <a:p>
              <a:pPr algn="ctr"/>
              <a:r>
                <a:rPr sz="1100" b="1" i="0">
                  <a:solidFill>
                    <a:srgbClr val="FFFFFF"/>
                  </a:solidFill>
                  <a:latin typeface="Arial"/>
                </a:rPr>
                <a:t>Test plan</a:t>
              </a:r>
            </a:p>
          </p:txBody>
        </p:sp>
        <p:sp>
          <p:nvSpPr>
            <p:cNvPr id="39" name="Chevron 38"/>
            <p:cNvSpPr/>
            <p:nvPr/>
          </p:nvSpPr>
          <p:spPr>
            <a:xfrm>
              <a:off x="4677259" y="5855570"/>
              <a:ext cx="1228751" cy="892702"/>
            </a:xfrm>
            <a:prstGeom prst="chevron">
              <a:avLst>
                <a:gd name="adj" fmla="val 32000"/>
              </a:avLst>
            </a:prstGeom>
            <a:solidFill>
              <a:srgbClr val="2B5991"/>
            </a:solidFill>
            <a:ln w="12700">
              <a:solidFill>
                <a:srgbClr val="FFFFFF"/>
              </a:solidFill>
            </a:ln>
          </p:spPr>
          <p:txBody>
            <a:bodyPr rtlCol="0" anchor="ctr"/>
            <a:lstStyle/>
            <a:p/>
          </p:txBody>
        </p:sp>
        <p:sp>
          <p:nvSpPr>
            <p:cNvPr id="40" name="TextBox 39"/>
            <p:cNvSpPr txBox="1"/>
            <p:nvPr/>
          </p:nvSpPr>
          <p:spPr>
            <a:xfrm>
              <a:off x="4981212" y="5855570"/>
              <a:ext cx="620845" cy="892702"/>
            </a:xfrm>
            <a:prstGeom prst="rect">
              <a:avLst/>
            </a:prstGeom>
            <a:noFill/>
          </p:spPr>
          <p:txBody>
            <a:bodyPr wrap="square" lIns="9144" rIns="9144" tIns="9144" bIns="9144" anchor="ctr">
              <a:noAutofit/>
            </a:bodyPr>
            <a:lstStyle/>
            <a:p>
              <a:pPr algn="ctr"/>
              <a:r>
                <a:rPr sz="1100" b="1" i="0">
                  <a:solidFill>
                    <a:srgbClr val="FFFFFF"/>
                  </a:solidFill>
                  <a:latin typeface="Arial"/>
                </a:rPr>
                <a:t>Send nudge</a:t>
              </a:r>
            </a:p>
          </p:txBody>
        </p:sp>
        <p:sp>
          <p:nvSpPr>
            <p:cNvPr id="41" name="Chevron 40"/>
            <p:cNvSpPr/>
            <p:nvPr/>
          </p:nvSpPr>
          <p:spPr>
            <a:xfrm>
              <a:off x="5814570" y="5855570"/>
              <a:ext cx="1228751" cy="892702"/>
            </a:xfrm>
            <a:prstGeom prst="chevron">
              <a:avLst>
                <a:gd name="adj" fmla="val 32000"/>
              </a:avLst>
            </a:prstGeom>
            <a:solidFill>
              <a:srgbClr val="1D4E89"/>
            </a:solidFill>
            <a:ln w="12700">
              <a:solidFill>
                <a:srgbClr val="FFFFFF"/>
              </a:solidFill>
            </a:ln>
          </p:spPr>
          <p:txBody>
            <a:bodyPr rtlCol="0" anchor="ctr"/>
            <a:lstStyle/>
            <a:p/>
          </p:txBody>
        </p:sp>
        <p:sp>
          <p:nvSpPr>
            <p:cNvPr id="42" name="TextBox 41"/>
            <p:cNvSpPr txBox="1"/>
            <p:nvPr/>
          </p:nvSpPr>
          <p:spPr>
            <a:xfrm>
              <a:off x="6118523" y="5855570"/>
              <a:ext cx="620845" cy="892702"/>
            </a:xfrm>
            <a:prstGeom prst="rect">
              <a:avLst/>
            </a:prstGeom>
            <a:noFill/>
          </p:spPr>
          <p:txBody>
            <a:bodyPr wrap="square" lIns="9144" rIns="9144" tIns="9144" bIns="9144" anchor="ctr">
              <a:noAutofit/>
            </a:bodyPr>
            <a:lstStyle/>
            <a:p>
              <a:pPr algn="ctr"/>
              <a:r>
                <a:rPr sz="1100" b="1" i="0">
                  <a:solidFill>
                    <a:srgbClr val="FFFFFF"/>
                  </a:solidFill>
                  <a:latin typeface="Arial"/>
                </a:rPr>
                <a:t>Weekly review</a:t>
              </a:r>
            </a:p>
          </p:txBody>
        </p:sp>
      </p:grpSp>
      <p:grpSp>
        <p:nvGrpSpPr>
          <p:cNvPr id="43" name="Group 42"/>
          <p:cNvGrpSpPr/>
          <p:nvPr/>
        </p:nvGrpSpPr>
        <p:grpSpPr>
          <a:xfrm>
            <a:off x="7171337" y="1097280"/>
            <a:ext cx="4947206" cy="2924673"/>
            <a:chOff x="7171337" y="1097280"/>
            <a:chExt cx="4947206" cy="2924673"/>
          </a:xfrm>
        </p:grpSpPr>
        <p:sp>
          <p:nvSpPr>
            <p:cNvPr id="44" name="frame:What-if lab: test th"/>
            <p:cNvSpPr/>
            <p:nvPr/>
          </p:nvSpPr>
          <p:spPr>
            <a:xfrm>
              <a:off x="7171337" y="1234440"/>
              <a:ext cx="4947206" cy="2787513"/>
            </a:xfrm>
            <a:prstGeom prst="roundRect">
              <a:avLst>
                <a:gd name="adj" fmla="val 1640"/>
              </a:avLst>
            </a:prstGeom>
            <a:solidFill>
              <a:srgbClr val="F1F4F8"/>
            </a:solidFill>
            <a:ln w="15875">
              <a:solidFill>
                <a:srgbClr val="466E9E"/>
              </a:solidFill>
              <a:prstDash val="sysDot"/>
            </a:ln>
          </p:spPr>
          <p:txBody>
            <a:bodyPr rtlCol="0" anchor="ctr"/>
            <a:lstStyle/>
            <a:p/>
          </p:txBody>
        </p:sp>
        <p:sp>
          <p:nvSpPr>
            <p:cNvPr id="45" name="Rounded Rectangle 44"/>
            <p:cNvSpPr/>
            <p:nvPr/>
          </p:nvSpPr>
          <p:spPr>
            <a:xfrm>
              <a:off x="7171337" y="1097280"/>
              <a:ext cx="3458444" cy="274320"/>
            </a:xfrm>
            <a:prstGeom prst="roundRect">
              <a:avLst>
                <a:gd name="adj" fmla="val 13333"/>
              </a:avLst>
            </a:prstGeom>
            <a:solidFill>
              <a:srgbClr val="1D4E89"/>
            </a:solidFill>
            <a:ln>
              <a:noFill/>
            </a:ln>
          </p:spPr>
          <p:txBody>
            <a:bodyPr rtlCol="0" anchor="ctr"/>
            <a:lstStyle/>
            <a:p/>
          </p:txBody>
        </p:sp>
        <p:pic>
          <p:nvPicPr>
            <p:cNvPr id="46" name="Picture 45" descr="ic_fa6_FaFlask_FFFFFF.png"/>
            <p:cNvPicPr>
              <a:picLocks noChangeAspect="1"/>
            </p:cNvPicPr>
            <p:nvPr/>
          </p:nvPicPr>
          <p:blipFill>
            <a:blip r:embed="rId4"/>
            <a:stretch>
              <a:fillRect/>
            </a:stretch>
          </p:blipFill>
          <p:spPr>
            <a:xfrm>
              <a:off x="7226201" y="1133856"/>
              <a:ext cx="201168" cy="201168"/>
            </a:xfrm>
            <a:prstGeom prst="rect">
              <a:avLst/>
            </a:prstGeom>
          </p:spPr>
        </p:pic>
        <p:sp>
          <p:nvSpPr>
            <p:cNvPr id="47" name="TextBox 46"/>
            <p:cNvSpPr txBox="1"/>
            <p:nvPr/>
          </p:nvSpPr>
          <p:spPr>
            <a:xfrm>
              <a:off x="7473089" y="1097280"/>
              <a:ext cx="3129260" cy="274320"/>
            </a:xfrm>
            <a:prstGeom prst="rect">
              <a:avLst/>
            </a:prstGeom>
            <a:noFill/>
          </p:spPr>
          <p:txBody>
            <a:bodyPr wrap="square" lIns="9144" rIns="9144" tIns="9144" bIns="9144" anchor="ctr">
              <a:noAutofit/>
            </a:bodyPr>
            <a:lstStyle/>
            <a:p>
              <a:pPr algn="l"/>
              <a:r>
                <a:rPr sz="1200" b="1" i="0">
                  <a:solidFill>
                    <a:srgbClr val="FFFFFF"/>
                  </a:solidFill>
                  <a:latin typeface="Arial"/>
                </a:rPr>
                <a:t>What-if lab: test the plan on the twin first</a:t>
              </a:r>
            </a:p>
          </p:txBody>
        </p:sp>
        <p:pic>
          <p:nvPicPr>
            <p:cNvPr id="48" name="Picture 47" descr="dash_whatif_crop.png"/>
            <p:cNvPicPr>
              <a:picLocks noChangeAspect="1"/>
            </p:cNvPicPr>
            <p:nvPr/>
          </p:nvPicPr>
          <p:blipFill>
            <a:blip r:embed="rId5"/>
            <a:stretch>
              <a:fillRect/>
            </a:stretch>
          </p:blipFill>
          <p:spPr>
            <a:xfrm>
              <a:off x="7378248" y="1408176"/>
              <a:ext cx="4533383" cy="2558913"/>
            </a:xfrm>
            <a:prstGeom prst="rect">
              <a:avLst/>
            </a:prstGeom>
          </p:spPr>
        </p:pic>
      </p:grpSp>
      <p:grpSp>
        <p:nvGrpSpPr>
          <p:cNvPr id="49" name="Group 48"/>
          <p:cNvGrpSpPr/>
          <p:nvPr/>
        </p:nvGrpSpPr>
        <p:grpSpPr>
          <a:xfrm>
            <a:off x="7171337" y="4095105"/>
            <a:ext cx="4947206" cy="2708031"/>
            <a:chOff x="7171337" y="4095105"/>
            <a:chExt cx="4947206" cy="2708031"/>
          </a:xfrm>
        </p:grpSpPr>
        <p:sp>
          <p:nvSpPr>
            <p:cNvPr id="50" name="frame:Week review (AGP) fo"/>
            <p:cNvSpPr/>
            <p:nvPr/>
          </p:nvSpPr>
          <p:spPr>
            <a:xfrm>
              <a:off x="7171337" y="4232265"/>
              <a:ext cx="4947206" cy="2570871"/>
            </a:xfrm>
            <a:prstGeom prst="roundRect">
              <a:avLst>
                <a:gd name="adj" fmla="val 1778"/>
              </a:avLst>
            </a:prstGeom>
            <a:solidFill>
              <a:srgbClr val="F1F4F8"/>
            </a:solidFill>
            <a:ln w="15875">
              <a:solidFill>
                <a:srgbClr val="466E9E"/>
              </a:solidFill>
              <a:prstDash val="sysDot"/>
            </a:ln>
          </p:spPr>
          <p:txBody>
            <a:bodyPr rtlCol="0" anchor="ctr"/>
            <a:lstStyle/>
            <a:p/>
          </p:txBody>
        </p:sp>
        <p:sp>
          <p:nvSpPr>
            <p:cNvPr id="51" name="Rounded Rectangle 50"/>
            <p:cNvSpPr/>
            <p:nvPr/>
          </p:nvSpPr>
          <p:spPr>
            <a:xfrm>
              <a:off x="7171337" y="4095105"/>
              <a:ext cx="3117806" cy="274320"/>
            </a:xfrm>
            <a:prstGeom prst="roundRect">
              <a:avLst>
                <a:gd name="adj" fmla="val 13333"/>
              </a:avLst>
            </a:prstGeom>
            <a:solidFill>
              <a:srgbClr val="1D4E89"/>
            </a:solidFill>
            <a:ln>
              <a:noFill/>
            </a:ln>
          </p:spPr>
          <p:txBody>
            <a:bodyPr rtlCol="0" anchor="ctr"/>
            <a:lstStyle/>
            <a:p/>
          </p:txBody>
        </p:sp>
        <p:pic>
          <p:nvPicPr>
            <p:cNvPr id="52" name="Picture 51" descr="ic_fa6_FaCalendarWeek_FFFFFF.png"/>
            <p:cNvPicPr>
              <a:picLocks noChangeAspect="1"/>
            </p:cNvPicPr>
            <p:nvPr/>
          </p:nvPicPr>
          <p:blipFill>
            <a:blip r:embed="rId6"/>
            <a:stretch>
              <a:fillRect/>
            </a:stretch>
          </p:blipFill>
          <p:spPr>
            <a:xfrm>
              <a:off x="7226201" y="4131681"/>
              <a:ext cx="201168" cy="201168"/>
            </a:xfrm>
            <a:prstGeom prst="rect">
              <a:avLst/>
            </a:prstGeom>
          </p:spPr>
        </p:pic>
        <p:sp>
          <p:nvSpPr>
            <p:cNvPr id="53" name="TextBox 52"/>
            <p:cNvSpPr txBox="1"/>
            <p:nvPr/>
          </p:nvSpPr>
          <p:spPr>
            <a:xfrm>
              <a:off x="7473089" y="4095105"/>
              <a:ext cx="2788622" cy="274320"/>
            </a:xfrm>
            <a:prstGeom prst="rect">
              <a:avLst/>
            </a:prstGeom>
            <a:noFill/>
          </p:spPr>
          <p:txBody>
            <a:bodyPr wrap="square" lIns="9144" rIns="9144" tIns="9144" bIns="9144" anchor="ctr">
              <a:noAutofit/>
            </a:bodyPr>
            <a:lstStyle/>
            <a:p>
              <a:pPr algn="l"/>
              <a:r>
                <a:rPr sz="1200" b="1" i="0">
                  <a:solidFill>
                    <a:srgbClr val="FFFFFF"/>
                  </a:solidFill>
                  <a:latin typeface="Arial"/>
                </a:rPr>
                <a:t>Week review (AGP) for the next visit</a:t>
              </a:r>
            </a:p>
          </p:txBody>
        </p:sp>
        <p:pic>
          <p:nvPicPr>
            <p:cNvPr id="54" name="Picture 53" descr="dash_week_crop.png"/>
            <p:cNvPicPr>
              <a:picLocks noChangeAspect="1"/>
            </p:cNvPicPr>
            <p:nvPr/>
          </p:nvPicPr>
          <p:blipFill>
            <a:blip r:embed="rId7"/>
            <a:stretch>
              <a:fillRect/>
            </a:stretch>
          </p:blipFill>
          <p:spPr>
            <a:xfrm>
              <a:off x="7226201" y="4414119"/>
              <a:ext cx="4837478" cy="2326035"/>
            </a:xfrm>
            <a:prstGeom prst="rect">
              <a:avLst/>
            </a:prstGeom>
          </p:spPr>
        </p:pic>
      </p:gr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v:0">
            <a:hlinkClick action="ppaction://hlinksldjump" r:id="rId20"/>
          </p:cNvPr>
          <p:cNvSpPr/>
          <p:nvPr/>
        </p:nvSpPr>
        <p:spPr>
          <a:xfrm>
            <a:off x="0" y="0"/>
            <a:ext cx="1359073" cy="457200"/>
          </a:xfrm>
          <a:prstGeom prst="homePlate">
            <a:avLst>
              <a:gd name="adj" fmla="val 34000"/>
            </a:avLst>
          </a:prstGeom>
          <a:solidFill>
            <a:srgbClr val="6587AF"/>
          </a:solidFill>
          <a:ln w="12700">
            <a:solidFill>
              <a:srgbClr val="FFFFFF"/>
            </a:solidFill>
          </a:ln>
        </p:spPr>
        <p:txBody>
          <a:bodyPr rtlCol="0" anchor="ctr"/>
          <a:lstStyle/>
          <a:p/>
        </p:txBody>
      </p:sp>
      <p:sp>
        <p:nvSpPr>
          <p:cNvPr id="3" name="nav:t0">
            <a:hlinkClick action="ppaction://hlinksldjump" r:id="rId20"/>
          </p:cNvPr>
          <p:cNvSpPr txBox="1"/>
          <p:nvPr/>
        </p:nvSpPr>
        <p:spPr>
          <a:xfrm>
            <a:off x="64008" y="0"/>
            <a:ext cx="1121329" cy="457200"/>
          </a:xfrm>
          <a:prstGeom prst="rect">
            <a:avLst/>
          </a:prstGeom>
          <a:noFill/>
        </p:spPr>
        <p:txBody>
          <a:bodyPr wrap="square" lIns="9144" rIns="9144" tIns="9144" bIns="9144" anchor="ctr">
            <a:noAutofit/>
          </a:bodyPr>
          <a:lstStyle/>
          <a:p>
            <a:pPr algn="ctr"/>
            <a:r>
              <a:rPr sz="1000" b="0" i="0">
                <a:solidFill>
                  <a:srgbClr val="FFFFFF"/>
                </a:solidFill>
                <a:latin typeface="Arial"/>
              </a:rPr>
              <a:t>Executive Summary</a:t>
            </a:r>
          </a:p>
        </p:txBody>
      </p:sp>
      <p:sp>
        <p:nvSpPr>
          <p:cNvPr id="4" name="nav:1">
            <a:hlinkClick action="ppaction://hlinksldjump" r:id="rId21"/>
          </p:cNvPr>
          <p:cNvSpPr/>
          <p:nvPr/>
        </p:nvSpPr>
        <p:spPr>
          <a:xfrm>
            <a:off x="1203625"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5" name="nav:t1">
            <a:hlinkClick action="ppaction://hlinksldjump" r:id="rId21"/>
          </p:cNvPr>
          <p:cNvSpPr txBox="1"/>
          <p:nvPr/>
        </p:nvSpPr>
        <p:spPr>
          <a:xfrm>
            <a:off x="1386505"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Problem</a:t>
            </a:r>
          </a:p>
        </p:txBody>
      </p:sp>
      <p:sp>
        <p:nvSpPr>
          <p:cNvPr id="6" name="nav:2">
            <a:hlinkClick action="ppaction://hlinksldjump" r:id="rId22"/>
          </p:cNvPr>
          <p:cNvSpPr/>
          <p:nvPr/>
        </p:nvSpPr>
        <p:spPr>
          <a:xfrm>
            <a:off x="2407249"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7" name="nav:t2">
            <a:hlinkClick action="ppaction://hlinksldjump" r:id="rId22"/>
          </p:cNvPr>
          <p:cNvSpPr txBox="1"/>
          <p:nvPr/>
        </p:nvSpPr>
        <p:spPr>
          <a:xfrm>
            <a:off x="2590129"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Solution</a:t>
            </a:r>
          </a:p>
        </p:txBody>
      </p:sp>
      <p:sp>
        <p:nvSpPr>
          <p:cNvPr id="8" name="nav:3">
            <a:hlinkClick action="ppaction://hlinksldjump" r:id="rId23"/>
          </p:cNvPr>
          <p:cNvSpPr/>
          <p:nvPr/>
        </p:nvSpPr>
        <p:spPr>
          <a:xfrm>
            <a:off x="3610874"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9" name="nav:t3">
            <a:hlinkClick action="ppaction://hlinksldjump" r:id="rId23"/>
          </p:cNvPr>
          <p:cNvSpPr txBox="1"/>
          <p:nvPr/>
        </p:nvSpPr>
        <p:spPr>
          <a:xfrm>
            <a:off x="3793754"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Data</a:t>
            </a:r>
          </a:p>
        </p:txBody>
      </p:sp>
      <p:sp>
        <p:nvSpPr>
          <p:cNvPr id="10" name="nav:4">
            <a:hlinkClick action="ppaction://hlinksldjump" r:id="rId24"/>
          </p:cNvPr>
          <p:cNvSpPr/>
          <p:nvPr/>
        </p:nvSpPr>
        <p:spPr>
          <a:xfrm>
            <a:off x="4814499"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1" name="nav:t4">
            <a:hlinkClick action="ppaction://hlinksldjump" r:id="rId24"/>
          </p:cNvPr>
          <p:cNvSpPr txBox="1"/>
          <p:nvPr/>
        </p:nvSpPr>
        <p:spPr>
          <a:xfrm>
            <a:off x="4997379"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Twin Engine</a:t>
            </a:r>
          </a:p>
        </p:txBody>
      </p:sp>
      <p:sp>
        <p:nvSpPr>
          <p:cNvPr id="12" name="nav:5">
            <a:hlinkClick action="ppaction://hlinksldjump" r:id="rId25"/>
          </p:cNvPr>
          <p:cNvSpPr/>
          <p:nvPr/>
        </p:nvSpPr>
        <p:spPr>
          <a:xfrm>
            <a:off x="6018124"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3" name="nav:t5">
            <a:hlinkClick action="ppaction://hlinksldjump" r:id="rId25"/>
          </p:cNvPr>
          <p:cNvSpPr txBox="1"/>
          <p:nvPr/>
        </p:nvSpPr>
        <p:spPr>
          <a:xfrm>
            <a:off x="6201004"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AI Model</a:t>
            </a:r>
          </a:p>
        </p:txBody>
      </p:sp>
      <p:sp>
        <p:nvSpPr>
          <p:cNvPr id="14" name="nav:6">
            <a:hlinkClick action="ppaction://hlinksldjump" r:id="rId26"/>
          </p:cNvPr>
          <p:cNvSpPr/>
          <p:nvPr/>
        </p:nvSpPr>
        <p:spPr>
          <a:xfrm>
            <a:off x="7221748"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5" name="nav:t6">
            <a:hlinkClick action="ppaction://hlinksldjump" r:id="rId26"/>
          </p:cNvPr>
          <p:cNvSpPr txBox="1"/>
          <p:nvPr/>
        </p:nvSpPr>
        <p:spPr>
          <a:xfrm>
            <a:off x="7404628"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Results</a:t>
            </a:r>
          </a:p>
        </p:txBody>
      </p:sp>
      <p:sp>
        <p:nvSpPr>
          <p:cNvPr id="16" name="nav:7">
            <a:hlinkClick action="ppaction://hlinksldjump" r:id="rId27"/>
          </p:cNvPr>
          <p:cNvSpPr/>
          <p:nvPr/>
        </p:nvSpPr>
        <p:spPr>
          <a:xfrm>
            <a:off x="8425373"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7" name="nav:t7">
            <a:hlinkClick action="ppaction://hlinksldjump" r:id="rId27"/>
          </p:cNvPr>
          <p:cNvSpPr txBox="1"/>
          <p:nvPr/>
        </p:nvSpPr>
        <p:spPr>
          <a:xfrm>
            <a:off x="8608253"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Dashboard</a:t>
            </a:r>
          </a:p>
        </p:txBody>
      </p:sp>
      <p:sp>
        <p:nvSpPr>
          <p:cNvPr id="18" name="nav:8"/>
          <p:cNvSpPr/>
          <p:nvPr/>
        </p:nvSpPr>
        <p:spPr>
          <a:xfrm>
            <a:off x="9628998" y="0"/>
            <a:ext cx="1359073" cy="457200"/>
          </a:xfrm>
          <a:prstGeom prst="chevron">
            <a:avLst>
              <a:gd name="adj" fmla="val 34000"/>
            </a:avLst>
          </a:prstGeom>
          <a:solidFill>
            <a:srgbClr val="112F52"/>
          </a:solidFill>
          <a:ln w="12700">
            <a:solidFill>
              <a:srgbClr val="FFFFFF"/>
            </a:solidFill>
          </a:ln>
        </p:spPr>
        <p:txBody>
          <a:bodyPr rtlCol="0" anchor="ctr"/>
          <a:lstStyle/>
          <a:p/>
        </p:txBody>
      </p:sp>
      <p:sp>
        <p:nvSpPr>
          <p:cNvPr id="19" name="nav:t8"/>
          <p:cNvSpPr txBox="1"/>
          <p:nvPr/>
        </p:nvSpPr>
        <p:spPr>
          <a:xfrm>
            <a:off x="9811878" y="0"/>
            <a:ext cx="1002457" cy="457200"/>
          </a:xfrm>
          <a:prstGeom prst="rect">
            <a:avLst/>
          </a:prstGeom>
          <a:noFill/>
        </p:spPr>
        <p:txBody>
          <a:bodyPr wrap="square" lIns="9144" rIns="9144" tIns="9144" bIns="9144" anchor="ctr">
            <a:noAutofit/>
          </a:bodyPr>
          <a:lstStyle/>
          <a:p>
            <a:pPr algn="ctr"/>
            <a:r>
              <a:rPr sz="1000" b="1" i="0">
                <a:solidFill>
                  <a:srgbClr val="FFFFFF"/>
                </a:solidFill>
                <a:latin typeface="Arial"/>
              </a:rPr>
              <a:t>Impact</a:t>
            </a:r>
          </a:p>
        </p:txBody>
      </p:sp>
      <p:sp>
        <p:nvSpPr>
          <p:cNvPr id="20" name="nav:9">
            <a:hlinkClick action="ppaction://hlinksldjump" r:id="rId28"/>
          </p:cNvPr>
          <p:cNvSpPr/>
          <p:nvPr/>
        </p:nvSpPr>
        <p:spPr>
          <a:xfrm>
            <a:off x="10832622"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21" name="nav:t9">
            <a:hlinkClick action="ppaction://hlinksldjump" r:id="rId28"/>
          </p:cNvPr>
          <p:cNvSpPr txBox="1"/>
          <p:nvPr/>
        </p:nvSpPr>
        <p:spPr>
          <a:xfrm>
            <a:off x="11015502"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Roadmap &amp; Cost</a:t>
            </a:r>
          </a:p>
        </p:txBody>
      </p:sp>
      <p:sp>
        <p:nvSpPr>
          <p:cNvPr id="22" name="TextBox 21"/>
          <p:cNvSpPr txBox="1"/>
          <p:nvPr/>
        </p:nvSpPr>
        <p:spPr>
          <a:xfrm>
            <a:off x="73152" y="502920"/>
            <a:ext cx="12045391" cy="329184"/>
          </a:xfrm>
          <a:prstGeom prst="rect">
            <a:avLst/>
          </a:prstGeom>
          <a:noFill/>
        </p:spPr>
        <p:txBody>
          <a:bodyPr wrap="square" lIns="18288" rIns="18288" tIns="18288" bIns="18288" anchor="ctr">
            <a:noAutofit/>
          </a:bodyPr>
          <a:lstStyle/>
          <a:p>
            <a:pPr algn="l"/>
            <a:r>
              <a:rPr sz="1600" b="1" i="0">
                <a:solidFill>
                  <a:srgbClr val="1D4E89"/>
                </a:solidFill>
                <a:latin typeface="Arial"/>
              </a:rPr>
              <a:t>Earlier warnings turn into avoidable spike-minutes for patients and focused time for doctors</a:t>
            </a:r>
          </a:p>
        </p:txBody>
      </p:sp>
      <p:sp>
        <p:nvSpPr>
          <p:cNvPr id="23" name="TextBox 22"/>
          <p:cNvSpPr txBox="1"/>
          <p:nvPr/>
        </p:nvSpPr>
        <p:spPr>
          <a:xfrm>
            <a:off x="73152" y="795528"/>
            <a:ext cx="12045391" cy="237744"/>
          </a:xfrm>
          <a:prstGeom prst="rect">
            <a:avLst/>
          </a:prstGeom>
          <a:noFill/>
        </p:spPr>
        <p:txBody>
          <a:bodyPr wrap="square" lIns="18288" rIns="18288" tIns="18288" bIns="18288" anchor="ctr">
            <a:noAutofit/>
          </a:bodyPr>
          <a:lstStyle/>
          <a:p>
            <a:pPr algn="l"/>
            <a:r>
              <a:rPr sz="1200" b="1" i="0">
                <a:solidFill>
                  <a:srgbClr val="4A5168"/>
                </a:solidFill>
                <a:latin typeface="Arial"/>
              </a:rPr>
              <a:t>What changes for each stakeholder, how we keep it safe, and what this proof of concept does not yet prove</a:t>
            </a:r>
          </a:p>
        </p:txBody>
      </p:sp>
      <p:cxnSp>
        <p:nvCxnSpPr>
          <p:cNvPr id="24" name="Connector 23"/>
          <p:cNvCxnSpPr/>
          <p:nvPr/>
        </p:nvCxnSpPr>
        <p:spPr>
          <a:xfrm>
            <a:off x="73152" y="1042416"/>
            <a:ext cx="12045391" cy="0"/>
          </a:xfrm>
          <a:prstGeom prst="line">
            <a:avLst/>
          </a:prstGeom>
          <a:ln w="19050">
            <a:solidFill>
              <a:srgbClr val="1D4E89"/>
            </a:solidFill>
          </a:ln>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73152" y="1097280"/>
            <a:ext cx="4940557" cy="3154314"/>
            <a:chOff x="73152" y="1097280"/>
            <a:chExt cx="4940557" cy="3154314"/>
          </a:xfrm>
        </p:grpSpPr>
        <p:sp>
          <p:nvSpPr>
            <p:cNvPr id="26" name="frame:Impact pathway"/>
            <p:cNvSpPr/>
            <p:nvPr/>
          </p:nvSpPr>
          <p:spPr>
            <a:xfrm>
              <a:off x="73152" y="1234440"/>
              <a:ext cx="4940557" cy="3017154"/>
            </a:xfrm>
            <a:prstGeom prst="roundRect">
              <a:avLst>
                <a:gd name="adj" fmla="val 1515"/>
              </a:avLst>
            </a:prstGeom>
            <a:solidFill>
              <a:srgbClr val="F1F4F8"/>
            </a:solidFill>
            <a:ln w="15875">
              <a:solidFill>
                <a:srgbClr val="466E9E"/>
              </a:solidFill>
              <a:prstDash val="sysDot"/>
            </a:ln>
          </p:spPr>
          <p:txBody>
            <a:bodyPr rtlCol="0" anchor="ctr"/>
            <a:lstStyle/>
            <a:p/>
          </p:txBody>
        </p:sp>
        <p:sp>
          <p:nvSpPr>
            <p:cNvPr id="27" name="Rounded Rectangle 26"/>
            <p:cNvSpPr/>
            <p:nvPr/>
          </p:nvSpPr>
          <p:spPr>
            <a:xfrm>
              <a:off x="73152" y="1097280"/>
              <a:ext cx="1655362" cy="274320"/>
            </a:xfrm>
            <a:prstGeom prst="roundRect">
              <a:avLst>
                <a:gd name="adj" fmla="val 13333"/>
              </a:avLst>
            </a:prstGeom>
            <a:solidFill>
              <a:srgbClr val="1D4E89"/>
            </a:solidFill>
            <a:ln>
              <a:noFill/>
            </a:ln>
          </p:spPr>
          <p:txBody>
            <a:bodyPr rtlCol="0" anchor="ctr"/>
            <a:lstStyle/>
            <a:p/>
          </p:txBody>
        </p:sp>
        <p:pic>
          <p:nvPicPr>
            <p:cNvPr id="28" name="Picture 27" descr="ic_fa6_FaRoute_FFFFFF.png"/>
            <p:cNvPicPr>
              <a:picLocks noChangeAspect="1"/>
            </p:cNvPicPr>
            <p:nvPr/>
          </p:nvPicPr>
          <p:blipFill>
            <a:blip r:embed="rId2"/>
            <a:stretch>
              <a:fillRect/>
            </a:stretch>
          </p:blipFill>
          <p:spPr>
            <a:xfrm>
              <a:off x="128016" y="1133856"/>
              <a:ext cx="201168" cy="201168"/>
            </a:xfrm>
            <a:prstGeom prst="rect">
              <a:avLst/>
            </a:prstGeom>
          </p:spPr>
        </p:pic>
        <p:sp>
          <p:nvSpPr>
            <p:cNvPr id="29" name="TextBox 28"/>
            <p:cNvSpPr txBox="1"/>
            <p:nvPr/>
          </p:nvSpPr>
          <p:spPr>
            <a:xfrm>
              <a:off x="374904" y="1097280"/>
              <a:ext cx="1326178" cy="274320"/>
            </a:xfrm>
            <a:prstGeom prst="rect">
              <a:avLst/>
            </a:prstGeom>
            <a:noFill/>
          </p:spPr>
          <p:txBody>
            <a:bodyPr wrap="square" lIns="9144" rIns="9144" tIns="9144" bIns="9144" anchor="ctr">
              <a:noAutofit/>
            </a:bodyPr>
            <a:lstStyle/>
            <a:p>
              <a:pPr algn="l"/>
              <a:r>
                <a:rPr sz="1200" b="1" i="0">
                  <a:solidFill>
                    <a:srgbClr val="FFFFFF"/>
                  </a:solidFill>
                  <a:latin typeface="Arial"/>
                </a:rPr>
                <a:t>Impact pathway</a:t>
              </a:r>
            </a:p>
          </p:txBody>
        </p:sp>
        <p:sp>
          <p:nvSpPr>
            <p:cNvPr id="30" name="ig:flow"/>
            <p:cNvSpPr/>
            <p:nvPr/>
          </p:nvSpPr>
          <p:spPr>
            <a:xfrm>
              <a:off x="128016" y="1408176"/>
              <a:ext cx="1022541" cy="1702841"/>
            </a:xfrm>
            <a:prstGeom prst="roundRect">
              <a:avLst>
                <a:gd name="adj" fmla="val 4471"/>
              </a:avLst>
            </a:prstGeom>
            <a:solidFill>
              <a:srgbClr val="FFFFFF"/>
            </a:solidFill>
            <a:ln w="9525">
              <a:solidFill>
                <a:srgbClr val="466E9E"/>
              </a:solidFill>
              <a:prstDash val="sysDot"/>
            </a:ln>
          </p:spPr>
          <p:txBody>
            <a:bodyPr rtlCol="0" anchor="ctr"/>
            <a:lstStyle/>
            <a:p/>
          </p:txBody>
        </p:sp>
        <p:pic>
          <p:nvPicPr>
            <p:cNvPr id="31" name="Picture 30" descr="ic_fa6_FaBell_1A1A1A.png"/>
            <p:cNvPicPr>
              <a:picLocks noChangeAspect="1"/>
            </p:cNvPicPr>
            <p:nvPr/>
          </p:nvPicPr>
          <p:blipFill>
            <a:blip r:embed="rId3"/>
            <a:stretch>
              <a:fillRect/>
            </a:stretch>
          </p:blipFill>
          <p:spPr>
            <a:xfrm>
              <a:off x="456407" y="1444752"/>
              <a:ext cx="365760" cy="365760"/>
            </a:xfrm>
            <a:prstGeom prst="rect">
              <a:avLst/>
            </a:prstGeom>
          </p:spPr>
        </p:pic>
        <p:sp>
          <p:nvSpPr>
            <p:cNvPr id="32" name="TextBox 31"/>
            <p:cNvSpPr txBox="1"/>
            <p:nvPr/>
          </p:nvSpPr>
          <p:spPr>
            <a:xfrm>
              <a:off x="128016" y="1810512"/>
              <a:ext cx="1022541" cy="1282217"/>
            </a:xfrm>
            <a:prstGeom prst="rect">
              <a:avLst/>
            </a:prstGeom>
            <a:noFill/>
          </p:spPr>
          <p:txBody>
            <a:bodyPr wrap="square" lIns="36576" rIns="36576" tIns="27432" bIns="27432" anchor="ctr">
              <a:noAutofit/>
            </a:bodyPr>
            <a:lstStyle/>
            <a:p>
              <a:pPr algn="ctr"/>
              <a:r>
                <a:rPr sz="1200" b="1" i="0">
                  <a:solidFill>
                    <a:srgbClr val="1A1A1A"/>
                  </a:solidFill>
                  <a:latin typeface="Arial"/>
                </a:rPr>
                <a:t>Alert</a:t>
              </a:r>
            </a:p>
            <a:p>
              <a:pPr algn="ctr"/>
              <a:r>
                <a:rPr sz="1200" b="0" i="0">
                  <a:solidFill>
                    <a:srgbClr val="1A1A1A"/>
                  </a:solidFill>
                  <a:latin typeface="Arial"/>
                </a:rPr>
                <a:t>~95 min ahead</a:t>
              </a:r>
            </a:p>
          </p:txBody>
        </p:sp>
        <p:sp>
          <p:nvSpPr>
            <p:cNvPr id="33" name="Rounded Rectangle 32"/>
            <p:cNvSpPr/>
            <p:nvPr/>
          </p:nvSpPr>
          <p:spPr>
            <a:xfrm>
              <a:off x="1397445" y="1408176"/>
              <a:ext cx="1022541" cy="1702841"/>
            </a:xfrm>
            <a:prstGeom prst="roundRect">
              <a:avLst>
                <a:gd name="adj" fmla="val 4471"/>
              </a:avLst>
            </a:prstGeom>
            <a:solidFill>
              <a:srgbClr val="FFFFFF"/>
            </a:solidFill>
            <a:ln w="9525">
              <a:solidFill>
                <a:srgbClr val="466E9E"/>
              </a:solidFill>
              <a:prstDash val="sysDot"/>
            </a:ln>
          </p:spPr>
          <p:txBody>
            <a:bodyPr rtlCol="0" anchor="ctr"/>
            <a:lstStyle/>
            <a:p/>
          </p:txBody>
        </p:sp>
        <p:pic>
          <p:nvPicPr>
            <p:cNvPr id="34" name="Picture 33" descr="ic_fa6_FaPersonWalking_1A1A1A.png"/>
            <p:cNvPicPr>
              <a:picLocks noChangeAspect="1"/>
            </p:cNvPicPr>
            <p:nvPr/>
          </p:nvPicPr>
          <p:blipFill>
            <a:blip r:embed="rId4"/>
            <a:stretch>
              <a:fillRect/>
            </a:stretch>
          </p:blipFill>
          <p:spPr>
            <a:xfrm>
              <a:off x="1725836" y="1444752"/>
              <a:ext cx="365760" cy="365760"/>
            </a:xfrm>
            <a:prstGeom prst="rect">
              <a:avLst/>
            </a:prstGeom>
          </p:spPr>
        </p:pic>
        <p:sp>
          <p:nvSpPr>
            <p:cNvPr id="35" name="TextBox 34"/>
            <p:cNvSpPr txBox="1"/>
            <p:nvPr/>
          </p:nvSpPr>
          <p:spPr>
            <a:xfrm>
              <a:off x="1397445" y="1810512"/>
              <a:ext cx="1022541" cy="1282217"/>
            </a:xfrm>
            <a:prstGeom prst="rect">
              <a:avLst/>
            </a:prstGeom>
            <a:noFill/>
          </p:spPr>
          <p:txBody>
            <a:bodyPr wrap="square" lIns="36576" rIns="36576" tIns="27432" bIns="27432" anchor="ctr">
              <a:noAutofit/>
            </a:bodyPr>
            <a:lstStyle/>
            <a:p>
              <a:pPr algn="ctr"/>
              <a:r>
                <a:rPr sz="1200" b="1" i="0">
                  <a:solidFill>
                    <a:srgbClr val="1A1A1A"/>
                  </a:solidFill>
                  <a:latin typeface="Arial"/>
                </a:rPr>
                <a:t>Act</a:t>
              </a:r>
            </a:p>
            <a:p>
              <a:pPr algn="ctr"/>
              <a:r>
                <a:rPr sz="1200" b="0" i="0">
                  <a:solidFill>
                    <a:srgbClr val="1A1A1A"/>
                  </a:solidFill>
                  <a:latin typeface="Arial"/>
                </a:rPr>
                <a:t>swap, smaller, walk</a:t>
              </a:r>
            </a:p>
          </p:txBody>
        </p:sp>
        <p:sp>
          <p:nvSpPr>
            <p:cNvPr id="36" name="Rounded Rectangle 35"/>
            <p:cNvSpPr/>
            <p:nvPr/>
          </p:nvSpPr>
          <p:spPr>
            <a:xfrm>
              <a:off x="2666874" y="1408176"/>
              <a:ext cx="1022541" cy="1702841"/>
            </a:xfrm>
            <a:prstGeom prst="roundRect">
              <a:avLst>
                <a:gd name="adj" fmla="val 4471"/>
              </a:avLst>
            </a:prstGeom>
            <a:solidFill>
              <a:srgbClr val="FFFFFF"/>
            </a:solidFill>
            <a:ln w="9525">
              <a:solidFill>
                <a:srgbClr val="466E9E"/>
              </a:solidFill>
              <a:prstDash val="sysDot"/>
            </a:ln>
          </p:spPr>
          <p:txBody>
            <a:bodyPr rtlCol="0" anchor="ctr"/>
            <a:lstStyle/>
            <a:p/>
          </p:txBody>
        </p:sp>
        <p:pic>
          <p:nvPicPr>
            <p:cNvPr id="37" name="Picture 36" descr="ic_fa6_FaArrowTrendDown_1A1A1A.png"/>
            <p:cNvPicPr>
              <a:picLocks noChangeAspect="1"/>
            </p:cNvPicPr>
            <p:nvPr/>
          </p:nvPicPr>
          <p:blipFill>
            <a:blip r:embed="rId5"/>
            <a:stretch>
              <a:fillRect/>
            </a:stretch>
          </p:blipFill>
          <p:spPr>
            <a:xfrm>
              <a:off x="2995265" y="1444752"/>
              <a:ext cx="365760" cy="365760"/>
            </a:xfrm>
            <a:prstGeom prst="rect">
              <a:avLst/>
            </a:prstGeom>
          </p:spPr>
        </p:pic>
        <p:sp>
          <p:nvSpPr>
            <p:cNvPr id="38" name="TextBox 37"/>
            <p:cNvSpPr txBox="1"/>
            <p:nvPr/>
          </p:nvSpPr>
          <p:spPr>
            <a:xfrm>
              <a:off x="2666874" y="1810512"/>
              <a:ext cx="1022541" cy="1282217"/>
            </a:xfrm>
            <a:prstGeom prst="rect">
              <a:avLst/>
            </a:prstGeom>
            <a:noFill/>
          </p:spPr>
          <p:txBody>
            <a:bodyPr wrap="square" lIns="36576" rIns="36576" tIns="27432" bIns="27432" anchor="ctr">
              <a:noAutofit/>
            </a:bodyPr>
            <a:lstStyle/>
            <a:p>
              <a:pPr algn="ctr"/>
              <a:r>
                <a:rPr sz="1200" b="1" i="0">
                  <a:solidFill>
                    <a:srgbClr val="1A1A1A"/>
                  </a:solidFill>
                  <a:latin typeface="Arial"/>
                </a:rPr>
                <a:t>Lower peak</a:t>
              </a:r>
            </a:p>
            <a:p>
              <a:pPr algn="ctr"/>
              <a:r>
                <a:rPr sz="1200" b="0" i="0">
                  <a:solidFill>
                    <a:srgbClr val="1A1A1A"/>
                  </a:solidFill>
                  <a:latin typeface="Arial"/>
                </a:rPr>
                <a:t>-108 mg/dL in twin</a:t>
              </a:r>
            </a:p>
          </p:txBody>
        </p:sp>
        <p:sp>
          <p:nvSpPr>
            <p:cNvPr id="39" name="Rounded Rectangle 38"/>
            <p:cNvSpPr/>
            <p:nvPr/>
          </p:nvSpPr>
          <p:spPr>
            <a:xfrm>
              <a:off x="3936304" y="1408176"/>
              <a:ext cx="1022541" cy="1702841"/>
            </a:xfrm>
            <a:prstGeom prst="roundRect">
              <a:avLst>
                <a:gd name="adj" fmla="val 4471"/>
              </a:avLst>
            </a:prstGeom>
            <a:solidFill>
              <a:srgbClr val="173D6B"/>
            </a:solidFill>
            <a:ln w="9525">
              <a:solidFill>
                <a:srgbClr val="466E9E"/>
              </a:solidFill>
            </a:ln>
          </p:spPr>
          <p:txBody>
            <a:bodyPr rtlCol="0" anchor="ctr"/>
            <a:lstStyle/>
            <a:p/>
          </p:txBody>
        </p:sp>
        <p:pic>
          <p:nvPicPr>
            <p:cNvPr id="40" name="Picture 39" descr="ic_fa6_FaHeartPulse_FFFFFF.png"/>
            <p:cNvPicPr>
              <a:picLocks noChangeAspect="1"/>
            </p:cNvPicPr>
            <p:nvPr/>
          </p:nvPicPr>
          <p:blipFill>
            <a:blip r:embed="rId6"/>
            <a:stretch>
              <a:fillRect/>
            </a:stretch>
          </p:blipFill>
          <p:spPr>
            <a:xfrm>
              <a:off x="4264694" y="1444752"/>
              <a:ext cx="365760" cy="365760"/>
            </a:xfrm>
            <a:prstGeom prst="rect">
              <a:avLst/>
            </a:prstGeom>
          </p:spPr>
        </p:pic>
        <p:sp>
          <p:nvSpPr>
            <p:cNvPr id="41" name="TextBox 40"/>
            <p:cNvSpPr txBox="1"/>
            <p:nvPr/>
          </p:nvSpPr>
          <p:spPr>
            <a:xfrm>
              <a:off x="3936304" y="1810512"/>
              <a:ext cx="1022541" cy="1282217"/>
            </a:xfrm>
            <a:prstGeom prst="rect">
              <a:avLst/>
            </a:prstGeom>
            <a:noFill/>
          </p:spPr>
          <p:txBody>
            <a:bodyPr wrap="square" lIns="36576" rIns="36576" tIns="27432" bIns="27432" anchor="ctr">
              <a:noAutofit/>
            </a:bodyPr>
            <a:lstStyle/>
            <a:p>
              <a:pPr algn="ctr"/>
              <a:r>
                <a:rPr sz="1200" b="1" i="0">
                  <a:solidFill>
                    <a:srgbClr val="FFFFFF"/>
                  </a:solidFill>
                  <a:latin typeface="Arial"/>
                </a:rPr>
                <a:t>Less exposure</a:t>
              </a:r>
            </a:p>
            <a:p>
              <a:pPr algn="ctr"/>
              <a:r>
                <a:rPr sz="1200" b="0" i="0">
                  <a:solidFill>
                    <a:srgbClr val="FFFFFF"/>
                  </a:solidFill>
                  <a:latin typeface="Arial"/>
                </a:rPr>
                <a:t>fewer min &gt; 180</a:t>
              </a:r>
            </a:p>
          </p:txBody>
        </p:sp>
        <p:cxnSp>
          <p:nvCxnSpPr>
            <p:cNvPr id="42" name="Connector 41"/>
            <p:cNvCxnSpPr>
              <a:stCxn id="30" idx="3"/>
              <a:endCxn id="33" idx="1"/>
            </p:cNvCxnSpPr>
            <p:nvPr/>
          </p:nvCxnSpPr>
          <p:spPr>
            <a:xfrm>
              <a:off x="1150557" y="2259596"/>
              <a:ext cx="246888" cy="0"/>
            </a:xfrm>
            <a:prstGeom prst="line">
              <a:avLst/>
            </a:prstGeom>
            <a:ln w="19050">
              <a:solidFill>
                <a:srgbClr val="1D4E8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a:stCxn id="33" idx="3"/>
              <a:endCxn id="36" idx="1"/>
            </p:cNvCxnSpPr>
            <p:nvPr/>
          </p:nvCxnSpPr>
          <p:spPr>
            <a:xfrm>
              <a:off x="2419986" y="2259596"/>
              <a:ext cx="246888" cy="0"/>
            </a:xfrm>
            <a:prstGeom prst="line">
              <a:avLst/>
            </a:prstGeom>
            <a:ln w="19050">
              <a:solidFill>
                <a:srgbClr val="1D4E8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a:stCxn id="36" idx="3"/>
              <a:endCxn id="39" idx="1"/>
            </p:cNvCxnSpPr>
            <p:nvPr/>
          </p:nvCxnSpPr>
          <p:spPr>
            <a:xfrm>
              <a:off x="3689415" y="2259596"/>
              <a:ext cx="246889" cy="0"/>
            </a:xfrm>
            <a:prstGeom prst="line">
              <a:avLst/>
            </a:prstGeom>
            <a:ln w="19050">
              <a:solidFill>
                <a:srgbClr val="1D4E8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128016" y="3175025"/>
              <a:ext cx="4830829" cy="1021705"/>
            </a:xfrm>
            <a:prstGeom prst="roundRect">
              <a:avLst>
                <a:gd name="adj" fmla="val 4474"/>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Less time above range is linked with lower HbA1c and fewer complications. Proving that needs a trial; this proof of concept shows </a:t>
              </a:r>
              <a:r>
                <a:rPr sz="1200" b="1" i="0">
                  <a:solidFill>
                    <a:srgbClr val="1A1A1A"/>
                  </a:solidFill>
                  <a:latin typeface="Arial"/>
                </a:rPr>
                <a:t>the warning arrives early enough to act on</a:t>
              </a:r>
              <a:r>
                <a:rPr sz="1200" b="0" i="0">
                  <a:solidFill>
                    <a:srgbClr val="1A1A1A"/>
                  </a:solidFill>
                  <a:latin typeface="Arial"/>
                </a:rPr>
                <a:t>.</a:t>
              </a:r>
            </a:p>
          </p:txBody>
        </p:sp>
      </p:grpSp>
      <p:grpSp>
        <p:nvGrpSpPr>
          <p:cNvPr id="46" name="Group 45"/>
          <p:cNvGrpSpPr/>
          <p:nvPr/>
        </p:nvGrpSpPr>
        <p:grpSpPr>
          <a:xfrm>
            <a:off x="5086861" y="1097280"/>
            <a:ext cx="3305302" cy="3154314"/>
            <a:chOff x="5086861" y="1097280"/>
            <a:chExt cx="3305302" cy="3154314"/>
          </a:xfrm>
        </p:grpSpPr>
        <p:sp>
          <p:nvSpPr>
            <p:cNvPr id="47" name="frame:Who gains"/>
            <p:cNvSpPr/>
            <p:nvPr/>
          </p:nvSpPr>
          <p:spPr>
            <a:xfrm>
              <a:off x="5086861" y="1234440"/>
              <a:ext cx="3305302" cy="3017154"/>
            </a:xfrm>
            <a:prstGeom prst="roundRect">
              <a:avLst>
                <a:gd name="adj" fmla="val 1515"/>
              </a:avLst>
            </a:prstGeom>
            <a:solidFill>
              <a:srgbClr val="F1F4F8"/>
            </a:solidFill>
            <a:ln w="15875">
              <a:solidFill>
                <a:srgbClr val="466E9E"/>
              </a:solidFill>
              <a:prstDash val="sysDot"/>
            </a:ln>
          </p:spPr>
          <p:txBody>
            <a:bodyPr rtlCol="0" anchor="ctr"/>
            <a:lstStyle/>
            <a:p/>
          </p:txBody>
        </p:sp>
        <p:sp>
          <p:nvSpPr>
            <p:cNvPr id="48" name="Rounded Rectangle 47"/>
            <p:cNvSpPr/>
            <p:nvPr/>
          </p:nvSpPr>
          <p:spPr>
            <a:xfrm>
              <a:off x="5086861" y="1097280"/>
              <a:ext cx="1282458" cy="274320"/>
            </a:xfrm>
            <a:prstGeom prst="roundRect">
              <a:avLst>
                <a:gd name="adj" fmla="val 13333"/>
              </a:avLst>
            </a:prstGeom>
            <a:solidFill>
              <a:srgbClr val="1D4E89"/>
            </a:solidFill>
            <a:ln>
              <a:noFill/>
            </a:ln>
          </p:spPr>
          <p:txBody>
            <a:bodyPr rtlCol="0" anchor="ctr"/>
            <a:lstStyle/>
            <a:p/>
          </p:txBody>
        </p:sp>
        <p:pic>
          <p:nvPicPr>
            <p:cNvPr id="49" name="Picture 48" descr="ic_fa6_FaPeopleGroup_FFFFFF.png"/>
            <p:cNvPicPr>
              <a:picLocks noChangeAspect="1"/>
            </p:cNvPicPr>
            <p:nvPr/>
          </p:nvPicPr>
          <p:blipFill>
            <a:blip r:embed="rId7"/>
            <a:stretch>
              <a:fillRect/>
            </a:stretch>
          </p:blipFill>
          <p:spPr>
            <a:xfrm>
              <a:off x="5141725" y="1133856"/>
              <a:ext cx="201168" cy="201168"/>
            </a:xfrm>
            <a:prstGeom prst="rect">
              <a:avLst/>
            </a:prstGeom>
          </p:spPr>
        </p:pic>
        <p:sp>
          <p:nvSpPr>
            <p:cNvPr id="50" name="TextBox 49"/>
            <p:cNvSpPr txBox="1"/>
            <p:nvPr/>
          </p:nvSpPr>
          <p:spPr>
            <a:xfrm>
              <a:off x="5388613" y="1097280"/>
              <a:ext cx="953274" cy="274320"/>
            </a:xfrm>
            <a:prstGeom prst="rect">
              <a:avLst/>
            </a:prstGeom>
            <a:noFill/>
          </p:spPr>
          <p:txBody>
            <a:bodyPr wrap="square" lIns="9144" rIns="9144" tIns="9144" bIns="9144" anchor="ctr">
              <a:noAutofit/>
            </a:bodyPr>
            <a:lstStyle/>
            <a:p>
              <a:pPr algn="l"/>
              <a:r>
                <a:rPr sz="1200" b="1" i="0">
                  <a:solidFill>
                    <a:srgbClr val="FFFFFF"/>
                  </a:solidFill>
                  <a:latin typeface="Arial"/>
                </a:rPr>
                <a:t>Who gains</a:t>
              </a:r>
            </a:p>
          </p:txBody>
        </p:sp>
        <p:sp>
          <p:nvSpPr>
            <p:cNvPr id="51" name="Rounded Rectangle 50"/>
            <p:cNvSpPr/>
            <p:nvPr/>
          </p:nvSpPr>
          <p:spPr>
            <a:xfrm>
              <a:off x="5141725" y="1408176"/>
              <a:ext cx="3195574" cy="1431933"/>
            </a:xfrm>
            <a:prstGeom prst="roundRect">
              <a:avLst>
                <a:gd name="adj" fmla="val 3831"/>
              </a:avLst>
            </a:prstGeom>
            <a:solidFill>
              <a:srgbClr val="F1F4F8"/>
            </a:solidFill>
            <a:ln>
              <a:noFill/>
            </a:ln>
          </p:spPr>
          <p:txBody>
            <a:bodyPr rtlCol="0" anchor="ctr"/>
            <a:lstStyle/>
            <a:p/>
          </p:txBody>
        </p:sp>
        <p:pic>
          <p:nvPicPr>
            <p:cNvPr id="52" name="Picture 51" descr="doctor.png"/>
            <p:cNvPicPr>
              <a:picLocks noChangeAspect="1"/>
            </p:cNvPicPr>
            <p:nvPr/>
          </p:nvPicPr>
          <p:blipFill>
            <a:blip r:embed="rId8"/>
            <a:stretch>
              <a:fillRect/>
            </a:stretch>
          </p:blipFill>
          <p:spPr>
            <a:xfrm>
              <a:off x="6269363" y="1453896"/>
              <a:ext cx="940297" cy="1084461"/>
            </a:xfrm>
            <a:prstGeom prst="rect">
              <a:avLst/>
            </a:prstGeom>
          </p:spPr>
        </p:pic>
        <p:sp>
          <p:nvSpPr>
            <p:cNvPr id="53" name="TextBox 52"/>
            <p:cNvSpPr txBox="1"/>
            <p:nvPr/>
          </p:nvSpPr>
          <p:spPr>
            <a:xfrm>
              <a:off x="5141725" y="2565789"/>
              <a:ext cx="3195574" cy="274320"/>
            </a:xfrm>
            <a:prstGeom prst="rect">
              <a:avLst/>
            </a:prstGeom>
            <a:noFill/>
          </p:spPr>
          <p:txBody>
            <a:bodyPr wrap="square" lIns="45720" rIns="45720" tIns="27432" bIns="27432" anchor="ctr">
              <a:noAutofit/>
            </a:bodyPr>
            <a:lstStyle/>
            <a:p>
              <a:pPr algn="ctr"/>
              <a:r>
                <a:rPr sz="1000" b="1" i="0">
                  <a:solidFill>
                    <a:srgbClr val="173D6B"/>
                  </a:solidFill>
                  <a:latin typeface="Arial"/>
                </a:rPr>
                <a:t>Doctor using the console</a:t>
              </a:r>
            </a:p>
          </p:txBody>
        </p:sp>
        <p:sp>
          <p:nvSpPr>
            <p:cNvPr id="54" name="ig:icon_card"/>
            <p:cNvSpPr/>
            <p:nvPr/>
          </p:nvSpPr>
          <p:spPr>
            <a:xfrm>
              <a:off x="5141725" y="2894973"/>
              <a:ext cx="1570355" cy="623447"/>
            </a:xfrm>
            <a:prstGeom prst="roundRect">
              <a:avLst>
                <a:gd name="adj" fmla="val 7333"/>
              </a:avLst>
            </a:prstGeom>
            <a:solidFill>
              <a:srgbClr val="FFFFFF"/>
            </a:solidFill>
            <a:ln w="9525">
              <a:solidFill>
                <a:srgbClr val="466E9E"/>
              </a:solidFill>
              <a:prstDash val="sysDot"/>
            </a:ln>
          </p:spPr>
          <p:txBody>
            <a:bodyPr rtlCol="0" anchor="ctr"/>
            <a:lstStyle/>
            <a:p/>
          </p:txBody>
        </p:sp>
        <p:pic>
          <p:nvPicPr>
            <p:cNvPr id="55" name="Picture 54" descr="ic_fa6_FaUser_1D4E89.png"/>
            <p:cNvPicPr>
              <a:picLocks noChangeAspect="1"/>
            </p:cNvPicPr>
            <p:nvPr/>
          </p:nvPicPr>
          <p:blipFill>
            <a:blip r:embed="rId9"/>
            <a:stretch>
              <a:fillRect/>
            </a:stretch>
          </p:blipFill>
          <p:spPr>
            <a:xfrm>
              <a:off x="5802213" y="2949837"/>
              <a:ext cx="249379" cy="249379"/>
            </a:xfrm>
            <a:prstGeom prst="rect">
              <a:avLst/>
            </a:prstGeom>
          </p:spPr>
        </p:pic>
        <p:sp>
          <p:nvSpPr>
            <p:cNvPr id="56" name="TextBox 55"/>
            <p:cNvSpPr txBox="1"/>
            <p:nvPr/>
          </p:nvSpPr>
          <p:spPr>
            <a:xfrm>
              <a:off x="5178301" y="3217504"/>
              <a:ext cx="1497203" cy="282628"/>
            </a:xfrm>
            <a:prstGeom prst="rect">
              <a:avLst/>
            </a:prstGeom>
            <a:noFill/>
          </p:spPr>
          <p:txBody>
            <a:bodyPr wrap="square" lIns="27432" rIns="27432" tIns="27432" bIns="27432" anchor="t">
              <a:noAutofit/>
            </a:bodyPr>
            <a:lstStyle/>
            <a:p>
              <a:pPr algn="ctr"/>
              <a:r>
                <a:rPr sz="1200" b="1" i="0">
                  <a:solidFill>
                    <a:srgbClr val="1A1A1A"/>
                  </a:solidFill>
                  <a:latin typeface="Arial"/>
                </a:rPr>
                <a:t>Patient</a:t>
              </a:r>
            </a:p>
          </p:txBody>
        </p:sp>
        <p:sp>
          <p:nvSpPr>
            <p:cNvPr id="57" name="ig:icon_card"/>
            <p:cNvSpPr/>
            <p:nvPr/>
          </p:nvSpPr>
          <p:spPr>
            <a:xfrm>
              <a:off x="6766944" y="2894973"/>
              <a:ext cx="1570355" cy="623447"/>
            </a:xfrm>
            <a:prstGeom prst="roundRect">
              <a:avLst>
                <a:gd name="adj" fmla="val 7333"/>
              </a:avLst>
            </a:prstGeom>
            <a:solidFill>
              <a:srgbClr val="FFFFFF"/>
            </a:solidFill>
            <a:ln w="9525">
              <a:solidFill>
                <a:srgbClr val="466E9E"/>
              </a:solidFill>
              <a:prstDash val="sysDot"/>
            </a:ln>
          </p:spPr>
          <p:txBody>
            <a:bodyPr rtlCol="0" anchor="ctr"/>
            <a:lstStyle/>
            <a:p/>
          </p:txBody>
        </p:sp>
        <p:pic>
          <p:nvPicPr>
            <p:cNvPr id="58" name="Picture 57" descr="ic_fa6_FaUserDoctor_1D4E89.png"/>
            <p:cNvPicPr>
              <a:picLocks noChangeAspect="1"/>
            </p:cNvPicPr>
            <p:nvPr/>
          </p:nvPicPr>
          <p:blipFill>
            <a:blip r:embed="rId10"/>
            <a:stretch>
              <a:fillRect/>
            </a:stretch>
          </p:blipFill>
          <p:spPr>
            <a:xfrm>
              <a:off x="7427432" y="2949837"/>
              <a:ext cx="249379" cy="249379"/>
            </a:xfrm>
            <a:prstGeom prst="rect">
              <a:avLst/>
            </a:prstGeom>
          </p:spPr>
        </p:pic>
        <p:sp>
          <p:nvSpPr>
            <p:cNvPr id="59" name="TextBox 58"/>
            <p:cNvSpPr txBox="1"/>
            <p:nvPr/>
          </p:nvSpPr>
          <p:spPr>
            <a:xfrm>
              <a:off x="6803520" y="3217504"/>
              <a:ext cx="1497203" cy="282628"/>
            </a:xfrm>
            <a:prstGeom prst="rect">
              <a:avLst/>
            </a:prstGeom>
            <a:noFill/>
          </p:spPr>
          <p:txBody>
            <a:bodyPr wrap="square" lIns="27432" rIns="27432" tIns="27432" bIns="27432" anchor="t">
              <a:noAutofit/>
            </a:bodyPr>
            <a:lstStyle/>
            <a:p>
              <a:pPr algn="ctr"/>
              <a:r>
                <a:rPr sz="1200" b="1" i="0">
                  <a:solidFill>
                    <a:srgbClr val="1A1A1A"/>
                  </a:solidFill>
                  <a:latin typeface="Arial"/>
                </a:rPr>
                <a:t>Doctor</a:t>
              </a:r>
            </a:p>
          </p:txBody>
        </p:sp>
        <p:sp>
          <p:nvSpPr>
            <p:cNvPr id="60" name="ig:icon_card"/>
            <p:cNvSpPr/>
            <p:nvPr/>
          </p:nvSpPr>
          <p:spPr>
            <a:xfrm>
              <a:off x="5141725" y="3573284"/>
              <a:ext cx="1570355" cy="623447"/>
            </a:xfrm>
            <a:prstGeom prst="roundRect">
              <a:avLst>
                <a:gd name="adj" fmla="val 7333"/>
              </a:avLst>
            </a:prstGeom>
            <a:solidFill>
              <a:srgbClr val="FFFFFF"/>
            </a:solidFill>
            <a:ln w="9525">
              <a:solidFill>
                <a:srgbClr val="466E9E"/>
              </a:solidFill>
              <a:prstDash val="sysDot"/>
            </a:ln>
          </p:spPr>
          <p:txBody>
            <a:bodyPr rtlCol="0" anchor="ctr"/>
            <a:lstStyle/>
            <a:p/>
          </p:txBody>
        </p:sp>
        <p:pic>
          <p:nvPicPr>
            <p:cNvPr id="61" name="Picture 60" descr="ic_fa6_FaShieldHalved_1D4E89.png"/>
            <p:cNvPicPr>
              <a:picLocks noChangeAspect="1"/>
            </p:cNvPicPr>
            <p:nvPr/>
          </p:nvPicPr>
          <p:blipFill>
            <a:blip r:embed="rId11"/>
            <a:stretch>
              <a:fillRect/>
            </a:stretch>
          </p:blipFill>
          <p:spPr>
            <a:xfrm>
              <a:off x="5802213" y="3628148"/>
              <a:ext cx="249379" cy="249379"/>
            </a:xfrm>
            <a:prstGeom prst="rect">
              <a:avLst/>
            </a:prstGeom>
          </p:spPr>
        </p:pic>
        <p:sp>
          <p:nvSpPr>
            <p:cNvPr id="62" name="TextBox 61"/>
            <p:cNvSpPr txBox="1"/>
            <p:nvPr/>
          </p:nvSpPr>
          <p:spPr>
            <a:xfrm>
              <a:off x="5178301" y="3895814"/>
              <a:ext cx="1497203" cy="282628"/>
            </a:xfrm>
            <a:prstGeom prst="rect">
              <a:avLst/>
            </a:prstGeom>
            <a:noFill/>
          </p:spPr>
          <p:txBody>
            <a:bodyPr wrap="square" lIns="27432" rIns="27432" tIns="27432" bIns="27432" anchor="t">
              <a:noAutofit/>
            </a:bodyPr>
            <a:lstStyle/>
            <a:p>
              <a:pPr algn="ctr"/>
              <a:r>
                <a:rPr sz="1200" b="1" i="0">
                  <a:solidFill>
                    <a:srgbClr val="1A1A1A"/>
                  </a:solidFill>
                  <a:latin typeface="Arial"/>
                </a:rPr>
                <a:t>Insurer</a:t>
              </a:r>
            </a:p>
          </p:txBody>
        </p:sp>
        <p:sp>
          <p:nvSpPr>
            <p:cNvPr id="63" name="ig:icon_card"/>
            <p:cNvSpPr/>
            <p:nvPr/>
          </p:nvSpPr>
          <p:spPr>
            <a:xfrm>
              <a:off x="6766944" y="3573284"/>
              <a:ext cx="1570355" cy="623447"/>
            </a:xfrm>
            <a:prstGeom prst="roundRect">
              <a:avLst>
                <a:gd name="adj" fmla="val 7333"/>
              </a:avLst>
            </a:prstGeom>
            <a:solidFill>
              <a:srgbClr val="FFFFFF"/>
            </a:solidFill>
            <a:ln w="9525">
              <a:solidFill>
                <a:srgbClr val="466E9E"/>
              </a:solidFill>
              <a:prstDash val="sysDot"/>
            </a:ln>
          </p:spPr>
          <p:txBody>
            <a:bodyPr rtlCol="0" anchor="ctr"/>
            <a:lstStyle/>
            <a:p/>
          </p:txBody>
        </p:sp>
        <p:pic>
          <p:nvPicPr>
            <p:cNvPr id="64" name="Picture 63" descr="ic_fa6_FaBuildingColumns_1D4E89.png"/>
            <p:cNvPicPr>
              <a:picLocks noChangeAspect="1"/>
            </p:cNvPicPr>
            <p:nvPr/>
          </p:nvPicPr>
          <p:blipFill>
            <a:blip r:embed="rId12"/>
            <a:stretch>
              <a:fillRect/>
            </a:stretch>
          </p:blipFill>
          <p:spPr>
            <a:xfrm>
              <a:off x="7427432" y="3628148"/>
              <a:ext cx="249379" cy="249379"/>
            </a:xfrm>
            <a:prstGeom prst="rect">
              <a:avLst/>
            </a:prstGeom>
          </p:spPr>
        </p:pic>
        <p:sp>
          <p:nvSpPr>
            <p:cNvPr id="65" name="TextBox 64"/>
            <p:cNvSpPr txBox="1"/>
            <p:nvPr/>
          </p:nvSpPr>
          <p:spPr>
            <a:xfrm>
              <a:off x="6803520" y="3895814"/>
              <a:ext cx="1497203" cy="282628"/>
            </a:xfrm>
            <a:prstGeom prst="rect">
              <a:avLst/>
            </a:prstGeom>
            <a:noFill/>
          </p:spPr>
          <p:txBody>
            <a:bodyPr wrap="square" lIns="27432" rIns="27432" tIns="27432" bIns="27432" anchor="t">
              <a:noAutofit/>
            </a:bodyPr>
            <a:lstStyle/>
            <a:p>
              <a:pPr algn="ctr"/>
              <a:r>
                <a:rPr sz="1200" b="1" i="0">
                  <a:solidFill>
                    <a:srgbClr val="1A1A1A"/>
                  </a:solidFill>
                  <a:latin typeface="Arial"/>
                </a:rPr>
                <a:t>ABDM</a:t>
              </a:r>
            </a:p>
          </p:txBody>
        </p:sp>
      </p:grpSp>
      <p:grpSp>
        <p:nvGrpSpPr>
          <p:cNvPr id="66" name="Group 65"/>
          <p:cNvGrpSpPr/>
          <p:nvPr/>
        </p:nvGrpSpPr>
        <p:grpSpPr>
          <a:xfrm>
            <a:off x="8465315" y="1097280"/>
            <a:ext cx="3653229" cy="3154314"/>
            <a:chOff x="8465315" y="1097280"/>
            <a:chExt cx="3653229" cy="3154314"/>
          </a:xfrm>
        </p:grpSpPr>
        <p:sp>
          <p:nvSpPr>
            <p:cNvPr id="67" name="frame:Value per stakeholde"/>
            <p:cNvSpPr/>
            <p:nvPr/>
          </p:nvSpPr>
          <p:spPr>
            <a:xfrm>
              <a:off x="8465315" y="1234440"/>
              <a:ext cx="3653229" cy="3017154"/>
            </a:xfrm>
            <a:prstGeom prst="roundRect">
              <a:avLst>
                <a:gd name="adj" fmla="val 1515"/>
              </a:avLst>
            </a:prstGeom>
            <a:solidFill>
              <a:srgbClr val="F1F4F8"/>
            </a:solidFill>
            <a:ln w="15875">
              <a:solidFill>
                <a:srgbClr val="466E9E"/>
              </a:solidFill>
              <a:prstDash val="sysDot"/>
            </a:ln>
          </p:spPr>
          <p:txBody>
            <a:bodyPr rtlCol="0" anchor="ctr"/>
            <a:lstStyle/>
            <a:p/>
          </p:txBody>
        </p:sp>
        <p:sp>
          <p:nvSpPr>
            <p:cNvPr id="68" name="Rounded Rectangle 67"/>
            <p:cNvSpPr/>
            <p:nvPr/>
          </p:nvSpPr>
          <p:spPr>
            <a:xfrm>
              <a:off x="8465315" y="1097280"/>
              <a:ext cx="2087539" cy="274320"/>
            </a:xfrm>
            <a:prstGeom prst="roundRect">
              <a:avLst>
                <a:gd name="adj" fmla="val 13333"/>
              </a:avLst>
            </a:prstGeom>
            <a:solidFill>
              <a:srgbClr val="1D4E89"/>
            </a:solidFill>
            <a:ln>
              <a:noFill/>
            </a:ln>
          </p:spPr>
          <p:txBody>
            <a:bodyPr rtlCol="0" anchor="ctr"/>
            <a:lstStyle/>
            <a:p/>
          </p:txBody>
        </p:sp>
        <p:pic>
          <p:nvPicPr>
            <p:cNvPr id="69" name="Picture 68" descr="ic_fa6_FaListUl_FFFFFF.png"/>
            <p:cNvPicPr>
              <a:picLocks noChangeAspect="1"/>
            </p:cNvPicPr>
            <p:nvPr/>
          </p:nvPicPr>
          <p:blipFill>
            <a:blip r:embed="rId13"/>
            <a:stretch>
              <a:fillRect/>
            </a:stretch>
          </p:blipFill>
          <p:spPr>
            <a:xfrm>
              <a:off x="8520179" y="1133856"/>
              <a:ext cx="201168" cy="201168"/>
            </a:xfrm>
            <a:prstGeom prst="rect">
              <a:avLst/>
            </a:prstGeom>
          </p:spPr>
        </p:pic>
        <p:sp>
          <p:nvSpPr>
            <p:cNvPr id="70" name="TextBox 69"/>
            <p:cNvSpPr txBox="1"/>
            <p:nvPr/>
          </p:nvSpPr>
          <p:spPr>
            <a:xfrm>
              <a:off x="8767067" y="1097280"/>
              <a:ext cx="1758355" cy="274320"/>
            </a:xfrm>
            <a:prstGeom prst="rect">
              <a:avLst/>
            </a:prstGeom>
            <a:noFill/>
          </p:spPr>
          <p:txBody>
            <a:bodyPr wrap="square" lIns="9144" rIns="9144" tIns="9144" bIns="9144" anchor="ctr">
              <a:noAutofit/>
            </a:bodyPr>
            <a:lstStyle/>
            <a:p>
              <a:pPr algn="l"/>
              <a:r>
                <a:rPr sz="1200" b="1" i="0">
                  <a:solidFill>
                    <a:srgbClr val="FFFFFF"/>
                  </a:solidFill>
                  <a:latin typeface="Arial"/>
                </a:rPr>
                <a:t>Value per stakeholder</a:t>
              </a:r>
            </a:p>
          </p:txBody>
        </p:sp>
        <p:sp>
          <p:nvSpPr>
            <p:cNvPr id="71" name="Rounded Rectangle 70"/>
            <p:cNvSpPr/>
            <p:nvPr/>
          </p:nvSpPr>
          <p:spPr>
            <a:xfrm>
              <a:off x="8520179" y="1408176"/>
              <a:ext cx="3543501" cy="228600"/>
            </a:xfrm>
            <a:prstGeom prst="roundRect">
              <a:avLst>
                <a:gd name="adj" fmla="val 20000"/>
              </a:avLst>
            </a:prstGeom>
            <a:solidFill>
              <a:srgbClr val="173D6B"/>
            </a:solidFill>
            <a:ln>
              <a:noFill/>
            </a:ln>
          </p:spPr>
          <p:txBody>
            <a:bodyPr rtlCol="0" anchor="ctr" wrap="square" lIns="54864" rIns="54864" tIns="27432" bIns="27432">
              <a:noAutofit/>
            </a:bodyPr>
            <a:lstStyle/>
            <a:p>
              <a:pPr algn="l"/>
              <a:r>
                <a:rPr sz="1100" b="1" i="0">
                  <a:solidFill>
                    <a:srgbClr val="FFFFFF"/>
                  </a:solidFill>
                  <a:latin typeface="Arial"/>
                </a:rPr>
                <a:t>Patient</a:t>
              </a:r>
            </a:p>
          </p:txBody>
        </p:sp>
        <p:sp>
          <p:nvSpPr>
            <p:cNvPr id="72" name="Rounded Rectangle 71"/>
            <p:cNvSpPr/>
            <p:nvPr/>
          </p:nvSpPr>
          <p:spPr>
            <a:xfrm>
              <a:off x="8520179" y="1636776"/>
              <a:ext cx="3543501" cy="292535"/>
            </a:xfrm>
            <a:prstGeom prst="roundRect">
              <a:avLst>
                <a:gd name="adj" fmla="val 15628"/>
              </a:avLst>
            </a:prstGeom>
            <a:solidFill>
              <a:srgbClr val="FFFFFF"/>
            </a:solidFill>
            <a:ln w="9525">
              <a:solidFill>
                <a:srgbClr val="466E9E"/>
              </a:solidFill>
              <a:prstDash val="sysDot"/>
            </a:ln>
          </p:spPr>
          <p:txBody>
            <a:bodyPr rtlCol="0" anchor="t" wrap="square" lIns="45720" rIns="45720" tIns="27432" bIns="27432">
              <a:noAutofit/>
            </a:bodyPr>
            <a:lstStyle/>
            <a:p>
              <a:pPr algn="l"/>
              <a:r>
                <a:rPr sz="1100" b="0" i="0">
                  <a:solidFill>
                    <a:srgbClr val="1A1A1A"/>
                  </a:solidFill>
                  <a:latin typeface="Arial"/>
                </a:rPr>
                <a:t>advice </a:t>
              </a:r>
              <a:r>
                <a:rPr sz="1100" b="1" i="0">
                  <a:solidFill>
                    <a:srgbClr val="1A1A1A"/>
                  </a:solidFill>
                  <a:latin typeface="Arial"/>
                </a:rPr>
                <a:t>before</a:t>
              </a:r>
              <a:r>
                <a:rPr sz="1100" b="0" i="0">
                  <a:solidFill>
                    <a:srgbClr val="1A1A1A"/>
                  </a:solidFill>
                  <a:latin typeface="Arial"/>
                </a:rPr>
                <a:t> the meal; </a:t>
              </a:r>
              <a:r>
                <a:rPr sz="1100" b="1" i="0">
                  <a:solidFill>
                    <a:srgbClr val="1A1A1A"/>
                  </a:solidFill>
                  <a:latin typeface="Arial"/>
                </a:rPr>
                <a:t>85%</a:t>
              </a:r>
              <a:r>
                <a:rPr sz="1100" b="0" i="0">
                  <a:solidFill>
                    <a:srgbClr val="1A1A1A"/>
                  </a:solidFill>
                  <a:latin typeface="Arial"/>
                </a:rPr>
                <a:t> of spikes flagged early</a:t>
              </a:r>
            </a:p>
          </p:txBody>
        </p:sp>
        <p:sp>
          <p:nvSpPr>
            <p:cNvPr id="73" name="Rounded Rectangle 72"/>
            <p:cNvSpPr/>
            <p:nvPr/>
          </p:nvSpPr>
          <p:spPr>
            <a:xfrm>
              <a:off x="8520179" y="1975031"/>
              <a:ext cx="3543501" cy="228600"/>
            </a:xfrm>
            <a:prstGeom prst="roundRect">
              <a:avLst>
                <a:gd name="adj" fmla="val 20000"/>
              </a:avLst>
            </a:prstGeom>
            <a:solidFill>
              <a:srgbClr val="173D6B"/>
            </a:solidFill>
            <a:ln>
              <a:noFill/>
            </a:ln>
          </p:spPr>
          <p:txBody>
            <a:bodyPr rtlCol="0" anchor="ctr" wrap="square" lIns="54864" rIns="54864" tIns="27432" bIns="27432">
              <a:noAutofit/>
            </a:bodyPr>
            <a:lstStyle/>
            <a:p>
              <a:pPr algn="l"/>
              <a:r>
                <a:rPr sz="1100" b="1" i="0">
                  <a:solidFill>
                    <a:srgbClr val="FFFFFF"/>
                  </a:solidFill>
                  <a:latin typeface="Arial"/>
                </a:rPr>
                <a:t>Doctor</a:t>
              </a:r>
            </a:p>
          </p:txBody>
        </p:sp>
        <p:sp>
          <p:nvSpPr>
            <p:cNvPr id="74" name="Rounded Rectangle 73"/>
            <p:cNvSpPr/>
            <p:nvPr/>
          </p:nvSpPr>
          <p:spPr>
            <a:xfrm>
              <a:off x="8520179" y="2203631"/>
              <a:ext cx="3543501" cy="292535"/>
            </a:xfrm>
            <a:prstGeom prst="roundRect">
              <a:avLst>
                <a:gd name="adj" fmla="val 15628"/>
              </a:avLst>
            </a:prstGeom>
            <a:solidFill>
              <a:srgbClr val="FFFFFF"/>
            </a:solidFill>
            <a:ln w="9525">
              <a:solidFill>
                <a:srgbClr val="466E9E"/>
              </a:solidFill>
              <a:prstDash val="sysDot"/>
            </a:ln>
          </p:spPr>
          <p:txBody>
            <a:bodyPr rtlCol="0" anchor="t" wrap="square" lIns="45720" rIns="45720" tIns="27432" bIns="27432">
              <a:noAutofit/>
            </a:bodyPr>
            <a:lstStyle/>
            <a:p>
              <a:pPr algn="l"/>
              <a:r>
                <a:rPr sz="1100" b="0" i="0">
                  <a:solidFill>
                    <a:srgbClr val="1A1A1A"/>
                  </a:solidFill>
                  <a:latin typeface="Arial"/>
                </a:rPr>
                <a:t>one screen, not </a:t>
              </a:r>
              <a:r>
                <a:rPr sz="1100" b="1" i="0">
                  <a:solidFill>
                    <a:srgbClr val="1A1A1A"/>
                  </a:solidFill>
                  <a:latin typeface="Arial"/>
                </a:rPr>
                <a:t>4,032</a:t>
              </a:r>
              <a:r>
                <a:rPr sz="1100" b="0" i="0">
                  <a:solidFill>
                    <a:srgbClr val="1A1A1A"/>
                  </a:solidFill>
                  <a:latin typeface="Arial"/>
                </a:rPr>
                <a:t> readings; weekly triage</a:t>
              </a:r>
            </a:p>
          </p:txBody>
        </p:sp>
        <p:sp>
          <p:nvSpPr>
            <p:cNvPr id="75" name="Rounded Rectangle 74"/>
            <p:cNvSpPr/>
            <p:nvPr/>
          </p:nvSpPr>
          <p:spPr>
            <a:xfrm>
              <a:off x="8520179" y="2541886"/>
              <a:ext cx="3543501" cy="228600"/>
            </a:xfrm>
            <a:prstGeom prst="roundRect">
              <a:avLst>
                <a:gd name="adj" fmla="val 20000"/>
              </a:avLst>
            </a:prstGeom>
            <a:solidFill>
              <a:srgbClr val="173D6B"/>
            </a:solidFill>
            <a:ln>
              <a:noFill/>
            </a:ln>
          </p:spPr>
          <p:txBody>
            <a:bodyPr rtlCol="0" anchor="ctr" wrap="square" lIns="54864" rIns="54864" tIns="27432" bIns="27432">
              <a:noAutofit/>
            </a:bodyPr>
            <a:lstStyle/>
            <a:p>
              <a:pPr algn="l"/>
              <a:r>
                <a:rPr sz="1100" b="1" i="0">
                  <a:solidFill>
                    <a:srgbClr val="FFFFFF"/>
                  </a:solidFill>
                  <a:latin typeface="Arial"/>
                </a:rPr>
                <a:t>Insurer</a:t>
              </a:r>
            </a:p>
          </p:txBody>
        </p:sp>
        <p:sp>
          <p:nvSpPr>
            <p:cNvPr id="76" name="Rounded Rectangle 75"/>
            <p:cNvSpPr/>
            <p:nvPr/>
          </p:nvSpPr>
          <p:spPr>
            <a:xfrm>
              <a:off x="8520179" y="2770486"/>
              <a:ext cx="3543501" cy="292535"/>
            </a:xfrm>
            <a:prstGeom prst="roundRect">
              <a:avLst>
                <a:gd name="adj" fmla="val 15628"/>
              </a:avLst>
            </a:prstGeom>
            <a:solidFill>
              <a:srgbClr val="FFFFFF"/>
            </a:solidFill>
            <a:ln w="9525">
              <a:solidFill>
                <a:srgbClr val="466E9E"/>
              </a:solidFill>
              <a:prstDash val="sysDot"/>
            </a:ln>
          </p:spPr>
          <p:txBody>
            <a:bodyPr rtlCol="0" anchor="t" wrap="square" lIns="45720" rIns="45720" tIns="27432" bIns="27432">
              <a:noAutofit/>
            </a:bodyPr>
            <a:lstStyle/>
            <a:p>
              <a:pPr algn="l"/>
              <a:r>
                <a:rPr sz="1100" b="0" i="0">
                  <a:solidFill>
                    <a:srgbClr val="1A1A1A"/>
                  </a:solidFill>
                  <a:latin typeface="Arial"/>
                </a:rPr>
                <a:t>measurable time in range for outcome-linked plans</a:t>
              </a:r>
            </a:p>
          </p:txBody>
        </p:sp>
        <p:sp>
          <p:nvSpPr>
            <p:cNvPr id="77" name="Rounded Rectangle 76"/>
            <p:cNvSpPr/>
            <p:nvPr/>
          </p:nvSpPr>
          <p:spPr>
            <a:xfrm>
              <a:off x="8520179" y="3108741"/>
              <a:ext cx="3543501" cy="228600"/>
            </a:xfrm>
            <a:prstGeom prst="roundRect">
              <a:avLst>
                <a:gd name="adj" fmla="val 20000"/>
              </a:avLst>
            </a:prstGeom>
            <a:solidFill>
              <a:srgbClr val="173D6B"/>
            </a:solidFill>
            <a:ln>
              <a:noFill/>
            </a:ln>
          </p:spPr>
          <p:txBody>
            <a:bodyPr rtlCol="0" anchor="ctr" wrap="square" lIns="54864" rIns="54864" tIns="27432" bIns="27432">
              <a:noAutofit/>
            </a:bodyPr>
            <a:lstStyle/>
            <a:p>
              <a:pPr algn="l"/>
              <a:r>
                <a:rPr sz="1100" b="1" i="0">
                  <a:solidFill>
                    <a:srgbClr val="FFFFFF"/>
                  </a:solidFill>
                  <a:latin typeface="Arial"/>
                </a:rPr>
                <a:t>ABDM</a:t>
              </a:r>
            </a:p>
          </p:txBody>
        </p:sp>
        <p:sp>
          <p:nvSpPr>
            <p:cNvPr id="78" name="Rounded Rectangle 77"/>
            <p:cNvSpPr/>
            <p:nvPr/>
          </p:nvSpPr>
          <p:spPr>
            <a:xfrm>
              <a:off x="8520179" y="3337341"/>
              <a:ext cx="3543501" cy="292535"/>
            </a:xfrm>
            <a:prstGeom prst="roundRect">
              <a:avLst>
                <a:gd name="adj" fmla="val 15628"/>
              </a:avLst>
            </a:prstGeom>
            <a:solidFill>
              <a:srgbClr val="FFFFFF"/>
            </a:solidFill>
            <a:ln w="9525">
              <a:solidFill>
                <a:srgbClr val="466E9E"/>
              </a:solidFill>
              <a:prstDash val="sysDot"/>
            </a:ln>
          </p:spPr>
          <p:txBody>
            <a:bodyPr rtlCol="0" anchor="t" wrap="square" lIns="45720" rIns="45720" tIns="27432" bIns="27432">
              <a:noAutofit/>
            </a:bodyPr>
            <a:lstStyle/>
            <a:p>
              <a:pPr algn="l"/>
              <a:r>
                <a:rPr sz="1100" b="0" i="0">
                  <a:solidFill>
                    <a:srgbClr val="1A1A1A"/>
                  </a:solidFill>
                  <a:latin typeface="Arial"/>
                </a:rPr>
                <a:t>FHIR R4 in and out; fits health lockers</a:t>
              </a:r>
            </a:p>
          </p:txBody>
        </p:sp>
        <p:sp>
          <p:nvSpPr>
            <p:cNvPr id="79" name="Rounded Rectangle 78"/>
            <p:cNvSpPr/>
            <p:nvPr/>
          </p:nvSpPr>
          <p:spPr>
            <a:xfrm>
              <a:off x="8520179" y="3675595"/>
              <a:ext cx="3543501" cy="228600"/>
            </a:xfrm>
            <a:prstGeom prst="roundRect">
              <a:avLst>
                <a:gd name="adj" fmla="val 20000"/>
              </a:avLst>
            </a:prstGeom>
            <a:solidFill>
              <a:srgbClr val="173D6B"/>
            </a:solidFill>
            <a:ln>
              <a:noFill/>
            </a:ln>
          </p:spPr>
          <p:txBody>
            <a:bodyPr rtlCol="0" anchor="ctr" wrap="square" lIns="54864" rIns="54864" tIns="27432" bIns="27432">
              <a:noAutofit/>
            </a:bodyPr>
            <a:lstStyle/>
            <a:p>
              <a:pPr algn="l"/>
              <a:r>
                <a:rPr sz="1100" b="1" i="0">
                  <a:solidFill>
                    <a:srgbClr val="FFFFFF"/>
                  </a:solidFill>
                  <a:latin typeface="Arial"/>
                </a:rPr>
                <a:t>Public health</a:t>
              </a:r>
            </a:p>
          </p:txBody>
        </p:sp>
        <p:sp>
          <p:nvSpPr>
            <p:cNvPr id="80" name="Rounded Rectangle 79"/>
            <p:cNvSpPr/>
            <p:nvPr/>
          </p:nvSpPr>
          <p:spPr>
            <a:xfrm>
              <a:off x="8520179" y="3904195"/>
              <a:ext cx="3543501" cy="292535"/>
            </a:xfrm>
            <a:prstGeom prst="roundRect">
              <a:avLst>
                <a:gd name="adj" fmla="val 15628"/>
              </a:avLst>
            </a:prstGeom>
            <a:solidFill>
              <a:srgbClr val="FFFFFF"/>
            </a:solidFill>
            <a:ln w="9525">
              <a:solidFill>
                <a:srgbClr val="466E9E"/>
              </a:solidFill>
              <a:prstDash val="sysDot"/>
            </a:ln>
          </p:spPr>
          <p:txBody>
            <a:bodyPr rtlCol="0" anchor="t" wrap="square" lIns="45720" rIns="45720" tIns="27432" bIns="27432">
              <a:noAutofit/>
            </a:bodyPr>
            <a:lstStyle/>
            <a:p>
              <a:pPr algn="l"/>
              <a:r>
                <a:rPr sz="1100" b="0" i="0">
                  <a:solidFill>
                    <a:srgbClr val="1A1A1A"/>
                  </a:solidFill>
                  <a:latin typeface="Arial"/>
                </a:rPr>
                <a:t>anonymised spike patterns by region and diet</a:t>
              </a:r>
            </a:p>
          </p:txBody>
        </p:sp>
      </p:grpSp>
      <p:grpSp>
        <p:nvGrpSpPr>
          <p:cNvPr id="81" name="Group 80"/>
          <p:cNvGrpSpPr/>
          <p:nvPr/>
        </p:nvGrpSpPr>
        <p:grpSpPr>
          <a:xfrm>
            <a:off x="73152" y="4324746"/>
            <a:ext cx="4824634" cy="2478390"/>
            <a:chOff x="73152" y="4324746"/>
            <a:chExt cx="4824634" cy="2478390"/>
          </a:xfrm>
        </p:grpSpPr>
        <p:sp>
          <p:nvSpPr>
            <p:cNvPr id="82" name="frame:Responsible AI built"/>
            <p:cNvSpPr/>
            <p:nvPr/>
          </p:nvSpPr>
          <p:spPr>
            <a:xfrm>
              <a:off x="73152" y="4461906"/>
              <a:ext cx="4824634" cy="2341230"/>
            </a:xfrm>
            <a:prstGeom prst="roundRect">
              <a:avLst>
                <a:gd name="adj" fmla="val 1952"/>
              </a:avLst>
            </a:prstGeom>
            <a:solidFill>
              <a:srgbClr val="F1F4F8"/>
            </a:solidFill>
            <a:ln w="15875">
              <a:solidFill>
                <a:srgbClr val="466E9E"/>
              </a:solidFill>
              <a:prstDash val="sysDot"/>
            </a:ln>
          </p:spPr>
          <p:txBody>
            <a:bodyPr rtlCol="0" anchor="ctr"/>
            <a:lstStyle/>
            <a:p/>
          </p:txBody>
        </p:sp>
        <p:sp>
          <p:nvSpPr>
            <p:cNvPr id="83" name="Rounded Rectangle 82"/>
            <p:cNvSpPr/>
            <p:nvPr/>
          </p:nvSpPr>
          <p:spPr>
            <a:xfrm>
              <a:off x="73152" y="4324746"/>
              <a:ext cx="2149015" cy="274320"/>
            </a:xfrm>
            <a:prstGeom prst="roundRect">
              <a:avLst>
                <a:gd name="adj" fmla="val 13333"/>
              </a:avLst>
            </a:prstGeom>
            <a:solidFill>
              <a:srgbClr val="1D4E89"/>
            </a:solidFill>
            <a:ln>
              <a:noFill/>
            </a:ln>
          </p:spPr>
          <p:txBody>
            <a:bodyPr rtlCol="0" anchor="ctr"/>
            <a:lstStyle/>
            <a:p/>
          </p:txBody>
        </p:sp>
        <p:pic>
          <p:nvPicPr>
            <p:cNvPr id="84" name="Picture 83" descr="ic_fa6_FaShieldHalved_FFFFFF.png"/>
            <p:cNvPicPr>
              <a:picLocks noChangeAspect="1"/>
            </p:cNvPicPr>
            <p:nvPr/>
          </p:nvPicPr>
          <p:blipFill>
            <a:blip r:embed="rId14"/>
            <a:stretch>
              <a:fillRect/>
            </a:stretch>
          </p:blipFill>
          <p:spPr>
            <a:xfrm>
              <a:off x="128016" y="4361322"/>
              <a:ext cx="201168" cy="201168"/>
            </a:xfrm>
            <a:prstGeom prst="rect">
              <a:avLst/>
            </a:prstGeom>
          </p:spPr>
        </p:pic>
        <p:sp>
          <p:nvSpPr>
            <p:cNvPr id="85" name="TextBox 84"/>
            <p:cNvSpPr txBox="1"/>
            <p:nvPr/>
          </p:nvSpPr>
          <p:spPr>
            <a:xfrm>
              <a:off x="374904" y="4324746"/>
              <a:ext cx="1819831" cy="274320"/>
            </a:xfrm>
            <a:prstGeom prst="rect">
              <a:avLst/>
            </a:prstGeom>
            <a:noFill/>
          </p:spPr>
          <p:txBody>
            <a:bodyPr wrap="square" lIns="9144" rIns="9144" tIns="9144" bIns="9144" anchor="ctr">
              <a:noAutofit/>
            </a:bodyPr>
            <a:lstStyle/>
            <a:p>
              <a:pPr algn="l"/>
              <a:r>
                <a:rPr sz="1200" b="1" i="0">
                  <a:solidFill>
                    <a:srgbClr val="FFFFFF"/>
                  </a:solidFill>
                  <a:latin typeface="Arial"/>
                </a:rPr>
                <a:t>Responsible AI built in</a:t>
              </a:r>
            </a:p>
          </p:txBody>
        </p:sp>
        <p:sp>
          <p:nvSpPr>
            <p:cNvPr id="86" name="ig:icon_card"/>
            <p:cNvSpPr/>
            <p:nvPr/>
          </p:nvSpPr>
          <p:spPr>
            <a:xfrm>
              <a:off x="128016" y="4635642"/>
              <a:ext cx="1535059" cy="2112630"/>
            </a:xfrm>
            <a:prstGeom prst="roundRect">
              <a:avLst>
                <a:gd name="adj" fmla="val 2978"/>
              </a:avLst>
            </a:prstGeom>
            <a:solidFill>
              <a:srgbClr val="FFFFFF"/>
            </a:solidFill>
            <a:ln w="9525">
              <a:solidFill>
                <a:srgbClr val="466E9E"/>
              </a:solidFill>
              <a:prstDash val="sysDot"/>
            </a:ln>
          </p:spPr>
          <p:txBody>
            <a:bodyPr rtlCol="0" anchor="ctr"/>
            <a:lstStyle/>
            <a:p/>
          </p:txBody>
        </p:sp>
        <p:pic>
          <p:nvPicPr>
            <p:cNvPr id="87" name="Picture 86" descr="ic_fa6_FaUserShield_1D4E89.png"/>
            <p:cNvPicPr>
              <a:picLocks noChangeAspect="1"/>
            </p:cNvPicPr>
            <p:nvPr/>
          </p:nvPicPr>
          <p:blipFill>
            <a:blip r:embed="rId15"/>
            <a:stretch>
              <a:fillRect/>
            </a:stretch>
          </p:blipFill>
          <p:spPr>
            <a:xfrm>
              <a:off x="621226" y="4690506"/>
              <a:ext cx="548640" cy="548640"/>
            </a:xfrm>
            <a:prstGeom prst="rect">
              <a:avLst/>
            </a:prstGeom>
          </p:spPr>
        </p:pic>
        <p:sp>
          <p:nvSpPr>
            <p:cNvPr id="88" name="TextBox 87"/>
            <p:cNvSpPr txBox="1"/>
            <p:nvPr/>
          </p:nvSpPr>
          <p:spPr>
            <a:xfrm>
              <a:off x="164592" y="5257434"/>
              <a:ext cx="1461907" cy="1472550"/>
            </a:xfrm>
            <a:prstGeom prst="rect">
              <a:avLst/>
            </a:prstGeom>
            <a:noFill/>
          </p:spPr>
          <p:txBody>
            <a:bodyPr wrap="square" lIns="27432" rIns="27432" tIns="27432" bIns="27432" anchor="t">
              <a:noAutofit/>
            </a:bodyPr>
            <a:lstStyle/>
            <a:p>
              <a:pPr algn="ctr"/>
              <a:r>
                <a:rPr sz="1200" b="1" i="0">
                  <a:solidFill>
                    <a:srgbClr val="1A1A1A"/>
                  </a:solidFill>
                  <a:latin typeface="Arial"/>
                </a:rPr>
                <a:t>Privacy</a:t>
              </a:r>
            </a:p>
            <a:p>
              <a:pPr algn="ctr"/>
              <a:r>
                <a:rPr sz="1200" b="0" i="0">
                  <a:solidFill>
                    <a:srgbClr val="1A1A1A"/>
                  </a:solidFill>
                  <a:latin typeface="Arial"/>
                </a:rPr>
                <a:t>synthetic data only; real use needs DPDP Act consent, encryption, minimisation</a:t>
              </a:r>
            </a:p>
          </p:txBody>
        </p:sp>
        <p:sp>
          <p:nvSpPr>
            <p:cNvPr id="89" name="ig:icon_card"/>
            <p:cNvSpPr/>
            <p:nvPr/>
          </p:nvSpPr>
          <p:spPr>
            <a:xfrm>
              <a:off x="1717939" y="4635642"/>
              <a:ext cx="1535059" cy="2112630"/>
            </a:xfrm>
            <a:prstGeom prst="roundRect">
              <a:avLst>
                <a:gd name="adj" fmla="val 2978"/>
              </a:avLst>
            </a:prstGeom>
            <a:solidFill>
              <a:srgbClr val="FFFFFF"/>
            </a:solidFill>
            <a:ln w="9525">
              <a:solidFill>
                <a:srgbClr val="466E9E"/>
              </a:solidFill>
              <a:prstDash val="sysDot"/>
            </a:ln>
          </p:spPr>
          <p:txBody>
            <a:bodyPr rtlCol="0" anchor="ctr"/>
            <a:lstStyle/>
            <a:p/>
          </p:txBody>
        </p:sp>
        <p:pic>
          <p:nvPicPr>
            <p:cNvPr id="90" name="Picture 89" descr="ic_fa6_FaScaleBalanced_1D4E89.png"/>
            <p:cNvPicPr>
              <a:picLocks noChangeAspect="1"/>
            </p:cNvPicPr>
            <p:nvPr/>
          </p:nvPicPr>
          <p:blipFill>
            <a:blip r:embed="rId16"/>
            <a:stretch>
              <a:fillRect/>
            </a:stretch>
          </p:blipFill>
          <p:spPr>
            <a:xfrm>
              <a:off x="2211149" y="4690506"/>
              <a:ext cx="548640" cy="548640"/>
            </a:xfrm>
            <a:prstGeom prst="rect">
              <a:avLst/>
            </a:prstGeom>
          </p:spPr>
        </p:pic>
        <p:sp>
          <p:nvSpPr>
            <p:cNvPr id="91" name="TextBox 90"/>
            <p:cNvSpPr txBox="1"/>
            <p:nvPr/>
          </p:nvSpPr>
          <p:spPr>
            <a:xfrm>
              <a:off x="1754515" y="5257434"/>
              <a:ext cx="1461907" cy="1472550"/>
            </a:xfrm>
            <a:prstGeom prst="rect">
              <a:avLst/>
            </a:prstGeom>
            <a:noFill/>
          </p:spPr>
          <p:txBody>
            <a:bodyPr wrap="square" lIns="27432" rIns="27432" tIns="27432" bIns="27432" anchor="t">
              <a:noAutofit/>
            </a:bodyPr>
            <a:lstStyle/>
            <a:p>
              <a:pPr algn="ctr"/>
              <a:r>
                <a:rPr sz="1200" b="1" i="0">
                  <a:solidFill>
                    <a:srgbClr val="1A1A1A"/>
                  </a:solidFill>
                  <a:latin typeface="Arial"/>
                </a:rPr>
                <a:t>Fairness</a:t>
              </a:r>
            </a:p>
            <a:p>
              <a:pPr algn="ctr"/>
              <a:r>
                <a:rPr sz="1200" b="0" i="0">
                  <a:solidFill>
                    <a:srgbClr val="1A1A1A"/>
                  </a:solidFill>
                  <a:latin typeface="Arial"/>
                </a:rPr>
                <a:t>AUROC </a:t>
              </a:r>
              <a:r>
                <a:rPr sz="1200" b="1" i="0">
                  <a:solidFill>
                    <a:srgbClr val="1A1A1A"/>
                  </a:solidFill>
                  <a:latin typeface="Arial"/>
                </a:rPr>
                <a:t>0.957 to 0.974</a:t>
              </a:r>
              <a:r>
                <a:rPr sz="1200" b="0" i="0">
                  <a:solidFill>
                    <a:srgbClr val="1A1A1A"/>
                  </a:solidFill>
                  <a:latin typeface="Arial"/>
                </a:rPr>
                <a:t> across sex, region and diagnosis</a:t>
              </a:r>
            </a:p>
          </p:txBody>
        </p:sp>
        <p:sp>
          <p:nvSpPr>
            <p:cNvPr id="92" name="ig:icon_card"/>
            <p:cNvSpPr/>
            <p:nvPr/>
          </p:nvSpPr>
          <p:spPr>
            <a:xfrm>
              <a:off x="3307862" y="4635642"/>
              <a:ext cx="1535059" cy="2112630"/>
            </a:xfrm>
            <a:prstGeom prst="roundRect">
              <a:avLst>
                <a:gd name="adj" fmla="val 2978"/>
              </a:avLst>
            </a:prstGeom>
            <a:solidFill>
              <a:srgbClr val="FFFFFF"/>
            </a:solidFill>
            <a:ln w="9525">
              <a:solidFill>
                <a:srgbClr val="466E9E"/>
              </a:solidFill>
              <a:prstDash val="sysDot"/>
            </a:ln>
          </p:spPr>
          <p:txBody>
            <a:bodyPr rtlCol="0" anchor="ctr"/>
            <a:lstStyle/>
            <a:p/>
          </p:txBody>
        </p:sp>
        <p:pic>
          <p:nvPicPr>
            <p:cNvPr id="93" name="Picture 92" descr="ic_fa6_FaHandHoldingMedical_1D4E89.png"/>
            <p:cNvPicPr>
              <a:picLocks noChangeAspect="1"/>
            </p:cNvPicPr>
            <p:nvPr/>
          </p:nvPicPr>
          <p:blipFill>
            <a:blip r:embed="rId17"/>
            <a:stretch>
              <a:fillRect/>
            </a:stretch>
          </p:blipFill>
          <p:spPr>
            <a:xfrm>
              <a:off x="3801072" y="4690506"/>
              <a:ext cx="548640" cy="548640"/>
            </a:xfrm>
            <a:prstGeom prst="rect">
              <a:avLst/>
            </a:prstGeom>
          </p:spPr>
        </p:pic>
        <p:sp>
          <p:nvSpPr>
            <p:cNvPr id="94" name="TextBox 93"/>
            <p:cNvSpPr txBox="1"/>
            <p:nvPr/>
          </p:nvSpPr>
          <p:spPr>
            <a:xfrm>
              <a:off x="3344438" y="5257434"/>
              <a:ext cx="1461907" cy="1472550"/>
            </a:xfrm>
            <a:prstGeom prst="rect">
              <a:avLst/>
            </a:prstGeom>
            <a:noFill/>
          </p:spPr>
          <p:txBody>
            <a:bodyPr wrap="square" lIns="27432" rIns="27432" tIns="27432" bIns="27432" anchor="t">
              <a:noAutofit/>
            </a:bodyPr>
            <a:lstStyle/>
            <a:p>
              <a:pPr algn="ctr"/>
              <a:r>
                <a:rPr sz="1200" b="1" i="0">
                  <a:solidFill>
                    <a:srgbClr val="1A1A1A"/>
                  </a:solidFill>
                  <a:latin typeface="Arial"/>
                </a:rPr>
                <a:t>Human in loop</a:t>
              </a:r>
            </a:p>
            <a:p>
              <a:pPr algn="ctr"/>
              <a:r>
                <a:rPr sz="1200" b="0" i="0">
                  <a:solidFill>
                    <a:srgbClr val="1A1A1A"/>
                  </a:solidFill>
                  <a:latin typeface="Arial"/>
                </a:rPr>
                <a:t>doctor approves every nudge; SHAP shown with each alert</a:t>
              </a:r>
            </a:p>
          </p:txBody>
        </p:sp>
      </p:grpSp>
      <p:grpSp>
        <p:nvGrpSpPr>
          <p:cNvPr id="95" name="Group 94"/>
          <p:cNvGrpSpPr/>
          <p:nvPr/>
        </p:nvGrpSpPr>
        <p:grpSpPr>
          <a:xfrm>
            <a:off x="4970938" y="4324746"/>
            <a:ext cx="7147605" cy="2478390"/>
            <a:chOff x="4970938" y="4324746"/>
            <a:chExt cx="7147605" cy="2478390"/>
          </a:xfrm>
        </p:grpSpPr>
        <p:sp>
          <p:nvSpPr>
            <p:cNvPr id="96" name="frame:Limitations we state"/>
            <p:cNvSpPr/>
            <p:nvPr/>
          </p:nvSpPr>
          <p:spPr>
            <a:xfrm>
              <a:off x="4970938" y="4461906"/>
              <a:ext cx="7147605" cy="2341230"/>
            </a:xfrm>
            <a:prstGeom prst="roundRect">
              <a:avLst>
                <a:gd name="adj" fmla="val 1952"/>
              </a:avLst>
            </a:prstGeom>
            <a:solidFill>
              <a:srgbClr val="E2E8F0"/>
            </a:solidFill>
            <a:ln w="15875">
              <a:solidFill>
                <a:srgbClr val="466E9E"/>
              </a:solidFill>
              <a:prstDash val="sysDot"/>
            </a:ln>
          </p:spPr>
          <p:txBody>
            <a:bodyPr rtlCol="0" anchor="ctr"/>
            <a:lstStyle/>
            <a:p/>
          </p:txBody>
        </p:sp>
        <p:sp>
          <p:nvSpPr>
            <p:cNvPr id="97" name="Rounded Rectangle 96"/>
            <p:cNvSpPr/>
            <p:nvPr/>
          </p:nvSpPr>
          <p:spPr>
            <a:xfrm>
              <a:off x="4970938" y="4324746"/>
              <a:ext cx="2502134" cy="274320"/>
            </a:xfrm>
            <a:prstGeom prst="roundRect">
              <a:avLst>
                <a:gd name="adj" fmla="val 13333"/>
              </a:avLst>
            </a:prstGeom>
            <a:solidFill>
              <a:srgbClr val="1D4E89"/>
            </a:solidFill>
            <a:ln>
              <a:noFill/>
            </a:ln>
          </p:spPr>
          <p:txBody>
            <a:bodyPr rtlCol="0" anchor="ctr"/>
            <a:lstStyle/>
            <a:p/>
          </p:txBody>
        </p:sp>
        <p:pic>
          <p:nvPicPr>
            <p:cNvPr id="98" name="Picture 97" descr="ic_fa6_FaTriangleExclamation_FFFFFF.png"/>
            <p:cNvPicPr>
              <a:picLocks noChangeAspect="1"/>
            </p:cNvPicPr>
            <p:nvPr/>
          </p:nvPicPr>
          <p:blipFill>
            <a:blip r:embed="rId18"/>
            <a:stretch>
              <a:fillRect/>
            </a:stretch>
          </p:blipFill>
          <p:spPr>
            <a:xfrm>
              <a:off x="5025802" y="4361322"/>
              <a:ext cx="201168" cy="201168"/>
            </a:xfrm>
            <a:prstGeom prst="rect">
              <a:avLst/>
            </a:prstGeom>
          </p:spPr>
        </p:pic>
        <p:sp>
          <p:nvSpPr>
            <p:cNvPr id="99" name="TextBox 98"/>
            <p:cNvSpPr txBox="1"/>
            <p:nvPr/>
          </p:nvSpPr>
          <p:spPr>
            <a:xfrm>
              <a:off x="5272690" y="4324746"/>
              <a:ext cx="2172950" cy="274320"/>
            </a:xfrm>
            <a:prstGeom prst="rect">
              <a:avLst/>
            </a:prstGeom>
            <a:noFill/>
          </p:spPr>
          <p:txBody>
            <a:bodyPr wrap="square" lIns="9144" rIns="9144" tIns="9144" bIns="9144" anchor="ctr">
              <a:noAutofit/>
            </a:bodyPr>
            <a:lstStyle/>
            <a:p>
              <a:pPr algn="l"/>
              <a:r>
                <a:rPr sz="1200" b="1" i="0">
                  <a:solidFill>
                    <a:srgbClr val="FFFFFF"/>
                  </a:solidFill>
                  <a:latin typeface="Arial"/>
                </a:rPr>
                <a:t>Limitations we state openly</a:t>
              </a:r>
            </a:p>
          </p:txBody>
        </p:sp>
        <p:sp>
          <p:nvSpPr>
            <p:cNvPr id="100" name="Rounded Rectangle 99"/>
            <p:cNvSpPr/>
            <p:nvPr/>
          </p:nvSpPr>
          <p:spPr>
            <a:xfrm>
              <a:off x="5025802" y="4635642"/>
              <a:ext cx="2309383" cy="228600"/>
            </a:xfrm>
            <a:prstGeom prst="roundRect">
              <a:avLst>
                <a:gd name="adj" fmla="val 20000"/>
              </a:avLst>
            </a:prstGeom>
            <a:solidFill>
              <a:srgbClr val="173D6B"/>
            </a:solidFill>
            <a:ln>
              <a:noFill/>
            </a:ln>
          </p:spPr>
          <p:txBody>
            <a:bodyPr rtlCol="0" anchor="ctr" wrap="square" lIns="54864" rIns="54864" tIns="27432" bIns="27432">
              <a:noAutofit/>
            </a:bodyPr>
            <a:lstStyle/>
            <a:p>
              <a:pPr algn="l"/>
              <a:r>
                <a:rPr sz="1100" b="1" i="0">
                  <a:solidFill>
                    <a:srgbClr val="FFFFFF"/>
                  </a:solidFill>
                  <a:latin typeface="Arial"/>
                </a:rPr>
                <a:t>Synthetic data</a:t>
              </a:r>
            </a:p>
          </p:txBody>
        </p:sp>
        <p:sp>
          <p:nvSpPr>
            <p:cNvPr id="101" name="Rounded Rectangle 100"/>
            <p:cNvSpPr/>
            <p:nvPr/>
          </p:nvSpPr>
          <p:spPr>
            <a:xfrm>
              <a:off x="5025802" y="4864242"/>
              <a:ext cx="2309383" cy="795711"/>
            </a:xfrm>
            <a:prstGeom prst="roundRect">
              <a:avLst>
                <a:gd name="adj" fmla="val 5745"/>
              </a:avLst>
            </a:prstGeom>
            <a:solidFill>
              <a:srgbClr val="FFFFFF"/>
            </a:solidFill>
            <a:ln w="9525">
              <a:solidFill>
                <a:srgbClr val="466E9E"/>
              </a:solidFill>
              <a:prstDash val="sysDot"/>
            </a:ln>
          </p:spPr>
          <p:txBody>
            <a:bodyPr rtlCol="0" anchor="t" wrap="square" lIns="45720" rIns="45720" tIns="27432" bIns="27432">
              <a:noAutofit/>
            </a:bodyPr>
            <a:lstStyle/>
            <a:p>
              <a:pPr algn="l"/>
              <a:r>
                <a:rPr sz="1100" b="0" i="0">
                  <a:solidFill>
                    <a:srgbClr val="1A1A1A"/>
                  </a:solidFill>
                  <a:latin typeface="Arial"/>
                </a:rPr>
                <a:t>simulator and twin share a model family, so real-world accuracy will be lower</a:t>
              </a:r>
            </a:p>
          </p:txBody>
        </p:sp>
        <p:sp>
          <p:nvSpPr>
            <p:cNvPr id="102" name="Rounded Rectangle 101"/>
            <p:cNvSpPr/>
            <p:nvPr/>
          </p:nvSpPr>
          <p:spPr>
            <a:xfrm>
              <a:off x="7390049" y="4635642"/>
              <a:ext cx="2309383" cy="228600"/>
            </a:xfrm>
            <a:prstGeom prst="roundRect">
              <a:avLst>
                <a:gd name="adj" fmla="val 20000"/>
              </a:avLst>
            </a:prstGeom>
            <a:solidFill>
              <a:srgbClr val="173D6B"/>
            </a:solidFill>
            <a:ln>
              <a:noFill/>
            </a:ln>
          </p:spPr>
          <p:txBody>
            <a:bodyPr rtlCol="0" anchor="ctr" wrap="square" lIns="54864" rIns="54864" tIns="27432" bIns="27432">
              <a:noAutofit/>
            </a:bodyPr>
            <a:lstStyle/>
            <a:p>
              <a:pPr algn="l"/>
              <a:r>
                <a:rPr sz="1100" b="1" i="0">
                  <a:solidFill>
                    <a:srgbClr val="FFFFFF"/>
                  </a:solidFill>
                  <a:latin typeface="Arial"/>
                </a:rPr>
                <a:t>Routine</a:t>
              </a:r>
            </a:p>
          </p:txBody>
        </p:sp>
        <p:sp>
          <p:nvSpPr>
            <p:cNvPr id="103" name="Rounded Rectangle 102"/>
            <p:cNvSpPr/>
            <p:nvPr/>
          </p:nvSpPr>
          <p:spPr>
            <a:xfrm>
              <a:off x="7390049" y="4864242"/>
              <a:ext cx="2309383" cy="795711"/>
            </a:xfrm>
            <a:prstGeom prst="roundRect">
              <a:avLst>
                <a:gd name="adj" fmla="val 5745"/>
              </a:avLst>
            </a:prstGeom>
            <a:solidFill>
              <a:srgbClr val="FFFFFF"/>
            </a:solidFill>
            <a:ln w="9525">
              <a:solidFill>
                <a:srgbClr val="466E9E"/>
              </a:solidFill>
              <a:prstDash val="sysDot"/>
            </a:ln>
          </p:spPr>
          <p:txBody>
            <a:bodyPr rtlCol="0" anchor="t" wrap="square" lIns="45720" rIns="45720" tIns="27432" bIns="27432">
              <a:noAutofit/>
            </a:bodyPr>
            <a:lstStyle/>
            <a:p>
              <a:pPr algn="l"/>
              <a:r>
                <a:rPr sz="1100" b="0" i="0">
                  <a:solidFill>
                    <a:srgbClr val="1A1A1A"/>
                  </a:solidFill>
                  <a:latin typeface="Arial"/>
                </a:rPr>
                <a:t>needs a stable week 1; shift workers, travel and fasting days are harder</a:t>
              </a:r>
            </a:p>
          </p:txBody>
        </p:sp>
        <p:sp>
          <p:nvSpPr>
            <p:cNvPr id="104" name="Rounded Rectangle 103"/>
            <p:cNvSpPr/>
            <p:nvPr/>
          </p:nvSpPr>
          <p:spPr>
            <a:xfrm>
              <a:off x="9754296" y="4635642"/>
              <a:ext cx="2309383" cy="228600"/>
            </a:xfrm>
            <a:prstGeom prst="roundRect">
              <a:avLst>
                <a:gd name="adj" fmla="val 20000"/>
              </a:avLst>
            </a:prstGeom>
            <a:solidFill>
              <a:srgbClr val="173D6B"/>
            </a:solidFill>
            <a:ln>
              <a:noFill/>
            </a:ln>
          </p:spPr>
          <p:txBody>
            <a:bodyPr rtlCol="0" anchor="ctr" wrap="square" lIns="54864" rIns="54864" tIns="27432" bIns="27432">
              <a:noAutofit/>
            </a:bodyPr>
            <a:lstStyle/>
            <a:p>
              <a:pPr algn="l"/>
              <a:r>
                <a:rPr sz="1100" b="1" i="0">
                  <a:solidFill>
                    <a:srgbClr val="FFFFFF"/>
                  </a:solidFill>
                  <a:latin typeface="Arial"/>
                </a:rPr>
                <a:t>Meal logging</a:t>
              </a:r>
            </a:p>
          </p:txBody>
        </p:sp>
        <p:sp>
          <p:nvSpPr>
            <p:cNvPr id="105" name="Rounded Rectangle 104"/>
            <p:cNvSpPr/>
            <p:nvPr/>
          </p:nvSpPr>
          <p:spPr>
            <a:xfrm>
              <a:off x="9754296" y="4864242"/>
              <a:ext cx="2309383" cy="795711"/>
            </a:xfrm>
            <a:prstGeom prst="roundRect">
              <a:avLst>
                <a:gd name="adj" fmla="val 5745"/>
              </a:avLst>
            </a:prstGeom>
            <a:solidFill>
              <a:srgbClr val="FFFFFF"/>
            </a:solidFill>
            <a:ln w="9525">
              <a:solidFill>
                <a:srgbClr val="466E9E"/>
              </a:solidFill>
              <a:prstDash val="sysDot"/>
            </a:ln>
          </p:spPr>
          <p:txBody>
            <a:bodyPr rtlCol="0" anchor="t" wrap="square" lIns="45720" rIns="45720" tIns="27432" bIns="27432">
              <a:noAutofit/>
            </a:bodyPr>
            <a:lstStyle/>
            <a:p>
              <a:pPr algn="l"/>
              <a:r>
                <a:rPr sz="1100" b="0" i="0">
                  <a:solidFill>
                    <a:srgbClr val="1A1A1A"/>
                  </a:solidFill>
                  <a:latin typeface="Arial"/>
                </a:rPr>
                <a:t>imperfect in real life; we already simulate </a:t>
              </a:r>
              <a:r>
                <a:rPr sz="1100" b="1" i="0">
                  <a:solidFill>
                    <a:srgbClr val="1A1A1A"/>
                  </a:solidFill>
                  <a:latin typeface="Arial"/>
                </a:rPr>
                <a:t>20%</a:t>
              </a:r>
              <a:r>
                <a:rPr sz="1100" b="0" i="0">
                  <a:solidFill>
                    <a:srgbClr val="1A1A1A"/>
                  </a:solidFill>
                  <a:latin typeface="Arial"/>
                </a:rPr>
                <a:t> missed meals and </a:t>
              </a:r>
              <a:r>
                <a:rPr sz="1100" b="1" i="0">
                  <a:solidFill>
                    <a:srgbClr val="1A1A1A"/>
                  </a:solidFill>
                  <a:latin typeface="Arial"/>
                </a:rPr>
                <a:t>22%</a:t>
              </a:r>
              <a:r>
                <a:rPr sz="1100" b="0" i="0">
                  <a:solidFill>
                    <a:srgbClr val="1A1A1A"/>
                  </a:solidFill>
                  <a:latin typeface="Arial"/>
                </a:rPr>
                <a:t> carb error</a:t>
              </a:r>
            </a:p>
          </p:txBody>
        </p:sp>
        <p:sp>
          <p:nvSpPr>
            <p:cNvPr id="106" name="Rounded Rectangle 105"/>
            <p:cNvSpPr/>
            <p:nvPr/>
          </p:nvSpPr>
          <p:spPr>
            <a:xfrm>
              <a:off x="5025802" y="5723961"/>
              <a:ext cx="2309383" cy="228600"/>
            </a:xfrm>
            <a:prstGeom prst="roundRect">
              <a:avLst>
                <a:gd name="adj" fmla="val 20000"/>
              </a:avLst>
            </a:prstGeom>
            <a:solidFill>
              <a:srgbClr val="173D6B"/>
            </a:solidFill>
            <a:ln>
              <a:noFill/>
            </a:ln>
          </p:spPr>
          <p:txBody>
            <a:bodyPr rtlCol="0" anchor="ctr" wrap="square" lIns="54864" rIns="54864" tIns="27432" bIns="27432">
              <a:noAutofit/>
            </a:bodyPr>
            <a:lstStyle/>
            <a:p>
              <a:pPr algn="l"/>
              <a:r>
                <a:rPr sz="1100" b="1" i="0">
                  <a:solidFill>
                    <a:srgbClr val="FFFFFF"/>
                  </a:solidFill>
                  <a:latin typeface="Arial"/>
                </a:rPr>
                <a:t>No hypo module</a:t>
              </a:r>
            </a:p>
          </p:txBody>
        </p:sp>
        <p:sp>
          <p:nvSpPr>
            <p:cNvPr id="107" name="Rounded Rectangle 106"/>
            <p:cNvSpPr/>
            <p:nvPr/>
          </p:nvSpPr>
          <p:spPr>
            <a:xfrm>
              <a:off x="5025802" y="5952561"/>
              <a:ext cx="2309383" cy="795711"/>
            </a:xfrm>
            <a:prstGeom prst="roundRect">
              <a:avLst>
                <a:gd name="adj" fmla="val 5745"/>
              </a:avLst>
            </a:prstGeom>
            <a:solidFill>
              <a:srgbClr val="FFFFFF"/>
            </a:solidFill>
            <a:ln w="9525">
              <a:solidFill>
                <a:srgbClr val="466E9E"/>
              </a:solidFill>
              <a:prstDash val="sysDot"/>
            </a:ln>
          </p:spPr>
          <p:txBody>
            <a:bodyPr rtlCol="0" anchor="t" wrap="square" lIns="45720" rIns="45720" tIns="27432" bIns="27432">
              <a:noAutofit/>
            </a:bodyPr>
            <a:lstStyle/>
            <a:p>
              <a:pPr algn="l"/>
              <a:r>
                <a:rPr sz="1100" b="0" i="0">
                  <a:solidFill>
                    <a:srgbClr val="1A1A1A"/>
                  </a:solidFill>
                  <a:latin typeface="Arial"/>
                </a:rPr>
                <a:t>low-glucose alerts are needed for sulfonylurea and insulin users</a:t>
              </a:r>
            </a:p>
          </p:txBody>
        </p:sp>
        <p:sp>
          <p:nvSpPr>
            <p:cNvPr id="108" name="Rounded Rectangle 107"/>
            <p:cNvSpPr/>
            <p:nvPr/>
          </p:nvSpPr>
          <p:spPr>
            <a:xfrm>
              <a:off x="7390049" y="5723961"/>
              <a:ext cx="2309383" cy="228600"/>
            </a:xfrm>
            <a:prstGeom prst="roundRect">
              <a:avLst>
                <a:gd name="adj" fmla="val 20000"/>
              </a:avLst>
            </a:prstGeom>
            <a:solidFill>
              <a:srgbClr val="173D6B"/>
            </a:solidFill>
            <a:ln>
              <a:noFill/>
            </a:ln>
          </p:spPr>
          <p:txBody>
            <a:bodyPr rtlCol="0" anchor="ctr" wrap="square" lIns="54864" rIns="54864" tIns="27432" bIns="27432">
              <a:noAutofit/>
            </a:bodyPr>
            <a:lstStyle/>
            <a:p>
              <a:pPr algn="l"/>
              <a:r>
                <a:rPr sz="1100" b="1" i="0">
                  <a:solidFill>
                    <a:srgbClr val="FFFFFF"/>
                  </a:solidFill>
                  <a:latin typeface="Arial"/>
                </a:rPr>
                <a:t>Medication what-if</a:t>
              </a:r>
            </a:p>
          </p:txBody>
        </p:sp>
        <p:sp>
          <p:nvSpPr>
            <p:cNvPr id="109" name="Rounded Rectangle 108"/>
            <p:cNvSpPr/>
            <p:nvPr/>
          </p:nvSpPr>
          <p:spPr>
            <a:xfrm>
              <a:off x="7390049" y="5952561"/>
              <a:ext cx="2309383" cy="795711"/>
            </a:xfrm>
            <a:prstGeom prst="roundRect">
              <a:avLst>
                <a:gd name="adj" fmla="val 5745"/>
              </a:avLst>
            </a:prstGeom>
            <a:solidFill>
              <a:srgbClr val="FFFFFF"/>
            </a:solidFill>
            <a:ln w="9525">
              <a:solidFill>
                <a:srgbClr val="466E9E"/>
              </a:solidFill>
              <a:prstDash val="sysDot"/>
            </a:ln>
          </p:spPr>
          <p:txBody>
            <a:bodyPr rtlCol="0" anchor="t" wrap="square" lIns="45720" rIns="45720" tIns="27432" bIns="27432">
              <a:noAutofit/>
            </a:bodyPr>
            <a:lstStyle/>
            <a:p>
              <a:pPr algn="l"/>
              <a:r>
                <a:rPr sz="1100" b="0" i="0">
                  <a:solidFill>
                    <a:srgbClr val="1A1A1A"/>
                  </a:solidFill>
                  <a:latin typeface="Arial"/>
                </a:rPr>
                <a:t>effects are illustrative population values, not dose guidance</a:t>
              </a:r>
            </a:p>
          </p:txBody>
        </p:sp>
        <p:sp>
          <p:nvSpPr>
            <p:cNvPr id="110" name="Rounded Rectangle 109"/>
            <p:cNvSpPr/>
            <p:nvPr/>
          </p:nvSpPr>
          <p:spPr>
            <a:xfrm>
              <a:off x="9754296" y="5723961"/>
              <a:ext cx="2309383" cy="228600"/>
            </a:xfrm>
            <a:prstGeom prst="roundRect">
              <a:avLst>
                <a:gd name="adj" fmla="val 20000"/>
              </a:avLst>
            </a:prstGeom>
            <a:solidFill>
              <a:srgbClr val="173D6B"/>
            </a:solidFill>
            <a:ln>
              <a:noFill/>
            </a:ln>
          </p:spPr>
          <p:txBody>
            <a:bodyPr rtlCol="0" anchor="ctr" wrap="square" lIns="54864" rIns="54864" tIns="27432" bIns="27432">
              <a:noAutofit/>
            </a:bodyPr>
            <a:lstStyle/>
            <a:p>
              <a:pPr algn="l"/>
              <a:r>
                <a:rPr sz="1100" b="1" i="0">
                  <a:solidFill>
                    <a:srgbClr val="FFFFFF"/>
                  </a:solidFill>
                  <a:latin typeface="Arial"/>
                </a:rPr>
                <a:t>Next proof</a:t>
              </a:r>
            </a:p>
          </p:txBody>
        </p:sp>
        <p:sp>
          <p:nvSpPr>
            <p:cNvPr id="111" name="Rounded Rectangle 110"/>
            <p:cNvSpPr/>
            <p:nvPr/>
          </p:nvSpPr>
          <p:spPr>
            <a:xfrm>
              <a:off x="9754296" y="5952561"/>
              <a:ext cx="2309383" cy="795711"/>
            </a:xfrm>
            <a:prstGeom prst="roundRect">
              <a:avLst>
                <a:gd name="adj" fmla="val 5745"/>
              </a:avLst>
            </a:prstGeom>
            <a:solidFill>
              <a:srgbClr val="FFFFFF"/>
            </a:solidFill>
            <a:ln w="9525">
              <a:solidFill>
                <a:srgbClr val="466E9E"/>
              </a:solidFill>
              <a:prstDash val="sysDot"/>
            </a:ln>
          </p:spPr>
          <p:txBody>
            <a:bodyPr rtlCol="0" anchor="t" wrap="square" lIns="45720" rIns="45720" tIns="27432" bIns="27432">
              <a:noAutofit/>
            </a:bodyPr>
            <a:lstStyle/>
            <a:p>
              <a:pPr algn="l"/>
              <a:r>
                <a:rPr sz="1100" b="0" i="0">
                  <a:solidFill>
                    <a:srgbClr val="1A1A1A"/>
                  </a:solidFill>
                  <a:latin typeface="Arial"/>
                </a:rPr>
                <a:t>retrospective test on real CGM datasets, then an ethics-approved pilot</a:t>
              </a:r>
            </a:p>
          </p:txBody>
        </p:sp>
      </p:gr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v:0">
            <a:hlinkClick action="ppaction://hlinksldjump" r:id="rId10"/>
          </p:cNvPr>
          <p:cNvSpPr/>
          <p:nvPr/>
        </p:nvSpPr>
        <p:spPr>
          <a:xfrm>
            <a:off x="0" y="0"/>
            <a:ext cx="1359073" cy="457200"/>
          </a:xfrm>
          <a:prstGeom prst="homePlate">
            <a:avLst>
              <a:gd name="adj" fmla="val 34000"/>
            </a:avLst>
          </a:prstGeom>
          <a:solidFill>
            <a:srgbClr val="6587AF"/>
          </a:solidFill>
          <a:ln w="12700">
            <a:solidFill>
              <a:srgbClr val="FFFFFF"/>
            </a:solidFill>
          </a:ln>
        </p:spPr>
        <p:txBody>
          <a:bodyPr rtlCol="0" anchor="ctr"/>
          <a:lstStyle/>
          <a:p/>
        </p:txBody>
      </p:sp>
      <p:sp>
        <p:nvSpPr>
          <p:cNvPr id="3" name="nav:t0">
            <a:hlinkClick action="ppaction://hlinksldjump" r:id="rId10"/>
          </p:cNvPr>
          <p:cNvSpPr txBox="1"/>
          <p:nvPr/>
        </p:nvSpPr>
        <p:spPr>
          <a:xfrm>
            <a:off x="64008" y="0"/>
            <a:ext cx="1121329" cy="457200"/>
          </a:xfrm>
          <a:prstGeom prst="rect">
            <a:avLst/>
          </a:prstGeom>
          <a:noFill/>
        </p:spPr>
        <p:txBody>
          <a:bodyPr wrap="square" lIns="9144" rIns="9144" tIns="9144" bIns="9144" anchor="ctr">
            <a:noAutofit/>
          </a:bodyPr>
          <a:lstStyle/>
          <a:p>
            <a:pPr algn="ctr"/>
            <a:r>
              <a:rPr sz="1000" b="0" i="0">
                <a:solidFill>
                  <a:srgbClr val="FFFFFF"/>
                </a:solidFill>
                <a:latin typeface="Arial"/>
              </a:rPr>
              <a:t>Executive Summary</a:t>
            </a:r>
          </a:p>
        </p:txBody>
      </p:sp>
      <p:sp>
        <p:nvSpPr>
          <p:cNvPr id="4" name="nav:1">
            <a:hlinkClick action="ppaction://hlinksldjump" r:id="rId11"/>
          </p:cNvPr>
          <p:cNvSpPr/>
          <p:nvPr/>
        </p:nvSpPr>
        <p:spPr>
          <a:xfrm>
            <a:off x="1203625"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5" name="nav:t1">
            <a:hlinkClick action="ppaction://hlinksldjump" r:id="rId11"/>
          </p:cNvPr>
          <p:cNvSpPr txBox="1"/>
          <p:nvPr/>
        </p:nvSpPr>
        <p:spPr>
          <a:xfrm>
            <a:off x="1386505"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Problem</a:t>
            </a:r>
          </a:p>
        </p:txBody>
      </p:sp>
      <p:sp>
        <p:nvSpPr>
          <p:cNvPr id="6" name="nav:2">
            <a:hlinkClick action="ppaction://hlinksldjump" r:id="rId12"/>
          </p:cNvPr>
          <p:cNvSpPr/>
          <p:nvPr/>
        </p:nvSpPr>
        <p:spPr>
          <a:xfrm>
            <a:off x="2407249"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7" name="nav:t2">
            <a:hlinkClick action="ppaction://hlinksldjump" r:id="rId12"/>
          </p:cNvPr>
          <p:cNvSpPr txBox="1"/>
          <p:nvPr/>
        </p:nvSpPr>
        <p:spPr>
          <a:xfrm>
            <a:off x="2590129"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Solution</a:t>
            </a:r>
          </a:p>
        </p:txBody>
      </p:sp>
      <p:sp>
        <p:nvSpPr>
          <p:cNvPr id="8" name="nav:3">
            <a:hlinkClick action="ppaction://hlinksldjump" r:id="rId13"/>
          </p:cNvPr>
          <p:cNvSpPr/>
          <p:nvPr/>
        </p:nvSpPr>
        <p:spPr>
          <a:xfrm>
            <a:off x="3610874"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9" name="nav:t3">
            <a:hlinkClick action="ppaction://hlinksldjump" r:id="rId13"/>
          </p:cNvPr>
          <p:cNvSpPr txBox="1"/>
          <p:nvPr/>
        </p:nvSpPr>
        <p:spPr>
          <a:xfrm>
            <a:off x="3793754"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Data</a:t>
            </a:r>
          </a:p>
        </p:txBody>
      </p:sp>
      <p:sp>
        <p:nvSpPr>
          <p:cNvPr id="10" name="nav:4">
            <a:hlinkClick action="ppaction://hlinksldjump" r:id="rId14"/>
          </p:cNvPr>
          <p:cNvSpPr/>
          <p:nvPr/>
        </p:nvSpPr>
        <p:spPr>
          <a:xfrm>
            <a:off x="4814499"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1" name="nav:t4">
            <a:hlinkClick action="ppaction://hlinksldjump" r:id="rId14"/>
          </p:cNvPr>
          <p:cNvSpPr txBox="1"/>
          <p:nvPr/>
        </p:nvSpPr>
        <p:spPr>
          <a:xfrm>
            <a:off x="4997379"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Twin Engine</a:t>
            </a:r>
          </a:p>
        </p:txBody>
      </p:sp>
      <p:sp>
        <p:nvSpPr>
          <p:cNvPr id="12" name="nav:5">
            <a:hlinkClick action="ppaction://hlinksldjump" r:id="rId15"/>
          </p:cNvPr>
          <p:cNvSpPr/>
          <p:nvPr/>
        </p:nvSpPr>
        <p:spPr>
          <a:xfrm>
            <a:off x="6018124"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3" name="nav:t5">
            <a:hlinkClick action="ppaction://hlinksldjump" r:id="rId15"/>
          </p:cNvPr>
          <p:cNvSpPr txBox="1"/>
          <p:nvPr/>
        </p:nvSpPr>
        <p:spPr>
          <a:xfrm>
            <a:off x="6201004"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AI Model</a:t>
            </a:r>
          </a:p>
        </p:txBody>
      </p:sp>
      <p:sp>
        <p:nvSpPr>
          <p:cNvPr id="14" name="nav:6">
            <a:hlinkClick action="ppaction://hlinksldjump" r:id="rId16"/>
          </p:cNvPr>
          <p:cNvSpPr/>
          <p:nvPr/>
        </p:nvSpPr>
        <p:spPr>
          <a:xfrm>
            <a:off x="7221748"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5" name="nav:t6">
            <a:hlinkClick action="ppaction://hlinksldjump" r:id="rId16"/>
          </p:cNvPr>
          <p:cNvSpPr txBox="1"/>
          <p:nvPr/>
        </p:nvSpPr>
        <p:spPr>
          <a:xfrm>
            <a:off x="7404628"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Results</a:t>
            </a:r>
          </a:p>
        </p:txBody>
      </p:sp>
      <p:sp>
        <p:nvSpPr>
          <p:cNvPr id="16" name="nav:7">
            <a:hlinkClick action="ppaction://hlinksldjump" r:id="rId17"/>
          </p:cNvPr>
          <p:cNvSpPr/>
          <p:nvPr/>
        </p:nvSpPr>
        <p:spPr>
          <a:xfrm>
            <a:off x="8425373"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7" name="nav:t7">
            <a:hlinkClick action="ppaction://hlinksldjump" r:id="rId17"/>
          </p:cNvPr>
          <p:cNvSpPr txBox="1"/>
          <p:nvPr/>
        </p:nvSpPr>
        <p:spPr>
          <a:xfrm>
            <a:off x="8608253"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Dashboard</a:t>
            </a:r>
          </a:p>
        </p:txBody>
      </p:sp>
      <p:sp>
        <p:nvSpPr>
          <p:cNvPr id="18" name="nav:8">
            <a:hlinkClick action="ppaction://hlinksldjump" r:id="rId18"/>
          </p:cNvPr>
          <p:cNvSpPr/>
          <p:nvPr/>
        </p:nvSpPr>
        <p:spPr>
          <a:xfrm>
            <a:off x="9628998"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9" name="nav:t8">
            <a:hlinkClick action="ppaction://hlinksldjump" r:id="rId18"/>
          </p:cNvPr>
          <p:cNvSpPr txBox="1"/>
          <p:nvPr/>
        </p:nvSpPr>
        <p:spPr>
          <a:xfrm>
            <a:off x="9811878"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Impact</a:t>
            </a:r>
          </a:p>
        </p:txBody>
      </p:sp>
      <p:sp>
        <p:nvSpPr>
          <p:cNvPr id="20" name="nav:9"/>
          <p:cNvSpPr/>
          <p:nvPr/>
        </p:nvSpPr>
        <p:spPr>
          <a:xfrm>
            <a:off x="10832622" y="0"/>
            <a:ext cx="1359073" cy="457200"/>
          </a:xfrm>
          <a:prstGeom prst="chevron">
            <a:avLst>
              <a:gd name="adj" fmla="val 34000"/>
            </a:avLst>
          </a:prstGeom>
          <a:solidFill>
            <a:srgbClr val="112F52"/>
          </a:solidFill>
          <a:ln w="12700">
            <a:solidFill>
              <a:srgbClr val="FFFFFF"/>
            </a:solidFill>
          </a:ln>
        </p:spPr>
        <p:txBody>
          <a:bodyPr rtlCol="0" anchor="ctr"/>
          <a:lstStyle/>
          <a:p/>
        </p:txBody>
      </p:sp>
      <p:sp>
        <p:nvSpPr>
          <p:cNvPr id="21" name="nav:t9"/>
          <p:cNvSpPr txBox="1"/>
          <p:nvPr/>
        </p:nvSpPr>
        <p:spPr>
          <a:xfrm>
            <a:off x="11015502" y="0"/>
            <a:ext cx="1002457" cy="457200"/>
          </a:xfrm>
          <a:prstGeom prst="rect">
            <a:avLst/>
          </a:prstGeom>
          <a:noFill/>
        </p:spPr>
        <p:txBody>
          <a:bodyPr wrap="square" lIns="9144" rIns="9144" tIns="9144" bIns="9144" anchor="ctr">
            <a:noAutofit/>
          </a:bodyPr>
          <a:lstStyle/>
          <a:p>
            <a:pPr algn="ctr"/>
            <a:r>
              <a:rPr sz="1000" b="1" i="0">
                <a:solidFill>
                  <a:srgbClr val="FFFFFF"/>
                </a:solidFill>
                <a:latin typeface="Arial"/>
              </a:rPr>
              <a:t>Roadmap &amp; Cost</a:t>
            </a:r>
          </a:p>
        </p:txBody>
      </p:sp>
      <p:sp>
        <p:nvSpPr>
          <p:cNvPr id="22" name="TextBox 21"/>
          <p:cNvSpPr txBox="1"/>
          <p:nvPr/>
        </p:nvSpPr>
        <p:spPr>
          <a:xfrm>
            <a:off x="73152" y="502920"/>
            <a:ext cx="12045391" cy="329184"/>
          </a:xfrm>
          <a:prstGeom prst="rect">
            <a:avLst/>
          </a:prstGeom>
          <a:noFill/>
        </p:spPr>
        <p:txBody>
          <a:bodyPr wrap="square" lIns="18288" rIns="18288" tIns="18288" bIns="18288" anchor="ctr">
            <a:noAutofit/>
          </a:bodyPr>
          <a:lstStyle/>
          <a:p>
            <a:pPr algn="l"/>
            <a:r>
              <a:rPr sz="1600" b="1" i="0">
                <a:solidFill>
                  <a:srgbClr val="1D4E89"/>
                </a:solidFill>
                <a:latin typeface="Arial"/>
              </a:rPr>
              <a:t>From proof of concept to a clinic pilot in 12 months, at almost zero marginal compute cost</a:t>
            </a:r>
          </a:p>
        </p:txBody>
      </p:sp>
      <p:sp>
        <p:nvSpPr>
          <p:cNvPr id="23" name="TextBox 22"/>
          <p:cNvSpPr txBox="1"/>
          <p:nvPr/>
        </p:nvSpPr>
        <p:spPr>
          <a:xfrm>
            <a:off x="73152" y="795528"/>
            <a:ext cx="12045391" cy="237744"/>
          </a:xfrm>
          <a:prstGeom prst="rect">
            <a:avLst/>
          </a:prstGeom>
          <a:noFill/>
        </p:spPr>
        <p:txBody>
          <a:bodyPr wrap="square" lIns="18288" rIns="18288" tIns="18288" bIns="18288" anchor="ctr">
            <a:noAutofit/>
          </a:bodyPr>
          <a:lstStyle/>
          <a:p>
            <a:pPr algn="l"/>
            <a:r>
              <a:rPr sz="1200" b="1" i="0">
                <a:solidFill>
                  <a:srgbClr val="4A5168"/>
                </a:solidFill>
                <a:latin typeface="Arial"/>
              </a:rPr>
              <a:t>The CGM sensor is the main cost per patient; the twin and the model run on a laptop CPU</a:t>
            </a:r>
          </a:p>
        </p:txBody>
      </p:sp>
      <p:cxnSp>
        <p:nvCxnSpPr>
          <p:cNvPr id="24" name="Connector 23"/>
          <p:cNvCxnSpPr/>
          <p:nvPr/>
        </p:nvCxnSpPr>
        <p:spPr>
          <a:xfrm>
            <a:off x="73152" y="1042416"/>
            <a:ext cx="12045391" cy="0"/>
          </a:xfrm>
          <a:prstGeom prst="line">
            <a:avLst/>
          </a:prstGeom>
          <a:ln w="19050">
            <a:solidFill>
              <a:srgbClr val="1D4E89"/>
            </a:solidFill>
          </a:ln>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73152" y="1097280"/>
            <a:ext cx="12100255" cy="2548128"/>
            <a:chOff x="73152" y="1097280"/>
            <a:chExt cx="12100255" cy="2548128"/>
          </a:xfrm>
        </p:grpSpPr>
        <p:sp>
          <p:nvSpPr>
            <p:cNvPr id="26" name="frame:12-month roadmap"/>
            <p:cNvSpPr/>
            <p:nvPr/>
          </p:nvSpPr>
          <p:spPr>
            <a:xfrm>
              <a:off x="73152" y="1234440"/>
              <a:ext cx="12045391" cy="2410968"/>
            </a:xfrm>
            <a:prstGeom prst="roundRect">
              <a:avLst>
                <a:gd name="adj" fmla="val 1896"/>
              </a:avLst>
            </a:prstGeom>
            <a:solidFill>
              <a:srgbClr val="F1F4F8"/>
            </a:solidFill>
            <a:ln w="15875">
              <a:solidFill>
                <a:srgbClr val="466E9E"/>
              </a:solidFill>
              <a:prstDash val="sysDot"/>
            </a:ln>
          </p:spPr>
          <p:txBody>
            <a:bodyPr rtlCol="0" anchor="ctr"/>
            <a:lstStyle/>
            <a:p/>
          </p:txBody>
        </p:sp>
        <p:sp>
          <p:nvSpPr>
            <p:cNvPr id="27" name="Rounded Rectangle 26"/>
            <p:cNvSpPr/>
            <p:nvPr/>
          </p:nvSpPr>
          <p:spPr>
            <a:xfrm>
              <a:off x="73152" y="1097280"/>
              <a:ext cx="1883803" cy="274320"/>
            </a:xfrm>
            <a:prstGeom prst="roundRect">
              <a:avLst>
                <a:gd name="adj" fmla="val 13333"/>
              </a:avLst>
            </a:prstGeom>
            <a:solidFill>
              <a:srgbClr val="1D4E89"/>
            </a:solidFill>
            <a:ln>
              <a:noFill/>
            </a:ln>
          </p:spPr>
          <p:txBody>
            <a:bodyPr rtlCol="0" anchor="ctr"/>
            <a:lstStyle/>
            <a:p/>
          </p:txBody>
        </p:sp>
        <p:pic>
          <p:nvPicPr>
            <p:cNvPr id="28" name="Picture 27" descr="ic_fa6_FaRoadBridge_FFFFFF.png"/>
            <p:cNvPicPr>
              <a:picLocks noChangeAspect="1"/>
            </p:cNvPicPr>
            <p:nvPr/>
          </p:nvPicPr>
          <p:blipFill>
            <a:blip r:embed="rId2"/>
            <a:stretch>
              <a:fillRect/>
            </a:stretch>
          </p:blipFill>
          <p:spPr>
            <a:xfrm>
              <a:off x="128016" y="1133856"/>
              <a:ext cx="201168" cy="201168"/>
            </a:xfrm>
            <a:prstGeom prst="rect">
              <a:avLst/>
            </a:prstGeom>
          </p:spPr>
        </p:pic>
        <p:sp>
          <p:nvSpPr>
            <p:cNvPr id="29" name="TextBox 28"/>
            <p:cNvSpPr txBox="1"/>
            <p:nvPr/>
          </p:nvSpPr>
          <p:spPr>
            <a:xfrm>
              <a:off x="374904" y="1097280"/>
              <a:ext cx="1554619" cy="274320"/>
            </a:xfrm>
            <a:prstGeom prst="rect">
              <a:avLst/>
            </a:prstGeom>
            <a:noFill/>
          </p:spPr>
          <p:txBody>
            <a:bodyPr wrap="square" lIns="9144" rIns="9144" tIns="9144" bIns="9144" anchor="ctr">
              <a:noAutofit/>
            </a:bodyPr>
            <a:lstStyle/>
            <a:p>
              <a:pPr algn="l"/>
              <a:r>
                <a:rPr sz="1200" b="1" i="0">
                  <a:solidFill>
                    <a:srgbClr val="FFFFFF"/>
                  </a:solidFill>
                  <a:latin typeface="Arial"/>
                </a:rPr>
                <a:t>12-month roadmap</a:t>
              </a:r>
            </a:p>
          </p:txBody>
        </p:sp>
        <p:sp>
          <p:nvSpPr>
            <p:cNvPr id="30" name="ig:gantt"/>
            <p:cNvSpPr txBox="1"/>
            <p:nvPr/>
          </p:nvSpPr>
          <p:spPr>
            <a:xfrm>
              <a:off x="3111932" y="1408176"/>
              <a:ext cx="8951747" cy="201168"/>
            </a:xfrm>
            <a:prstGeom prst="rect">
              <a:avLst/>
            </a:prstGeom>
            <a:noFill/>
          </p:spPr>
          <p:txBody>
            <a:bodyPr wrap="square" lIns="0" rIns="0" tIns="0" bIns="0" anchor="ctr">
              <a:noAutofit/>
            </a:bodyPr>
            <a:lstStyle/>
            <a:p>
              <a:pPr algn="ctr"/>
              <a:r>
                <a:rPr sz="900" b="1" i="0">
                  <a:solidFill>
                    <a:srgbClr val="1D4E89"/>
                  </a:solidFill>
                  <a:latin typeface="Arial"/>
                </a:rPr>
                <a:t>2026 to 2027</a:t>
              </a:r>
            </a:p>
          </p:txBody>
        </p:sp>
        <p:cxnSp>
          <p:nvCxnSpPr>
            <p:cNvPr id="31" name="Connector 30"/>
            <p:cNvCxnSpPr/>
            <p:nvPr/>
          </p:nvCxnSpPr>
          <p:spPr>
            <a:xfrm>
              <a:off x="3111932" y="1600200"/>
              <a:ext cx="8951747" cy="0"/>
            </a:xfrm>
            <a:prstGeom prst="line">
              <a:avLst/>
            </a:prstGeom>
            <a:ln w="9525">
              <a:solidFill>
                <a:srgbClr val="1D4E89"/>
              </a:solidFill>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3111932" y="1609344"/>
              <a:ext cx="745979" cy="256032"/>
            </a:xfrm>
            <a:prstGeom prst="rect">
              <a:avLst/>
            </a:prstGeom>
            <a:solidFill>
              <a:srgbClr val="1D4E89"/>
            </a:solidFill>
            <a:ln>
              <a:noFill/>
            </a:ln>
          </p:spPr>
          <p:txBody>
            <a:bodyPr rtlCol="0" anchor="ctr" wrap="square" lIns="0" rIns="0" tIns="0" bIns="0">
              <a:noAutofit/>
            </a:bodyPr>
            <a:lstStyle/>
            <a:p>
              <a:pPr algn="ctr"/>
              <a:r>
                <a:rPr sz="900" b="1" i="0">
                  <a:solidFill>
                    <a:srgbClr val="FFFFFF"/>
                  </a:solidFill>
                  <a:latin typeface="Arial"/>
                </a:rPr>
                <a:t>Nov</a:t>
              </a:r>
            </a:p>
          </p:txBody>
        </p:sp>
        <p:sp>
          <p:nvSpPr>
            <p:cNvPr id="33" name="Rectangle 32"/>
            <p:cNvSpPr/>
            <p:nvPr/>
          </p:nvSpPr>
          <p:spPr>
            <a:xfrm>
              <a:off x="3857911" y="1609344"/>
              <a:ext cx="745979" cy="256032"/>
            </a:xfrm>
            <a:prstGeom prst="rect">
              <a:avLst/>
            </a:prstGeom>
            <a:solidFill>
              <a:srgbClr val="466E9E"/>
            </a:solidFill>
            <a:ln>
              <a:noFill/>
            </a:ln>
          </p:spPr>
          <p:txBody>
            <a:bodyPr rtlCol="0" anchor="ctr" wrap="square" lIns="0" rIns="0" tIns="0" bIns="0">
              <a:noAutofit/>
            </a:bodyPr>
            <a:lstStyle/>
            <a:p>
              <a:pPr algn="ctr"/>
              <a:r>
                <a:rPr sz="900" b="1" i="0">
                  <a:solidFill>
                    <a:srgbClr val="FFFFFF"/>
                  </a:solidFill>
                  <a:latin typeface="Arial"/>
                </a:rPr>
                <a:t>Dec</a:t>
              </a:r>
            </a:p>
          </p:txBody>
        </p:sp>
        <p:sp>
          <p:nvSpPr>
            <p:cNvPr id="34" name="Rectangle 33"/>
            <p:cNvSpPr/>
            <p:nvPr/>
          </p:nvSpPr>
          <p:spPr>
            <a:xfrm>
              <a:off x="4603890" y="1609344"/>
              <a:ext cx="745979" cy="256032"/>
            </a:xfrm>
            <a:prstGeom prst="rect">
              <a:avLst/>
            </a:prstGeom>
            <a:solidFill>
              <a:srgbClr val="1D4E89"/>
            </a:solidFill>
            <a:ln>
              <a:noFill/>
            </a:ln>
          </p:spPr>
          <p:txBody>
            <a:bodyPr rtlCol="0" anchor="ctr" wrap="square" lIns="0" rIns="0" tIns="0" bIns="0">
              <a:noAutofit/>
            </a:bodyPr>
            <a:lstStyle/>
            <a:p>
              <a:pPr algn="ctr"/>
              <a:r>
                <a:rPr sz="900" b="1" i="0">
                  <a:solidFill>
                    <a:srgbClr val="FFFFFF"/>
                  </a:solidFill>
                  <a:latin typeface="Arial"/>
                </a:rPr>
                <a:t>Jan</a:t>
              </a:r>
            </a:p>
          </p:txBody>
        </p:sp>
        <p:sp>
          <p:nvSpPr>
            <p:cNvPr id="35" name="Rectangle 34"/>
            <p:cNvSpPr/>
            <p:nvPr/>
          </p:nvSpPr>
          <p:spPr>
            <a:xfrm>
              <a:off x="5349869" y="1609344"/>
              <a:ext cx="745979" cy="256032"/>
            </a:xfrm>
            <a:prstGeom prst="rect">
              <a:avLst/>
            </a:prstGeom>
            <a:solidFill>
              <a:srgbClr val="466E9E"/>
            </a:solidFill>
            <a:ln>
              <a:noFill/>
            </a:ln>
          </p:spPr>
          <p:txBody>
            <a:bodyPr rtlCol="0" anchor="ctr" wrap="square" lIns="0" rIns="0" tIns="0" bIns="0">
              <a:noAutofit/>
            </a:bodyPr>
            <a:lstStyle/>
            <a:p>
              <a:pPr algn="ctr"/>
              <a:r>
                <a:rPr sz="900" b="1" i="0">
                  <a:solidFill>
                    <a:srgbClr val="FFFFFF"/>
                  </a:solidFill>
                  <a:latin typeface="Arial"/>
                </a:rPr>
                <a:t>Feb</a:t>
              </a:r>
            </a:p>
          </p:txBody>
        </p:sp>
        <p:sp>
          <p:nvSpPr>
            <p:cNvPr id="36" name="Rectangle 35"/>
            <p:cNvSpPr/>
            <p:nvPr/>
          </p:nvSpPr>
          <p:spPr>
            <a:xfrm>
              <a:off x="6095848" y="1609344"/>
              <a:ext cx="745979" cy="256032"/>
            </a:xfrm>
            <a:prstGeom prst="rect">
              <a:avLst/>
            </a:prstGeom>
            <a:solidFill>
              <a:srgbClr val="1D4E89"/>
            </a:solidFill>
            <a:ln>
              <a:noFill/>
            </a:ln>
          </p:spPr>
          <p:txBody>
            <a:bodyPr rtlCol="0" anchor="ctr" wrap="square" lIns="0" rIns="0" tIns="0" bIns="0">
              <a:noAutofit/>
            </a:bodyPr>
            <a:lstStyle/>
            <a:p>
              <a:pPr algn="ctr"/>
              <a:r>
                <a:rPr sz="900" b="1" i="0">
                  <a:solidFill>
                    <a:srgbClr val="FFFFFF"/>
                  </a:solidFill>
                  <a:latin typeface="Arial"/>
                </a:rPr>
                <a:t>Mar</a:t>
              </a:r>
            </a:p>
          </p:txBody>
        </p:sp>
        <p:sp>
          <p:nvSpPr>
            <p:cNvPr id="37" name="Rectangle 36"/>
            <p:cNvSpPr/>
            <p:nvPr/>
          </p:nvSpPr>
          <p:spPr>
            <a:xfrm>
              <a:off x="6841827" y="1609344"/>
              <a:ext cx="745979" cy="256032"/>
            </a:xfrm>
            <a:prstGeom prst="rect">
              <a:avLst/>
            </a:prstGeom>
            <a:solidFill>
              <a:srgbClr val="466E9E"/>
            </a:solidFill>
            <a:ln>
              <a:noFill/>
            </a:ln>
          </p:spPr>
          <p:txBody>
            <a:bodyPr rtlCol="0" anchor="ctr" wrap="square" lIns="0" rIns="0" tIns="0" bIns="0">
              <a:noAutofit/>
            </a:bodyPr>
            <a:lstStyle/>
            <a:p>
              <a:pPr algn="ctr"/>
              <a:r>
                <a:rPr sz="900" b="1" i="0">
                  <a:solidFill>
                    <a:srgbClr val="FFFFFF"/>
                  </a:solidFill>
                  <a:latin typeface="Arial"/>
                </a:rPr>
                <a:t>Apr</a:t>
              </a:r>
            </a:p>
          </p:txBody>
        </p:sp>
        <p:sp>
          <p:nvSpPr>
            <p:cNvPr id="38" name="Rectangle 37"/>
            <p:cNvSpPr/>
            <p:nvPr/>
          </p:nvSpPr>
          <p:spPr>
            <a:xfrm>
              <a:off x="7587806" y="1609344"/>
              <a:ext cx="745979" cy="256032"/>
            </a:xfrm>
            <a:prstGeom prst="rect">
              <a:avLst/>
            </a:prstGeom>
            <a:solidFill>
              <a:srgbClr val="1D4E89"/>
            </a:solidFill>
            <a:ln>
              <a:noFill/>
            </a:ln>
          </p:spPr>
          <p:txBody>
            <a:bodyPr rtlCol="0" anchor="ctr" wrap="square" lIns="0" rIns="0" tIns="0" bIns="0">
              <a:noAutofit/>
            </a:bodyPr>
            <a:lstStyle/>
            <a:p>
              <a:pPr algn="ctr"/>
              <a:r>
                <a:rPr sz="900" b="1" i="0">
                  <a:solidFill>
                    <a:srgbClr val="FFFFFF"/>
                  </a:solidFill>
                  <a:latin typeface="Arial"/>
                </a:rPr>
                <a:t>May</a:t>
              </a:r>
            </a:p>
          </p:txBody>
        </p:sp>
        <p:sp>
          <p:nvSpPr>
            <p:cNvPr id="39" name="Rectangle 38"/>
            <p:cNvSpPr/>
            <p:nvPr/>
          </p:nvSpPr>
          <p:spPr>
            <a:xfrm>
              <a:off x="8333784" y="1609344"/>
              <a:ext cx="745979" cy="256032"/>
            </a:xfrm>
            <a:prstGeom prst="rect">
              <a:avLst/>
            </a:prstGeom>
            <a:solidFill>
              <a:srgbClr val="466E9E"/>
            </a:solidFill>
            <a:ln>
              <a:noFill/>
            </a:ln>
          </p:spPr>
          <p:txBody>
            <a:bodyPr rtlCol="0" anchor="ctr" wrap="square" lIns="0" rIns="0" tIns="0" bIns="0">
              <a:noAutofit/>
            </a:bodyPr>
            <a:lstStyle/>
            <a:p>
              <a:pPr algn="ctr"/>
              <a:r>
                <a:rPr sz="900" b="1" i="0">
                  <a:solidFill>
                    <a:srgbClr val="FFFFFF"/>
                  </a:solidFill>
                  <a:latin typeface="Arial"/>
                </a:rPr>
                <a:t>Jun</a:t>
              </a:r>
            </a:p>
          </p:txBody>
        </p:sp>
        <p:sp>
          <p:nvSpPr>
            <p:cNvPr id="40" name="Rectangle 39"/>
            <p:cNvSpPr/>
            <p:nvPr/>
          </p:nvSpPr>
          <p:spPr>
            <a:xfrm>
              <a:off x="9079763" y="1609344"/>
              <a:ext cx="745979" cy="256032"/>
            </a:xfrm>
            <a:prstGeom prst="rect">
              <a:avLst/>
            </a:prstGeom>
            <a:solidFill>
              <a:srgbClr val="1D4E89"/>
            </a:solidFill>
            <a:ln>
              <a:noFill/>
            </a:ln>
          </p:spPr>
          <p:txBody>
            <a:bodyPr rtlCol="0" anchor="ctr" wrap="square" lIns="0" rIns="0" tIns="0" bIns="0">
              <a:noAutofit/>
            </a:bodyPr>
            <a:lstStyle/>
            <a:p>
              <a:pPr algn="ctr"/>
              <a:r>
                <a:rPr sz="900" b="1" i="0">
                  <a:solidFill>
                    <a:srgbClr val="FFFFFF"/>
                  </a:solidFill>
                  <a:latin typeface="Arial"/>
                </a:rPr>
                <a:t>Jul</a:t>
              </a:r>
            </a:p>
          </p:txBody>
        </p:sp>
        <p:sp>
          <p:nvSpPr>
            <p:cNvPr id="41" name="Rectangle 40"/>
            <p:cNvSpPr/>
            <p:nvPr/>
          </p:nvSpPr>
          <p:spPr>
            <a:xfrm>
              <a:off x="9825742" y="1609344"/>
              <a:ext cx="745979" cy="256032"/>
            </a:xfrm>
            <a:prstGeom prst="rect">
              <a:avLst/>
            </a:prstGeom>
            <a:solidFill>
              <a:srgbClr val="466E9E"/>
            </a:solidFill>
            <a:ln>
              <a:noFill/>
            </a:ln>
          </p:spPr>
          <p:txBody>
            <a:bodyPr rtlCol="0" anchor="ctr" wrap="square" lIns="0" rIns="0" tIns="0" bIns="0">
              <a:noAutofit/>
            </a:bodyPr>
            <a:lstStyle/>
            <a:p>
              <a:pPr algn="ctr"/>
              <a:r>
                <a:rPr sz="900" b="1" i="0">
                  <a:solidFill>
                    <a:srgbClr val="FFFFFF"/>
                  </a:solidFill>
                  <a:latin typeface="Arial"/>
                </a:rPr>
                <a:t>Aug</a:t>
              </a:r>
            </a:p>
          </p:txBody>
        </p:sp>
        <p:sp>
          <p:nvSpPr>
            <p:cNvPr id="42" name="Rectangle 41"/>
            <p:cNvSpPr/>
            <p:nvPr/>
          </p:nvSpPr>
          <p:spPr>
            <a:xfrm>
              <a:off x="10571721" y="1609344"/>
              <a:ext cx="745979" cy="256032"/>
            </a:xfrm>
            <a:prstGeom prst="rect">
              <a:avLst/>
            </a:prstGeom>
            <a:solidFill>
              <a:srgbClr val="1D4E89"/>
            </a:solidFill>
            <a:ln>
              <a:noFill/>
            </a:ln>
          </p:spPr>
          <p:txBody>
            <a:bodyPr rtlCol="0" anchor="ctr" wrap="square" lIns="0" rIns="0" tIns="0" bIns="0">
              <a:noAutofit/>
            </a:bodyPr>
            <a:lstStyle/>
            <a:p>
              <a:pPr algn="ctr"/>
              <a:r>
                <a:rPr sz="900" b="1" i="0">
                  <a:solidFill>
                    <a:srgbClr val="FFFFFF"/>
                  </a:solidFill>
                  <a:latin typeface="Arial"/>
                </a:rPr>
                <a:t>Sep</a:t>
              </a:r>
            </a:p>
          </p:txBody>
        </p:sp>
        <p:sp>
          <p:nvSpPr>
            <p:cNvPr id="43" name="Rectangle 42"/>
            <p:cNvSpPr/>
            <p:nvPr/>
          </p:nvSpPr>
          <p:spPr>
            <a:xfrm>
              <a:off x="11317700" y="1609344"/>
              <a:ext cx="745979" cy="256032"/>
            </a:xfrm>
            <a:prstGeom prst="rect">
              <a:avLst/>
            </a:prstGeom>
            <a:solidFill>
              <a:srgbClr val="466E9E"/>
            </a:solidFill>
            <a:ln>
              <a:noFill/>
            </a:ln>
          </p:spPr>
          <p:txBody>
            <a:bodyPr rtlCol="0" anchor="ctr" wrap="square" lIns="0" rIns="0" tIns="0" bIns="0">
              <a:noAutofit/>
            </a:bodyPr>
            <a:lstStyle/>
            <a:p>
              <a:pPr algn="ctr"/>
              <a:r>
                <a:rPr sz="900" b="1" i="0">
                  <a:solidFill>
                    <a:srgbClr val="FFFFFF"/>
                  </a:solidFill>
                  <a:latin typeface="Arial"/>
                </a:rPr>
                <a:t>Oct</a:t>
              </a:r>
            </a:p>
          </p:txBody>
        </p:sp>
        <p:sp>
          <p:nvSpPr>
            <p:cNvPr id="44" name="Rectangle 43"/>
            <p:cNvSpPr/>
            <p:nvPr/>
          </p:nvSpPr>
          <p:spPr>
            <a:xfrm>
              <a:off x="128016" y="1609344"/>
              <a:ext cx="2947340" cy="256032"/>
            </a:xfrm>
            <a:prstGeom prst="rect">
              <a:avLst/>
            </a:prstGeom>
            <a:solidFill>
              <a:srgbClr val="1D4E89"/>
            </a:solidFill>
            <a:ln>
              <a:noFill/>
            </a:ln>
          </p:spPr>
          <p:txBody>
            <a:bodyPr rtlCol="0" anchor="ctr" wrap="square" lIns="36576" rIns="36576" tIns="27432" bIns="27432">
              <a:noAutofit/>
            </a:bodyPr>
            <a:lstStyle/>
            <a:p>
              <a:pPr algn="l"/>
              <a:r>
                <a:rPr sz="900" b="1" i="0">
                  <a:solidFill>
                    <a:srgbClr val="FFFFFF"/>
                  </a:solidFill>
                  <a:latin typeface="Arial"/>
                </a:rPr>
                <a:t>Activity</a:t>
              </a:r>
            </a:p>
          </p:txBody>
        </p:sp>
        <p:sp>
          <p:nvSpPr>
            <p:cNvPr id="45" name="Rectangle 44"/>
            <p:cNvSpPr/>
            <p:nvPr/>
          </p:nvSpPr>
          <p:spPr>
            <a:xfrm>
              <a:off x="128016" y="1865376"/>
              <a:ext cx="11935663" cy="241808"/>
            </a:xfrm>
            <a:prstGeom prst="rect">
              <a:avLst/>
            </a:prstGeom>
            <a:solidFill>
              <a:srgbClr val="F1F4F8"/>
            </a:solidFill>
            <a:ln>
              <a:noFill/>
            </a:ln>
          </p:spPr>
          <p:txBody>
            <a:bodyPr rtlCol="0" anchor="ctr"/>
            <a:lstStyle/>
            <a:p/>
          </p:txBody>
        </p:sp>
        <p:cxnSp>
          <p:nvCxnSpPr>
            <p:cNvPr id="46" name="Connector 45"/>
            <p:cNvCxnSpPr/>
            <p:nvPr/>
          </p:nvCxnSpPr>
          <p:spPr>
            <a:xfrm>
              <a:off x="3111932" y="186537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3857911" y="186537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603890" y="186537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349869" y="186537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095848" y="186537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841827" y="186537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587806" y="186537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8333784" y="186537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079763" y="186537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825742" y="186537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0571721" y="186537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1317700" y="186537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28016" y="1865376"/>
              <a:ext cx="2947340" cy="241808"/>
            </a:xfrm>
            <a:prstGeom prst="rect">
              <a:avLst/>
            </a:prstGeom>
            <a:noFill/>
          </p:spPr>
          <p:txBody>
            <a:bodyPr wrap="square" lIns="36576" rIns="36576" tIns="27432" bIns="27432" anchor="ctr">
              <a:noAutofit/>
            </a:bodyPr>
            <a:lstStyle/>
            <a:p>
              <a:pPr algn="l"/>
              <a:r>
                <a:rPr sz="900" b="1" i="0">
                  <a:solidFill>
                    <a:srgbClr val="1A1A1A"/>
                  </a:solidFill>
                  <a:latin typeface="Arial"/>
                </a:rPr>
                <a:t>Proof of concept (this repository)</a:t>
              </a:r>
            </a:p>
          </p:txBody>
        </p:sp>
        <p:sp>
          <p:nvSpPr>
            <p:cNvPr id="59" name="Rounded Rectangle 58"/>
            <p:cNvSpPr/>
            <p:nvPr/>
          </p:nvSpPr>
          <p:spPr>
            <a:xfrm>
              <a:off x="3130220" y="1908901"/>
              <a:ext cx="709403" cy="154757"/>
            </a:xfrm>
            <a:prstGeom prst="roundRect">
              <a:avLst>
                <a:gd name="adj" fmla="val 35451"/>
              </a:avLst>
            </a:prstGeom>
            <a:solidFill>
              <a:srgbClr val="A9BCD2"/>
            </a:solidFill>
            <a:ln>
              <a:noFill/>
            </a:ln>
          </p:spPr>
          <p:txBody>
            <a:bodyPr rtlCol="0" anchor="ctr" wrap="square" lIns="18288" rIns="18288" tIns="18288" bIns="18288">
              <a:noAutofit/>
            </a:bodyPr>
            <a:lstStyle/>
            <a:p>
              <a:pPr algn="ctr"/>
              <a:r>
                <a:rPr sz="900" b="0" i="0">
                  <a:solidFill>
                    <a:srgbClr val="1A1A1A"/>
                  </a:solidFill>
                  <a:latin typeface="Arial"/>
                </a:rPr>
                <a:t>done</a:t>
              </a:r>
            </a:p>
          </p:txBody>
        </p:sp>
        <p:sp>
          <p:nvSpPr>
            <p:cNvPr id="60" name="Rectangle 59"/>
            <p:cNvSpPr/>
            <p:nvPr/>
          </p:nvSpPr>
          <p:spPr>
            <a:xfrm>
              <a:off x="128016" y="2107184"/>
              <a:ext cx="11935663" cy="241808"/>
            </a:xfrm>
            <a:prstGeom prst="rect">
              <a:avLst/>
            </a:prstGeom>
            <a:solidFill>
              <a:srgbClr val="FFFFFF"/>
            </a:solidFill>
            <a:ln>
              <a:noFill/>
            </a:ln>
          </p:spPr>
          <p:txBody>
            <a:bodyPr rtlCol="0" anchor="ctr"/>
            <a:lstStyle/>
            <a:p/>
          </p:txBody>
        </p:sp>
        <p:cxnSp>
          <p:nvCxnSpPr>
            <p:cNvPr id="61" name="Connector 60"/>
            <p:cNvCxnSpPr/>
            <p:nvPr/>
          </p:nvCxnSpPr>
          <p:spPr>
            <a:xfrm>
              <a:off x="3111932" y="2107184"/>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857911" y="2107184"/>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4603890" y="2107184"/>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5349869" y="2107184"/>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095848" y="2107184"/>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6841827" y="2107184"/>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587806" y="2107184"/>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8333784" y="2107184"/>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079763" y="2107184"/>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825742" y="2107184"/>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0571721" y="2107184"/>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1317700" y="2107184"/>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128016" y="2107184"/>
              <a:ext cx="2947340" cy="241808"/>
            </a:xfrm>
            <a:prstGeom prst="rect">
              <a:avLst/>
            </a:prstGeom>
            <a:noFill/>
          </p:spPr>
          <p:txBody>
            <a:bodyPr wrap="square" lIns="36576" rIns="36576" tIns="27432" bIns="27432" anchor="ctr">
              <a:noAutofit/>
            </a:bodyPr>
            <a:lstStyle/>
            <a:p>
              <a:pPr algn="l"/>
              <a:r>
                <a:rPr sz="900" b="1" i="0">
                  <a:solidFill>
                    <a:srgbClr val="1A1A1A"/>
                  </a:solidFill>
                  <a:latin typeface="Arial"/>
                </a:rPr>
                <a:t>Retrospective test on real CGM datasets</a:t>
              </a:r>
            </a:p>
          </p:txBody>
        </p:sp>
        <p:sp>
          <p:nvSpPr>
            <p:cNvPr id="74" name="Rounded Rectangle 73"/>
            <p:cNvSpPr/>
            <p:nvPr/>
          </p:nvSpPr>
          <p:spPr>
            <a:xfrm>
              <a:off x="3876199" y="2150709"/>
              <a:ext cx="2201361" cy="154757"/>
            </a:xfrm>
            <a:prstGeom prst="roundRect">
              <a:avLst>
                <a:gd name="adj" fmla="val 35451"/>
              </a:avLst>
            </a:prstGeom>
            <a:solidFill>
              <a:srgbClr val="89A3C2"/>
            </a:solidFill>
            <a:ln>
              <a:noFill/>
            </a:ln>
          </p:spPr>
          <p:txBody>
            <a:bodyPr rtlCol="0" anchor="ctr" wrap="square" lIns="18288" rIns="18288" tIns="18288" bIns="18288">
              <a:noAutofit/>
            </a:bodyPr>
            <a:lstStyle/>
            <a:p>
              <a:pPr algn="ctr"/>
              <a:r>
                <a:rPr sz="900" b="0" i="0">
                  <a:solidFill>
                    <a:srgbClr val="1A1A1A"/>
                  </a:solidFill>
                  <a:latin typeface="Arial"/>
                </a:rPr>
                <a:t>external validity</a:t>
              </a:r>
            </a:p>
          </p:txBody>
        </p:sp>
        <p:sp>
          <p:nvSpPr>
            <p:cNvPr id="75" name="Rectangle 74"/>
            <p:cNvSpPr/>
            <p:nvPr/>
          </p:nvSpPr>
          <p:spPr>
            <a:xfrm>
              <a:off x="128016" y="2348992"/>
              <a:ext cx="11935663" cy="241808"/>
            </a:xfrm>
            <a:prstGeom prst="rect">
              <a:avLst/>
            </a:prstGeom>
            <a:solidFill>
              <a:srgbClr val="F1F4F8"/>
            </a:solidFill>
            <a:ln>
              <a:noFill/>
            </a:ln>
          </p:spPr>
          <p:txBody>
            <a:bodyPr rtlCol="0" anchor="ctr"/>
            <a:lstStyle/>
            <a:p/>
          </p:txBody>
        </p:sp>
        <p:cxnSp>
          <p:nvCxnSpPr>
            <p:cNvPr id="76" name="Connector 75"/>
            <p:cNvCxnSpPr/>
            <p:nvPr/>
          </p:nvCxnSpPr>
          <p:spPr>
            <a:xfrm>
              <a:off x="3111932" y="2348992"/>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3857911" y="2348992"/>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4603890" y="2348992"/>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5349869" y="2348992"/>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6095848" y="2348992"/>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6841827" y="2348992"/>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7587806" y="2348992"/>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8333784" y="2348992"/>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9079763" y="2348992"/>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9825742" y="2348992"/>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0571721" y="2348992"/>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1317700" y="2348992"/>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128016" y="2348992"/>
              <a:ext cx="2947340" cy="241808"/>
            </a:xfrm>
            <a:prstGeom prst="rect">
              <a:avLst/>
            </a:prstGeom>
            <a:noFill/>
          </p:spPr>
          <p:txBody>
            <a:bodyPr wrap="square" lIns="36576" rIns="36576" tIns="27432" bIns="27432" anchor="ctr">
              <a:noAutofit/>
            </a:bodyPr>
            <a:lstStyle/>
            <a:p>
              <a:pPr algn="l"/>
              <a:r>
                <a:rPr sz="900" b="1" i="0">
                  <a:solidFill>
                    <a:srgbClr val="1A1A1A"/>
                  </a:solidFill>
                  <a:latin typeface="Arial"/>
                </a:rPr>
                <a:t>Hypo module, photo and voice meal logging</a:t>
              </a:r>
            </a:p>
          </p:txBody>
        </p:sp>
        <p:sp>
          <p:nvSpPr>
            <p:cNvPr id="89" name="Rounded Rectangle 88"/>
            <p:cNvSpPr/>
            <p:nvPr/>
          </p:nvSpPr>
          <p:spPr>
            <a:xfrm>
              <a:off x="4622178" y="2392517"/>
              <a:ext cx="2947340" cy="154757"/>
            </a:xfrm>
            <a:prstGeom prst="roundRect">
              <a:avLst>
                <a:gd name="adj" fmla="val 35451"/>
              </a:avLst>
            </a:prstGeom>
            <a:solidFill>
              <a:srgbClr val="6587AF"/>
            </a:solidFill>
            <a:ln>
              <a:noFill/>
            </a:ln>
          </p:spPr>
          <p:txBody>
            <a:bodyPr rtlCol="0" anchor="ctr" wrap="square" lIns="18288" rIns="18288" tIns="18288" bIns="18288">
              <a:noAutofit/>
            </a:bodyPr>
            <a:lstStyle/>
            <a:p>
              <a:pPr algn="ctr"/>
              <a:r>
                <a:rPr sz="900" b="0" i="0">
                  <a:solidFill>
                    <a:srgbClr val="FFFFFF"/>
                  </a:solidFill>
                  <a:latin typeface="Arial"/>
                </a:rPr>
                <a:t>product</a:t>
              </a:r>
            </a:p>
          </p:txBody>
        </p:sp>
        <p:sp>
          <p:nvSpPr>
            <p:cNvPr id="90" name="Rectangle 89"/>
            <p:cNvSpPr/>
            <p:nvPr/>
          </p:nvSpPr>
          <p:spPr>
            <a:xfrm>
              <a:off x="128016" y="2590800"/>
              <a:ext cx="11935663" cy="241808"/>
            </a:xfrm>
            <a:prstGeom prst="rect">
              <a:avLst/>
            </a:prstGeom>
            <a:solidFill>
              <a:srgbClr val="FFFFFF"/>
            </a:solidFill>
            <a:ln>
              <a:noFill/>
            </a:ln>
          </p:spPr>
          <p:txBody>
            <a:bodyPr rtlCol="0" anchor="ctr"/>
            <a:lstStyle/>
            <a:p/>
          </p:txBody>
        </p:sp>
        <p:cxnSp>
          <p:nvCxnSpPr>
            <p:cNvPr id="91" name="Connector 90"/>
            <p:cNvCxnSpPr/>
            <p:nvPr/>
          </p:nvCxnSpPr>
          <p:spPr>
            <a:xfrm>
              <a:off x="3111932" y="2590800"/>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3857911" y="2590800"/>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4603890" y="2590800"/>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5349869" y="2590800"/>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6095848" y="2590800"/>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6841827" y="2590800"/>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7587806" y="2590800"/>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333784" y="2590800"/>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9079763" y="2590800"/>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9825742" y="2590800"/>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571721" y="2590800"/>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11317700" y="2590800"/>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28016" y="2590800"/>
              <a:ext cx="2947340" cy="241808"/>
            </a:xfrm>
            <a:prstGeom prst="rect">
              <a:avLst/>
            </a:prstGeom>
            <a:noFill/>
          </p:spPr>
          <p:txBody>
            <a:bodyPr wrap="square" lIns="36576" rIns="36576" tIns="27432" bIns="27432" anchor="ctr">
              <a:noAutofit/>
            </a:bodyPr>
            <a:lstStyle/>
            <a:p>
              <a:pPr algn="l"/>
              <a:r>
                <a:rPr sz="900" b="1" i="0">
                  <a:solidFill>
                    <a:srgbClr val="1A1A1A"/>
                  </a:solidFill>
                  <a:latin typeface="Arial"/>
                </a:rPr>
                <a:t>Ethics approval, clinic partner</a:t>
              </a:r>
            </a:p>
          </p:txBody>
        </p:sp>
        <p:sp>
          <p:nvSpPr>
            <p:cNvPr id="104" name="Rounded Rectangle 103"/>
            <p:cNvSpPr/>
            <p:nvPr/>
          </p:nvSpPr>
          <p:spPr>
            <a:xfrm>
              <a:off x="5368157" y="2634325"/>
              <a:ext cx="2201361" cy="154757"/>
            </a:xfrm>
            <a:prstGeom prst="roundRect">
              <a:avLst>
                <a:gd name="adj" fmla="val 35451"/>
              </a:avLst>
            </a:prstGeom>
            <a:solidFill>
              <a:srgbClr val="466E9E"/>
            </a:solidFill>
            <a:ln>
              <a:noFill/>
            </a:ln>
          </p:spPr>
          <p:txBody>
            <a:bodyPr rtlCol="0" anchor="ctr" wrap="square" lIns="18288" rIns="18288" tIns="18288" bIns="18288">
              <a:noAutofit/>
            </a:bodyPr>
            <a:lstStyle/>
            <a:p>
              <a:pPr algn="ctr"/>
              <a:r>
                <a:rPr sz="900" b="0" i="0">
                  <a:solidFill>
                    <a:srgbClr val="FFFFFF"/>
                  </a:solidFill>
                  <a:latin typeface="Arial"/>
                </a:rPr>
                <a:t>IEC</a:t>
              </a:r>
            </a:p>
          </p:txBody>
        </p:sp>
        <p:sp>
          <p:nvSpPr>
            <p:cNvPr id="105" name="Rectangle 104"/>
            <p:cNvSpPr/>
            <p:nvPr/>
          </p:nvSpPr>
          <p:spPr>
            <a:xfrm>
              <a:off x="128016" y="2832608"/>
              <a:ext cx="11935663" cy="241808"/>
            </a:xfrm>
            <a:prstGeom prst="rect">
              <a:avLst/>
            </a:prstGeom>
            <a:solidFill>
              <a:srgbClr val="F1F4F8"/>
            </a:solidFill>
            <a:ln>
              <a:noFill/>
            </a:ln>
          </p:spPr>
          <p:txBody>
            <a:bodyPr rtlCol="0" anchor="ctr"/>
            <a:lstStyle/>
            <a:p/>
          </p:txBody>
        </p:sp>
        <p:cxnSp>
          <p:nvCxnSpPr>
            <p:cNvPr id="106" name="Connector 105"/>
            <p:cNvCxnSpPr/>
            <p:nvPr/>
          </p:nvCxnSpPr>
          <p:spPr>
            <a:xfrm>
              <a:off x="3111932" y="2832608"/>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3857911" y="2832608"/>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4603890" y="2832608"/>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5349869" y="2832608"/>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6095848" y="2832608"/>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6841827" y="2832608"/>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7587806" y="2832608"/>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8333784" y="2832608"/>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9079763" y="2832608"/>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9825742" y="2832608"/>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0571721" y="2832608"/>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11317700" y="2832608"/>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128016" y="2832608"/>
              <a:ext cx="2947340" cy="241808"/>
            </a:xfrm>
            <a:prstGeom prst="rect">
              <a:avLst/>
            </a:prstGeom>
            <a:noFill/>
          </p:spPr>
          <p:txBody>
            <a:bodyPr wrap="square" lIns="36576" rIns="36576" tIns="27432" bIns="27432" anchor="ctr">
              <a:noAutofit/>
            </a:bodyPr>
            <a:lstStyle/>
            <a:p>
              <a:pPr algn="l"/>
              <a:r>
                <a:rPr sz="900" b="1" i="0">
                  <a:solidFill>
                    <a:srgbClr val="1A1A1A"/>
                  </a:solidFill>
                  <a:latin typeface="Arial"/>
                </a:rPr>
                <a:t>Clinic pilot, 50 patients x 3 months</a:t>
              </a:r>
            </a:p>
          </p:txBody>
        </p:sp>
        <p:sp>
          <p:nvSpPr>
            <p:cNvPr id="119" name="Rounded Rectangle 118"/>
            <p:cNvSpPr/>
            <p:nvPr/>
          </p:nvSpPr>
          <p:spPr>
            <a:xfrm>
              <a:off x="7606094" y="2876133"/>
              <a:ext cx="2947340" cy="154757"/>
            </a:xfrm>
            <a:prstGeom prst="roundRect">
              <a:avLst>
                <a:gd name="adj" fmla="val 35451"/>
              </a:avLst>
            </a:prstGeom>
            <a:solidFill>
              <a:srgbClr val="1D4E89"/>
            </a:solidFill>
            <a:ln>
              <a:noFill/>
            </a:ln>
          </p:spPr>
          <p:txBody>
            <a:bodyPr rtlCol="0" anchor="ctr" wrap="square" lIns="18288" rIns="18288" tIns="18288" bIns="18288">
              <a:noAutofit/>
            </a:bodyPr>
            <a:lstStyle/>
            <a:p>
              <a:pPr algn="ctr"/>
              <a:r>
                <a:rPr sz="900" b="0" i="0">
                  <a:solidFill>
                    <a:srgbClr val="FFFFFF"/>
                  </a:solidFill>
                  <a:latin typeface="Arial"/>
                </a:rPr>
                <a:t>pilot</a:t>
              </a:r>
            </a:p>
          </p:txBody>
        </p:sp>
        <p:sp>
          <p:nvSpPr>
            <p:cNvPr id="120" name="Rectangle 119"/>
            <p:cNvSpPr/>
            <p:nvPr/>
          </p:nvSpPr>
          <p:spPr>
            <a:xfrm>
              <a:off x="128016" y="3074416"/>
              <a:ext cx="11935663" cy="241808"/>
            </a:xfrm>
            <a:prstGeom prst="rect">
              <a:avLst/>
            </a:prstGeom>
            <a:solidFill>
              <a:srgbClr val="FFFFFF"/>
            </a:solidFill>
            <a:ln>
              <a:noFill/>
            </a:ln>
          </p:spPr>
          <p:txBody>
            <a:bodyPr rtlCol="0" anchor="ctr"/>
            <a:lstStyle/>
            <a:p/>
          </p:txBody>
        </p:sp>
        <p:cxnSp>
          <p:nvCxnSpPr>
            <p:cNvPr id="121" name="Connector 120"/>
            <p:cNvCxnSpPr/>
            <p:nvPr/>
          </p:nvCxnSpPr>
          <p:spPr>
            <a:xfrm>
              <a:off x="3111932" y="307441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3857911" y="307441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4603890" y="307441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5349869" y="307441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6095848" y="307441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6841827" y="307441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7587806" y="307441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8333784" y="307441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9079763" y="307441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9825742" y="307441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10571721" y="307441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11317700" y="3074416"/>
              <a:ext cx="0" cy="241808"/>
            </a:xfrm>
            <a:prstGeom prst="line">
              <a:avLst/>
            </a:prstGeom>
            <a:ln w="6350">
              <a:solidFill>
                <a:srgbClr val="C9D5E3"/>
              </a:solidFill>
            </a:ln>
          </p:spPr>
          <p:style>
            <a:lnRef idx="2">
              <a:schemeClr val="accent1"/>
            </a:lnRef>
            <a:fillRef idx="0">
              <a:schemeClr val="accent1"/>
            </a:fillRef>
            <a:effectRef idx="1">
              <a:schemeClr val="accent1"/>
            </a:effectRef>
            <a:fontRef idx="minor">
              <a:schemeClr val="tx1"/>
            </a:fontRef>
          </p:style>
        </p:cxnSp>
        <p:sp>
          <p:nvSpPr>
            <p:cNvPr id="133" name="TextBox 132"/>
            <p:cNvSpPr txBox="1"/>
            <p:nvPr/>
          </p:nvSpPr>
          <p:spPr>
            <a:xfrm>
              <a:off x="128016" y="3074416"/>
              <a:ext cx="2947340" cy="241808"/>
            </a:xfrm>
            <a:prstGeom prst="rect">
              <a:avLst/>
            </a:prstGeom>
            <a:noFill/>
          </p:spPr>
          <p:txBody>
            <a:bodyPr wrap="square" lIns="36576" rIns="36576" tIns="27432" bIns="27432" anchor="ctr">
              <a:noAutofit/>
            </a:bodyPr>
            <a:lstStyle/>
            <a:p>
              <a:pPr algn="l"/>
              <a:r>
                <a:rPr sz="900" b="1" i="0">
                  <a:solidFill>
                    <a:srgbClr val="1A1A1A"/>
                  </a:solidFill>
                  <a:latin typeface="Arial"/>
                </a:rPr>
                <a:t>ABDM / FHIR integration, SaMD pathway</a:t>
              </a:r>
            </a:p>
          </p:txBody>
        </p:sp>
        <p:sp>
          <p:nvSpPr>
            <p:cNvPr id="134" name="Rounded Rectangle 133"/>
            <p:cNvSpPr/>
            <p:nvPr/>
          </p:nvSpPr>
          <p:spPr>
            <a:xfrm>
              <a:off x="9098051" y="3117941"/>
              <a:ext cx="2947340" cy="154757"/>
            </a:xfrm>
            <a:prstGeom prst="roundRect">
              <a:avLst>
                <a:gd name="adj" fmla="val 35451"/>
              </a:avLst>
            </a:prstGeom>
            <a:solidFill>
              <a:srgbClr val="173D6B"/>
            </a:solidFill>
            <a:ln>
              <a:noFill/>
            </a:ln>
          </p:spPr>
          <p:txBody>
            <a:bodyPr rtlCol="0" anchor="ctr" wrap="square" lIns="18288" rIns="18288" tIns="18288" bIns="18288">
              <a:noAutofit/>
            </a:bodyPr>
            <a:lstStyle/>
            <a:p>
              <a:pPr algn="ctr"/>
              <a:r>
                <a:rPr sz="900" b="0" i="0">
                  <a:solidFill>
                    <a:srgbClr val="FFFFFF"/>
                  </a:solidFill>
                  <a:latin typeface="Arial"/>
                </a:rPr>
                <a:t>scale</a:t>
              </a:r>
            </a:p>
          </p:txBody>
        </p:sp>
        <p:sp>
          <p:nvSpPr>
            <p:cNvPr id="135" name="Diamond 134"/>
            <p:cNvSpPr/>
            <p:nvPr/>
          </p:nvSpPr>
          <p:spPr>
            <a:xfrm>
              <a:off x="3411769" y="3352800"/>
              <a:ext cx="146304" cy="146304"/>
            </a:xfrm>
            <a:prstGeom prst="diamond">
              <a:avLst/>
            </a:prstGeom>
            <a:solidFill>
              <a:srgbClr val="173D6B"/>
            </a:solidFill>
            <a:ln>
              <a:noFill/>
            </a:ln>
          </p:spPr>
          <p:txBody>
            <a:bodyPr rtlCol="0" anchor="ctr"/>
            <a:lstStyle/>
            <a:p/>
          </p:txBody>
        </p:sp>
        <p:sp>
          <p:nvSpPr>
            <p:cNvPr id="136" name="TextBox 135"/>
            <p:cNvSpPr txBox="1"/>
            <p:nvPr/>
          </p:nvSpPr>
          <p:spPr>
            <a:xfrm>
              <a:off x="2753401" y="3462528"/>
              <a:ext cx="1463040" cy="182880"/>
            </a:xfrm>
            <a:prstGeom prst="rect">
              <a:avLst/>
            </a:prstGeom>
            <a:noFill/>
          </p:spPr>
          <p:txBody>
            <a:bodyPr wrap="square" lIns="0" rIns="0" tIns="0" bIns="0" anchor="t">
              <a:noAutofit/>
            </a:bodyPr>
            <a:lstStyle/>
            <a:p>
              <a:pPr algn="ctr"/>
              <a:r>
                <a:rPr sz="900" b="1" i="0">
                  <a:solidFill>
                    <a:srgbClr val="1A1A1A"/>
                  </a:solidFill>
                  <a:latin typeface="Arial"/>
                </a:rPr>
                <a:t>Summit</a:t>
              </a:r>
            </a:p>
          </p:txBody>
        </p:sp>
        <p:sp>
          <p:nvSpPr>
            <p:cNvPr id="137" name="Diamond 136"/>
            <p:cNvSpPr/>
            <p:nvPr/>
          </p:nvSpPr>
          <p:spPr>
            <a:xfrm>
              <a:off x="7887643" y="3352800"/>
              <a:ext cx="146304" cy="146304"/>
            </a:xfrm>
            <a:prstGeom prst="diamond">
              <a:avLst/>
            </a:prstGeom>
            <a:solidFill>
              <a:srgbClr val="173D6B"/>
            </a:solidFill>
            <a:ln>
              <a:noFill/>
            </a:ln>
          </p:spPr>
          <p:txBody>
            <a:bodyPr rtlCol="0" anchor="ctr"/>
            <a:lstStyle/>
            <a:p/>
          </p:txBody>
        </p:sp>
        <p:sp>
          <p:nvSpPr>
            <p:cNvPr id="138" name="TextBox 137"/>
            <p:cNvSpPr txBox="1"/>
            <p:nvPr/>
          </p:nvSpPr>
          <p:spPr>
            <a:xfrm>
              <a:off x="7229275" y="3462528"/>
              <a:ext cx="1463040" cy="182880"/>
            </a:xfrm>
            <a:prstGeom prst="rect">
              <a:avLst/>
            </a:prstGeom>
            <a:noFill/>
          </p:spPr>
          <p:txBody>
            <a:bodyPr wrap="square" lIns="0" rIns="0" tIns="0" bIns="0" anchor="t">
              <a:noAutofit/>
            </a:bodyPr>
            <a:lstStyle/>
            <a:p>
              <a:pPr algn="ctr"/>
              <a:r>
                <a:rPr sz="900" b="1" i="0">
                  <a:solidFill>
                    <a:srgbClr val="1A1A1A"/>
                  </a:solidFill>
                  <a:latin typeface="Arial"/>
                </a:rPr>
                <a:t>Pilot start</a:t>
              </a:r>
            </a:p>
          </p:txBody>
        </p:sp>
        <p:sp>
          <p:nvSpPr>
            <p:cNvPr id="139" name="Diamond 138"/>
            <p:cNvSpPr/>
            <p:nvPr/>
          </p:nvSpPr>
          <p:spPr>
            <a:xfrm>
              <a:off x="11617538" y="3352800"/>
              <a:ext cx="146304" cy="146304"/>
            </a:xfrm>
            <a:prstGeom prst="diamond">
              <a:avLst/>
            </a:prstGeom>
            <a:solidFill>
              <a:srgbClr val="173D6B"/>
            </a:solidFill>
            <a:ln>
              <a:noFill/>
            </a:ln>
          </p:spPr>
          <p:txBody>
            <a:bodyPr rtlCol="0" anchor="ctr"/>
            <a:lstStyle/>
            <a:p/>
          </p:txBody>
        </p:sp>
        <p:sp>
          <p:nvSpPr>
            <p:cNvPr id="140" name="TextBox 139"/>
            <p:cNvSpPr txBox="1"/>
            <p:nvPr/>
          </p:nvSpPr>
          <p:spPr>
            <a:xfrm>
              <a:off x="10710367" y="3462528"/>
              <a:ext cx="1463040" cy="182880"/>
            </a:xfrm>
            <a:prstGeom prst="rect">
              <a:avLst/>
            </a:prstGeom>
            <a:noFill/>
          </p:spPr>
          <p:txBody>
            <a:bodyPr wrap="square" lIns="0" rIns="0" tIns="0" bIns="0" anchor="t">
              <a:noAutofit/>
            </a:bodyPr>
            <a:lstStyle/>
            <a:p>
              <a:pPr algn="ctr"/>
              <a:r>
                <a:rPr sz="900" b="1" i="0">
                  <a:solidFill>
                    <a:srgbClr val="1A1A1A"/>
                  </a:solidFill>
                  <a:latin typeface="Arial"/>
                </a:rPr>
                <a:t>Pilot readout</a:t>
              </a:r>
            </a:p>
          </p:txBody>
        </p:sp>
      </p:grpSp>
      <p:grpSp>
        <p:nvGrpSpPr>
          <p:cNvPr id="141" name="Group 140"/>
          <p:cNvGrpSpPr/>
          <p:nvPr/>
        </p:nvGrpSpPr>
        <p:grpSpPr>
          <a:xfrm>
            <a:off x="73152" y="3718560"/>
            <a:ext cx="4341035" cy="3084576"/>
            <a:chOff x="73152" y="3718560"/>
            <a:chExt cx="4341035" cy="3084576"/>
          </a:xfrm>
        </p:grpSpPr>
        <p:sp>
          <p:nvSpPr>
            <p:cNvPr id="142" name="frame:Cost to run one pati"/>
            <p:cNvSpPr/>
            <p:nvPr/>
          </p:nvSpPr>
          <p:spPr>
            <a:xfrm>
              <a:off x="73152" y="3855720"/>
              <a:ext cx="4341035" cy="2947416"/>
            </a:xfrm>
            <a:prstGeom prst="roundRect">
              <a:avLst>
                <a:gd name="adj" fmla="val 1551"/>
              </a:avLst>
            </a:prstGeom>
            <a:solidFill>
              <a:srgbClr val="F1F4F8"/>
            </a:solidFill>
            <a:ln w="15875">
              <a:solidFill>
                <a:srgbClr val="466E9E"/>
              </a:solidFill>
              <a:prstDash val="sysDot"/>
            </a:ln>
          </p:spPr>
          <p:txBody>
            <a:bodyPr rtlCol="0" anchor="ctr"/>
            <a:lstStyle/>
            <a:p/>
          </p:txBody>
        </p:sp>
        <p:sp>
          <p:nvSpPr>
            <p:cNvPr id="143" name="Rounded Rectangle 142"/>
            <p:cNvSpPr/>
            <p:nvPr/>
          </p:nvSpPr>
          <p:spPr>
            <a:xfrm>
              <a:off x="73152" y="3718560"/>
              <a:ext cx="2526998" cy="274320"/>
            </a:xfrm>
            <a:prstGeom prst="roundRect">
              <a:avLst>
                <a:gd name="adj" fmla="val 13333"/>
              </a:avLst>
            </a:prstGeom>
            <a:solidFill>
              <a:srgbClr val="1D4E89"/>
            </a:solidFill>
            <a:ln>
              <a:noFill/>
            </a:ln>
          </p:spPr>
          <p:txBody>
            <a:bodyPr rtlCol="0" anchor="ctr"/>
            <a:lstStyle/>
            <a:p/>
          </p:txBody>
        </p:sp>
        <p:pic>
          <p:nvPicPr>
            <p:cNvPr id="144" name="Picture 143" descr="ic_fa6_FaIndianRupeeSign_FFFFFF.png"/>
            <p:cNvPicPr>
              <a:picLocks noChangeAspect="1"/>
            </p:cNvPicPr>
            <p:nvPr/>
          </p:nvPicPr>
          <p:blipFill>
            <a:blip r:embed="rId3"/>
            <a:stretch>
              <a:fillRect/>
            </a:stretch>
          </p:blipFill>
          <p:spPr>
            <a:xfrm>
              <a:off x="128016" y="3755136"/>
              <a:ext cx="201168" cy="201168"/>
            </a:xfrm>
            <a:prstGeom prst="rect">
              <a:avLst/>
            </a:prstGeom>
          </p:spPr>
        </p:pic>
        <p:sp>
          <p:nvSpPr>
            <p:cNvPr id="145" name="TextBox 144"/>
            <p:cNvSpPr txBox="1"/>
            <p:nvPr/>
          </p:nvSpPr>
          <p:spPr>
            <a:xfrm>
              <a:off x="374904" y="3718560"/>
              <a:ext cx="2197814" cy="274320"/>
            </a:xfrm>
            <a:prstGeom prst="rect">
              <a:avLst/>
            </a:prstGeom>
            <a:noFill/>
          </p:spPr>
          <p:txBody>
            <a:bodyPr wrap="square" lIns="9144" rIns="9144" tIns="9144" bIns="9144" anchor="ctr">
              <a:noAutofit/>
            </a:bodyPr>
            <a:lstStyle/>
            <a:p>
              <a:pPr algn="l"/>
              <a:r>
                <a:rPr sz="1200" b="1" i="0">
                  <a:solidFill>
                    <a:srgbClr val="FFFFFF"/>
                  </a:solidFill>
                  <a:latin typeface="Arial"/>
                </a:rPr>
                <a:t>Cost to run one patient twin</a:t>
              </a:r>
            </a:p>
          </p:txBody>
        </p:sp>
        <p:sp>
          <p:nvSpPr>
            <p:cNvPr id="147" name="Rounded Rectangle 146"/>
            <p:cNvSpPr/>
            <p:nvPr/>
          </p:nvSpPr>
          <p:spPr>
            <a:xfrm>
              <a:off x="128016" y="6051012"/>
              <a:ext cx="4231307" cy="697260"/>
            </a:xfrm>
            <a:prstGeom prst="roundRect">
              <a:avLst>
                <a:gd name="adj" fmla="val 6557"/>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Compute for </a:t>
              </a:r>
              <a:r>
                <a:rPr sz="1200" b="1" i="0">
                  <a:solidFill>
                    <a:srgbClr val="1A1A1A"/>
                  </a:solidFill>
                  <a:latin typeface="Arial"/>
                </a:rPr>
                <a:t>10,000</a:t>
              </a:r>
              <a:r>
                <a:rPr sz="1200" b="0" i="0">
                  <a:solidFill>
                    <a:srgbClr val="1A1A1A"/>
                  </a:solidFill>
                  <a:latin typeface="Arial"/>
                </a:rPr>
                <a:t> patients fits on one small server; the </a:t>
              </a:r>
              <a:r>
                <a:rPr sz="1200" b="1" i="0">
                  <a:solidFill>
                    <a:srgbClr val="1A1A1A"/>
                  </a:solidFill>
                  <a:latin typeface="Arial"/>
                </a:rPr>
                <a:t>sensor, not the AI</a:t>
              </a:r>
              <a:r>
                <a:rPr sz="1200" b="0" i="0">
                  <a:solidFill>
                    <a:srgbClr val="1A1A1A"/>
                  </a:solidFill>
                  <a:latin typeface="Arial"/>
                </a:rPr>
                <a:t>, sets the price.</a:t>
              </a:r>
            </a:p>
          </p:txBody>
        </p:sp>
      </p:grpSp>
      <p:graphicFrame>
        <p:nvGraphicFramePr>
          <p:cNvPr id="146" name="ig:table"/>
          <p:cNvGraphicFramePr>
            <a:graphicFrameLocks noGrp="1"/>
          </p:cNvGraphicFramePr>
          <p:nvPr/>
        </p:nvGraphicFramePr>
        <p:xfrm>
          <a:off x="128016" y="4029456"/>
          <a:ext cx="4231307" cy="1957548"/>
        </p:xfrm>
        <a:graphic>
          <a:graphicData uri="http://schemas.openxmlformats.org/drawingml/2006/table">
            <a:tbl>
              <a:tblPr firstRow="1" bandRow="1">
                <a:tableStyleId>{5940675A-B579-460E-94D1-54222C63F5DA}</a:tableStyleId>
              </a:tblPr>
              <a:tblGrid>
                <a:gridCol w="1428753"/>
                <a:gridCol w="1428753"/>
                <a:gridCol w="1373801"/>
              </a:tblGrid>
              <a:tr h="326258">
                <a:tc>
                  <a:txBody>
                    <a:bodyPr wrap="square" lIns="45720" rIns="45720" tIns="27432" bIns="27432" anchor="ctr">
                      <a:noAutofit/>
                    </a:bodyPr>
                    <a:lstStyle/>
                    <a:p>
                      <a:pPr algn="l"/>
                      <a:r>
                        <a:rPr sz="1000" b="1" i="0">
                          <a:solidFill>
                            <a:srgbClr val="FFFFFF"/>
                          </a:solidFill>
                          <a:latin typeface="Arial"/>
                        </a:rPr>
                        <a:t>Item</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c>
                  <a:txBody>
                    <a:bodyPr wrap="square" lIns="45720" rIns="45720" tIns="27432" bIns="27432" anchor="ctr">
                      <a:noAutofit/>
                    </a:bodyPr>
                    <a:lstStyle/>
                    <a:p>
                      <a:pPr algn="r"/>
                      <a:r>
                        <a:rPr sz="1000" b="1" i="0">
                          <a:solidFill>
                            <a:srgbClr val="FFFFFF"/>
                          </a:solidFill>
                          <a:latin typeface="Arial"/>
                        </a:rPr>
                        <a:t>Per patient</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c>
                  <a:txBody>
                    <a:bodyPr wrap="square" lIns="45720" rIns="45720" tIns="27432" bIns="27432" anchor="ctr">
                      <a:noAutofit/>
                    </a:bodyPr>
                    <a:lstStyle/>
                    <a:p>
                      <a:pPr algn="l"/>
                      <a:r>
                        <a:rPr sz="1000" b="1" i="0">
                          <a:solidFill>
                            <a:srgbClr val="FFFFFF"/>
                          </a:solidFill>
                          <a:latin typeface="Arial"/>
                        </a:rPr>
                        <a:t>Basis</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r>
              <a:tr h="326258">
                <a:tc>
                  <a:txBody>
                    <a:bodyPr wrap="square" lIns="45720" rIns="45720" tIns="27432" bIns="27432" anchor="ctr">
                      <a:noAutofit/>
                    </a:bodyPr>
                    <a:lstStyle/>
                    <a:p>
                      <a:pPr algn="l"/>
                      <a:r>
                        <a:rPr sz="1000" b="1" i="0">
                          <a:solidFill>
                            <a:srgbClr val="1A1A1A"/>
                          </a:solidFill>
                          <a:latin typeface="Arial"/>
                        </a:rPr>
                        <a:t>CGM sensor, 15 days</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Rs 3,100 to 4,600</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l"/>
                      <a:r>
                        <a:rPr sz="1000" b="0" i="0">
                          <a:solidFill>
                            <a:srgbClr val="1A1A1A"/>
                          </a:solidFill>
                          <a:latin typeface="Arial"/>
                        </a:rPr>
                        <a:t>Indian retail, Sep 2026</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326258">
                <a:tc>
                  <a:txBody>
                    <a:bodyPr wrap="square" lIns="45720" rIns="45720" tIns="27432" bIns="27432" anchor="ctr">
                      <a:noAutofit/>
                    </a:bodyPr>
                    <a:lstStyle/>
                    <a:p>
                      <a:pPr algn="l"/>
                      <a:r>
                        <a:rPr sz="1000" b="1" i="0">
                          <a:solidFill>
                            <a:srgbClr val="1A1A1A"/>
                          </a:solidFill>
                          <a:latin typeface="Arial"/>
                        </a:rPr>
                        <a:t>Smartwatch data</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Rs 0</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l"/>
                      <a:r>
                        <a:rPr sz="1000" b="0" i="0">
                          <a:solidFill>
                            <a:srgbClr val="1A1A1A"/>
                          </a:solidFill>
                          <a:latin typeface="Arial"/>
                        </a:rPr>
                        <a:t>patient's own device</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326258">
                <a:tc>
                  <a:txBody>
                    <a:bodyPr wrap="square" lIns="45720" rIns="45720" tIns="27432" bIns="27432" anchor="ctr">
                      <a:noAutofit/>
                    </a:bodyPr>
                    <a:lstStyle/>
                    <a:p>
                      <a:pPr algn="l"/>
                      <a:r>
                        <a:rPr sz="1000" b="1" i="0">
                          <a:solidFill>
                            <a:srgbClr val="1A1A1A"/>
                          </a:solidFill>
                          <a:latin typeface="Arial"/>
                        </a:rPr>
                        <a:t>Twin calibration</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5.5 CPU-s</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l"/>
                      <a:r>
                        <a:rPr sz="1000" b="0" i="0">
                          <a:solidFill>
                            <a:srgbClr val="1A1A1A"/>
                          </a:solidFill>
                          <a:latin typeface="Arial"/>
                        </a:rPr>
                        <a:t>measured</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326258">
                <a:tc>
                  <a:txBody>
                    <a:bodyPr wrap="square" lIns="45720" rIns="45720" tIns="27432" bIns="27432" anchor="ctr">
                      <a:noAutofit/>
                    </a:bodyPr>
                    <a:lstStyle/>
                    <a:p>
                      <a:pPr algn="l"/>
                      <a:r>
                        <a:rPr sz="1000" b="1" i="0">
                          <a:solidFill>
                            <a:srgbClr val="1A1A1A"/>
                          </a:solidFill>
                          <a:latin typeface="Arial"/>
                        </a:rPr>
                        <a:t>Prediction</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&lt; 0.01 ms / reading</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l"/>
                      <a:r>
                        <a:rPr sz="1000" b="0" i="0">
                          <a:solidFill>
                            <a:srgbClr val="1A1A1A"/>
                          </a:solidFill>
                          <a:latin typeface="Arial"/>
                        </a:rPr>
                        <a:t>measured</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326258">
                <a:tc>
                  <a:txBody>
                    <a:bodyPr wrap="square" lIns="45720" rIns="45720" tIns="27432" bIns="27432" anchor="ctr">
                      <a:noAutofit/>
                    </a:bodyPr>
                    <a:lstStyle/>
                    <a:p>
                      <a:pPr algn="l"/>
                      <a:r>
                        <a:rPr sz="1000" b="1" i="0">
                          <a:solidFill>
                            <a:srgbClr val="1A1A1A"/>
                          </a:solidFill>
                          <a:latin typeface="Arial"/>
                        </a:rPr>
                        <a:t>Doctor review</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~1 min a week</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l"/>
                      <a:r>
                        <a:rPr sz="1000" b="0" i="0">
                          <a:solidFill>
                            <a:srgbClr val="1A1A1A"/>
                          </a:solidFill>
                          <a:latin typeface="Arial"/>
                        </a:rPr>
                        <a:t>console workflow</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bl>
          </a:graphicData>
        </a:graphic>
      </p:graphicFrame>
      <p:grpSp>
        <p:nvGrpSpPr>
          <p:cNvPr id="148" name="Group 147"/>
          <p:cNvGrpSpPr/>
          <p:nvPr/>
        </p:nvGrpSpPr>
        <p:grpSpPr>
          <a:xfrm>
            <a:off x="4487339" y="3718560"/>
            <a:ext cx="3875924" cy="3084576"/>
            <a:chOff x="4487339" y="3718560"/>
            <a:chExt cx="3875924" cy="3084576"/>
          </a:xfrm>
        </p:grpSpPr>
        <p:sp>
          <p:nvSpPr>
            <p:cNvPr id="149" name="frame:Basis of estimates"/>
            <p:cNvSpPr/>
            <p:nvPr/>
          </p:nvSpPr>
          <p:spPr>
            <a:xfrm>
              <a:off x="4487339" y="3855720"/>
              <a:ext cx="3875924" cy="2947416"/>
            </a:xfrm>
            <a:prstGeom prst="roundRect">
              <a:avLst>
                <a:gd name="adj" fmla="val 1551"/>
              </a:avLst>
            </a:prstGeom>
            <a:solidFill>
              <a:srgbClr val="F1F4F8"/>
            </a:solidFill>
            <a:ln w="15875">
              <a:solidFill>
                <a:srgbClr val="466E9E"/>
              </a:solidFill>
              <a:prstDash val="sysDot"/>
            </a:ln>
          </p:spPr>
          <p:txBody>
            <a:bodyPr rtlCol="0" anchor="ctr"/>
            <a:lstStyle/>
            <a:p/>
          </p:txBody>
        </p:sp>
        <p:sp>
          <p:nvSpPr>
            <p:cNvPr id="150" name="Rounded Rectangle 149"/>
            <p:cNvSpPr/>
            <p:nvPr/>
          </p:nvSpPr>
          <p:spPr>
            <a:xfrm>
              <a:off x="4487339" y="3718560"/>
              <a:ext cx="1850406" cy="274320"/>
            </a:xfrm>
            <a:prstGeom prst="roundRect">
              <a:avLst>
                <a:gd name="adj" fmla="val 13333"/>
              </a:avLst>
            </a:prstGeom>
            <a:solidFill>
              <a:srgbClr val="1D4E89"/>
            </a:solidFill>
            <a:ln>
              <a:noFill/>
            </a:ln>
          </p:spPr>
          <p:txBody>
            <a:bodyPr rtlCol="0" anchor="ctr"/>
            <a:lstStyle/>
            <a:p/>
          </p:txBody>
        </p:sp>
        <p:pic>
          <p:nvPicPr>
            <p:cNvPr id="151" name="Picture 150" descr="ic_fa6_FaCalculator_FFFFFF.png"/>
            <p:cNvPicPr>
              <a:picLocks noChangeAspect="1"/>
            </p:cNvPicPr>
            <p:nvPr/>
          </p:nvPicPr>
          <p:blipFill>
            <a:blip r:embed="rId4"/>
            <a:stretch>
              <a:fillRect/>
            </a:stretch>
          </p:blipFill>
          <p:spPr>
            <a:xfrm>
              <a:off x="4542203" y="3755136"/>
              <a:ext cx="201168" cy="201168"/>
            </a:xfrm>
            <a:prstGeom prst="rect">
              <a:avLst/>
            </a:prstGeom>
          </p:spPr>
        </p:pic>
        <p:sp>
          <p:nvSpPr>
            <p:cNvPr id="152" name="TextBox 151"/>
            <p:cNvSpPr txBox="1"/>
            <p:nvPr/>
          </p:nvSpPr>
          <p:spPr>
            <a:xfrm>
              <a:off x="4789091" y="3718560"/>
              <a:ext cx="1521222" cy="274320"/>
            </a:xfrm>
            <a:prstGeom prst="rect">
              <a:avLst/>
            </a:prstGeom>
            <a:noFill/>
          </p:spPr>
          <p:txBody>
            <a:bodyPr wrap="square" lIns="9144" rIns="9144" tIns="9144" bIns="9144" anchor="ctr">
              <a:noAutofit/>
            </a:bodyPr>
            <a:lstStyle/>
            <a:p>
              <a:pPr algn="l"/>
              <a:r>
                <a:rPr sz="1200" b="1" i="0">
                  <a:solidFill>
                    <a:srgbClr val="FFFFFF"/>
                  </a:solidFill>
                  <a:latin typeface="Arial"/>
                </a:rPr>
                <a:t>Basis of estimates</a:t>
              </a:r>
            </a:p>
          </p:txBody>
        </p:sp>
        <p:sp>
          <p:nvSpPr>
            <p:cNvPr id="153" name="Rounded Rectangle 152"/>
            <p:cNvSpPr/>
            <p:nvPr/>
          </p:nvSpPr>
          <p:spPr>
            <a:xfrm>
              <a:off x="4542203" y="4029456"/>
              <a:ext cx="1342663" cy="507187"/>
            </a:xfrm>
            <a:prstGeom prst="roundRect">
              <a:avLst>
                <a:gd name="adj" fmla="val 9014"/>
              </a:avLst>
            </a:prstGeom>
            <a:solidFill>
              <a:srgbClr val="112F52"/>
            </a:solidFill>
            <a:ln>
              <a:noFill/>
            </a:ln>
          </p:spPr>
          <p:txBody>
            <a:bodyPr rtlCol="0" anchor="ctr" wrap="square" lIns="45720" rIns="45720" tIns="27432" bIns="27432">
              <a:noAutofit/>
            </a:bodyPr>
            <a:lstStyle/>
            <a:p>
              <a:pPr algn="ctr"/>
              <a:r>
                <a:rPr sz="1600" b="1" i="0">
                  <a:solidFill>
                    <a:srgbClr val="FFFFFF"/>
                  </a:solidFill>
                  <a:latin typeface="Arial"/>
                </a:rPr>
                <a:t>5 brands</a:t>
              </a:r>
            </a:p>
          </p:txBody>
        </p:sp>
        <p:sp>
          <p:nvSpPr>
            <p:cNvPr id="154" name="Rounded Rectangle 153"/>
            <p:cNvSpPr/>
            <p:nvPr/>
          </p:nvSpPr>
          <p:spPr>
            <a:xfrm>
              <a:off x="5921442" y="4029456"/>
              <a:ext cx="2386957" cy="507187"/>
            </a:xfrm>
            <a:prstGeom prst="roundRect">
              <a:avLst>
                <a:gd name="adj" fmla="val 9014"/>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15-day CGMs listed at Indian retail</a:t>
              </a:r>
            </a:p>
          </p:txBody>
        </p:sp>
        <p:sp>
          <p:nvSpPr>
            <p:cNvPr id="155" name="Rounded Rectangle 154"/>
            <p:cNvSpPr/>
            <p:nvPr/>
          </p:nvSpPr>
          <p:spPr>
            <a:xfrm>
              <a:off x="4542203" y="4582363"/>
              <a:ext cx="1342663" cy="507187"/>
            </a:xfrm>
            <a:prstGeom prst="roundRect">
              <a:avLst>
                <a:gd name="adj" fmla="val 9014"/>
              </a:avLst>
            </a:prstGeom>
            <a:solidFill>
              <a:srgbClr val="112F52"/>
            </a:solidFill>
            <a:ln>
              <a:noFill/>
            </a:ln>
          </p:spPr>
          <p:txBody>
            <a:bodyPr rtlCol="0" anchor="ctr" wrap="square" lIns="45720" rIns="45720" tIns="27432" bIns="27432">
              <a:noAutofit/>
            </a:bodyPr>
            <a:lstStyle/>
            <a:p>
              <a:pPr algn="ctr"/>
              <a:r>
                <a:rPr sz="1600" b="1" i="0">
                  <a:solidFill>
                    <a:srgbClr val="FFFFFF"/>
                  </a:solidFill>
                  <a:latin typeface="Arial"/>
                </a:rPr>
                <a:t>331 s</a:t>
              </a:r>
            </a:p>
          </p:txBody>
        </p:sp>
        <p:sp>
          <p:nvSpPr>
            <p:cNvPr id="156" name="Rounded Rectangle 155"/>
            <p:cNvSpPr/>
            <p:nvPr/>
          </p:nvSpPr>
          <p:spPr>
            <a:xfrm>
              <a:off x="5921442" y="4582363"/>
              <a:ext cx="2386957" cy="507187"/>
            </a:xfrm>
            <a:prstGeom prst="roundRect">
              <a:avLst>
                <a:gd name="adj" fmla="val 9014"/>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120 twins on 2 CPU cores</a:t>
              </a:r>
            </a:p>
          </p:txBody>
        </p:sp>
        <p:sp>
          <p:nvSpPr>
            <p:cNvPr id="157" name="Rounded Rectangle 156"/>
            <p:cNvSpPr/>
            <p:nvPr/>
          </p:nvSpPr>
          <p:spPr>
            <a:xfrm>
              <a:off x="4542203" y="5135270"/>
              <a:ext cx="1342663" cy="507187"/>
            </a:xfrm>
            <a:prstGeom prst="roundRect">
              <a:avLst>
                <a:gd name="adj" fmla="val 9014"/>
              </a:avLst>
            </a:prstGeom>
            <a:solidFill>
              <a:srgbClr val="112F52"/>
            </a:solidFill>
            <a:ln>
              <a:noFill/>
            </a:ln>
          </p:spPr>
          <p:txBody>
            <a:bodyPr rtlCol="0" anchor="ctr" wrap="square" lIns="45720" rIns="45720" tIns="27432" bIns="27432">
              <a:noAutofit/>
            </a:bodyPr>
            <a:lstStyle/>
            <a:p>
              <a:pPr algn="ctr"/>
              <a:r>
                <a:rPr sz="1600" b="1" i="0">
                  <a:solidFill>
                    <a:srgbClr val="FFFFFF"/>
                  </a:solidFill>
                  <a:latin typeface="Arial"/>
                </a:rPr>
                <a:t>53 ms</a:t>
              </a:r>
            </a:p>
          </p:txBody>
        </p:sp>
        <p:sp>
          <p:nvSpPr>
            <p:cNvPr id="158" name="Rounded Rectangle 157"/>
            <p:cNvSpPr/>
            <p:nvPr/>
          </p:nvSpPr>
          <p:spPr>
            <a:xfrm>
              <a:off x="5921442" y="5135270"/>
              <a:ext cx="2386957" cy="507187"/>
            </a:xfrm>
            <a:prstGeom prst="roundRect">
              <a:avLst>
                <a:gd name="adj" fmla="val 9014"/>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to score 20,000 readings</a:t>
              </a:r>
            </a:p>
          </p:txBody>
        </p:sp>
        <p:sp>
          <p:nvSpPr>
            <p:cNvPr id="159" name="Rounded Rectangle 158"/>
            <p:cNvSpPr/>
            <p:nvPr/>
          </p:nvSpPr>
          <p:spPr>
            <a:xfrm>
              <a:off x="4542203" y="5688178"/>
              <a:ext cx="1342663" cy="507187"/>
            </a:xfrm>
            <a:prstGeom prst="roundRect">
              <a:avLst>
                <a:gd name="adj" fmla="val 9014"/>
              </a:avLst>
            </a:prstGeom>
            <a:solidFill>
              <a:srgbClr val="112F52"/>
            </a:solidFill>
            <a:ln>
              <a:noFill/>
            </a:ln>
          </p:spPr>
          <p:txBody>
            <a:bodyPr rtlCol="0" anchor="ctr" wrap="square" lIns="45720" rIns="45720" tIns="27432" bIns="27432">
              <a:noAutofit/>
            </a:bodyPr>
            <a:lstStyle/>
            <a:p>
              <a:pPr algn="ctr"/>
              <a:r>
                <a:rPr sz="1600" b="1" i="0">
                  <a:solidFill>
                    <a:srgbClr val="FFFFFF"/>
                  </a:solidFill>
                  <a:latin typeface="Arial"/>
                </a:rPr>
                <a:t>1 sprint</a:t>
              </a:r>
            </a:p>
          </p:txBody>
        </p:sp>
        <p:sp>
          <p:nvSpPr>
            <p:cNvPr id="160" name="Rounded Rectangle 159"/>
            <p:cNvSpPr/>
            <p:nvPr/>
          </p:nvSpPr>
          <p:spPr>
            <a:xfrm>
              <a:off x="5921442" y="5688178"/>
              <a:ext cx="2386957" cy="507187"/>
            </a:xfrm>
            <a:prstGeom prst="roundRect">
              <a:avLst>
                <a:gd name="adj" fmla="val 9014"/>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CGM per quarter keeps twin current (pilot)</a:t>
              </a:r>
            </a:p>
          </p:txBody>
        </p:sp>
        <p:sp>
          <p:nvSpPr>
            <p:cNvPr id="161" name="Rounded Rectangle 160"/>
            <p:cNvSpPr/>
            <p:nvPr/>
          </p:nvSpPr>
          <p:spPr>
            <a:xfrm>
              <a:off x="4542203" y="6241085"/>
              <a:ext cx="1342663" cy="507187"/>
            </a:xfrm>
            <a:prstGeom prst="roundRect">
              <a:avLst>
                <a:gd name="adj" fmla="val 9014"/>
              </a:avLst>
            </a:prstGeom>
            <a:solidFill>
              <a:srgbClr val="112F52"/>
            </a:solidFill>
            <a:ln>
              <a:noFill/>
            </a:ln>
          </p:spPr>
          <p:txBody>
            <a:bodyPr rtlCol="0" anchor="ctr" wrap="square" lIns="45720" rIns="45720" tIns="27432" bIns="27432">
              <a:noAutofit/>
            </a:bodyPr>
            <a:lstStyle/>
            <a:p>
              <a:pPr algn="ctr"/>
              <a:r>
                <a:rPr sz="1600" b="1" i="0">
                  <a:solidFill>
                    <a:srgbClr val="FFFFFF"/>
                  </a:solidFill>
                  <a:latin typeface="Arial"/>
                </a:rPr>
                <a:t>~1 min</a:t>
              </a:r>
            </a:p>
          </p:txBody>
        </p:sp>
        <p:sp>
          <p:nvSpPr>
            <p:cNvPr id="162" name="Rounded Rectangle 161"/>
            <p:cNvSpPr/>
            <p:nvPr/>
          </p:nvSpPr>
          <p:spPr>
            <a:xfrm>
              <a:off x="5921442" y="6241085"/>
              <a:ext cx="2386957" cy="507187"/>
            </a:xfrm>
            <a:prstGeom prst="roundRect">
              <a:avLst>
                <a:gd name="adj" fmla="val 9014"/>
              </a:avLst>
            </a:prstGeom>
            <a:solidFill>
              <a:srgbClr val="E2E8F0"/>
            </a:solidFill>
            <a:ln>
              <a:noFill/>
            </a:ln>
          </p:spPr>
          <p:txBody>
            <a:bodyPr rtlCol="0" anchor="ctr" wrap="square" lIns="45720" rIns="45720" tIns="27432" bIns="27432">
              <a:noAutofit/>
            </a:bodyPr>
            <a:lstStyle/>
            <a:p>
              <a:pPr algn="l"/>
              <a:r>
                <a:rPr sz="1200" b="0" i="0">
                  <a:solidFill>
                    <a:srgbClr val="1A1A1A"/>
                  </a:solidFill>
                  <a:latin typeface="Arial"/>
                </a:rPr>
                <a:t>doctor review per patient a week</a:t>
              </a:r>
            </a:p>
          </p:txBody>
        </p:sp>
      </p:grpSp>
      <p:grpSp>
        <p:nvGrpSpPr>
          <p:cNvPr id="163" name="Group 162"/>
          <p:cNvGrpSpPr/>
          <p:nvPr/>
        </p:nvGrpSpPr>
        <p:grpSpPr>
          <a:xfrm>
            <a:off x="8436415" y="3718560"/>
            <a:ext cx="3682128" cy="3084576"/>
            <a:chOff x="8436415" y="3718560"/>
            <a:chExt cx="3682128" cy="3084576"/>
          </a:xfrm>
        </p:grpSpPr>
        <p:sp>
          <p:nvSpPr>
            <p:cNvPr id="164" name="frame:Go-to-market options"/>
            <p:cNvSpPr/>
            <p:nvPr/>
          </p:nvSpPr>
          <p:spPr>
            <a:xfrm>
              <a:off x="8436415" y="3855720"/>
              <a:ext cx="3682128" cy="2947416"/>
            </a:xfrm>
            <a:prstGeom prst="roundRect">
              <a:avLst>
                <a:gd name="adj" fmla="val 1551"/>
              </a:avLst>
            </a:prstGeom>
            <a:solidFill>
              <a:srgbClr val="F1F4F8"/>
            </a:solidFill>
            <a:ln w="15875">
              <a:solidFill>
                <a:srgbClr val="466E9E"/>
              </a:solidFill>
              <a:prstDash val="sysDot"/>
            </a:ln>
          </p:spPr>
          <p:txBody>
            <a:bodyPr rtlCol="0" anchor="ctr"/>
            <a:lstStyle/>
            <a:p/>
          </p:txBody>
        </p:sp>
        <p:sp>
          <p:nvSpPr>
            <p:cNvPr id="165" name="Rounded Rectangle 164"/>
            <p:cNvSpPr/>
            <p:nvPr/>
          </p:nvSpPr>
          <p:spPr>
            <a:xfrm>
              <a:off x="8436415" y="3718560"/>
              <a:ext cx="2061464" cy="274320"/>
            </a:xfrm>
            <a:prstGeom prst="roundRect">
              <a:avLst>
                <a:gd name="adj" fmla="val 13333"/>
              </a:avLst>
            </a:prstGeom>
            <a:solidFill>
              <a:srgbClr val="1D4E89"/>
            </a:solidFill>
            <a:ln>
              <a:noFill/>
            </a:ln>
          </p:spPr>
          <p:txBody>
            <a:bodyPr rtlCol="0" anchor="ctr"/>
            <a:lstStyle/>
            <a:p/>
          </p:txBody>
        </p:sp>
        <p:pic>
          <p:nvPicPr>
            <p:cNvPr id="166" name="Picture 165" descr="ic_fa6_FaHandshake_FFFFFF.png"/>
            <p:cNvPicPr>
              <a:picLocks noChangeAspect="1"/>
            </p:cNvPicPr>
            <p:nvPr/>
          </p:nvPicPr>
          <p:blipFill>
            <a:blip r:embed="rId5"/>
            <a:stretch>
              <a:fillRect/>
            </a:stretch>
          </p:blipFill>
          <p:spPr>
            <a:xfrm>
              <a:off x="8491279" y="3755136"/>
              <a:ext cx="201168" cy="201168"/>
            </a:xfrm>
            <a:prstGeom prst="rect">
              <a:avLst/>
            </a:prstGeom>
          </p:spPr>
        </p:pic>
        <p:sp>
          <p:nvSpPr>
            <p:cNvPr id="167" name="TextBox 166"/>
            <p:cNvSpPr txBox="1"/>
            <p:nvPr/>
          </p:nvSpPr>
          <p:spPr>
            <a:xfrm>
              <a:off x="8738167" y="3718560"/>
              <a:ext cx="1732280" cy="274320"/>
            </a:xfrm>
            <a:prstGeom prst="rect">
              <a:avLst/>
            </a:prstGeom>
            <a:noFill/>
          </p:spPr>
          <p:txBody>
            <a:bodyPr wrap="square" lIns="9144" rIns="9144" tIns="9144" bIns="9144" anchor="ctr">
              <a:noAutofit/>
            </a:bodyPr>
            <a:lstStyle/>
            <a:p>
              <a:pPr algn="l"/>
              <a:r>
                <a:rPr sz="1200" b="1" i="0">
                  <a:solidFill>
                    <a:srgbClr val="FFFFFF"/>
                  </a:solidFill>
                  <a:latin typeface="Arial"/>
                </a:rPr>
                <a:t>Go-to-market options</a:t>
              </a:r>
            </a:p>
          </p:txBody>
        </p:sp>
        <p:sp>
          <p:nvSpPr>
            <p:cNvPr id="168" name="ig:icon_card"/>
            <p:cNvSpPr/>
            <p:nvPr/>
          </p:nvSpPr>
          <p:spPr>
            <a:xfrm>
              <a:off x="8491279" y="4029456"/>
              <a:ext cx="3572400" cy="869696"/>
            </a:xfrm>
            <a:prstGeom prst="roundRect">
              <a:avLst>
                <a:gd name="adj" fmla="val 5257"/>
              </a:avLst>
            </a:prstGeom>
            <a:solidFill>
              <a:srgbClr val="FFFFFF"/>
            </a:solidFill>
            <a:ln w="9525">
              <a:solidFill>
                <a:srgbClr val="466E9E"/>
              </a:solidFill>
              <a:prstDash val="sysDot"/>
            </a:ln>
          </p:spPr>
          <p:txBody>
            <a:bodyPr rtlCol="0" anchor="ctr"/>
            <a:lstStyle/>
            <a:p/>
          </p:txBody>
        </p:sp>
        <p:pic>
          <p:nvPicPr>
            <p:cNvPr id="169" name="Picture 168" descr="ic_fa6_FaHospital_1D4E89.png"/>
            <p:cNvPicPr>
              <a:picLocks noChangeAspect="1"/>
            </p:cNvPicPr>
            <p:nvPr/>
          </p:nvPicPr>
          <p:blipFill>
            <a:blip r:embed="rId6"/>
            <a:stretch>
              <a:fillRect/>
            </a:stretch>
          </p:blipFill>
          <p:spPr>
            <a:xfrm>
              <a:off x="8555287" y="4212844"/>
              <a:ext cx="502920" cy="502920"/>
            </a:xfrm>
            <a:prstGeom prst="rect">
              <a:avLst/>
            </a:prstGeom>
          </p:spPr>
        </p:pic>
        <p:sp>
          <p:nvSpPr>
            <p:cNvPr id="170" name="TextBox 169"/>
            <p:cNvSpPr txBox="1"/>
            <p:nvPr/>
          </p:nvSpPr>
          <p:spPr>
            <a:xfrm>
              <a:off x="9103927" y="4047744"/>
              <a:ext cx="2923176" cy="833120"/>
            </a:xfrm>
            <a:prstGeom prst="rect">
              <a:avLst/>
            </a:prstGeom>
            <a:noFill/>
          </p:spPr>
          <p:txBody>
            <a:bodyPr wrap="square" lIns="27432" rIns="27432" tIns="27432" bIns="27432" anchor="ctr">
              <a:noAutofit/>
            </a:bodyPr>
            <a:lstStyle/>
            <a:p>
              <a:pPr algn="l"/>
              <a:r>
                <a:rPr sz="1200" b="1" i="0">
                  <a:solidFill>
                    <a:srgbClr val="1A1A1A"/>
                  </a:solidFill>
                  <a:latin typeface="Arial"/>
                </a:rPr>
                <a:t>Diabetes clinics</a:t>
              </a:r>
            </a:p>
            <a:p>
              <a:pPr algn="l"/>
              <a:r>
                <a:rPr sz="1200" b="0" i="0">
                  <a:solidFill>
                    <a:srgbClr val="1A1A1A"/>
                  </a:solidFill>
                  <a:latin typeface="Arial"/>
                </a:rPr>
                <a:t>licence per active patient</a:t>
              </a:r>
            </a:p>
          </p:txBody>
        </p:sp>
        <p:sp>
          <p:nvSpPr>
            <p:cNvPr id="171" name="ig:icon_card"/>
            <p:cNvSpPr/>
            <p:nvPr/>
          </p:nvSpPr>
          <p:spPr>
            <a:xfrm>
              <a:off x="8491279" y="4954016"/>
              <a:ext cx="3572400" cy="869696"/>
            </a:xfrm>
            <a:prstGeom prst="roundRect">
              <a:avLst>
                <a:gd name="adj" fmla="val 5257"/>
              </a:avLst>
            </a:prstGeom>
            <a:solidFill>
              <a:srgbClr val="FFFFFF"/>
            </a:solidFill>
            <a:ln w="9525">
              <a:solidFill>
                <a:srgbClr val="466E9E"/>
              </a:solidFill>
              <a:prstDash val="sysDot"/>
            </a:ln>
          </p:spPr>
          <p:txBody>
            <a:bodyPr rtlCol="0" anchor="ctr"/>
            <a:lstStyle/>
            <a:p/>
          </p:txBody>
        </p:sp>
        <p:pic>
          <p:nvPicPr>
            <p:cNvPr id="172" name="Picture 171" descr="ic_fa6_FaShieldHalved_1D4E89.png"/>
            <p:cNvPicPr>
              <a:picLocks noChangeAspect="1"/>
            </p:cNvPicPr>
            <p:nvPr/>
          </p:nvPicPr>
          <p:blipFill>
            <a:blip r:embed="rId7"/>
            <a:stretch>
              <a:fillRect/>
            </a:stretch>
          </p:blipFill>
          <p:spPr>
            <a:xfrm>
              <a:off x="8555287" y="5137404"/>
              <a:ext cx="502920" cy="502920"/>
            </a:xfrm>
            <a:prstGeom prst="rect">
              <a:avLst/>
            </a:prstGeom>
          </p:spPr>
        </p:pic>
        <p:sp>
          <p:nvSpPr>
            <p:cNvPr id="173" name="TextBox 172"/>
            <p:cNvSpPr txBox="1"/>
            <p:nvPr/>
          </p:nvSpPr>
          <p:spPr>
            <a:xfrm>
              <a:off x="9103927" y="4972304"/>
              <a:ext cx="2923176" cy="833120"/>
            </a:xfrm>
            <a:prstGeom prst="rect">
              <a:avLst/>
            </a:prstGeom>
            <a:noFill/>
          </p:spPr>
          <p:txBody>
            <a:bodyPr wrap="square" lIns="27432" rIns="27432" tIns="27432" bIns="27432" anchor="ctr">
              <a:noAutofit/>
            </a:bodyPr>
            <a:lstStyle/>
            <a:p>
              <a:pPr algn="l"/>
              <a:r>
                <a:rPr sz="1200" b="1" i="0">
                  <a:solidFill>
                    <a:srgbClr val="1A1A1A"/>
                  </a:solidFill>
                  <a:latin typeface="Arial"/>
                </a:rPr>
                <a:t>Insurers, employers</a:t>
              </a:r>
            </a:p>
            <a:p>
              <a:pPr algn="l"/>
              <a:r>
                <a:rPr sz="1200" b="0" i="0">
                  <a:solidFill>
                    <a:srgbClr val="1A1A1A"/>
                  </a:solidFill>
                  <a:latin typeface="Arial"/>
                </a:rPr>
                <a:t>outcome-linked programmes</a:t>
              </a:r>
            </a:p>
          </p:txBody>
        </p:sp>
        <p:sp>
          <p:nvSpPr>
            <p:cNvPr id="174" name="ig:icon_card"/>
            <p:cNvSpPr/>
            <p:nvPr/>
          </p:nvSpPr>
          <p:spPr>
            <a:xfrm>
              <a:off x="8491279" y="5878576"/>
              <a:ext cx="3572400" cy="869696"/>
            </a:xfrm>
            <a:prstGeom prst="roundRect">
              <a:avLst>
                <a:gd name="adj" fmla="val 5257"/>
              </a:avLst>
            </a:prstGeom>
            <a:solidFill>
              <a:srgbClr val="FFFFFF"/>
            </a:solidFill>
            <a:ln w="9525">
              <a:solidFill>
                <a:srgbClr val="466E9E"/>
              </a:solidFill>
              <a:prstDash val="sysDot"/>
            </a:ln>
          </p:spPr>
          <p:txBody>
            <a:bodyPr rtlCol="0" anchor="ctr"/>
            <a:lstStyle/>
            <a:p/>
          </p:txBody>
        </p:sp>
        <p:pic>
          <p:nvPicPr>
            <p:cNvPr id="175" name="Picture 174" descr="ic_fa6_FaMobileScreen_1D4E89.png"/>
            <p:cNvPicPr>
              <a:picLocks noChangeAspect="1"/>
            </p:cNvPicPr>
            <p:nvPr/>
          </p:nvPicPr>
          <p:blipFill>
            <a:blip r:embed="rId8"/>
            <a:stretch>
              <a:fillRect/>
            </a:stretch>
          </p:blipFill>
          <p:spPr>
            <a:xfrm>
              <a:off x="8555287" y="6061964"/>
              <a:ext cx="502920" cy="502920"/>
            </a:xfrm>
            <a:prstGeom prst="rect">
              <a:avLst/>
            </a:prstGeom>
          </p:spPr>
        </p:pic>
        <p:sp>
          <p:nvSpPr>
            <p:cNvPr id="176" name="TextBox 175"/>
            <p:cNvSpPr txBox="1"/>
            <p:nvPr/>
          </p:nvSpPr>
          <p:spPr>
            <a:xfrm>
              <a:off x="9103927" y="5896864"/>
              <a:ext cx="2923176" cy="833120"/>
            </a:xfrm>
            <a:prstGeom prst="rect">
              <a:avLst/>
            </a:prstGeom>
            <a:noFill/>
          </p:spPr>
          <p:txBody>
            <a:bodyPr wrap="square" lIns="27432" rIns="27432" tIns="27432" bIns="27432" anchor="ctr">
              <a:noAutofit/>
            </a:bodyPr>
            <a:lstStyle/>
            <a:p>
              <a:pPr algn="l"/>
              <a:r>
                <a:rPr sz="1200" b="1" i="0">
                  <a:solidFill>
                    <a:srgbClr val="1A1A1A"/>
                  </a:solidFill>
                  <a:latin typeface="Arial"/>
                </a:rPr>
                <a:t>CGM makers</a:t>
              </a:r>
            </a:p>
            <a:p>
              <a:pPr algn="l"/>
              <a:r>
                <a:rPr sz="1200" b="0" i="0">
                  <a:solidFill>
                    <a:srgbClr val="1A1A1A"/>
                  </a:solidFill>
                  <a:latin typeface="Arial"/>
                </a:rPr>
                <a:t>twin as an app add-on</a:t>
              </a:r>
            </a:p>
          </p:txBody>
        </p:sp>
      </p:gr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v:0">
            <a:hlinkClick action="ppaction://hlinksldjump" r:id="rId6"/>
          </p:cNvPr>
          <p:cNvSpPr/>
          <p:nvPr/>
        </p:nvSpPr>
        <p:spPr>
          <a:xfrm>
            <a:off x="0" y="0"/>
            <a:ext cx="1359073" cy="457200"/>
          </a:xfrm>
          <a:prstGeom prst="homePlate">
            <a:avLst>
              <a:gd name="adj" fmla="val 34000"/>
            </a:avLst>
          </a:prstGeom>
          <a:solidFill>
            <a:srgbClr val="6587AF"/>
          </a:solidFill>
          <a:ln w="12700">
            <a:solidFill>
              <a:srgbClr val="FFFFFF"/>
            </a:solidFill>
          </a:ln>
        </p:spPr>
        <p:txBody>
          <a:bodyPr rtlCol="0" anchor="ctr"/>
          <a:lstStyle/>
          <a:p/>
        </p:txBody>
      </p:sp>
      <p:sp>
        <p:nvSpPr>
          <p:cNvPr id="3" name="nav:t0">
            <a:hlinkClick action="ppaction://hlinksldjump" r:id="rId6"/>
          </p:cNvPr>
          <p:cNvSpPr txBox="1"/>
          <p:nvPr/>
        </p:nvSpPr>
        <p:spPr>
          <a:xfrm>
            <a:off x="64008" y="0"/>
            <a:ext cx="1121329" cy="457200"/>
          </a:xfrm>
          <a:prstGeom prst="rect">
            <a:avLst/>
          </a:prstGeom>
          <a:noFill/>
        </p:spPr>
        <p:txBody>
          <a:bodyPr wrap="square" lIns="9144" rIns="9144" tIns="9144" bIns="9144" anchor="ctr">
            <a:noAutofit/>
          </a:bodyPr>
          <a:lstStyle/>
          <a:p>
            <a:pPr algn="ctr"/>
            <a:r>
              <a:rPr sz="1000" b="0" i="0">
                <a:solidFill>
                  <a:srgbClr val="FFFFFF"/>
                </a:solidFill>
                <a:latin typeface="Arial"/>
              </a:rPr>
              <a:t>Executive Summary</a:t>
            </a:r>
          </a:p>
        </p:txBody>
      </p:sp>
      <p:sp>
        <p:nvSpPr>
          <p:cNvPr id="4" name="nav:1">
            <a:hlinkClick action="ppaction://hlinksldjump" r:id="rId7"/>
          </p:cNvPr>
          <p:cNvSpPr/>
          <p:nvPr/>
        </p:nvSpPr>
        <p:spPr>
          <a:xfrm>
            <a:off x="1203625"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5" name="nav:t1">
            <a:hlinkClick action="ppaction://hlinksldjump" r:id="rId7"/>
          </p:cNvPr>
          <p:cNvSpPr txBox="1"/>
          <p:nvPr/>
        </p:nvSpPr>
        <p:spPr>
          <a:xfrm>
            <a:off x="1386505"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Problem</a:t>
            </a:r>
          </a:p>
        </p:txBody>
      </p:sp>
      <p:sp>
        <p:nvSpPr>
          <p:cNvPr id="6" name="nav:2">
            <a:hlinkClick action="ppaction://hlinksldjump" r:id="rId8"/>
          </p:cNvPr>
          <p:cNvSpPr/>
          <p:nvPr/>
        </p:nvSpPr>
        <p:spPr>
          <a:xfrm>
            <a:off x="2407249"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7" name="nav:t2">
            <a:hlinkClick action="ppaction://hlinksldjump" r:id="rId8"/>
          </p:cNvPr>
          <p:cNvSpPr txBox="1"/>
          <p:nvPr/>
        </p:nvSpPr>
        <p:spPr>
          <a:xfrm>
            <a:off x="2590129"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Solution</a:t>
            </a:r>
          </a:p>
        </p:txBody>
      </p:sp>
      <p:sp>
        <p:nvSpPr>
          <p:cNvPr id="8" name="nav:3">
            <a:hlinkClick action="ppaction://hlinksldjump" r:id="rId9"/>
          </p:cNvPr>
          <p:cNvSpPr/>
          <p:nvPr/>
        </p:nvSpPr>
        <p:spPr>
          <a:xfrm>
            <a:off x="3610874"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9" name="nav:t3">
            <a:hlinkClick action="ppaction://hlinksldjump" r:id="rId9"/>
          </p:cNvPr>
          <p:cNvSpPr txBox="1"/>
          <p:nvPr/>
        </p:nvSpPr>
        <p:spPr>
          <a:xfrm>
            <a:off x="3793754"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Data</a:t>
            </a:r>
          </a:p>
        </p:txBody>
      </p:sp>
      <p:sp>
        <p:nvSpPr>
          <p:cNvPr id="10" name="nav:4">
            <a:hlinkClick action="ppaction://hlinksldjump" r:id="rId10"/>
          </p:cNvPr>
          <p:cNvSpPr/>
          <p:nvPr/>
        </p:nvSpPr>
        <p:spPr>
          <a:xfrm>
            <a:off x="4814499"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1" name="nav:t4">
            <a:hlinkClick action="ppaction://hlinksldjump" r:id="rId10"/>
          </p:cNvPr>
          <p:cNvSpPr txBox="1"/>
          <p:nvPr/>
        </p:nvSpPr>
        <p:spPr>
          <a:xfrm>
            <a:off x="4997379"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Twin Engine</a:t>
            </a:r>
          </a:p>
        </p:txBody>
      </p:sp>
      <p:sp>
        <p:nvSpPr>
          <p:cNvPr id="12" name="nav:5">
            <a:hlinkClick action="ppaction://hlinksldjump" r:id="rId11"/>
          </p:cNvPr>
          <p:cNvSpPr/>
          <p:nvPr/>
        </p:nvSpPr>
        <p:spPr>
          <a:xfrm>
            <a:off x="6018124"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3" name="nav:t5">
            <a:hlinkClick action="ppaction://hlinksldjump" r:id="rId11"/>
          </p:cNvPr>
          <p:cNvSpPr txBox="1"/>
          <p:nvPr/>
        </p:nvSpPr>
        <p:spPr>
          <a:xfrm>
            <a:off x="6201004"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AI Model</a:t>
            </a:r>
          </a:p>
        </p:txBody>
      </p:sp>
      <p:sp>
        <p:nvSpPr>
          <p:cNvPr id="14" name="nav:6">
            <a:hlinkClick action="ppaction://hlinksldjump" r:id="rId12"/>
          </p:cNvPr>
          <p:cNvSpPr/>
          <p:nvPr/>
        </p:nvSpPr>
        <p:spPr>
          <a:xfrm>
            <a:off x="7221748"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5" name="nav:t6">
            <a:hlinkClick action="ppaction://hlinksldjump" r:id="rId12"/>
          </p:cNvPr>
          <p:cNvSpPr txBox="1"/>
          <p:nvPr/>
        </p:nvSpPr>
        <p:spPr>
          <a:xfrm>
            <a:off x="7404628"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Results</a:t>
            </a:r>
          </a:p>
        </p:txBody>
      </p:sp>
      <p:sp>
        <p:nvSpPr>
          <p:cNvPr id="16" name="nav:7">
            <a:hlinkClick action="ppaction://hlinksldjump" r:id="rId13"/>
          </p:cNvPr>
          <p:cNvSpPr/>
          <p:nvPr/>
        </p:nvSpPr>
        <p:spPr>
          <a:xfrm>
            <a:off x="8425373"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7" name="nav:t7">
            <a:hlinkClick action="ppaction://hlinksldjump" r:id="rId13"/>
          </p:cNvPr>
          <p:cNvSpPr txBox="1"/>
          <p:nvPr/>
        </p:nvSpPr>
        <p:spPr>
          <a:xfrm>
            <a:off x="8608253"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Dashboard</a:t>
            </a:r>
          </a:p>
        </p:txBody>
      </p:sp>
      <p:sp>
        <p:nvSpPr>
          <p:cNvPr id="18" name="nav:8">
            <a:hlinkClick action="ppaction://hlinksldjump" r:id="rId14"/>
          </p:cNvPr>
          <p:cNvSpPr/>
          <p:nvPr/>
        </p:nvSpPr>
        <p:spPr>
          <a:xfrm>
            <a:off x="9628998"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19" name="nav:t8">
            <a:hlinkClick action="ppaction://hlinksldjump" r:id="rId14"/>
          </p:cNvPr>
          <p:cNvSpPr txBox="1"/>
          <p:nvPr/>
        </p:nvSpPr>
        <p:spPr>
          <a:xfrm>
            <a:off x="9811878"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Impact</a:t>
            </a:r>
          </a:p>
        </p:txBody>
      </p:sp>
      <p:sp>
        <p:nvSpPr>
          <p:cNvPr id="20" name="nav:9">
            <a:hlinkClick action="ppaction://hlinksldjump" r:id="rId15"/>
          </p:cNvPr>
          <p:cNvSpPr/>
          <p:nvPr/>
        </p:nvSpPr>
        <p:spPr>
          <a:xfrm>
            <a:off x="10832622" y="0"/>
            <a:ext cx="1359073" cy="457200"/>
          </a:xfrm>
          <a:prstGeom prst="chevron">
            <a:avLst>
              <a:gd name="adj" fmla="val 34000"/>
            </a:avLst>
          </a:prstGeom>
          <a:solidFill>
            <a:srgbClr val="6587AF"/>
          </a:solidFill>
          <a:ln w="12700">
            <a:solidFill>
              <a:srgbClr val="FFFFFF"/>
            </a:solidFill>
          </a:ln>
        </p:spPr>
        <p:txBody>
          <a:bodyPr rtlCol="0" anchor="ctr"/>
          <a:lstStyle/>
          <a:p/>
        </p:txBody>
      </p:sp>
      <p:sp>
        <p:nvSpPr>
          <p:cNvPr id="21" name="nav:t9">
            <a:hlinkClick action="ppaction://hlinksldjump" r:id="rId15"/>
          </p:cNvPr>
          <p:cNvSpPr txBox="1"/>
          <p:nvPr/>
        </p:nvSpPr>
        <p:spPr>
          <a:xfrm>
            <a:off x="11015502" y="0"/>
            <a:ext cx="1002457" cy="457200"/>
          </a:xfrm>
          <a:prstGeom prst="rect">
            <a:avLst/>
          </a:prstGeom>
          <a:noFill/>
        </p:spPr>
        <p:txBody>
          <a:bodyPr wrap="square" lIns="9144" rIns="9144" tIns="9144" bIns="9144" anchor="ctr">
            <a:noAutofit/>
          </a:bodyPr>
          <a:lstStyle/>
          <a:p>
            <a:pPr algn="ctr"/>
            <a:r>
              <a:rPr sz="1000" b="0" i="0">
                <a:solidFill>
                  <a:srgbClr val="FFFFFF"/>
                </a:solidFill>
                <a:latin typeface="Arial"/>
              </a:rPr>
              <a:t>Roadmap &amp; Cost</a:t>
            </a:r>
          </a:p>
        </p:txBody>
      </p:sp>
      <p:sp>
        <p:nvSpPr>
          <p:cNvPr id="22" name="TextBox 21"/>
          <p:cNvSpPr txBox="1"/>
          <p:nvPr/>
        </p:nvSpPr>
        <p:spPr>
          <a:xfrm>
            <a:off x="73152" y="502920"/>
            <a:ext cx="12045391" cy="329184"/>
          </a:xfrm>
          <a:prstGeom prst="rect">
            <a:avLst/>
          </a:prstGeom>
          <a:noFill/>
        </p:spPr>
        <p:txBody>
          <a:bodyPr wrap="square" lIns="18288" rIns="18288" tIns="18288" bIns="18288" anchor="ctr">
            <a:noAutofit/>
          </a:bodyPr>
          <a:lstStyle/>
          <a:p>
            <a:pPr algn="l"/>
            <a:r>
              <a:rPr sz="1600" b="1" i="0">
                <a:solidFill>
                  <a:srgbClr val="1D4E89"/>
                </a:solidFill>
                <a:latin typeface="Arial"/>
              </a:rPr>
              <a:t>Annexure: full metrics, reproducibility and repository map</a:t>
            </a:r>
          </a:p>
        </p:txBody>
      </p:sp>
      <p:sp>
        <p:nvSpPr>
          <p:cNvPr id="23" name="TextBox 22"/>
          <p:cNvSpPr txBox="1"/>
          <p:nvPr/>
        </p:nvSpPr>
        <p:spPr>
          <a:xfrm>
            <a:off x="73152" y="795528"/>
            <a:ext cx="12045391" cy="237744"/>
          </a:xfrm>
          <a:prstGeom prst="rect">
            <a:avLst/>
          </a:prstGeom>
          <a:noFill/>
        </p:spPr>
        <p:txBody>
          <a:bodyPr wrap="square" lIns="18288" rIns="18288" tIns="18288" bIns="18288" anchor="ctr">
            <a:noAutofit/>
          </a:bodyPr>
          <a:lstStyle/>
          <a:p>
            <a:pPr algn="l"/>
            <a:r>
              <a:rPr sz="1200" b="1" i="0">
                <a:solidFill>
                  <a:srgbClr val="4A5168"/>
                </a:solidFill>
                <a:latin typeface="Arial"/>
              </a:rPr>
              <a:t>Every number on the previous slides regenerates from one command; seeds are fixed</a:t>
            </a:r>
          </a:p>
        </p:txBody>
      </p:sp>
      <p:cxnSp>
        <p:nvCxnSpPr>
          <p:cNvPr id="24" name="Connector 23"/>
          <p:cNvCxnSpPr/>
          <p:nvPr/>
        </p:nvCxnSpPr>
        <p:spPr>
          <a:xfrm>
            <a:off x="73152" y="1042416"/>
            <a:ext cx="12045391" cy="0"/>
          </a:xfrm>
          <a:prstGeom prst="line">
            <a:avLst/>
          </a:prstGeom>
          <a:ln w="19050">
            <a:solidFill>
              <a:srgbClr val="1D4E89"/>
            </a:solidFill>
          </a:ln>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73152" y="1097280"/>
            <a:ext cx="4576572" cy="5705856"/>
            <a:chOff x="73152" y="1097280"/>
            <a:chExt cx="4576572" cy="5705856"/>
          </a:xfrm>
        </p:grpSpPr>
        <p:sp>
          <p:nvSpPr>
            <p:cNvPr id="26" name="frame:Full test metrics (2"/>
            <p:cNvSpPr/>
            <p:nvPr/>
          </p:nvSpPr>
          <p:spPr>
            <a:xfrm>
              <a:off x="73152" y="1234440"/>
              <a:ext cx="4576572" cy="5568696"/>
            </a:xfrm>
            <a:prstGeom prst="roundRect">
              <a:avLst>
                <a:gd name="adj" fmla="val 999"/>
              </a:avLst>
            </a:prstGeom>
            <a:solidFill>
              <a:srgbClr val="F1F4F8"/>
            </a:solidFill>
            <a:ln w="15875">
              <a:solidFill>
                <a:srgbClr val="466E9E"/>
              </a:solidFill>
              <a:prstDash val="sysDot"/>
            </a:ln>
          </p:spPr>
          <p:txBody>
            <a:bodyPr rtlCol="0" anchor="ctr"/>
            <a:lstStyle/>
            <a:p/>
          </p:txBody>
        </p:sp>
        <p:sp>
          <p:nvSpPr>
            <p:cNvPr id="27" name="Rounded Rectangle 26"/>
            <p:cNvSpPr/>
            <p:nvPr/>
          </p:nvSpPr>
          <p:spPr>
            <a:xfrm>
              <a:off x="73152" y="1097280"/>
              <a:ext cx="3205456" cy="274320"/>
            </a:xfrm>
            <a:prstGeom prst="roundRect">
              <a:avLst>
                <a:gd name="adj" fmla="val 13333"/>
              </a:avLst>
            </a:prstGeom>
            <a:solidFill>
              <a:srgbClr val="1D4E89"/>
            </a:solidFill>
            <a:ln>
              <a:noFill/>
            </a:ln>
          </p:spPr>
          <p:txBody>
            <a:bodyPr rtlCol="0" anchor="ctr"/>
            <a:lstStyle/>
            <a:p/>
          </p:txBody>
        </p:sp>
        <p:pic>
          <p:nvPicPr>
            <p:cNvPr id="28" name="Picture 27" descr="ic_fa6_FaTable_FFFFFF.png"/>
            <p:cNvPicPr>
              <a:picLocks noChangeAspect="1"/>
            </p:cNvPicPr>
            <p:nvPr/>
          </p:nvPicPr>
          <p:blipFill>
            <a:blip r:embed="rId2"/>
            <a:stretch>
              <a:fillRect/>
            </a:stretch>
          </p:blipFill>
          <p:spPr>
            <a:xfrm>
              <a:off x="128016" y="1133856"/>
              <a:ext cx="201168" cy="201168"/>
            </a:xfrm>
            <a:prstGeom prst="rect">
              <a:avLst/>
            </a:prstGeom>
          </p:spPr>
        </p:pic>
        <p:sp>
          <p:nvSpPr>
            <p:cNvPr id="29" name="TextBox 28"/>
            <p:cNvSpPr txBox="1"/>
            <p:nvPr/>
          </p:nvSpPr>
          <p:spPr>
            <a:xfrm>
              <a:off x="374904" y="1097280"/>
              <a:ext cx="2876272" cy="274320"/>
            </a:xfrm>
            <a:prstGeom prst="rect">
              <a:avLst/>
            </a:prstGeom>
            <a:noFill/>
          </p:spPr>
          <p:txBody>
            <a:bodyPr wrap="square" lIns="9144" rIns="9144" tIns="9144" bIns="9144" anchor="ctr">
              <a:noAutofit/>
            </a:bodyPr>
            <a:lstStyle/>
            <a:p>
              <a:pPr algn="l"/>
              <a:r>
                <a:rPr sz="1200" b="1" i="0">
                  <a:solidFill>
                    <a:srgbClr val="FFFFFF"/>
                  </a:solidFill>
                  <a:latin typeface="Arial"/>
                </a:rPr>
                <a:t>Full test metrics (24 patients, week 2)</a:t>
              </a:r>
            </a:p>
          </p:txBody>
        </p:sp>
      </p:grpSp>
      <p:graphicFrame>
        <p:nvGraphicFramePr>
          <p:cNvPr id="30" name="ig:table"/>
          <p:cNvGraphicFramePr>
            <a:graphicFrameLocks noGrp="1"/>
          </p:cNvGraphicFramePr>
          <p:nvPr/>
        </p:nvGraphicFramePr>
        <p:xfrm>
          <a:off x="128016" y="1408176"/>
          <a:ext cx="4466845" cy="2569238"/>
        </p:xfrm>
        <a:graphic>
          <a:graphicData uri="http://schemas.openxmlformats.org/drawingml/2006/table">
            <a:tbl>
              <a:tblPr firstRow="1" bandRow="1">
                <a:tableStyleId>{5940675A-B579-460E-94D1-54222C63F5DA}</a:tableStyleId>
              </a:tblPr>
              <a:tblGrid>
                <a:gridCol w="2821165"/>
                <a:gridCol w="822840"/>
                <a:gridCol w="822840"/>
              </a:tblGrid>
              <a:tr h="367034">
                <a:tc>
                  <a:txBody>
                    <a:bodyPr wrap="square" lIns="45720" rIns="45720" tIns="27432" bIns="27432" anchor="ctr">
                      <a:noAutofit/>
                    </a:bodyPr>
                    <a:lstStyle/>
                    <a:p>
                      <a:pPr algn="l"/>
                      <a:r>
                        <a:rPr sz="1000" b="1" i="0">
                          <a:solidFill>
                            <a:srgbClr val="FFFFFF"/>
                          </a:solidFill>
                          <a:latin typeface="Arial"/>
                        </a:rPr>
                        <a:t>Approach</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c>
                  <a:txBody>
                    <a:bodyPr wrap="square" lIns="45720" rIns="45720" tIns="27432" bIns="27432" anchor="ctr">
                      <a:noAutofit/>
                    </a:bodyPr>
                    <a:lstStyle/>
                    <a:p>
                      <a:pPr algn="r"/>
                      <a:r>
                        <a:rPr sz="1000" b="1" i="0">
                          <a:solidFill>
                            <a:srgbClr val="FFFFFF"/>
                          </a:solidFill>
                          <a:latin typeface="Arial"/>
                        </a:rPr>
                        <a:t>AUROC</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c>
                  <a:txBody>
                    <a:bodyPr wrap="square" lIns="45720" rIns="45720" tIns="27432" bIns="27432" anchor="ctr">
                      <a:noAutofit/>
                    </a:bodyPr>
                    <a:lstStyle/>
                    <a:p>
                      <a:pPr algn="r"/>
                      <a:r>
                        <a:rPr sz="1000" b="1" i="0">
                          <a:solidFill>
                            <a:srgbClr val="FFFFFF"/>
                          </a:solidFill>
                          <a:latin typeface="Arial"/>
                        </a:rPr>
                        <a:t>AUPRC</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r>
              <a:tr h="367034">
                <a:tc>
                  <a:txBody>
                    <a:bodyPr wrap="square" lIns="45720" rIns="45720" tIns="27432" bIns="27432" anchor="ctr">
                      <a:noAutofit/>
                    </a:bodyPr>
                    <a:lstStyle/>
                    <a:p>
                      <a:pPr algn="l"/>
                      <a:r>
                        <a:rPr sz="1000" b="1" i="0">
                          <a:solidFill>
                            <a:srgbClr val="1A1A1A"/>
                          </a:solidFill>
                          <a:latin typeface="Arial"/>
                        </a:rPr>
                        <a:t>CGM trend alarm (30-min projection)</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0.642</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0.431</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367034">
                <a:tc>
                  <a:txBody>
                    <a:bodyPr wrap="square" lIns="45720" rIns="45720" tIns="27432" bIns="27432" anchor="ctr">
                      <a:noAutofit/>
                    </a:bodyPr>
                    <a:lstStyle/>
                    <a:p>
                      <a:pPr algn="l"/>
                      <a:r>
                        <a:rPr sz="1000" b="1" i="0">
                          <a:solidFill>
                            <a:srgbClr val="1A1A1A"/>
                          </a:solidFill>
                          <a:latin typeface="Arial"/>
                        </a:rPr>
                        <a:t>EHR + time of day</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0.904</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0.781</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367034">
                <a:tc>
                  <a:txBody>
                    <a:bodyPr wrap="square" lIns="45720" rIns="45720" tIns="27432" bIns="27432" anchor="ctr">
                      <a:noAutofit/>
                    </a:bodyPr>
                    <a:lstStyle/>
                    <a:p>
                      <a:pPr algn="l"/>
                      <a:r>
                        <a:rPr sz="1000" b="1" i="0">
                          <a:solidFill>
                            <a:srgbClr val="1A1A1A"/>
                          </a:solidFill>
                          <a:latin typeface="Arial"/>
                        </a:rPr>
                        <a:t>Twin physiology alone</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0.921</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0.844</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367034">
                <a:tc>
                  <a:txBody>
                    <a:bodyPr wrap="square" lIns="45720" rIns="45720" tIns="27432" bIns="27432" anchor="ctr">
                      <a:noAutofit/>
                    </a:bodyPr>
                    <a:lstStyle/>
                    <a:p>
                      <a:pPr algn="l"/>
                      <a:r>
                        <a:rPr sz="1000" b="1" i="0">
                          <a:solidFill>
                            <a:srgbClr val="1A1A1A"/>
                          </a:solidFill>
                          <a:latin typeface="Arial"/>
                        </a:rPr>
                        <a:t>Wearables only</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0.930</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0.849</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367034">
                <a:tc>
                  <a:txBody>
                    <a:bodyPr wrap="square" lIns="45720" rIns="45720" tIns="27432" bIns="27432" anchor="ctr">
                      <a:noAutofit/>
                    </a:bodyPr>
                    <a:lstStyle/>
                    <a:p>
                      <a:pPr algn="l"/>
                      <a:r>
                        <a:rPr sz="1000" b="1" i="0">
                          <a:solidFill>
                            <a:srgbClr val="1A1A1A"/>
                          </a:solidFill>
                          <a:latin typeface="Arial"/>
                        </a:rPr>
                        <a:t>EHR + wearables (fusion)</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0.930</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0.848</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367034">
                <a:tc>
                  <a:txBody>
                    <a:bodyPr wrap="square" lIns="45720" rIns="45720" tIns="27432" bIns="27432" anchor="ctr">
                      <a:noAutofit/>
                    </a:bodyPr>
                    <a:lstStyle/>
                    <a:p>
                      <a:pPr algn="l"/>
                      <a:r>
                        <a:rPr sz="1000" b="1" i="0">
                          <a:solidFill>
                            <a:srgbClr val="1A1A1A"/>
                          </a:solidFill>
                          <a:latin typeface="Arial"/>
                        </a:rPr>
                        <a:t>GlucoSentinel: EHR + wearables + twin</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E2E8F0"/>
                    </a:solidFill>
                  </a:tcPr>
                </a:tc>
                <a:tc>
                  <a:txBody>
                    <a:bodyPr wrap="square" lIns="45720" rIns="45720" tIns="27432" bIns="27432" anchor="ctr">
                      <a:noAutofit/>
                    </a:bodyPr>
                    <a:lstStyle/>
                    <a:p>
                      <a:pPr algn="r"/>
                      <a:r>
                        <a:rPr sz="1000" b="0" i="0">
                          <a:solidFill>
                            <a:srgbClr val="1A1A1A"/>
                          </a:solidFill>
                          <a:latin typeface="Arial"/>
                        </a:rPr>
                        <a:t>0.961</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E2E8F0"/>
                    </a:solidFill>
                  </a:tcPr>
                </a:tc>
                <a:tc>
                  <a:txBody>
                    <a:bodyPr wrap="square" lIns="45720" rIns="45720" tIns="27432" bIns="27432" anchor="ctr">
                      <a:noAutofit/>
                    </a:bodyPr>
                    <a:lstStyle/>
                    <a:p>
                      <a:pPr algn="r"/>
                      <a:r>
                        <a:rPr sz="1000" b="0" i="0">
                          <a:solidFill>
                            <a:srgbClr val="1A1A1A"/>
                          </a:solidFill>
                          <a:latin typeface="Arial"/>
                        </a:rPr>
                        <a:t>0.908</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E2E8F0"/>
                    </a:solidFill>
                  </a:tcPr>
                </a:tc>
              </a:tr>
            </a:tbl>
          </a:graphicData>
        </a:graphic>
      </p:graphicFrame>
      <p:graphicFrame>
        <p:nvGraphicFramePr>
          <p:cNvPr id="31" name="ig:table"/>
          <p:cNvGraphicFramePr>
            <a:graphicFrameLocks noGrp="1"/>
          </p:cNvGraphicFramePr>
          <p:nvPr/>
        </p:nvGraphicFramePr>
        <p:xfrm>
          <a:off x="128016" y="4050569"/>
          <a:ext cx="4466844" cy="2697702"/>
        </p:xfrm>
        <a:graphic>
          <a:graphicData uri="http://schemas.openxmlformats.org/drawingml/2006/table">
            <a:tbl>
              <a:tblPr firstRow="1" bandRow="1">
                <a:tableStyleId>{5940675A-B579-460E-94D1-54222C63F5DA}</a:tableStyleId>
              </a:tblPr>
              <a:tblGrid>
                <a:gridCol w="1874972"/>
                <a:gridCol w="937486"/>
                <a:gridCol w="827193"/>
                <a:gridCol w="827193"/>
              </a:tblGrid>
              <a:tr h="385386">
                <a:tc>
                  <a:txBody>
                    <a:bodyPr wrap="square" lIns="45720" rIns="45720" tIns="27432" bIns="27432" anchor="ctr">
                      <a:noAutofit/>
                    </a:bodyPr>
                    <a:lstStyle/>
                    <a:p>
                      <a:pPr algn="l"/>
                      <a:r>
                        <a:rPr sz="1000" b="1" i="0">
                          <a:solidFill>
                            <a:srgbClr val="FFFFFF"/>
                          </a:solidFill>
                          <a:latin typeface="Arial"/>
                        </a:rPr>
                        <a:t>Episode metric</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c>
                  <a:txBody>
                    <a:bodyPr wrap="square" lIns="45720" rIns="45720" tIns="27432" bIns="27432" anchor="ctr">
                      <a:noAutofit/>
                    </a:bodyPr>
                    <a:lstStyle/>
                    <a:p>
                      <a:pPr algn="r"/>
                      <a:r>
                        <a:rPr sz="1000" b="1" i="0">
                          <a:solidFill>
                            <a:srgbClr val="FFFFFF"/>
                          </a:solidFill>
                          <a:latin typeface="Arial"/>
                        </a:rPr>
                        <a:t>Trend alarm</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c>
                  <a:txBody>
                    <a:bodyPr wrap="square" lIns="45720" rIns="45720" tIns="27432" bIns="27432" anchor="ctr">
                      <a:noAutofit/>
                    </a:bodyPr>
                    <a:lstStyle/>
                    <a:p>
                      <a:pPr algn="r"/>
                      <a:r>
                        <a:rPr sz="1000" b="1" i="0">
                          <a:solidFill>
                            <a:srgbClr val="FFFFFF"/>
                          </a:solidFill>
                          <a:latin typeface="Arial"/>
                        </a:rPr>
                        <a:t>Fusion</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c>
                  <a:txBody>
                    <a:bodyPr wrap="square" lIns="45720" rIns="45720" tIns="27432" bIns="27432" anchor="ctr">
                      <a:noAutofit/>
                    </a:bodyPr>
                    <a:lstStyle/>
                    <a:p>
                      <a:pPr algn="r"/>
                      <a:r>
                        <a:rPr sz="1000" b="1" i="0">
                          <a:solidFill>
                            <a:srgbClr val="FFFFFF"/>
                          </a:solidFill>
                          <a:latin typeface="Arial"/>
                        </a:rPr>
                        <a:t>Ours</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r>
              <a:tr h="385386">
                <a:tc>
                  <a:txBody>
                    <a:bodyPr wrap="square" lIns="45720" rIns="45720" tIns="27432" bIns="27432" anchor="ctr">
                      <a:noAutofit/>
                    </a:bodyPr>
                    <a:lstStyle/>
                    <a:p>
                      <a:pPr algn="l"/>
                      <a:r>
                        <a:rPr sz="1000" b="1" i="0">
                          <a:solidFill>
                            <a:srgbClr val="1A1A1A"/>
                          </a:solidFill>
                          <a:latin typeface="Arial"/>
                        </a:rPr>
                        <a:t>Warned 30+ min ahead</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27.5%</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77.1%</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84.7%</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385386">
                <a:tc>
                  <a:txBody>
                    <a:bodyPr wrap="square" lIns="45720" rIns="45720" tIns="27432" bIns="27432" anchor="ctr">
                      <a:noAutofit/>
                    </a:bodyPr>
                    <a:lstStyle/>
                    <a:p>
                      <a:pPr algn="l"/>
                      <a:r>
                        <a:rPr sz="1000" b="1" i="0">
                          <a:solidFill>
                            <a:srgbClr val="1A1A1A"/>
                          </a:solidFill>
                          <a:latin typeface="Arial"/>
                        </a:rPr>
                        <a:t>Warned at all</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83.7%</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88.0%</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91.8%</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385386">
                <a:tc>
                  <a:txBody>
                    <a:bodyPr wrap="square" lIns="45720" rIns="45720" tIns="27432" bIns="27432" anchor="ctr">
                      <a:noAutofit/>
                    </a:bodyPr>
                    <a:lstStyle/>
                    <a:p>
                      <a:pPr algn="l"/>
                      <a:r>
                        <a:rPr sz="1000" b="1" i="0">
                          <a:solidFill>
                            <a:srgbClr val="1A1A1A"/>
                          </a:solidFill>
                          <a:latin typeface="Arial"/>
                        </a:rPr>
                        <a:t>Median lead, min</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15</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75</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95</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385386">
                <a:tc>
                  <a:txBody>
                    <a:bodyPr wrap="square" lIns="45720" rIns="45720" tIns="27432" bIns="27432" anchor="ctr">
                      <a:noAutofit/>
                    </a:bodyPr>
                    <a:lstStyle/>
                    <a:p>
                      <a:pPr algn="l"/>
                      <a:r>
                        <a:rPr sz="1000" b="1" i="0">
                          <a:solidFill>
                            <a:srgbClr val="1A1A1A"/>
                          </a:solidFill>
                          <a:latin typeface="Arial"/>
                        </a:rPr>
                        <a:t>Alert precision</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65.2%</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78.6%</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79.1%</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385386">
                <a:tc>
                  <a:txBody>
                    <a:bodyPr wrap="square" lIns="45720" rIns="45720" tIns="27432" bIns="27432" anchor="ctr">
                      <a:noAutofit/>
                    </a:bodyPr>
                    <a:lstStyle/>
                    <a:p>
                      <a:pPr algn="l"/>
                      <a:r>
                        <a:rPr sz="1000" b="1" i="0">
                          <a:solidFill>
                            <a:srgbClr val="1A1A1A"/>
                          </a:solidFill>
                          <a:latin typeface="Arial"/>
                        </a:rPr>
                        <a:t>False alerts per day</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1.62</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0.76</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r"/>
                      <a:r>
                        <a:rPr sz="1000" b="0" i="0">
                          <a:solidFill>
                            <a:srgbClr val="1A1A1A"/>
                          </a:solidFill>
                          <a:latin typeface="Arial"/>
                        </a:rPr>
                        <a:t>0.82</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385386">
                <a:tc>
                  <a:txBody>
                    <a:bodyPr wrap="square" lIns="45720" rIns="45720" tIns="27432" bIns="27432" anchor="ctr">
                      <a:noAutofit/>
                    </a:bodyPr>
                    <a:lstStyle/>
                    <a:p>
                      <a:pPr algn="l"/>
                      <a:r>
                        <a:rPr sz="1000" b="1" i="0">
                          <a:solidFill>
                            <a:srgbClr val="1A1A1A"/>
                          </a:solidFill>
                          <a:latin typeface="Arial"/>
                        </a:rPr>
                        <a:t>Alerts per day</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4.67</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3.54</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r"/>
                      <a:r>
                        <a:rPr sz="1000" b="0" i="0">
                          <a:solidFill>
                            <a:srgbClr val="1A1A1A"/>
                          </a:solidFill>
                          <a:latin typeface="Arial"/>
                        </a:rPr>
                        <a:t>3.93</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bl>
          </a:graphicData>
        </a:graphic>
      </p:graphicFrame>
      <p:sp>
        <p:nvSpPr>
          <p:cNvPr id="32" name="hlcol"/>
          <p:cNvSpPr/>
          <p:nvPr/>
        </p:nvSpPr>
        <p:spPr>
          <a:xfrm>
            <a:off x="3767667" y="4050569"/>
            <a:ext cx="827193" cy="2697703"/>
          </a:xfrm>
          <a:prstGeom prst="rect">
            <a:avLst/>
          </a:prstGeom>
          <a:noFill/>
          <a:ln w="31750">
            <a:solidFill>
              <a:srgbClr val="0D233E"/>
            </a:solidFill>
          </a:ln>
        </p:spPr>
        <p:txBody>
          <a:bodyPr rtlCol="0" anchor="ctr"/>
          <a:lstStyle/>
          <a:p>
            <a:pPr algn="ctr"/>
          </a:p>
        </p:txBody>
      </p:sp>
      <p:grpSp>
        <p:nvGrpSpPr>
          <p:cNvPr id="33" name="Group 32"/>
          <p:cNvGrpSpPr/>
          <p:nvPr/>
        </p:nvGrpSpPr>
        <p:grpSpPr>
          <a:xfrm>
            <a:off x="4722876" y="1097280"/>
            <a:ext cx="3661258" cy="5705856"/>
            <a:chOff x="4722876" y="1097280"/>
            <a:chExt cx="3661258" cy="5705856"/>
          </a:xfrm>
        </p:grpSpPr>
        <p:sp>
          <p:nvSpPr>
            <p:cNvPr id="34" name="frame:Reproduce in 4 comma"/>
            <p:cNvSpPr/>
            <p:nvPr/>
          </p:nvSpPr>
          <p:spPr>
            <a:xfrm>
              <a:off x="4722876" y="1234440"/>
              <a:ext cx="3661258" cy="5568696"/>
            </a:xfrm>
            <a:prstGeom prst="roundRect">
              <a:avLst>
                <a:gd name="adj" fmla="val 1248"/>
              </a:avLst>
            </a:prstGeom>
            <a:solidFill>
              <a:srgbClr val="F1F4F8"/>
            </a:solidFill>
            <a:ln w="15875">
              <a:solidFill>
                <a:srgbClr val="466E9E"/>
              </a:solidFill>
              <a:prstDash val="sysDot"/>
            </a:ln>
          </p:spPr>
          <p:txBody>
            <a:bodyPr rtlCol="0" anchor="ctr"/>
            <a:lstStyle/>
            <a:p/>
          </p:txBody>
        </p:sp>
        <p:sp>
          <p:nvSpPr>
            <p:cNvPr id="35" name="Rounded Rectangle 34"/>
            <p:cNvSpPr/>
            <p:nvPr/>
          </p:nvSpPr>
          <p:spPr>
            <a:xfrm>
              <a:off x="4722876" y="1097280"/>
              <a:ext cx="2459807" cy="274320"/>
            </a:xfrm>
            <a:prstGeom prst="roundRect">
              <a:avLst>
                <a:gd name="adj" fmla="val 13333"/>
              </a:avLst>
            </a:prstGeom>
            <a:solidFill>
              <a:srgbClr val="1D4E89"/>
            </a:solidFill>
            <a:ln>
              <a:noFill/>
            </a:ln>
          </p:spPr>
          <p:txBody>
            <a:bodyPr rtlCol="0" anchor="ctr"/>
            <a:lstStyle/>
            <a:p/>
          </p:txBody>
        </p:sp>
        <p:pic>
          <p:nvPicPr>
            <p:cNvPr id="36" name="Picture 35" descr="ic_fa6_FaTerminal_FFFFFF.png"/>
            <p:cNvPicPr>
              <a:picLocks noChangeAspect="1"/>
            </p:cNvPicPr>
            <p:nvPr/>
          </p:nvPicPr>
          <p:blipFill>
            <a:blip r:embed="rId3"/>
            <a:stretch>
              <a:fillRect/>
            </a:stretch>
          </p:blipFill>
          <p:spPr>
            <a:xfrm>
              <a:off x="4777740" y="1133856"/>
              <a:ext cx="201168" cy="201168"/>
            </a:xfrm>
            <a:prstGeom prst="rect">
              <a:avLst/>
            </a:prstGeom>
          </p:spPr>
        </p:pic>
        <p:sp>
          <p:nvSpPr>
            <p:cNvPr id="37" name="TextBox 36"/>
            <p:cNvSpPr txBox="1"/>
            <p:nvPr/>
          </p:nvSpPr>
          <p:spPr>
            <a:xfrm>
              <a:off x="5024628" y="1097280"/>
              <a:ext cx="2130623" cy="274320"/>
            </a:xfrm>
            <a:prstGeom prst="rect">
              <a:avLst/>
            </a:prstGeom>
            <a:noFill/>
          </p:spPr>
          <p:txBody>
            <a:bodyPr wrap="square" lIns="9144" rIns="9144" tIns="9144" bIns="9144" anchor="ctr">
              <a:noAutofit/>
            </a:bodyPr>
            <a:lstStyle/>
            <a:p>
              <a:pPr algn="l"/>
              <a:r>
                <a:rPr sz="1200" b="1" i="0">
                  <a:solidFill>
                    <a:srgbClr val="FFFFFF"/>
                  </a:solidFill>
                  <a:latin typeface="Arial"/>
                </a:rPr>
                <a:t>Reproduce in 4 commands</a:t>
              </a:r>
            </a:p>
          </p:txBody>
        </p:sp>
        <p:sp>
          <p:nvSpPr>
            <p:cNvPr id="38" name="Rounded Rectangle 37"/>
            <p:cNvSpPr/>
            <p:nvPr/>
          </p:nvSpPr>
          <p:spPr>
            <a:xfrm>
              <a:off x="4777740" y="1408176"/>
              <a:ext cx="3551530" cy="1635587"/>
            </a:xfrm>
            <a:prstGeom prst="roundRect">
              <a:avLst>
                <a:gd name="adj" fmla="val 2795"/>
              </a:avLst>
            </a:prstGeom>
            <a:solidFill>
              <a:srgbClr val="112F52"/>
            </a:solidFill>
            <a:ln>
              <a:noFill/>
            </a:ln>
          </p:spPr>
          <p:txBody>
            <a:bodyPr rtlCol="0" anchor="ctr" wrap="square" lIns="45720" rIns="45720" tIns="27432" bIns="27432">
              <a:noAutofit/>
            </a:bodyPr>
            <a:lstStyle/>
            <a:p>
              <a:pPr algn="l"/>
              <a:r>
                <a:rPr sz="1300" b="0" i="0">
                  <a:solidFill>
                    <a:srgbClr val="FFFFFF"/>
                  </a:solidFill>
                  <a:latin typeface="Arial"/>
                </a:rPr>
                <a:t>pip install -r requirements.txt</a:t>
              </a:r>
            </a:p>
            <a:p>
              <a:pPr algn="l"/>
              <a:r>
                <a:rPr sz="1300" b="0" i="0">
                  <a:solidFill>
                    <a:srgbClr val="FFFFFF"/>
                  </a:solidFill>
                  <a:latin typeface="Arial"/>
                </a:rPr>
                <a:t>python run_all.py</a:t>
              </a:r>
            </a:p>
            <a:p>
              <a:pPr algn="l"/>
              <a:r>
                <a:rPr sz="1300" b="0" i="0">
                  <a:solidFill>
                    <a:srgbClr val="FFFFFF"/>
                  </a:solidFill>
                  <a:latin typeface="Arial"/>
                </a:rPr>
                <a:t>streamlit run dashboard/app.py</a:t>
              </a:r>
            </a:p>
            <a:p>
              <a:pPr algn="l"/>
              <a:r>
                <a:rPr sz="1300" b="0" i="0">
                  <a:solidFill>
                    <a:srgbClr val="FFFFFF"/>
                  </a:solidFill>
                  <a:latin typeface="Arial"/>
                </a:rPr>
                <a:t>pytest -q</a:t>
              </a:r>
            </a:p>
          </p:txBody>
        </p:sp>
        <p:sp>
          <p:nvSpPr>
            <p:cNvPr id="39" name="Rounded Rectangle 38"/>
            <p:cNvSpPr/>
            <p:nvPr/>
          </p:nvSpPr>
          <p:spPr>
            <a:xfrm>
              <a:off x="4777740" y="3107771"/>
              <a:ext cx="3551530" cy="237744"/>
            </a:xfrm>
            <a:prstGeom prst="roundRect">
              <a:avLst>
                <a:gd name="adj" fmla="val 19230"/>
              </a:avLst>
            </a:prstGeom>
            <a:solidFill>
              <a:srgbClr val="173D6B"/>
            </a:solidFill>
            <a:ln>
              <a:noFill/>
            </a:ln>
          </p:spPr>
          <p:txBody>
            <a:bodyPr rtlCol="0" anchor="ctr" wrap="square" lIns="54864" rIns="54864" tIns="27432" bIns="27432">
              <a:noAutofit/>
            </a:bodyPr>
            <a:lstStyle/>
            <a:p>
              <a:pPr algn="l"/>
              <a:r>
                <a:rPr sz="1100" b="1" i="0">
                  <a:solidFill>
                    <a:srgbClr val="FFFFFF"/>
                  </a:solidFill>
                  <a:latin typeface="Arial"/>
                </a:rPr>
                <a:t>run_all.py</a:t>
              </a:r>
            </a:p>
          </p:txBody>
        </p:sp>
        <p:sp>
          <p:nvSpPr>
            <p:cNvPr id="40" name="Rounded Rectangle 39"/>
            <p:cNvSpPr/>
            <p:nvPr/>
          </p:nvSpPr>
          <p:spPr>
            <a:xfrm>
              <a:off x="4777740" y="3345515"/>
              <a:ext cx="3551530" cy="631233"/>
            </a:xfrm>
            <a:prstGeom prst="roundRect">
              <a:avLst>
                <a:gd name="adj" fmla="val 7242"/>
              </a:avLst>
            </a:prstGeom>
            <a:solidFill>
              <a:srgbClr val="FFFFFF"/>
            </a:solidFill>
            <a:ln w="9525">
              <a:solidFill>
                <a:srgbClr val="466E9E"/>
              </a:solidFill>
              <a:prstDash val="sysDot"/>
            </a:ln>
          </p:spPr>
          <p:txBody>
            <a:bodyPr rtlCol="0" anchor="t" wrap="square" lIns="45720" rIns="45720" tIns="27432" bIns="27432">
              <a:noAutofit/>
            </a:bodyPr>
            <a:lstStyle/>
            <a:p>
              <a:pPr algn="l"/>
              <a:r>
                <a:rPr sz="1100" b="0" i="0">
                  <a:solidFill>
                    <a:srgbClr val="1A1A1A"/>
                  </a:solidFill>
                  <a:latin typeface="Arial"/>
                </a:rPr>
                <a:t>data, FHIR, 120 twins, models, metrics, figures in </a:t>
              </a:r>
              <a:r>
                <a:rPr sz="1100" b="1" i="0">
                  <a:solidFill>
                    <a:srgbClr val="1A1A1A"/>
                  </a:solidFill>
                  <a:latin typeface="Arial"/>
                </a:rPr>
                <a:t>8 min</a:t>
              </a:r>
            </a:p>
          </p:txBody>
        </p:sp>
        <p:sp>
          <p:nvSpPr>
            <p:cNvPr id="41" name="Rounded Rectangle 40"/>
            <p:cNvSpPr/>
            <p:nvPr/>
          </p:nvSpPr>
          <p:spPr>
            <a:xfrm>
              <a:off x="4777740" y="4031612"/>
              <a:ext cx="3551530" cy="237744"/>
            </a:xfrm>
            <a:prstGeom prst="roundRect">
              <a:avLst>
                <a:gd name="adj" fmla="val 19230"/>
              </a:avLst>
            </a:prstGeom>
            <a:solidFill>
              <a:srgbClr val="173D6B"/>
            </a:solidFill>
            <a:ln>
              <a:noFill/>
            </a:ln>
          </p:spPr>
          <p:txBody>
            <a:bodyPr rtlCol="0" anchor="ctr" wrap="square" lIns="54864" rIns="54864" tIns="27432" bIns="27432">
              <a:noAutofit/>
            </a:bodyPr>
            <a:lstStyle/>
            <a:p>
              <a:pPr algn="l"/>
              <a:r>
                <a:rPr sz="1100" b="1" i="0">
                  <a:solidFill>
                    <a:srgbClr val="FFFFFF"/>
                  </a:solidFill>
                  <a:latin typeface="Arial"/>
                </a:rPr>
                <a:t>metrics.json</a:t>
              </a:r>
            </a:p>
          </p:txBody>
        </p:sp>
        <p:sp>
          <p:nvSpPr>
            <p:cNvPr id="42" name="Rounded Rectangle 41"/>
            <p:cNvSpPr/>
            <p:nvPr/>
          </p:nvSpPr>
          <p:spPr>
            <a:xfrm>
              <a:off x="4777740" y="4269356"/>
              <a:ext cx="3551530" cy="631233"/>
            </a:xfrm>
            <a:prstGeom prst="roundRect">
              <a:avLst>
                <a:gd name="adj" fmla="val 7242"/>
              </a:avLst>
            </a:prstGeom>
            <a:solidFill>
              <a:srgbClr val="FFFFFF"/>
            </a:solidFill>
            <a:ln w="9525">
              <a:solidFill>
                <a:srgbClr val="466E9E"/>
              </a:solidFill>
              <a:prstDash val="sysDot"/>
            </a:ln>
          </p:spPr>
          <p:txBody>
            <a:bodyPr rtlCol="0" anchor="t" wrap="square" lIns="45720" rIns="45720" tIns="27432" bIns="27432">
              <a:noAutofit/>
            </a:bodyPr>
            <a:lstStyle/>
            <a:p>
              <a:pPr algn="l"/>
              <a:r>
                <a:rPr sz="1100" b="0" i="0">
                  <a:solidFill>
                    <a:srgbClr val="1A1A1A"/>
                  </a:solidFill>
                  <a:latin typeface="Arial"/>
                </a:rPr>
                <a:t>single source of every number in this deck</a:t>
              </a:r>
            </a:p>
          </p:txBody>
        </p:sp>
        <p:sp>
          <p:nvSpPr>
            <p:cNvPr id="43" name="Rounded Rectangle 42"/>
            <p:cNvSpPr/>
            <p:nvPr/>
          </p:nvSpPr>
          <p:spPr>
            <a:xfrm>
              <a:off x="4777740" y="4955454"/>
              <a:ext cx="3551530" cy="237744"/>
            </a:xfrm>
            <a:prstGeom prst="roundRect">
              <a:avLst>
                <a:gd name="adj" fmla="val 19230"/>
              </a:avLst>
            </a:prstGeom>
            <a:solidFill>
              <a:srgbClr val="173D6B"/>
            </a:solidFill>
            <a:ln>
              <a:noFill/>
            </a:ln>
          </p:spPr>
          <p:txBody>
            <a:bodyPr rtlCol="0" anchor="ctr" wrap="square" lIns="54864" rIns="54864" tIns="27432" bIns="27432">
              <a:noAutofit/>
            </a:bodyPr>
            <a:lstStyle/>
            <a:p>
              <a:pPr algn="l"/>
              <a:r>
                <a:rPr sz="1100" b="1" i="0">
                  <a:solidFill>
                    <a:srgbClr val="FFFFFF"/>
                  </a:solidFill>
                  <a:latin typeface="Arial"/>
                </a:rPr>
                <a:t>Ground truth</a:t>
              </a:r>
            </a:p>
          </p:txBody>
        </p:sp>
        <p:sp>
          <p:nvSpPr>
            <p:cNvPr id="44" name="Rounded Rectangle 43"/>
            <p:cNvSpPr/>
            <p:nvPr/>
          </p:nvSpPr>
          <p:spPr>
            <a:xfrm>
              <a:off x="4777740" y="5193198"/>
              <a:ext cx="3551530" cy="631233"/>
            </a:xfrm>
            <a:prstGeom prst="roundRect">
              <a:avLst>
                <a:gd name="adj" fmla="val 7242"/>
              </a:avLst>
            </a:prstGeom>
            <a:solidFill>
              <a:srgbClr val="FFFFFF"/>
            </a:solidFill>
            <a:ln w="9525">
              <a:solidFill>
                <a:srgbClr val="466E9E"/>
              </a:solidFill>
              <a:prstDash val="sysDot"/>
            </a:ln>
          </p:spPr>
          <p:txBody>
            <a:bodyPr rtlCol="0" anchor="t" wrap="square" lIns="45720" rIns="45720" tIns="27432" bIns="27432">
              <a:noAutofit/>
            </a:bodyPr>
            <a:lstStyle/>
            <a:p>
              <a:pPr algn="l"/>
              <a:r>
                <a:rPr sz="1100" b="0" i="0">
                  <a:solidFill>
                    <a:srgbClr val="1A1A1A"/>
                  </a:solidFill>
                  <a:latin typeface="Arial"/>
                </a:rPr>
                <a:t>only validates the twin; never a model input</a:t>
              </a:r>
            </a:p>
          </p:txBody>
        </p:sp>
        <p:sp>
          <p:nvSpPr>
            <p:cNvPr id="45" name="Rounded Rectangle 44"/>
            <p:cNvSpPr/>
            <p:nvPr/>
          </p:nvSpPr>
          <p:spPr>
            <a:xfrm>
              <a:off x="4777740" y="5879295"/>
              <a:ext cx="3551530" cy="237744"/>
            </a:xfrm>
            <a:prstGeom prst="roundRect">
              <a:avLst>
                <a:gd name="adj" fmla="val 19230"/>
              </a:avLst>
            </a:prstGeom>
            <a:solidFill>
              <a:srgbClr val="173D6B"/>
            </a:solidFill>
            <a:ln>
              <a:noFill/>
            </a:ln>
          </p:spPr>
          <p:txBody>
            <a:bodyPr rtlCol="0" anchor="ctr" wrap="square" lIns="54864" rIns="54864" tIns="27432" bIns="27432">
              <a:noAutofit/>
            </a:bodyPr>
            <a:lstStyle/>
            <a:p>
              <a:pPr algn="l"/>
              <a:r>
                <a:rPr sz="1100" b="1" i="0">
                  <a:solidFill>
                    <a:srgbClr val="FFFFFF"/>
                  </a:solidFill>
                  <a:latin typeface="Arial"/>
                </a:rPr>
                <a:t>Licence</a:t>
              </a:r>
            </a:p>
          </p:txBody>
        </p:sp>
        <p:sp>
          <p:nvSpPr>
            <p:cNvPr id="46" name="Rounded Rectangle 45"/>
            <p:cNvSpPr/>
            <p:nvPr/>
          </p:nvSpPr>
          <p:spPr>
            <a:xfrm>
              <a:off x="4777740" y="6117039"/>
              <a:ext cx="3551530" cy="631233"/>
            </a:xfrm>
            <a:prstGeom prst="roundRect">
              <a:avLst>
                <a:gd name="adj" fmla="val 7242"/>
              </a:avLst>
            </a:prstGeom>
            <a:solidFill>
              <a:srgbClr val="FFFFFF"/>
            </a:solidFill>
            <a:ln w="9525">
              <a:solidFill>
                <a:srgbClr val="466E9E"/>
              </a:solidFill>
              <a:prstDash val="sysDot"/>
            </a:ln>
          </p:spPr>
          <p:txBody>
            <a:bodyPr rtlCol="0" anchor="t" wrap="square" lIns="45720" rIns="45720" tIns="27432" bIns="27432">
              <a:noAutofit/>
            </a:bodyPr>
            <a:lstStyle/>
            <a:p>
              <a:pPr algn="l"/>
              <a:r>
                <a:rPr sz="1100" b="1" i="0">
                  <a:solidFill>
                    <a:srgbClr val="1A1A1A"/>
                  </a:solidFill>
                  <a:latin typeface="Arial"/>
                </a:rPr>
                <a:t>MIT</a:t>
              </a:r>
              <a:r>
                <a:rPr sz="1100" b="0" i="0">
                  <a:solidFill>
                    <a:srgbClr val="1A1A1A"/>
                  </a:solidFill>
                  <a:latin typeface="Arial"/>
                </a:rPr>
                <a:t>; all data synthetic and free to reuse</a:t>
              </a:r>
            </a:p>
          </p:txBody>
        </p:sp>
      </p:grpSp>
      <p:grpSp>
        <p:nvGrpSpPr>
          <p:cNvPr id="47" name="Group 46"/>
          <p:cNvGrpSpPr/>
          <p:nvPr/>
        </p:nvGrpSpPr>
        <p:grpSpPr>
          <a:xfrm>
            <a:off x="8457286" y="1097280"/>
            <a:ext cx="3661258" cy="5705856"/>
            <a:chOff x="8457286" y="1097280"/>
            <a:chExt cx="3661258" cy="5705856"/>
          </a:xfrm>
        </p:grpSpPr>
        <p:sp>
          <p:nvSpPr>
            <p:cNvPr id="48" name="frame:Repository map"/>
            <p:cNvSpPr/>
            <p:nvPr/>
          </p:nvSpPr>
          <p:spPr>
            <a:xfrm>
              <a:off x="8457286" y="1234440"/>
              <a:ext cx="3661258" cy="5568696"/>
            </a:xfrm>
            <a:prstGeom prst="roundRect">
              <a:avLst>
                <a:gd name="adj" fmla="val 1248"/>
              </a:avLst>
            </a:prstGeom>
            <a:solidFill>
              <a:srgbClr val="F1F4F8"/>
            </a:solidFill>
            <a:ln w="15875">
              <a:solidFill>
                <a:srgbClr val="466E9E"/>
              </a:solidFill>
              <a:prstDash val="sysDot"/>
            </a:ln>
          </p:spPr>
          <p:txBody>
            <a:bodyPr rtlCol="0" anchor="ctr"/>
            <a:lstStyle/>
            <a:p/>
          </p:txBody>
        </p:sp>
        <p:sp>
          <p:nvSpPr>
            <p:cNvPr id="49" name="Rounded Rectangle 48"/>
            <p:cNvSpPr/>
            <p:nvPr/>
          </p:nvSpPr>
          <p:spPr>
            <a:xfrm>
              <a:off x="8457286" y="1097280"/>
              <a:ext cx="1663756" cy="274320"/>
            </a:xfrm>
            <a:prstGeom prst="roundRect">
              <a:avLst>
                <a:gd name="adj" fmla="val 13333"/>
              </a:avLst>
            </a:prstGeom>
            <a:solidFill>
              <a:srgbClr val="1D4E89"/>
            </a:solidFill>
            <a:ln>
              <a:noFill/>
            </a:ln>
          </p:spPr>
          <p:txBody>
            <a:bodyPr rtlCol="0" anchor="ctr"/>
            <a:lstStyle/>
            <a:p/>
          </p:txBody>
        </p:sp>
        <p:pic>
          <p:nvPicPr>
            <p:cNvPr id="50" name="Picture 49" descr="ic_fa6_FaFolderTree_FFFFFF.png"/>
            <p:cNvPicPr>
              <a:picLocks noChangeAspect="1"/>
            </p:cNvPicPr>
            <p:nvPr/>
          </p:nvPicPr>
          <p:blipFill>
            <a:blip r:embed="rId4"/>
            <a:stretch>
              <a:fillRect/>
            </a:stretch>
          </p:blipFill>
          <p:spPr>
            <a:xfrm>
              <a:off x="8512150" y="1133856"/>
              <a:ext cx="201168" cy="201168"/>
            </a:xfrm>
            <a:prstGeom prst="rect">
              <a:avLst/>
            </a:prstGeom>
          </p:spPr>
        </p:pic>
        <p:sp>
          <p:nvSpPr>
            <p:cNvPr id="51" name="TextBox 50"/>
            <p:cNvSpPr txBox="1"/>
            <p:nvPr/>
          </p:nvSpPr>
          <p:spPr>
            <a:xfrm>
              <a:off x="8759038" y="1097280"/>
              <a:ext cx="1334572" cy="274320"/>
            </a:xfrm>
            <a:prstGeom prst="rect">
              <a:avLst/>
            </a:prstGeom>
            <a:noFill/>
          </p:spPr>
          <p:txBody>
            <a:bodyPr wrap="square" lIns="9144" rIns="9144" tIns="9144" bIns="9144" anchor="ctr">
              <a:noAutofit/>
            </a:bodyPr>
            <a:lstStyle/>
            <a:p>
              <a:pPr algn="l"/>
              <a:r>
                <a:rPr sz="1200" b="1" i="0">
                  <a:solidFill>
                    <a:srgbClr val="FFFFFF"/>
                  </a:solidFill>
                  <a:latin typeface="Arial"/>
                </a:rPr>
                <a:t>Repository map</a:t>
              </a:r>
            </a:p>
          </p:txBody>
        </p:sp>
      </p:grpSp>
      <p:graphicFrame>
        <p:nvGraphicFramePr>
          <p:cNvPr id="52" name="ig:table"/>
          <p:cNvGraphicFramePr>
            <a:graphicFrameLocks noGrp="1"/>
          </p:cNvGraphicFramePr>
          <p:nvPr/>
        </p:nvGraphicFramePr>
        <p:xfrm>
          <a:off x="8512150" y="1408176"/>
          <a:ext cx="3551530" cy="5340096"/>
        </p:xfrm>
        <a:graphic>
          <a:graphicData uri="http://schemas.openxmlformats.org/drawingml/2006/table">
            <a:tbl>
              <a:tblPr firstRow="1" bandRow="1">
                <a:tableStyleId>{5940675A-B579-460E-94D1-54222C63F5DA}</a:tableStyleId>
              </a:tblPr>
              <a:tblGrid>
                <a:gridCol w="1302228"/>
                <a:gridCol w="2249302"/>
              </a:tblGrid>
              <a:tr h="667512">
                <a:tc>
                  <a:txBody>
                    <a:bodyPr wrap="square" lIns="45720" rIns="45720" tIns="27432" bIns="27432" anchor="ctr">
                      <a:noAutofit/>
                    </a:bodyPr>
                    <a:lstStyle/>
                    <a:p>
                      <a:pPr algn="l"/>
                      <a:r>
                        <a:rPr sz="1000" b="1" i="0">
                          <a:solidFill>
                            <a:srgbClr val="FFFFFF"/>
                          </a:solidFill>
                          <a:latin typeface="Arial"/>
                        </a:rPr>
                        <a:t>Folder</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c>
                  <a:txBody>
                    <a:bodyPr wrap="square" lIns="45720" rIns="45720" tIns="27432" bIns="27432" anchor="ctr">
                      <a:noAutofit/>
                    </a:bodyPr>
                    <a:lstStyle/>
                    <a:p>
                      <a:pPr algn="l"/>
                      <a:r>
                        <a:rPr sz="1000" b="1" i="0">
                          <a:solidFill>
                            <a:srgbClr val="FFFFFF"/>
                          </a:solidFill>
                          <a:latin typeface="Arial"/>
                        </a:rPr>
                        <a:t>What is inside</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1D4E89"/>
                    </a:solidFill>
                  </a:tcPr>
                </a:tc>
              </a:tr>
              <a:tr h="667512">
                <a:tc>
                  <a:txBody>
                    <a:bodyPr wrap="square" lIns="45720" rIns="45720" tIns="27432" bIns="27432" anchor="ctr">
                      <a:noAutofit/>
                    </a:bodyPr>
                    <a:lstStyle/>
                    <a:p>
                      <a:pPr algn="l"/>
                      <a:r>
                        <a:rPr sz="1000" b="1" i="0">
                          <a:solidFill>
                            <a:srgbClr val="1A1A1A"/>
                          </a:solidFill>
                          <a:latin typeface="Arial"/>
                        </a:rPr>
                        <a:t>src/glucosentinel</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l"/>
                      <a:r>
                        <a:rPr sz="1000" b="0" i="0">
                          <a:solidFill>
                            <a:srgbClr val="1A1A1A"/>
                          </a:solidFill>
                          <a:latin typeface="Arial"/>
                        </a:rPr>
                        <a:t>simulator, FHIR, twin, features, model</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667512">
                <a:tc>
                  <a:txBody>
                    <a:bodyPr wrap="square" lIns="45720" rIns="45720" tIns="27432" bIns="27432" anchor="ctr">
                      <a:noAutofit/>
                    </a:bodyPr>
                    <a:lstStyle/>
                    <a:p>
                      <a:pPr algn="l"/>
                      <a:r>
                        <a:rPr sz="1000" b="1" i="0">
                          <a:solidFill>
                            <a:srgbClr val="1A1A1A"/>
                          </a:solidFill>
                          <a:latin typeface="Arial"/>
                        </a:rPr>
                        <a:t>dashboard</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l"/>
                      <a:r>
                        <a:rPr sz="1000" b="0" i="0">
                          <a:solidFill>
                            <a:srgbClr val="1A1A1A"/>
                          </a:solidFill>
                          <a:latin typeface="Arial"/>
                        </a:rPr>
                        <a:t>Streamlit doctor console</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667512">
                <a:tc>
                  <a:txBody>
                    <a:bodyPr wrap="square" lIns="45720" rIns="45720" tIns="27432" bIns="27432" anchor="ctr">
                      <a:noAutofit/>
                    </a:bodyPr>
                    <a:lstStyle/>
                    <a:p>
                      <a:pPr algn="l"/>
                      <a:r>
                        <a:rPr sz="1000" b="1" i="0">
                          <a:solidFill>
                            <a:srgbClr val="1A1A1A"/>
                          </a:solidFill>
                          <a:latin typeface="Arial"/>
                        </a:rPr>
                        <a:t>data</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l"/>
                      <a:r>
                        <a:rPr sz="1000" b="0" i="0">
                          <a:solidFill>
                            <a:srgbClr val="1A1A1A"/>
                          </a:solidFill>
                          <a:latin typeface="Arial"/>
                        </a:rPr>
                        <a:t>EHR, FHIR, wearables, ground truth</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667512">
                <a:tc>
                  <a:txBody>
                    <a:bodyPr wrap="square" lIns="45720" rIns="45720" tIns="27432" bIns="27432" anchor="ctr">
                      <a:noAutofit/>
                    </a:bodyPr>
                    <a:lstStyle/>
                    <a:p>
                      <a:pPr algn="l"/>
                      <a:r>
                        <a:rPr sz="1000" b="1" i="0">
                          <a:solidFill>
                            <a:srgbClr val="1A1A1A"/>
                          </a:solidFill>
                          <a:latin typeface="Arial"/>
                        </a:rPr>
                        <a:t>models</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l"/>
                      <a:r>
                        <a:rPr sz="1000" b="0" i="0">
                          <a:solidFill>
                            <a:srgbClr val="1A1A1A"/>
                          </a:solidFill>
                          <a:latin typeface="Arial"/>
                        </a:rPr>
                        <a:t>LightGBM files, 120 twins (JSON)</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667512">
                <a:tc>
                  <a:txBody>
                    <a:bodyPr wrap="square" lIns="45720" rIns="45720" tIns="27432" bIns="27432" anchor="ctr">
                      <a:noAutofit/>
                    </a:bodyPr>
                    <a:lstStyle/>
                    <a:p>
                      <a:pPr algn="l"/>
                      <a:r>
                        <a:rPr sz="1000" b="1" i="0">
                          <a:solidFill>
                            <a:srgbClr val="1A1A1A"/>
                          </a:solidFill>
                          <a:latin typeface="Arial"/>
                        </a:rPr>
                        <a:t>reports</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l"/>
                      <a:r>
                        <a:rPr sz="1000" b="0" i="0">
                          <a:solidFill>
                            <a:srgbClr val="1A1A1A"/>
                          </a:solidFill>
                          <a:latin typeface="Arial"/>
                        </a:rPr>
                        <a:t>metrics.json, figures</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r h="667512">
                <a:tc>
                  <a:txBody>
                    <a:bodyPr wrap="square" lIns="45720" rIns="45720" tIns="27432" bIns="27432" anchor="ctr">
                      <a:noAutofit/>
                    </a:bodyPr>
                    <a:lstStyle/>
                    <a:p>
                      <a:pPr algn="l"/>
                      <a:r>
                        <a:rPr sz="1000" b="1" i="0">
                          <a:solidFill>
                            <a:srgbClr val="1A1A1A"/>
                          </a:solidFill>
                          <a:latin typeface="Arial"/>
                        </a:rPr>
                        <a:t>docs</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c>
                  <a:txBody>
                    <a:bodyPr wrap="square" lIns="45720" rIns="45720" tIns="27432" bIns="27432" anchor="ctr">
                      <a:noAutofit/>
                    </a:bodyPr>
                    <a:lstStyle/>
                    <a:p>
                      <a:pPr algn="l"/>
                      <a:r>
                        <a:rPr sz="1000" b="0" i="0">
                          <a:solidFill>
                            <a:srgbClr val="1A1A1A"/>
                          </a:solidFill>
                          <a:latin typeface="Arial"/>
                        </a:rPr>
                        <a:t>architecture, deck, video script</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solidFill>
                  </a:tcPr>
                </a:tc>
              </a:tr>
              <a:tr h="667512">
                <a:tc>
                  <a:txBody>
                    <a:bodyPr wrap="square" lIns="45720" rIns="45720" tIns="27432" bIns="27432" anchor="ctr">
                      <a:noAutofit/>
                    </a:bodyPr>
                    <a:lstStyle/>
                    <a:p>
                      <a:pPr algn="l"/>
                      <a:r>
                        <a:rPr sz="1000" b="1" i="0">
                          <a:solidFill>
                            <a:srgbClr val="1A1A1A"/>
                          </a:solidFill>
                          <a:latin typeface="Arial"/>
                        </a:rPr>
                        <a:t>tests</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c>
                  <a:txBody>
                    <a:bodyPr wrap="square" lIns="45720" rIns="45720" tIns="27432" bIns="27432" anchor="ctr">
                      <a:noAutofit/>
                    </a:bodyPr>
                    <a:lstStyle/>
                    <a:p>
                      <a:pPr algn="l"/>
                      <a:r>
                        <a:rPr sz="1000" b="0" i="0">
                          <a:solidFill>
                            <a:srgbClr val="1A1A1A"/>
                          </a:solidFill>
                          <a:latin typeface="Arial"/>
                        </a:rPr>
                        <a:t>unit tests: twin, labels, FHIR</a:t>
                      </a:r>
                    </a:p>
                  </a:txBody>
                  <a:tcPr marL="45720" marR="45720"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1F4F8"/>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