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" y="27432"/>
            <a:ext cx="12045391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/>
            <a:r>
              <a:rPr sz="1600" b="1" i="0">
                <a:solidFill>
                  <a:srgbClr val="1D4E89"/>
                </a:solidFill>
                <a:latin typeface="Arial"/>
              </a:rPr>
              <a:t>GlucoSentinel: system architecture of the type 2 diabetes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" y="320040"/>
            <a:ext cx="12045391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4A5168"/>
                </a:solidFill>
                <a:latin typeface="Arial"/>
              </a:rPr>
              <a:t>Two data streams in, one calibrated virtual patient in the middle, a 2-hour spike warning and a doctor console out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" y="566928"/>
            <a:ext cx="12045391" cy="0"/>
          </a:xfrm>
          <a:prstGeom prst="line">
            <a:avLst/>
          </a:prstGeom>
          <a:ln w="19050">
            <a:solidFill>
              <a:srgbClr val="1D4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73152" y="621792"/>
            <a:ext cx="2030415" cy="5090160"/>
            <a:chOff x="73152" y="621792"/>
            <a:chExt cx="2030415" cy="5090160"/>
          </a:xfrm>
        </p:grpSpPr>
        <p:sp>
          <p:nvSpPr>
            <p:cNvPr id="6" name="frame:1 Data sources"/>
            <p:cNvSpPr/>
            <p:nvPr/>
          </p:nvSpPr>
          <p:spPr>
            <a:xfrm>
              <a:off x="73152" y="758952"/>
              <a:ext cx="2030415" cy="4953000"/>
            </a:xfrm>
            <a:prstGeom prst="roundRect">
              <a:avLst>
                <a:gd name="adj" fmla="val 2251"/>
              </a:avLst>
            </a:prstGeom>
            <a:solidFill>
              <a:srgbClr val="F1F4F8"/>
            </a:solidFill>
            <a:ln w="15875">
              <a:solidFill>
                <a:srgbClr val="466E9E"/>
              </a:solidFill>
              <a:prstDash val="sysDot"/>
            </a:ln>
          </p:spPr>
          <p:txBody>
            <a:bodyPr rtlCol="0" anchor="ctr"/>
            <a:lstStyle/>
            <a:p/>
          </p:txBody>
        </p:sp>
        <p:sp>
          <p:nvSpPr>
            <p:cNvPr id="7" name="Rounded Rectangle 6"/>
            <p:cNvSpPr/>
            <p:nvPr/>
          </p:nvSpPr>
          <p:spPr>
            <a:xfrm>
              <a:off x="73152" y="621792"/>
              <a:ext cx="1322006" cy="274320"/>
            </a:xfrm>
            <a:prstGeom prst="roundRect">
              <a:avLst>
                <a:gd name="adj" fmla="val 13333"/>
              </a:avLst>
            </a:prstGeom>
            <a:solidFill>
              <a:srgbClr val="1D4E89"/>
            </a:solidFill>
            <a:ln>
              <a:noFill/>
            </a:ln>
          </p:spPr>
          <p:txBody>
            <a:bodyPr rtlCol="0" anchor="ctr"/>
            <a:lstStyle/>
            <a:p/>
          </p:txBody>
        </p:sp>
        <p:sp>
          <p:nvSpPr>
            <p:cNvPr id="8" name="TextBox 7"/>
            <p:cNvSpPr txBox="1"/>
            <p:nvPr/>
          </p:nvSpPr>
          <p:spPr>
            <a:xfrm>
              <a:off x="137160" y="621792"/>
              <a:ext cx="1230566" cy="274320"/>
            </a:xfrm>
            <a:prstGeom prst="rect">
              <a:avLst/>
            </a:prstGeom>
            <a:noFill/>
          </p:spPr>
          <p:txBody>
            <a:bodyPr wrap="square" lIns="9144" rIns="9144" tIns="9144" bIns="9144" anchor="ctr">
              <a:noAutofit/>
            </a:bodyPr>
            <a:lstStyle/>
            <a:p>
              <a:pPr algn="l"/>
              <a:r>
                <a:rPr sz="1200" b="1" i="0">
                  <a:solidFill>
                    <a:srgbClr val="FFFFFF"/>
                  </a:solidFill>
                  <a:latin typeface="Arial"/>
                </a:rPr>
                <a:t>1 Data sources</a:t>
              </a: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28016" y="932688"/>
              <a:ext cx="1920687" cy="2198058"/>
              <a:chOff x="128016" y="932688"/>
              <a:chExt cx="1920687" cy="2198058"/>
            </a:xfrm>
          </p:grpSpPr>
          <p:sp>
            <p:nvSpPr>
              <p:cNvPr id="10" name="frame:plain"/>
              <p:cNvSpPr/>
              <p:nvPr/>
            </p:nvSpPr>
            <p:spPr>
              <a:xfrm>
                <a:off x="128016" y="932688"/>
                <a:ext cx="1920687" cy="2198058"/>
              </a:xfrm>
              <a:prstGeom prst="roundRect">
                <a:avLst>
                  <a:gd name="adj" fmla="val 2380"/>
                </a:avLst>
              </a:prstGeom>
              <a:solidFill>
                <a:srgbClr val="FFFFFF"/>
              </a:solidFill>
              <a:ln w="15875">
                <a:solidFill>
                  <a:srgbClr val="466E9E"/>
                </a:solidFill>
                <a:prstDash val="sysDot"/>
              </a:ln>
            </p:spPr>
            <p:txBody>
              <a:bodyPr rtlCol="0" anchor="ctr"/>
              <a:lstStyle/>
              <a:p/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182880" y="987552"/>
                <a:ext cx="1810959" cy="202565"/>
              </a:xfrm>
              <a:prstGeom prst="rect">
                <a:avLst/>
              </a:prstGeom>
              <a:noFill/>
            </p:spPr>
            <p:txBody>
              <a:bodyPr wrap="square" lIns="18288" rIns="18288" tIns="18288" bIns="18288" anchor="ctr">
                <a:noAutofit/>
              </a:bodyPr>
              <a:lstStyle/>
              <a:p>
                <a:pPr algn="l"/>
                <a:r>
                  <a:rPr sz="1100" b="1" i="0" u="sng">
                    <a:solidFill>
                      <a:srgbClr val="1D4E89"/>
                    </a:solidFill>
                    <a:latin typeface="Arial"/>
                  </a:rPr>
                  <a:t>Static stream: EHR</a:t>
                </a:r>
              </a:p>
            </p:txBody>
          </p:sp>
          <p:sp>
            <p:nvSpPr>
              <p:cNvPr id="12" name="ig:icon_card"/>
              <p:cNvSpPr/>
              <p:nvPr/>
            </p:nvSpPr>
            <p:spPr>
              <a:xfrm>
                <a:off x="182880" y="1207008"/>
                <a:ext cx="1810959" cy="566928"/>
              </a:xfrm>
              <a:prstGeom prst="roundRect">
                <a:avLst>
                  <a:gd name="adj" fmla="val 8064"/>
                </a:avLst>
              </a:prstGeom>
              <a:solidFill>
                <a:srgbClr val="FFFFFF"/>
              </a:solidFill>
              <a:ln w="9525">
                <a:solidFill>
                  <a:srgbClr val="466E9E"/>
                </a:solidFill>
                <a:prstDash val="sysDot"/>
              </a:ln>
            </p:spPr>
            <p:txBody>
              <a:bodyPr rtlCol="0" anchor="ctr"/>
              <a:lstStyle/>
              <a:p/>
            </p:txBody>
          </p:sp>
          <p:pic>
            <p:nvPicPr>
              <p:cNvPr id="13" name="Picture 12" descr="ic_fa6_FaFileMedical_1D4E89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46888" y="1261872"/>
                <a:ext cx="457200" cy="457200"/>
              </a:xfrm>
              <a:prstGeom prst="rect">
                <a:avLst/>
              </a:prstGeom>
            </p:spPr>
          </p:pic>
          <p:sp>
            <p:nvSpPr>
              <p:cNvPr id="14" name="TextBox 13"/>
              <p:cNvSpPr txBox="1"/>
              <p:nvPr/>
            </p:nvSpPr>
            <p:spPr>
              <a:xfrm>
                <a:off x="749808" y="1225296"/>
                <a:ext cx="1207455" cy="530352"/>
              </a:xfrm>
              <a:prstGeom prst="rect">
                <a:avLst/>
              </a:prstGeom>
              <a:noFill/>
            </p:spPr>
            <p:txBody>
              <a:bodyPr wrap="square" lIns="27432" rIns="27432" tIns="27432" bIns="27432" anchor="ctr">
                <a:noAutofit/>
              </a:bodyPr>
              <a:lstStyle/>
              <a:p>
                <a:pPr algn="l"/>
                <a:r>
                  <a:rPr sz="1000" b="1" i="0">
                    <a:solidFill>
                      <a:srgbClr val="1A1A1A"/>
                    </a:solidFill>
                    <a:latin typeface="Arial"/>
                  </a:rPr>
                  <a:t>Synthetic EHR</a:t>
                </a:r>
              </a:p>
              <a:p>
                <a:pPr algn="l"/>
                <a:r>
                  <a:rPr sz="1000" b="1" i="0">
                    <a:solidFill>
                      <a:srgbClr val="1A1A1A"/>
                    </a:solidFill>
                    <a:latin typeface="Arial"/>
                  </a:rPr>
                  <a:t>120</a:t>
                </a:r>
                <a:r>
                  <a:rPr sz="1000" b="0" i="0">
                    <a:solidFill>
                      <a:srgbClr val="1A1A1A"/>
                    </a:solidFill>
                    <a:latin typeface="Arial"/>
                  </a:rPr>
                  <a:t> Synthea-style patients</a:t>
                </a:r>
              </a:p>
            </p:txBody>
          </p:sp>
          <p:sp>
            <p:nvSpPr>
              <p:cNvPr id="15" name="Rounded Rectangle 14"/>
              <p:cNvSpPr/>
              <p:nvPr/>
            </p:nvSpPr>
            <p:spPr>
              <a:xfrm>
                <a:off x="182880" y="1828800"/>
                <a:ext cx="1810959" cy="1247082"/>
              </a:xfrm>
              <a:prstGeom prst="roundRect">
                <a:avLst>
                  <a:gd name="adj" fmla="val 3666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t" wrap="square" lIns="45720" rIns="45720" tIns="27432" bIns="27432">
                <a:noAutofit/>
              </a:bodyPr>
              <a:lstStyle/>
              <a:p>
                <a:pPr algn="l"/>
                <a:r>
                  <a:rPr sz="1000" b="1" i="0">
                    <a:solidFill>
                      <a:srgbClr val="1A1A1A"/>
                    </a:solidFill>
                    <a:latin typeface="Arial"/>
                  </a:rPr>
                  <a:t>HL7 FHIR R4 bundle</a:t>
                </a:r>
              </a:p>
              <a:p>
                <a:pPr algn="l" marL="137160" indent="-137160">
                  <a:buClr>
                    <a:srgbClr val="1A1A1A"/>
                  </a:buClr>
                  <a:buFont typeface="Arial"/>
                  <a:buChar char="•"/>
                </a:pPr>
                <a:r>
                  <a:rPr sz="1000" b="0" i="0">
                    <a:solidFill>
                      <a:srgbClr val="1A1A1A"/>
                    </a:solidFill>
                    <a:latin typeface="Arial"/>
                  </a:rPr>
                  <a:t>Condition, ICD-10 </a:t>
                </a:r>
                <a:r>
                  <a:rPr sz="1000" b="1" i="0">
                    <a:solidFill>
                      <a:srgbClr val="1A1A1A"/>
                    </a:solidFill>
                    <a:latin typeface="Arial"/>
                  </a:rPr>
                  <a:t>E11.9</a:t>
                </a:r>
              </a:p>
              <a:p>
                <a:pPr algn="l" marL="137160" indent="-137160">
                  <a:buClr>
                    <a:srgbClr val="1A1A1A"/>
                  </a:buClr>
                  <a:buFont typeface="Arial"/>
                  <a:buChar char="•"/>
                </a:pPr>
                <a:r>
                  <a:rPr sz="1000" b="0" i="0">
                    <a:solidFill>
                      <a:srgbClr val="1A1A1A"/>
                    </a:solidFill>
                    <a:latin typeface="Arial"/>
                  </a:rPr>
                  <a:t>Labs, LOINC (HbA1c </a:t>
                </a:r>
                <a:r>
                  <a:rPr sz="1000" b="1" i="0">
                    <a:solidFill>
                      <a:srgbClr val="1A1A1A"/>
                    </a:solidFill>
                    <a:latin typeface="Arial"/>
                  </a:rPr>
                  <a:t>4548-4</a:t>
                </a:r>
                <a:r>
                  <a:rPr sz="1000" b="0" i="0">
                    <a:solidFill>
                      <a:srgbClr val="1A1A1A"/>
                    </a:solidFill>
                    <a:latin typeface="Arial"/>
                  </a:rPr>
                  <a:t>)</a:t>
                </a:r>
              </a:p>
              <a:p>
                <a:pPr algn="l" marL="137160" indent="-137160">
                  <a:buClr>
                    <a:srgbClr val="1A1A1A"/>
                  </a:buClr>
                  <a:buFont typeface="Arial"/>
                  <a:buChar char="•"/>
                </a:pPr>
                <a:r>
                  <a:rPr sz="1000" b="0" i="0">
                    <a:solidFill>
                      <a:srgbClr val="1A1A1A"/>
                    </a:solidFill>
                    <a:latin typeface="Arial"/>
                  </a:rPr>
                  <a:t>Medications, RxNorm</a:t>
                </a:r>
              </a:p>
              <a:p>
                <a:pPr algn="l" marL="137160" indent="-137160">
                  <a:buClr>
                    <a:srgbClr val="1A1A1A"/>
                  </a:buClr>
                  <a:buFont typeface="Arial"/>
                  <a:buChar char="•"/>
                </a:pPr>
                <a:r>
                  <a:rPr sz="1000" b="0" i="0">
                    <a:solidFill>
                      <a:srgbClr val="1A1A1A"/>
                    </a:solidFill>
                    <a:latin typeface="Arial"/>
                  </a:rPr>
                  <a:t>TCF7L2 genotype + PRS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128016" y="3203898"/>
              <a:ext cx="1920687" cy="2453190"/>
              <a:chOff x="128016" y="3203898"/>
              <a:chExt cx="1920687" cy="2453190"/>
            </a:xfrm>
          </p:grpSpPr>
          <p:sp>
            <p:nvSpPr>
              <p:cNvPr id="17" name="frame:plain"/>
              <p:cNvSpPr/>
              <p:nvPr/>
            </p:nvSpPr>
            <p:spPr>
              <a:xfrm>
                <a:off x="128016" y="3203898"/>
                <a:ext cx="1920687" cy="2453190"/>
              </a:xfrm>
              <a:prstGeom prst="roundRect">
                <a:avLst>
                  <a:gd name="adj" fmla="val 2380"/>
                </a:avLst>
              </a:prstGeom>
              <a:solidFill>
                <a:srgbClr val="FFFFFF"/>
              </a:solidFill>
              <a:ln w="15875">
                <a:solidFill>
                  <a:srgbClr val="466E9E"/>
                </a:solidFill>
                <a:prstDash val="sysDot"/>
              </a:ln>
            </p:spPr>
            <p:txBody>
              <a:bodyPr rtlCol="0" anchor="ctr"/>
              <a:lstStyle/>
              <a:p/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182880" y="3258762"/>
                <a:ext cx="1810959" cy="202565"/>
              </a:xfrm>
              <a:prstGeom prst="rect">
                <a:avLst/>
              </a:prstGeom>
              <a:noFill/>
            </p:spPr>
            <p:txBody>
              <a:bodyPr wrap="square" lIns="18288" rIns="18288" tIns="18288" bIns="18288" anchor="ctr">
                <a:noAutofit/>
              </a:bodyPr>
              <a:lstStyle/>
              <a:p>
                <a:pPr algn="l"/>
                <a:r>
                  <a:rPr sz="1100" b="1" i="0" u="sng">
                    <a:solidFill>
                      <a:srgbClr val="1D4E89"/>
                    </a:solidFill>
                    <a:latin typeface="Arial"/>
                  </a:rPr>
                  <a:t>Dynamic: wearables</a:t>
                </a:r>
              </a:p>
            </p:txBody>
          </p:sp>
          <p:sp>
            <p:nvSpPr>
              <p:cNvPr id="19" name="ig:icon_card"/>
              <p:cNvSpPr/>
              <p:nvPr/>
            </p:nvSpPr>
            <p:spPr>
              <a:xfrm>
                <a:off x="182880" y="3478218"/>
                <a:ext cx="1810959" cy="395540"/>
              </a:xfrm>
              <a:prstGeom prst="roundRect">
                <a:avLst>
                  <a:gd name="adj" fmla="val 11558"/>
                </a:avLst>
              </a:prstGeom>
              <a:solidFill>
                <a:srgbClr val="FFFFFF"/>
              </a:solidFill>
              <a:ln w="9525">
                <a:solidFill>
                  <a:srgbClr val="466E9E"/>
                </a:solidFill>
                <a:prstDash val="sysDot"/>
              </a:ln>
            </p:spPr>
            <p:txBody>
              <a:bodyPr rtlCol="0" anchor="ctr"/>
              <a:lstStyle/>
              <a:p/>
            </p:txBody>
          </p:sp>
          <p:pic>
            <p:nvPicPr>
              <p:cNvPr id="20" name="Picture 19" descr="ic_fa6_FaDroplet_1D4E89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6888" y="3533082"/>
                <a:ext cx="285812" cy="285812"/>
              </a:xfrm>
              <a:prstGeom prst="rect">
                <a:avLst/>
              </a:prstGeom>
            </p:spPr>
          </p:pic>
          <p:sp>
            <p:nvSpPr>
              <p:cNvPr id="21" name="TextBox 20"/>
              <p:cNvSpPr txBox="1"/>
              <p:nvPr/>
            </p:nvSpPr>
            <p:spPr>
              <a:xfrm>
                <a:off x="578420" y="3496506"/>
                <a:ext cx="1378843" cy="358964"/>
              </a:xfrm>
              <a:prstGeom prst="rect">
                <a:avLst/>
              </a:prstGeom>
              <a:noFill/>
            </p:spPr>
            <p:txBody>
              <a:bodyPr wrap="square" lIns="27432" rIns="27432" tIns="27432" bIns="27432" anchor="ctr">
                <a:noAutofit/>
              </a:bodyPr>
              <a:lstStyle/>
              <a:p>
                <a:pPr algn="l"/>
                <a:r>
                  <a:rPr sz="900" b="1" i="0">
                    <a:solidFill>
                      <a:srgbClr val="1A1A1A"/>
                    </a:solidFill>
                    <a:latin typeface="Arial"/>
                  </a:rPr>
                  <a:t>CGM glucose</a:t>
                </a:r>
              </a:p>
              <a:p>
                <a:pPr algn="l"/>
                <a:r>
                  <a:rPr sz="900" b="0" i="0">
                    <a:solidFill>
                      <a:srgbClr val="1A1A1A"/>
                    </a:solidFill>
                    <a:latin typeface="Arial"/>
                  </a:rPr>
                  <a:t>every </a:t>
                </a:r>
                <a:r>
                  <a:rPr sz="900" b="1" i="0">
                    <a:solidFill>
                      <a:srgbClr val="1A1A1A"/>
                    </a:solidFill>
                    <a:latin typeface="Arial"/>
                  </a:rPr>
                  <a:t>5 min</a:t>
                </a:r>
              </a:p>
            </p:txBody>
          </p:sp>
          <p:sp>
            <p:nvSpPr>
              <p:cNvPr id="22" name="ig:icon_card"/>
              <p:cNvSpPr/>
              <p:nvPr/>
            </p:nvSpPr>
            <p:spPr>
              <a:xfrm>
                <a:off x="182880" y="3910335"/>
                <a:ext cx="1810959" cy="395540"/>
              </a:xfrm>
              <a:prstGeom prst="roundRect">
                <a:avLst>
                  <a:gd name="adj" fmla="val 11558"/>
                </a:avLst>
              </a:prstGeom>
              <a:solidFill>
                <a:srgbClr val="FFFFFF"/>
              </a:solidFill>
              <a:ln w="9525">
                <a:solidFill>
                  <a:srgbClr val="466E9E"/>
                </a:solidFill>
                <a:prstDash val="sysDot"/>
              </a:ln>
            </p:spPr>
            <p:txBody>
              <a:bodyPr rtlCol="0" anchor="ctr"/>
              <a:lstStyle/>
              <a:p/>
            </p:txBody>
          </p:sp>
          <p:pic>
            <p:nvPicPr>
              <p:cNvPr id="23" name="Picture 22" descr="ic_fa6_FaHeartPulse_1D4E89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6888" y="3965199"/>
                <a:ext cx="285812" cy="285812"/>
              </a:xfrm>
              <a:prstGeom prst="rect">
                <a:avLst/>
              </a:prstGeom>
            </p:spPr>
          </p:pic>
          <p:sp>
            <p:nvSpPr>
              <p:cNvPr id="24" name="TextBox 23"/>
              <p:cNvSpPr txBox="1"/>
              <p:nvPr/>
            </p:nvSpPr>
            <p:spPr>
              <a:xfrm>
                <a:off x="578420" y="3928623"/>
                <a:ext cx="1378843" cy="358964"/>
              </a:xfrm>
              <a:prstGeom prst="rect">
                <a:avLst/>
              </a:prstGeom>
              <a:noFill/>
            </p:spPr>
            <p:txBody>
              <a:bodyPr wrap="square" lIns="27432" rIns="27432" tIns="27432" bIns="27432" anchor="ctr">
                <a:noAutofit/>
              </a:bodyPr>
              <a:lstStyle/>
              <a:p>
                <a:pPr algn="l"/>
                <a:r>
                  <a:rPr sz="900" b="1" i="0">
                    <a:solidFill>
                      <a:srgbClr val="1A1A1A"/>
                    </a:solidFill>
                    <a:latin typeface="Arial"/>
                  </a:rPr>
                  <a:t>Smartwatch</a:t>
                </a:r>
              </a:p>
              <a:p>
                <a:pPr algn="l"/>
                <a:r>
                  <a:rPr sz="900" b="0" i="0">
                    <a:solidFill>
                      <a:srgbClr val="1A1A1A"/>
                    </a:solidFill>
                    <a:latin typeface="Arial"/>
                  </a:rPr>
                  <a:t>heart rate, </a:t>
                </a:r>
                <a:r>
                  <a:rPr sz="900" b="1" i="0">
                    <a:solidFill>
                      <a:srgbClr val="1A1A1A"/>
                    </a:solidFill>
                    <a:latin typeface="Arial"/>
                  </a:rPr>
                  <a:t>HRV RMSSD</a:t>
                </a:r>
              </a:p>
            </p:txBody>
          </p:sp>
          <p:sp>
            <p:nvSpPr>
              <p:cNvPr id="25" name="ig:icon_card"/>
              <p:cNvSpPr/>
              <p:nvPr/>
            </p:nvSpPr>
            <p:spPr>
              <a:xfrm>
                <a:off x="182880" y="4342451"/>
                <a:ext cx="1810959" cy="395540"/>
              </a:xfrm>
              <a:prstGeom prst="roundRect">
                <a:avLst>
                  <a:gd name="adj" fmla="val 11558"/>
                </a:avLst>
              </a:prstGeom>
              <a:solidFill>
                <a:srgbClr val="FFFFFF"/>
              </a:solidFill>
              <a:ln w="9525">
                <a:solidFill>
                  <a:srgbClr val="466E9E"/>
                </a:solidFill>
                <a:prstDash val="sysDot"/>
              </a:ln>
            </p:spPr>
            <p:txBody>
              <a:bodyPr rtlCol="0" anchor="ctr"/>
              <a:lstStyle/>
              <a:p/>
            </p:txBody>
          </p:sp>
          <p:pic>
            <p:nvPicPr>
              <p:cNvPr id="26" name="Picture 25" descr="ic_fa6_FaBed_1D4E89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6888" y="4397315"/>
                <a:ext cx="285812" cy="285812"/>
              </a:xfrm>
              <a:prstGeom prst="rect">
                <a:avLst/>
              </a:prstGeom>
            </p:spPr>
          </p:pic>
          <p:sp>
            <p:nvSpPr>
              <p:cNvPr id="27" name="TextBox 26"/>
              <p:cNvSpPr txBox="1"/>
              <p:nvPr/>
            </p:nvSpPr>
            <p:spPr>
              <a:xfrm>
                <a:off x="578420" y="4360739"/>
                <a:ext cx="1378843" cy="358964"/>
              </a:xfrm>
              <a:prstGeom prst="rect">
                <a:avLst/>
              </a:prstGeom>
              <a:noFill/>
            </p:spPr>
            <p:txBody>
              <a:bodyPr wrap="square" lIns="27432" rIns="27432" tIns="27432" bIns="27432" anchor="ctr">
                <a:noAutofit/>
              </a:bodyPr>
              <a:lstStyle/>
              <a:p>
                <a:pPr algn="l"/>
                <a:r>
                  <a:rPr sz="900" b="1" i="0">
                    <a:solidFill>
                      <a:srgbClr val="1A1A1A"/>
                    </a:solidFill>
                    <a:latin typeface="Arial"/>
                  </a:rPr>
                  <a:t>Sleep stages</a:t>
                </a:r>
              </a:p>
              <a:p>
                <a:pPr algn="l"/>
                <a:r>
                  <a:rPr sz="900" b="0" i="0">
                    <a:solidFill>
                      <a:srgbClr val="1A1A1A"/>
                    </a:solidFill>
                    <a:latin typeface="Arial"/>
                  </a:rPr>
                  <a:t>light, deep, REM, awake</a:t>
                </a:r>
              </a:p>
            </p:txBody>
          </p:sp>
          <p:sp>
            <p:nvSpPr>
              <p:cNvPr id="28" name="ig:icon_card"/>
              <p:cNvSpPr/>
              <p:nvPr/>
            </p:nvSpPr>
            <p:spPr>
              <a:xfrm>
                <a:off x="182880" y="4774567"/>
                <a:ext cx="1810959" cy="395540"/>
              </a:xfrm>
              <a:prstGeom prst="roundRect">
                <a:avLst>
                  <a:gd name="adj" fmla="val 11558"/>
                </a:avLst>
              </a:prstGeom>
              <a:solidFill>
                <a:srgbClr val="FFFFFF"/>
              </a:solidFill>
              <a:ln w="9525">
                <a:solidFill>
                  <a:srgbClr val="466E9E"/>
                </a:solidFill>
                <a:prstDash val="sysDot"/>
              </a:ln>
            </p:spPr>
            <p:txBody>
              <a:bodyPr rtlCol="0" anchor="ctr"/>
              <a:lstStyle/>
              <a:p/>
            </p:txBody>
          </p:sp>
          <p:pic>
            <p:nvPicPr>
              <p:cNvPr id="29" name="Picture 28" descr="ic_fa6_FaPersonWalking_1D4E89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6888" y="4829431"/>
                <a:ext cx="285812" cy="285812"/>
              </a:xfrm>
              <a:prstGeom prst="rect">
                <a:avLst/>
              </a:prstGeom>
            </p:spPr>
          </p:pic>
          <p:sp>
            <p:nvSpPr>
              <p:cNvPr id="30" name="TextBox 29"/>
              <p:cNvSpPr txBox="1"/>
              <p:nvPr/>
            </p:nvSpPr>
            <p:spPr>
              <a:xfrm>
                <a:off x="578420" y="4792855"/>
                <a:ext cx="1378843" cy="358964"/>
              </a:xfrm>
              <a:prstGeom prst="rect">
                <a:avLst/>
              </a:prstGeom>
              <a:noFill/>
            </p:spPr>
            <p:txBody>
              <a:bodyPr wrap="square" lIns="27432" rIns="27432" tIns="27432" bIns="27432" anchor="ctr">
                <a:noAutofit/>
              </a:bodyPr>
              <a:lstStyle/>
              <a:p>
                <a:pPr algn="l"/>
                <a:r>
                  <a:rPr sz="900" b="1" i="0">
                    <a:solidFill>
                      <a:srgbClr val="1A1A1A"/>
                    </a:solidFill>
                    <a:latin typeface="Arial"/>
                  </a:rPr>
                  <a:t>Steps</a:t>
                </a:r>
              </a:p>
              <a:p>
                <a:pPr algn="l"/>
                <a:r>
                  <a:rPr sz="900" b="0" i="0">
                    <a:solidFill>
                      <a:srgbClr val="1A1A1A"/>
                    </a:solidFill>
                    <a:latin typeface="Arial"/>
                  </a:rPr>
                  <a:t>per 5 min, walks</a:t>
                </a:r>
              </a:p>
            </p:txBody>
          </p:sp>
          <p:sp>
            <p:nvSpPr>
              <p:cNvPr id="31" name="ig:icon_card"/>
              <p:cNvSpPr/>
              <p:nvPr/>
            </p:nvSpPr>
            <p:spPr>
              <a:xfrm>
                <a:off x="182880" y="5206684"/>
                <a:ext cx="1810959" cy="395540"/>
              </a:xfrm>
              <a:prstGeom prst="roundRect">
                <a:avLst>
                  <a:gd name="adj" fmla="val 11558"/>
                </a:avLst>
              </a:prstGeom>
              <a:solidFill>
                <a:srgbClr val="FFFFFF"/>
              </a:solidFill>
              <a:ln w="9525">
                <a:solidFill>
                  <a:srgbClr val="466E9E"/>
                </a:solidFill>
                <a:prstDash val="sysDot"/>
              </a:ln>
            </p:spPr>
            <p:txBody>
              <a:bodyPr rtlCol="0" anchor="ctr"/>
              <a:lstStyle/>
              <a:p/>
            </p:txBody>
          </p:sp>
          <p:pic>
            <p:nvPicPr>
              <p:cNvPr id="32" name="Picture 31" descr="ic_fa6_FaBowlFood_1D4E89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6888" y="5261548"/>
                <a:ext cx="285812" cy="285812"/>
              </a:xfrm>
              <a:prstGeom prst="rect">
                <a:avLst/>
              </a:prstGeom>
            </p:spPr>
          </p:pic>
          <p:sp>
            <p:nvSpPr>
              <p:cNvPr id="33" name="TextBox 32"/>
              <p:cNvSpPr txBox="1"/>
              <p:nvPr/>
            </p:nvSpPr>
            <p:spPr>
              <a:xfrm>
                <a:off x="578420" y="5224972"/>
                <a:ext cx="1378843" cy="358964"/>
              </a:xfrm>
              <a:prstGeom prst="rect">
                <a:avLst/>
              </a:prstGeom>
              <a:noFill/>
            </p:spPr>
            <p:txBody>
              <a:bodyPr wrap="square" lIns="27432" rIns="27432" tIns="27432" bIns="27432" anchor="ctr">
                <a:noAutofit/>
              </a:bodyPr>
              <a:lstStyle/>
              <a:p>
                <a:pPr algn="l"/>
                <a:r>
                  <a:rPr sz="900" b="1" i="0">
                    <a:solidFill>
                      <a:srgbClr val="1A1A1A"/>
                    </a:solidFill>
                    <a:latin typeface="Arial"/>
                  </a:rPr>
                  <a:t>Meal log app</a:t>
                </a:r>
              </a:p>
              <a:p>
                <a:pPr algn="l"/>
                <a:r>
                  <a:rPr sz="900" b="1" i="0">
                    <a:solidFill>
                      <a:srgbClr val="1A1A1A"/>
                    </a:solidFill>
                    <a:latin typeface="Arial"/>
                  </a:rPr>
                  <a:t>32</a:t>
                </a:r>
                <a:r>
                  <a:rPr sz="900" b="0" i="0">
                    <a:solidFill>
                      <a:srgbClr val="1A1A1A"/>
                    </a:solidFill>
                    <a:latin typeface="Arial"/>
                  </a:rPr>
                  <a:t> Indian dishes</a:t>
                </a:r>
              </a:p>
            </p:txBody>
          </p:sp>
        </p:grpSp>
      </p:grpSp>
      <p:grpSp>
        <p:nvGrpSpPr>
          <p:cNvPr id="34" name="Group 33"/>
          <p:cNvGrpSpPr/>
          <p:nvPr/>
        </p:nvGrpSpPr>
        <p:grpSpPr>
          <a:xfrm>
            <a:off x="2414463" y="621792"/>
            <a:ext cx="1543115" cy="5090160"/>
            <a:chOff x="2414463" y="621792"/>
            <a:chExt cx="1543115" cy="5090160"/>
          </a:xfrm>
        </p:grpSpPr>
        <p:sp>
          <p:nvSpPr>
            <p:cNvPr id="35" name="frame:2 Ingest"/>
            <p:cNvSpPr/>
            <p:nvPr/>
          </p:nvSpPr>
          <p:spPr>
            <a:xfrm>
              <a:off x="2414463" y="758952"/>
              <a:ext cx="1543115" cy="4953000"/>
            </a:xfrm>
            <a:prstGeom prst="roundRect">
              <a:avLst>
                <a:gd name="adj" fmla="val 2962"/>
              </a:avLst>
            </a:prstGeom>
            <a:solidFill>
              <a:srgbClr val="F1F4F8"/>
            </a:solidFill>
            <a:ln w="15875">
              <a:solidFill>
                <a:srgbClr val="466E9E"/>
              </a:solidFill>
              <a:prstDash val="sysDot"/>
            </a:ln>
          </p:spPr>
          <p:txBody>
            <a:bodyPr rtlCol="0" anchor="ctr"/>
            <a:lstStyle/>
            <a:p/>
          </p:txBody>
        </p:sp>
        <p:sp>
          <p:nvSpPr>
            <p:cNvPr id="36" name="Rounded Rectangle 35"/>
            <p:cNvSpPr/>
            <p:nvPr/>
          </p:nvSpPr>
          <p:spPr>
            <a:xfrm>
              <a:off x="2414463" y="621792"/>
              <a:ext cx="813629" cy="274320"/>
            </a:xfrm>
            <a:prstGeom prst="roundRect">
              <a:avLst>
                <a:gd name="adj" fmla="val 13333"/>
              </a:avLst>
            </a:prstGeom>
            <a:solidFill>
              <a:srgbClr val="1D4E89"/>
            </a:solidFill>
            <a:ln>
              <a:noFill/>
            </a:ln>
          </p:spPr>
          <p:txBody>
            <a:bodyPr rtlCol="0" anchor="ctr"/>
            <a:lstStyle/>
            <a:p/>
          </p:txBody>
        </p:sp>
        <p:sp>
          <p:nvSpPr>
            <p:cNvPr id="37" name="TextBox 36"/>
            <p:cNvSpPr txBox="1"/>
            <p:nvPr/>
          </p:nvSpPr>
          <p:spPr>
            <a:xfrm>
              <a:off x="2478471" y="621792"/>
              <a:ext cx="722189" cy="274320"/>
            </a:xfrm>
            <a:prstGeom prst="rect">
              <a:avLst/>
            </a:prstGeom>
            <a:noFill/>
          </p:spPr>
          <p:txBody>
            <a:bodyPr wrap="square" lIns="9144" rIns="9144" tIns="9144" bIns="9144" anchor="ctr">
              <a:noAutofit/>
            </a:bodyPr>
            <a:lstStyle/>
            <a:p>
              <a:pPr algn="l"/>
              <a:r>
                <a:rPr sz="1200" b="1" i="0">
                  <a:solidFill>
                    <a:srgbClr val="FFFFFF"/>
                  </a:solidFill>
                  <a:latin typeface="Arial"/>
                </a:rPr>
                <a:t>2 Ingest</a:t>
              </a:r>
            </a:p>
          </p:txBody>
        </p:sp>
        <p:sp>
          <p:nvSpPr>
            <p:cNvPr id="38" name="ig:flow"/>
            <p:cNvSpPr/>
            <p:nvPr/>
          </p:nvSpPr>
          <p:spPr>
            <a:xfrm>
              <a:off x="2469327" y="932688"/>
              <a:ext cx="1433387" cy="857098"/>
            </a:xfrm>
            <a:prstGeom prst="roundRect">
              <a:avLst>
                <a:gd name="adj" fmla="val 5334"/>
              </a:avLst>
            </a:prstGeom>
            <a:solidFill>
              <a:srgbClr val="FFFFFF"/>
            </a:solidFill>
            <a:ln w="9525">
              <a:solidFill>
                <a:srgbClr val="466E9E"/>
              </a:solidFill>
              <a:prstDash val="sysDot"/>
            </a:ln>
          </p:spPr>
          <p:txBody>
            <a:bodyPr rtlCol="0" anchor="ctr"/>
            <a:lstStyle/>
            <a:p/>
          </p:txBody>
        </p:sp>
        <p:pic>
          <p:nvPicPr>
            <p:cNvPr id="39" name="Picture 38" descr="ic_fa6_FaCode_1A1A1A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014601" y="969264"/>
              <a:ext cx="342839" cy="342839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2469327" y="1312103"/>
              <a:ext cx="1433387" cy="459395"/>
            </a:xfrm>
            <a:prstGeom prst="rect">
              <a:avLst/>
            </a:prstGeom>
            <a:noFill/>
          </p:spPr>
          <p:txBody>
            <a:bodyPr wrap="square" lIns="36576" rIns="36576" tIns="27432" bIns="27432" anchor="ctr">
              <a:noAutofit/>
            </a:bodyPr>
            <a:lstStyle/>
            <a:p>
              <a:pPr algn="ctr"/>
              <a:r>
                <a:rPr sz="900" b="1" i="0">
                  <a:solidFill>
                    <a:srgbClr val="1A1A1A"/>
                  </a:solidFill>
                  <a:latin typeface="Arial"/>
                </a:rPr>
                <a:t>FHIR parser</a:t>
              </a:r>
            </a:p>
            <a:p>
              <a:pPr algn="ctr"/>
              <a:r>
                <a:rPr sz="900" b="0" i="0">
                  <a:solidFill>
                    <a:srgbClr val="1A1A1A"/>
                  </a:solidFill>
                  <a:latin typeface="Arial"/>
                </a:rPr>
                <a:t>bundle to EHR features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2469327" y="1899514"/>
              <a:ext cx="1433387" cy="857098"/>
            </a:xfrm>
            <a:prstGeom prst="roundRect">
              <a:avLst>
                <a:gd name="adj" fmla="val 5334"/>
              </a:avLst>
            </a:prstGeom>
            <a:solidFill>
              <a:srgbClr val="FFFFFF"/>
            </a:solidFill>
            <a:ln w="9525">
              <a:solidFill>
                <a:srgbClr val="466E9E"/>
              </a:solidFill>
              <a:prstDash val="sysDot"/>
            </a:ln>
          </p:spPr>
          <p:txBody>
            <a:bodyPr rtlCol="0" anchor="ctr"/>
            <a:lstStyle/>
            <a:p/>
          </p:txBody>
        </p:sp>
        <p:pic>
          <p:nvPicPr>
            <p:cNvPr id="42" name="Picture 41" descr="ic_fa6_FaClock_1A1A1A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014601" y="1936090"/>
              <a:ext cx="342839" cy="342839"/>
            </a:xfrm>
            <a:prstGeom prst="rect">
              <a:avLst/>
            </a:prstGeom>
          </p:spPr>
        </p:pic>
        <p:sp>
          <p:nvSpPr>
            <p:cNvPr id="43" name="TextBox 42"/>
            <p:cNvSpPr txBox="1"/>
            <p:nvPr/>
          </p:nvSpPr>
          <p:spPr>
            <a:xfrm>
              <a:off x="2469327" y="2278929"/>
              <a:ext cx="1433387" cy="459395"/>
            </a:xfrm>
            <a:prstGeom prst="rect">
              <a:avLst/>
            </a:prstGeom>
            <a:noFill/>
          </p:spPr>
          <p:txBody>
            <a:bodyPr wrap="square" lIns="36576" rIns="36576" tIns="27432" bIns="27432" anchor="ctr">
              <a:noAutofit/>
            </a:bodyPr>
            <a:lstStyle/>
            <a:p>
              <a:pPr algn="ctr"/>
              <a:r>
                <a:rPr sz="900" b="1" i="0">
                  <a:solidFill>
                    <a:srgbClr val="1A1A1A"/>
                  </a:solidFill>
                  <a:latin typeface="Arial"/>
                </a:rPr>
                <a:t>5-min grid</a:t>
              </a:r>
            </a:p>
            <a:p>
              <a:pPr algn="ctr"/>
              <a:r>
                <a:rPr sz="900" b="0" i="0">
                  <a:solidFill>
                    <a:srgbClr val="1A1A1A"/>
                  </a:solidFill>
                  <a:latin typeface="Arial"/>
                </a:rPr>
                <a:t>align all streams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2469327" y="2866339"/>
              <a:ext cx="1433387" cy="857098"/>
            </a:xfrm>
            <a:prstGeom prst="roundRect">
              <a:avLst>
                <a:gd name="adj" fmla="val 5334"/>
              </a:avLst>
            </a:prstGeom>
            <a:solidFill>
              <a:srgbClr val="FFFFFF"/>
            </a:solidFill>
            <a:ln w="9525">
              <a:solidFill>
                <a:srgbClr val="466E9E"/>
              </a:solidFill>
              <a:prstDash val="sysDot"/>
            </a:ln>
          </p:spPr>
          <p:txBody>
            <a:bodyPr rtlCol="0" anchor="ctr"/>
            <a:lstStyle/>
            <a:p/>
          </p:txBody>
        </p:sp>
        <p:pic>
          <p:nvPicPr>
            <p:cNvPr id="45" name="Picture 44" descr="ic_fa6_FaFilter_1A1A1A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014601" y="2902915"/>
              <a:ext cx="342839" cy="342839"/>
            </a:xfrm>
            <a:prstGeom prst="rect">
              <a:avLst/>
            </a:prstGeom>
          </p:spPr>
        </p:pic>
        <p:sp>
          <p:nvSpPr>
            <p:cNvPr id="46" name="TextBox 45"/>
            <p:cNvSpPr txBox="1"/>
            <p:nvPr/>
          </p:nvSpPr>
          <p:spPr>
            <a:xfrm>
              <a:off x="2469327" y="3245754"/>
              <a:ext cx="1433387" cy="459395"/>
            </a:xfrm>
            <a:prstGeom prst="rect">
              <a:avLst/>
            </a:prstGeom>
            <a:noFill/>
          </p:spPr>
          <p:txBody>
            <a:bodyPr wrap="square" lIns="36576" rIns="36576" tIns="27432" bIns="27432" anchor="ctr">
              <a:noAutofit/>
            </a:bodyPr>
            <a:lstStyle/>
            <a:p>
              <a:pPr algn="ctr"/>
              <a:r>
                <a:rPr sz="900" b="1" i="0">
                  <a:solidFill>
                    <a:srgbClr val="1A1A1A"/>
                  </a:solidFill>
                  <a:latin typeface="Arial"/>
                </a:rPr>
                <a:t>Sensor QC</a:t>
              </a:r>
            </a:p>
            <a:p>
              <a:pPr algn="ctr"/>
              <a:r>
                <a:rPr sz="900" b="0" i="0">
                  <a:solidFill>
                    <a:srgbClr val="1A1A1A"/>
                  </a:solidFill>
                  <a:latin typeface="Arial"/>
                </a:rPr>
                <a:t>gaps, dropouts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2469327" y="3833165"/>
              <a:ext cx="1433387" cy="857098"/>
            </a:xfrm>
            <a:prstGeom prst="roundRect">
              <a:avLst>
                <a:gd name="adj" fmla="val 5334"/>
              </a:avLst>
            </a:prstGeom>
            <a:solidFill>
              <a:srgbClr val="FFFFFF"/>
            </a:solidFill>
            <a:ln w="9525">
              <a:solidFill>
                <a:srgbClr val="466E9E"/>
              </a:solidFill>
              <a:prstDash val="sysDot"/>
            </a:ln>
          </p:spPr>
          <p:txBody>
            <a:bodyPr rtlCol="0" anchor="ctr"/>
            <a:lstStyle/>
            <a:p/>
          </p:txBody>
        </p:sp>
        <p:pic>
          <p:nvPicPr>
            <p:cNvPr id="48" name="Picture 47" descr="ic_fa6_FaMoon_1A1A1A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014601" y="3869741"/>
              <a:ext cx="342839" cy="342839"/>
            </a:xfrm>
            <a:prstGeom prst="rect">
              <a:avLst/>
            </a:prstGeom>
          </p:spPr>
        </p:pic>
        <p:sp>
          <p:nvSpPr>
            <p:cNvPr id="49" name="TextBox 48"/>
            <p:cNvSpPr txBox="1"/>
            <p:nvPr/>
          </p:nvSpPr>
          <p:spPr>
            <a:xfrm>
              <a:off x="2469327" y="4212580"/>
              <a:ext cx="1433387" cy="459395"/>
            </a:xfrm>
            <a:prstGeom prst="rect">
              <a:avLst/>
            </a:prstGeom>
            <a:noFill/>
          </p:spPr>
          <p:txBody>
            <a:bodyPr wrap="square" lIns="36576" rIns="36576" tIns="27432" bIns="27432" anchor="ctr">
              <a:noAutofit/>
            </a:bodyPr>
            <a:lstStyle/>
            <a:p>
              <a:pPr algn="ctr"/>
              <a:r>
                <a:rPr sz="900" b="1" i="0">
                  <a:solidFill>
                    <a:srgbClr val="1A1A1A"/>
                  </a:solidFill>
                  <a:latin typeface="Arial"/>
                </a:rPr>
                <a:t>Sleep debt score</a:t>
              </a:r>
            </a:p>
            <a:p>
              <a:pPr algn="ctr"/>
              <a:r>
                <a:rPr sz="900" b="0" i="0">
                  <a:solidFill>
                    <a:srgbClr val="1A1A1A"/>
                  </a:solidFill>
                  <a:latin typeface="Arial"/>
                </a:rPr>
                <a:t>per night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2469327" y="4799990"/>
              <a:ext cx="1433387" cy="857098"/>
            </a:xfrm>
            <a:prstGeom prst="roundRect">
              <a:avLst>
                <a:gd name="adj" fmla="val 5334"/>
              </a:avLst>
            </a:prstGeom>
            <a:solidFill>
              <a:srgbClr val="FFFFFF"/>
            </a:solidFill>
            <a:ln w="9525">
              <a:solidFill>
                <a:srgbClr val="466E9E"/>
              </a:solidFill>
              <a:prstDash val="sysDot"/>
            </a:ln>
          </p:spPr>
          <p:txBody>
            <a:bodyPr rtlCol="0" anchor="ctr"/>
            <a:lstStyle/>
            <a:p/>
          </p:txBody>
        </p:sp>
        <p:pic>
          <p:nvPicPr>
            <p:cNvPr id="51" name="Picture 50" descr="ic_fa6_FaUtensils_1A1A1A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014601" y="4836566"/>
              <a:ext cx="342839" cy="342839"/>
            </a:xfrm>
            <a:prstGeom prst="rect">
              <a:avLst/>
            </a:prstGeom>
          </p:spPr>
        </p:pic>
        <p:sp>
          <p:nvSpPr>
            <p:cNvPr id="52" name="TextBox 51"/>
            <p:cNvSpPr txBox="1"/>
            <p:nvPr/>
          </p:nvSpPr>
          <p:spPr>
            <a:xfrm>
              <a:off x="2469327" y="5179405"/>
              <a:ext cx="1433387" cy="459395"/>
            </a:xfrm>
            <a:prstGeom prst="rect">
              <a:avLst/>
            </a:prstGeom>
            <a:noFill/>
          </p:spPr>
          <p:txBody>
            <a:bodyPr wrap="square" lIns="36576" rIns="36576" tIns="27432" bIns="27432" anchor="ctr">
              <a:noAutofit/>
            </a:bodyPr>
            <a:lstStyle/>
            <a:p>
              <a:pPr algn="ctr"/>
              <a:r>
                <a:rPr sz="900" b="1" i="0">
                  <a:solidFill>
                    <a:srgbClr val="1A1A1A"/>
                  </a:solidFill>
                  <a:latin typeface="Arial"/>
                </a:rPr>
                <a:t>Meal events</a:t>
              </a:r>
            </a:p>
            <a:p>
              <a:pPr algn="ctr"/>
              <a:r>
                <a:rPr sz="900" b="0" i="0">
                  <a:solidFill>
                    <a:srgbClr val="1A1A1A"/>
                  </a:solidFill>
                  <a:latin typeface="Arial"/>
                </a:rPr>
                <a:t>carbs split by GI</a:t>
              </a:r>
            </a:p>
          </p:txBody>
        </p:sp>
        <p:cxnSp>
          <p:nvCxnSpPr>
            <p:cNvPr id="53" name="Connector 52"/>
            <p:cNvCxnSpPr>
              <a:stCxn id="38" idx="2"/>
              <a:endCxn id="41" idx="0"/>
            </p:cNvCxnSpPr>
            <p:nvPr/>
          </p:nvCxnSpPr>
          <p:spPr>
            <a:xfrm>
              <a:off x="3186020" y="1789786"/>
              <a:ext cx="0" cy="109728"/>
            </a:xfrm>
            <a:prstGeom prst="line">
              <a:avLst/>
            </a:prstGeom>
            <a:ln w="19050">
              <a:solidFill>
                <a:srgbClr val="1D4E8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 53"/>
            <p:cNvCxnSpPr>
              <a:stCxn id="41" idx="2"/>
              <a:endCxn id="44" idx="0"/>
            </p:cNvCxnSpPr>
            <p:nvPr/>
          </p:nvCxnSpPr>
          <p:spPr>
            <a:xfrm>
              <a:off x="3186020" y="2756612"/>
              <a:ext cx="0" cy="109727"/>
            </a:xfrm>
            <a:prstGeom prst="line">
              <a:avLst/>
            </a:prstGeom>
            <a:ln w="19050">
              <a:solidFill>
                <a:srgbClr val="1D4E8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 54"/>
            <p:cNvCxnSpPr>
              <a:stCxn id="44" idx="2"/>
              <a:endCxn id="47" idx="0"/>
            </p:cNvCxnSpPr>
            <p:nvPr/>
          </p:nvCxnSpPr>
          <p:spPr>
            <a:xfrm>
              <a:off x="3186020" y="3723437"/>
              <a:ext cx="0" cy="109728"/>
            </a:xfrm>
            <a:prstGeom prst="line">
              <a:avLst/>
            </a:prstGeom>
            <a:ln w="19050">
              <a:solidFill>
                <a:srgbClr val="1D4E8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 55"/>
            <p:cNvCxnSpPr>
              <a:stCxn id="47" idx="2"/>
              <a:endCxn id="50" idx="0"/>
            </p:cNvCxnSpPr>
            <p:nvPr/>
          </p:nvCxnSpPr>
          <p:spPr>
            <a:xfrm>
              <a:off x="3186020" y="4690263"/>
              <a:ext cx="0" cy="109727"/>
            </a:xfrm>
            <a:prstGeom prst="line">
              <a:avLst/>
            </a:prstGeom>
            <a:ln w="19050">
              <a:solidFill>
                <a:srgbClr val="1D4E8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4268474" y="621792"/>
            <a:ext cx="2761364" cy="5090160"/>
            <a:chOff x="4268474" y="621792"/>
            <a:chExt cx="2761364" cy="5090160"/>
          </a:xfrm>
        </p:grpSpPr>
        <p:sp>
          <p:nvSpPr>
            <p:cNvPr id="58" name="frame:3 Digital twin engin"/>
            <p:cNvSpPr/>
            <p:nvPr/>
          </p:nvSpPr>
          <p:spPr>
            <a:xfrm>
              <a:off x="4268474" y="758952"/>
              <a:ext cx="2761364" cy="4953000"/>
            </a:xfrm>
            <a:prstGeom prst="roundRect">
              <a:avLst>
                <a:gd name="adj" fmla="val 1655"/>
              </a:avLst>
            </a:prstGeom>
            <a:solidFill>
              <a:srgbClr val="F1F4F8"/>
            </a:solidFill>
            <a:ln w="15875">
              <a:solidFill>
                <a:srgbClr val="466E9E"/>
              </a:solidFill>
              <a:prstDash val="sysDot"/>
            </a:ln>
          </p:spPr>
          <p:txBody>
            <a:bodyPr rtlCol="0" anchor="ctr"/>
            <a:lstStyle/>
            <a:p/>
          </p:txBody>
        </p:sp>
        <p:sp>
          <p:nvSpPr>
            <p:cNvPr id="59" name="Rounded Rectangle 58"/>
            <p:cNvSpPr/>
            <p:nvPr/>
          </p:nvSpPr>
          <p:spPr>
            <a:xfrm>
              <a:off x="4268474" y="621792"/>
              <a:ext cx="1711083" cy="274320"/>
            </a:xfrm>
            <a:prstGeom prst="roundRect">
              <a:avLst>
                <a:gd name="adj" fmla="val 13333"/>
              </a:avLst>
            </a:prstGeom>
            <a:solidFill>
              <a:srgbClr val="1D4E89"/>
            </a:solidFill>
            <a:ln>
              <a:noFill/>
            </a:ln>
          </p:spPr>
          <p:txBody>
            <a:bodyPr rtlCol="0" anchor="ctr"/>
            <a:lstStyle/>
            <a:p/>
          </p:txBody>
        </p:sp>
        <p:sp>
          <p:nvSpPr>
            <p:cNvPr id="60" name="TextBox 59"/>
            <p:cNvSpPr txBox="1"/>
            <p:nvPr/>
          </p:nvSpPr>
          <p:spPr>
            <a:xfrm>
              <a:off x="4332482" y="621792"/>
              <a:ext cx="1619643" cy="274320"/>
            </a:xfrm>
            <a:prstGeom prst="rect">
              <a:avLst/>
            </a:prstGeom>
            <a:noFill/>
          </p:spPr>
          <p:txBody>
            <a:bodyPr wrap="square" lIns="9144" rIns="9144" tIns="9144" bIns="9144" anchor="ctr">
              <a:noAutofit/>
            </a:bodyPr>
            <a:lstStyle/>
            <a:p>
              <a:pPr algn="l"/>
              <a:r>
                <a:rPr sz="1200" b="1" i="0">
                  <a:solidFill>
                    <a:srgbClr val="FFFFFF"/>
                  </a:solidFill>
                  <a:latin typeface="Arial"/>
                </a:rPr>
                <a:t>3 Digital twin engine</a:t>
              </a:r>
            </a:p>
          </p:txBody>
        </p:sp>
        <p:sp>
          <p:nvSpPr>
            <p:cNvPr id="61" name="ig:flow"/>
            <p:cNvSpPr/>
            <p:nvPr/>
          </p:nvSpPr>
          <p:spPr>
            <a:xfrm>
              <a:off x="4323338" y="932688"/>
              <a:ext cx="2651636" cy="591143"/>
            </a:xfrm>
            <a:prstGeom prst="roundRect">
              <a:avLst>
                <a:gd name="adj" fmla="val 7734"/>
              </a:avLst>
            </a:prstGeom>
            <a:solidFill>
              <a:srgbClr val="FFFFFF"/>
            </a:solidFill>
            <a:ln w="9525">
              <a:solidFill>
                <a:srgbClr val="466E9E"/>
              </a:solidFill>
            </a:ln>
          </p:spPr>
          <p:txBody>
            <a:bodyPr rtlCol="0" anchor="ctr"/>
            <a:lstStyle/>
            <a:p/>
          </p:txBody>
        </p:sp>
        <p:pic>
          <p:nvPicPr>
            <p:cNvPr id="62" name="Picture 61" descr="ic_fa6_FaIdCard_1A1A1A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369058" y="1045005"/>
              <a:ext cx="366508" cy="366508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>
              <a:off x="4753855" y="932688"/>
              <a:ext cx="2202832" cy="591143"/>
            </a:xfrm>
            <a:prstGeom prst="rect">
              <a:avLst/>
            </a:prstGeom>
            <a:noFill/>
          </p:spPr>
          <p:txBody>
            <a:bodyPr wrap="square" lIns="36576" rIns="36576" tIns="27432" bIns="27432" anchor="ctr">
              <a:noAutofit/>
            </a:bodyPr>
            <a:lstStyle/>
            <a:p>
              <a:pPr algn="l"/>
              <a:r>
                <a:rPr sz="900" b="1" i="0">
                  <a:solidFill>
                    <a:srgbClr val="1A1A1A"/>
                  </a:solidFill>
                  <a:latin typeface="Arial"/>
                </a:rPr>
                <a:t>A. EHR prior</a:t>
              </a:r>
              <a:r>
                <a:rPr sz="900" b="0" i="0">
                  <a:solidFill>
                    <a:srgbClr val="1A1A1A"/>
                  </a:solidFill>
                  <a:latin typeface="Arial"/>
                </a:rPr>
                <a:t>  HbA1c, FPG, BMI, duration, genotype, meds set starting physiology</a:t>
              </a:r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4323338" y="1596983"/>
              <a:ext cx="2651636" cy="591143"/>
            </a:xfrm>
            <a:prstGeom prst="roundRect">
              <a:avLst>
                <a:gd name="adj" fmla="val 7734"/>
              </a:avLst>
            </a:prstGeom>
            <a:solidFill>
              <a:srgbClr val="FFFFFF"/>
            </a:solidFill>
            <a:ln w="9525">
              <a:solidFill>
                <a:srgbClr val="466E9E"/>
              </a:solidFill>
            </a:ln>
          </p:spPr>
          <p:txBody>
            <a:bodyPr rtlCol="0" anchor="ctr"/>
            <a:lstStyle/>
            <a:p/>
          </p:txBody>
        </p:sp>
        <p:pic>
          <p:nvPicPr>
            <p:cNvPr id="65" name="Picture 64" descr="ic_fa6_FaSliders_1A1A1A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369058" y="1709300"/>
              <a:ext cx="366508" cy="366508"/>
            </a:xfrm>
            <a:prstGeom prst="rect">
              <a:avLst/>
            </a:prstGeom>
          </p:spPr>
        </p:pic>
        <p:sp>
          <p:nvSpPr>
            <p:cNvPr id="66" name="TextBox 65"/>
            <p:cNvSpPr txBox="1"/>
            <p:nvPr/>
          </p:nvSpPr>
          <p:spPr>
            <a:xfrm>
              <a:off x="4753855" y="1596983"/>
              <a:ext cx="2202832" cy="591143"/>
            </a:xfrm>
            <a:prstGeom prst="rect">
              <a:avLst/>
            </a:prstGeom>
            <a:noFill/>
          </p:spPr>
          <p:txBody>
            <a:bodyPr wrap="square" lIns="36576" rIns="36576" tIns="27432" bIns="27432" anchor="ctr">
              <a:noAutofit/>
            </a:bodyPr>
            <a:lstStyle/>
            <a:p>
              <a:pPr algn="l"/>
              <a:r>
                <a:rPr sz="900" b="1" i="0">
                  <a:solidFill>
                    <a:srgbClr val="1A1A1A"/>
                  </a:solidFill>
                  <a:latin typeface="Arial"/>
                </a:rPr>
                <a:t>B. Calibrate</a:t>
              </a:r>
              <a:r>
                <a:rPr sz="900" b="0" i="0">
                  <a:solidFill>
                    <a:srgbClr val="1A1A1A"/>
                  </a:solidFill>
                  <a:latin typeface="Arial"/>
                </a:rPr>
                <a:t>  7-day onboarding: fit insulin sensitivity, beta-cell, basal, dawn</a:t>
              </a: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4323338" y="2261277"/>
              <a:ext cx="2651636" cy="591143"/>
            </a:xfrm>
            <a:prstGeom prst="roundRect">
              <a:avLst>
                <a:gd name="adj" fmla="val 7734"/>
              </a:avLst>
            </a:prstGeom>
            <a:solidFill>
              <a:srgbClr val="FFFFFF"/>
            </a:solidFill>
            <a:ln w="9525">
              <a:solidFill>
                <a:srgbClr val="466E9E"/>
              </a:solidFill>
            </a:ln>
          </p:spPr>
          <p:txBody>
            <a:bodyPr rtlCol="0" anchor="ctr"/>
            <a:lstStyle/>
            <a:p/>
          </p:txBody>
        </p:sp>
        <p:pic>
          <p:nvPicPr>
            <p:cNvPr id="68" name="Picture 67" descr="ic_fa6_FaSatelliteDish_1A1A1A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369058" y="2373594"/>
              <a:ext cx="366508" cy="366508"/>
            </a:xfrm>
            <a:prstGeom prst="rect">
              <a:avLst/>
            </a:prstGeom>
          </p:spPr>
        </p:pic>
        <p:sp>
          <p:nvSpPr>
            <p:cNvPr id="69" name="TextBox 68"/>
            <p:cNvSpPr txBox="1"/>
            <p:nvPr/>
          </p:nvSpPr>
          <p:spPr>
            <a:xfrm>
              <a:off x="4753855" y="2261277"/>
              <a:ext cx="2202832" cy="591143"/>
            </a:xfrm>
            <a:prstGeom prst="rect">
              <a:avLst/>
            </a:prstGeom>
            <a:noFill/>
          </p:spPr>
          <p:txBody>
            <a:bodyPr wrap="square" lIns="36576" rIns="36576" tIns="27432" bIns="27432" anchor="ctr">
              <a:noAutofit/>
            </a:bodyPr>
            <a:lstStyle/>
            <a:p>
              <a:pPr algn="l"/>
              <a:r>
                <a:rPr sz="900" b="1" i="0">
                  <a:solidFill>
                    <a:srgbClr val="1A1A1A"/>
                  </a:solidFill>
                  <a:latin typeface="Arial"/>
                </a:rPr>
                <a:t>C. Assimilate</a:t>
              </a:r>
              <a:r>
                <a:rPr sz="900" b="0" i="0">
                  <a:solidFill>
                    <a:srgbClr val="1A1A1A"/>
                  </a:solidFill>
                  <a:latin typeface="Arial"/>
                </a:rPr>
                <a:t>  nudge the twin to each CGM reading every 5 min</a:t>
              </a: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4323338" y="2925572"/>
              <a:ext cx="2651636" cy="591143"/>
            </a:xfrm>
            <a:prstGeom prst="roundRect">
              <a:avLst>
                <a:gd name="adj" fmla="val 7734"/>
              </a:avLst>
            </a:prstGeom>
            <a:solidFill>
              <a:srgbClr val="173D6B"/>
            </a:solidFill>
            <a:ln w="9525">
              <a:solidFill>
                <a:srgbClr val="466E9E"/>
              </a:solidFill>
            </a:ln>
          </p:spPr>
          <p:txBody>
            <a:bodyPr rtlCol="0" anchor="ctr"/>
            <a:lstStyle/>
            <a:p/>
          </p:txBody>
        </p:sp>
        <p:pic>
          <p:nvPicPr>
            <p:cNvPr id="71" name="Picture 70" descr="ic_fa6_FaPlay_FFFFFF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369058" y="3037889"/>
              <a:ext cx="366508" cy="366508"/>
            </a:xfrm>
            <a:prstGeom prst="rect">
              <a:avLst/>
            </a:prstGeom>
          </p:spPr>
        </p:pic>
        <p:sp>
          <p:nvSpPr>
            <p:cNvPr id="72" name="TextBox 71"/>
            <p:cNvSpPr txBox="1"/>
            <p:nvPr/>
          </p:nvSpPr>
          <p:spPr>
            <a:xfrm>
              <a:off x="4753855" y="2925572"/>
              <a:ext cx="2202832" cy="591143"/>
            </a:xfrm>
            <a:prstGeom prst="rect">
              <a:avLst/>
            </a:prstGeom>
            <a:noFill/>
          </p:spPr>
          <p:txBody>
            <a:bodyPr wrap="square" lIns="36576" rIns="36576" tIns="27432" bIns="27432" anchor="ctr">
              <a:noAutofit/>
            </a:bodyPr>
            <a:lstStyle/>
            <a:p>
              <a:pPr algn="l"/>
              <a:r>
                <a:rPr sz="900" b="1" i="0">
                  <a:solidFill>
                    <a:srgbClr val="FFFFFF"/>
                  </a:solidFill>
                  <a:latin typeface="Arial"/>
                </a:rPr>
                <a:t>D. Simulate</a:t>
              </a:r>
              <a:r>
                <a:rPr sz="900" b="0" i="0">
                  <a:solidFill>
                    <a:srgbClr val="FFFFFF"/>
                  </a:solidFill>
                  <a:latin typeface="Arial"/>
                </a:rPr>
                <a:t>  2-hour forecast and what-if: meal swap, walk, sleep, meds</a:t>
              </a:r>
            </a:p>
          </p:txBody>
        </p:sp>
        <p:cxnSp>
          <p:nvCxnSpPr>
            <p:cNvPr id="73" name="Connector 72"/>
            <p:cNvCxnSpPr>
              <a:stCxn id="61" idx="2"/>
              <a:endCxn id="64" idx="0"/>
            </p:cNvCxnSpPr>
            <p:nvPr/>
          </p:nvCxnSpPr>
          <p:spPr>
            <a:xfrm>
              <a:off x="5649156" y="1523831"/>
              <a:ext cx="0" cy="73152"/>
            </a:xfrm>
            <a:prstGeom prst="line">
              <a:avLst/>
            </a:prstGeom>
            <a:ln w="19050">
              <a:solidFill>
                <a:srgbClr val="1D4E8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or 73"/>
            <p:cNvCxnSpPr>
              <a:stCxn id="64" idx="2"/>
              <a:endCxn id="67" idx="0"/>
            </p:cNvCxnSpPr>
            <p:nvPr/>
          </p:nvCxnSpPr>
          <p:spPr>
            <a:xfrm>
              <a:off x="5649156" y="2188126"/>
              <a:ext cx="0" cy="73151"/>
            </a:xfrm>
            <a:prstGeom prst="line">
              <a:avLst/>
            </a:prstGeom>
            <a:ln w="19050">
              <a:solidFill>
                <a:srgbClr val="1D4E8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or 74"/>
            <p:cNvCxnSpPr>
              <a:stCxn id="67" idx="2"/>
              <a:endCxn id="70" idx="0"/>
            </p:cNvCxnSpPr>
            <p:nvPr/>
          </p:nvCxnSpPr>
          <p:spPr>
            <a:xfrm>
              <a:off x="5649156" y="2852420"/>
              <a:ext cx="0" cy="73152"/>
            </a:xfrm>
            <a:prstGeom prst="line">
              <a:avLst/>
            </a:prstGeom>
            <a:ln w="19050">
              <a:solidFill>
                <a:srgbClr val="1D4E8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/>
            <p:cNvGrpSpPr/>
            <p:nvPr/>
          </p:nvGrpSpPr>
          <p:grpSpPr>
            <a:xfrm>
              <a:off x="4323338" y="3589867"/>
              <a:ext cx="2651636" cy="2067221"/>
              <a:chOff x="4323338" y="3589867"/>
              <a:chExt cx="2651636" cy="2067221"/>
            </a:xfrm>
          </p:grpSpPr>
          <p:sp>
            <p:nvSpPr>
              <p:cNvPr id="77" name="frame:plain"/>
              <p:cNvSpPr/>
              <p:nvPr/>
            </p:nvSpPr>
            <p:spPr>
              <a:xfrm>
                <a:off x="4323338" y="3589867"/>
                <a:ext cx="2651636" cy="2067221"/>
              </a:xfrm>
              <a:prstGeom prst="roundRect">
                <a:avLst>
                  <a:gd name="adj" fmla="val 2211"/>
                </a:avLst>
              </a:prstGeom>
              <a:solidFill>
                <a:srgbClr val="FFFFFF"/>
              </a:solidFill>
              <a:ln w="15875">
                <a:solidFill>
                  <a:srgbClr val="466E9E"/>
                </a:solidFill>
                <a:prstDash val="sysDot"/>
              </a:ln>
            </p:spPr>
            <p:txBody>
              <a:bodyPr rtlCol="0" anchor="ctr"/>
              <a:lstStyle/>
              <a:p/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4378202" y="3644731"/>
                <a:ext cx="2541908" cy="202565"/>
              </a:xfrm>
              <a:prstGeom prst="rect">
                <a:avLst/>
              </a:prstGeom>
              <a:noFill/>
            </p:spPr>
            <p:txBody>
              <a:bodyPr wrap="square" lIns="18288" rIns="18288" tIns="18288" bIns="18288" anchor="ctr">
                <a:noAutofit/>
              </a:bodyPr>
              <a:lstStyle/>
              <a:p>
                <a:pPr algn="l"/>
                <a:r>
                  <a:rPr sz="1100" b="1" i="0" u="sng">
                    <a:solidFill>
                      <a:srgbClr val="1D4E89"/>
                    </a:solidFill>
                    <a:latin typeface="Arial"/>
                  </a:rPr>
                  <a:t>Physiology core (per patient)</a:t>
                </a:r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4378202" y="3864187"/>
                <a:ext cx="2541908" cy="1738037"/>
              </a:xfrm>
              <a:prstGeom prst="rect">
                <a:avLst/>
              </a:prstGeom>
              <a:noFill/>
            </p:spPr>
            <p:txBody>
              <a:bodyPr wrap="square" lIns="45720" rIns="45720" tIns="27432" bIns="27432" anchor="t">
                <a:noAutofit/>
              </a:bodyPr>
              <a:lstStyle/>
              <a:p>
                <a:pPr algn="l"/>
                <a:r>
                  <a:rPr sz="900" b="1" i="0">
                    <a:solidFill>
                      <a:srgbClr val="1A1A1A"/>
                    </a:solidFill>
                    <a:latin typeface="Arial"/>
                  </a:rPr>
                  <a:t>Glucose</a:t>
                </a:r>
                <a:r>
                  <a:rPr sz="900" b="0" i="0">
                    <a:solidFill>
                      <a:srgbClr val="1A1A1A"/>
                    </a:solidFill>
                    <a:latin typeface="Arial"/>
                  </a:rPr>
                  <a:t>  dG/dt = -(SG + X)G + SG Gb(t) + Ra(t)/V - ex steps G</a:t>
                </a:r>
              </a:p>
              <a:p>
                <a:pPr algn="l"/>
                <a:r>
                  <a:rPr sz="900" b="1" i="0">
                    <a:solidFill>
                      <a:srgbClr val="1A1A1A"/>
                    </a:solidFill>
                    <a:latin typeface="Arial"/>
                  </a:rPr>
                  <a:t>Insulin action</a:t>
                </a:r>
                <a:r>
                  <a:rPr sz="900" b="0" i="0">
                    <a:solidFill>
                      <a:srgbClr val="1A1A1A"/>
                    </a:solidFill>
                    <a:latin typeface="Arial"/>
                  </a:rPr>
                  <a:t>  dX/dt = -p2 X + p2 SI s(t) (I - Ib)</a:t>
                </a:r>
              </a:p>
              <a:p>
                <a:pPr algn="l"/>
                <a:r>
                  <a:rPr sz="900" b="1" i="0">
                    <a:solidFill>
                      <a:srgbClr val="1A1A1A"/>
                    </a:solidFill>
                    <a:latin typeface="Arial"/>
                  </a:rPr>
                  <a:t>Insulin</a:t>
                </a:r>
                <a:r>
                  <a:rPr sz="900" b="0" i="0">
                    <a:solidFill>
                      <a:srgbClr val="1A1A1A"/>
                    </a:solidFill>
                    <a:latin typeface="Arial"/>
                  </a:rPr>
                  <a:t>  dI/dt = -n (I - Ib) + gamma max(G - Gb, 0)</a:t>
                </a:r>
              </a:p>
              <a:p>
                <a:pPr algn="l"/>
                <a:r>
                  <a:rPr sz="900" b="1" i="0">
                    <a:solidFill>
                      <a:srgbClr val="1A1A1A"/>
                    </a:solidFill>
                    <a:latin typeface="Arial"/>
                  </a:rPr>
                  <a:t>Gut</a:t>
                </a:r>
                <a:r>
                  <a:rPr sz="900" b="0" i="0">
                    <a:solidFill>
                      <a:srgbClr val="1A1A1A"/>
                    </a:solidFill>
                    <a:latin typeface="Arial"/>
                  </a:rPr>
                  <a:t>  fast and slow carb pools by meal GI</a:t>
                </a:r>
              </a:p>
              <a:p>
                <a:pPr algn="l"/>
                <a:r>
                  <a:rPr sz="900" b="1" i="0">
                    <a:solidFill>
                      <a:srgbClr val="1A1A1A"/>
                    </a:solidFill>
                    <a:latin typeface="Arial"/>
                  </a:rPr>
                  <a:t>Modifiers</a:t>
                </a:r>
                <a:r>
                  <a:rPr sz="900" b="0" i="0">
                    <a:solidFill>
                      <a:srgbClr val="1A1A1A"/>
                    </a:solidFill>
                    <a:latin typeface="Arial"/>
                  </a:rPr>
                  <a:t>  dawn effect, stress, </a:t>
                </a:r>
                <a:r>
                  <a:rPr sz="900" b="1" i="0">
                    <a:solidFill>
                      <a:srgbClr val="1A1A1A"/>
                    </a:solidFill>
                    <a:latin typeface="Arial"/>
                  </a:rPr>
                  <a:t>sleep debt</a:t>
                </a:r>
                <a:r>
                  <a:rPr sz="900" b="0" i="0">
                    <a:solidFill>
                      <a:srgbClr val="1A1A1A"/>
                    </a:solidFill>
                    <a:latin typeface="Arial"/>
                  </a:rPr>
                  <a:t> lowers SI s(t)</a:t>
                </a:r>
              </a:p>
              <a:p>
                <a:pPr algn="l"/>
                <a:r>
                  <a:rPr sz="900" b="1" i="0">
                    <a:solidFill>
                      <a:srgbClr val="1A1A1A"/>
                    </a:solidFill>
                    <a:latin typeface="Arial"/>
                  </a:rPr>
                  <a:t>Learned per patient</a:t>
                </a:r>
                <a:r>
                  <a:rPr sz="900" b="0" i="0">
                    <a:solidFill>
                      <a:srgbClr val="1A1A1A"/>
                    </a:solidFill>
                    <a:latin typeface="Arial"/>
                  </a:rPr>
                  <a:t>  SI, gamma, Gb, dawn. Recovery of true insulin sensitivity: </a:t>
                </a:r>
                <a:r>
                  <a:rPr sz="900" b="1" i="0">
                    <a:solidFill>
                      <a:srgbClr val="1A1A1A"/>
                    </a:solidFill>
                    <a:latin typeface="Arial"/>
                  </a:rPr>
                  <a:t>r = 0.92</a:t>
                </a:r>
              </a:p>
            </p:txBody>
          </p:sp>
        </p:grpSp>
      </p:grpSp>
      <p:grpSp>
        <p:nvGrpSpPr>
          <p:cNvPr id="80" name="Group 79"/>
          <p:cNvGrpSpPr/>
          <p:nvPr/>
        </p:nvGrpSpPr>
        <p:grpSpPr>
          <a:xfrm>
            <a:off x="7340734" y="621792"/>
            <a:ext cx="2355281" cy="5090160"/>
            <a:chOff x="7340734" y="621792"/>
            <a:chExt cx="2355281" cy="5090160"/>
          </a:xfrm>
        </p:grpSpPr>
        <p:sp>
          <p:nvSpPr>
            <p:cNvPr id="81" name="frame:4 Fusion and AI"/>
            <p:cNvSpPr/>
            <p:nvPr/>
          </p:nvSpPr>
          <p:spPr>
            <a:xfrm>
              <a:off x="7340734" y="758952"/>
              <a:ext cx="2355281" cy="4953000"/>
            </a:xfrm>
            <a:prstGeom prst="roundRect">
              <a:avLst>
                <a:gd name="adj" fmla="val 1941"/>
              </a:avLst>
            </a:prstGeom>
            <a:solidFill>
              <a:srgbClr val="F1F4F8"/>
            </a:solidFill>
            <a:ln w="15875">
              <a:solidFill>
                <a:srgbClr val="466E9E"/>
              </a:solidFill>
              <a:prstDash val="sysDot"/>
            </a:ln>
          </p:spPr>
          <p:txBody>
            <a:bodyPr rtlCol="0" anchor="ctr"/>
            <a:lstStyle/>
            <a:p/>
          </p:txBody>
        </p:sp>
        <p:sp>
          <p:nvSpPr>
            <p:cNvPr id="82" name="Rounded Rectangle 81"/>
            <p:cNvSpPr/>
            <p:nvPr/>
          </p:nvSpPr>
          <p:spPr>
            <a:xfrm>
              <a:off x="7340734" y="621792"/>
              <a:ext cx="1366655" cy="274320"/>
            </a:xfrm>
            <a:prstGeom prst="roundRect">
              <a:avLst>
                <a:gd name="adj" fmla="val 13333"/>
              </a:avLst>
            </a:prstGeom>
            <a:solidFill>
              <a:srgbClr val="1D4E89"/>
            </a:solidFill>
            <a:ln>
              <a:noFill/>
            </a:ln>
          </p:spPr>
          <p:txBody>
            <a:bodyPr rtlCol="0" anchor="ctr"/>
            <a:lstStyle/>
            <a:p/>
          </p:txBody>
        </p:sp>
        <p:sp>
          <p:nvSpPr>
            <p:cNvPr id="83" name="TextBox 82"/>
            <p:cNvSpPr txBox="1"/>
            <p:nvPr/>
          </p:nvSpPr>
          <p:spPr>
            <a:xfrm>
              <a:off x="7404742" y="621792"/>
              <a:ext cx="1275215" cy="274320"/>
            </a:xfrm>
            <a:prstGeom prst="rect">
              <a:avLst/>
            </a:prstGeom>
            <a:noFill/>
          </p:spPr>
          <p:txBody>
            <a:bodyPr wrap="square" lIns="9144" rIns="9144" tIns="9144" bIns="9144" anchor="ctr">
              <a:noAutofit/>
            </a:bodyPr>
            <a:lstStyle/>
            <a:p>
              <a:pPr algn="l"/>
              <a:r>
                <a:rPr sz="1200" b="1" i="0">
                  <a:solidFill>
                    <a:srgbClr val="FFFFFF"/>
                  </a:solidFill>
                  <a:latin typeface="Arial"/>
                </a:rPr>
                <a:t>4 Fusion and AI</a:t>
              </a:r>
            </a:p>
          </p:txBody>
        </p:sp>
        <p:grpSp>
          <p:nvGrpSpPr>
            <p:cNvPr id="84" name="Group 83"/>
            <p:cNvGrpSpPr/>
            <p:nvPr/>
          </p:nvGrpSpPr>
          <p:grpSpPr>
            <a:xfrm>
              <a:off x="7395598" y="932688"/>
              <a:ext cx="2245553" cy="1979254"/>
              <a:chOff x="7395598" y="932688"/>
              <a:chExt cx="2245553" cy="1979254"/>
            </a:xfrm>
          </p:grpSpPr>
          <p:sp>
            <p:nvSpPr>
              <p:cNvPr id="85" name="frame:plain"/>
              <p:cNvSpPr/>
              <p:nvPr/>
            </p:nvSpPr>
            <p:spPr>
              <a:xfrm>
                <a:off x="7395598" y="932688"/>
                <a:ext cx="2245553" cy="1979254"/>
              </a:xfrm>
              <a:prstGeom prst="roundRect">
                <a:avLst>
                  <a:gd name="adj" fmla="val 2309"/>
                </a:avLst>
              </a:prstGeom>
              <a:solidFill>
                <a:srgbClr val="FFFFFF"/>
              </a:solidFill>
              <a:ln w="15875">
                <a:solidFill>
                  <a:srgbClr val="466E9E"/>
                </a:solidFill>
                <a:prstDash val="sysDot"/>
              </a:ln>
            </p:spPr>
            <p:txBody>
              <a:bodyPr rtlCol="0" anchor="ctr"/>
              <a:lstStyle/>
              <a:p/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7450462" y="987552"/>
                <a:ext cx="2135825" cy="202565"/>
              </a:xfrm>
              <a:prstGeom prst="rect">
                <a:avLst/>
              </a:prstGeom>
              <a:noFill/>
            </p:spPr>
            <p:txBody>
              <a:bodyPr wrap="square" lIns="18288" rIns="18288" tIns="18288" bIns="18288" anchor="ctr">
                <a:noAutofit/>
              </a:bodyPr>
              <a:lstStyle/>
              <a:p>
                <a:pPr algn="l"/>
                <a:r>
                  <a:rPr sz="1100" b="1" i="0" u="sng">
                    <a:solidFill>
                      <a:srgbClr val="1D4E89"/>
                    </a:solidFill>
                    <a:latin typeface="Arial"/>
                  </a:rPr>
                  <a:t>81 fused features every 5 min</a:t>
                </a:r>
              </a:p>
            </p:txBody>
          </p:sp>
          <p:sp>
            <p:nvSpPr>
              <p:cNvPr id="87" name="Rounded Rectangle 86"/>
              <p:cNvSpPr/>
              <p:nvPr/>
            </p:nvSpPr>
            <p:spPr>
              <a:xfrm>
                <a:off x="7450462" y="1207008"/>
                <a:ext cx="508909" cy="385086"/>
              </a:xfrm>
              <a:prstGeom prst="roundRect">
                <a:avLst>
                  <a:gd name="adj" fmla="val 11872"/>
                </a:avLst>
              </a:prstGeom>
              <a:solidFill>
                <a:srgbClr val="1D4E89"/>
              </a:solidFill>
              <a:ln>
                <a:noFill/>
              </a:ln>
            </p:spPr>
            <p:txBody>
              <a:bodyPr rtlCol="0" anchor="ctr" wrap="square" lIns="45720" rIns="45720" tIns="27432" bIns="27432">
                <a:noAutofit/>
              </a:bodyPr>
              <a:lstStyle/>
              <a:p>
                <a:pPr algn="ctr"/>
                <a:r>
                  <a:rPr sz="1100" b="1" i="0">
                    <a:solidFill>
                      <a:srgbClr val="FFFFFF"/>
                    </a:solidFill>
                    <a:latin typeface="Arial"/>
                  </a:rPr>
                  <a:t>E 23</a:t>
                </a:r>
              </a:p>
            </p:txBody>
          </p:sp>
          <p:sp>
            <p:nvSpPr>
              <p:cNvPr id="88" name="Rounded Rectangle 87"/>
              <p:cNvSpPr/>
              <p:nvPr/>
            </p:nvSpPr>
            <p:spPr>
              <a:xfrm>
                <a:off x="7995947" y="1207008"/>
                <a:ext cx="1590340" cy="385086"/>
              </a:xfrm>
              <a:prstGeom prst="roundRect">
                <a:avLst>
                  <a:gd name="adj" fmla="val 11872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 wrap="square" lIns="45720" rIns="45720" tIns="27432" bIns="27432">
                <a:noAutofit/>
              </a:bodyPr>
              <a:lstStyle/>
              <a:p>
                <a:pPr algn="l"/>
                <a:r>
                  <a:rPr sz="1100" b="0" i="0">
                    <a:solidFill>
                      <a:srgbClr val="1A1A1A"/>
                    </a:solidFill>
                    <a:latin typeface="Arial"/>
                  </a:rPr>
                  <a:t>EHR</a:t>
                </a:r>
              </a:p>
            </p:txBody>
          </p:sp>
          <p:sp>
            <p:nvSpPr>
              <p:cNvPr id="89" name="Rounded Rectangle 88"/>
              <p:cNvSpPr/>
              <p:nvPr/>
            </p:nvSpPr>
            <p:spPr>
              <a:xfrm>
                <a:off x="7450462" y="1628670"/>
                <a:ext cx="508909" cy="385086"/>
              </a:xfrm>
              <a:prstGeom prst="roundRect">
                <a:avLst>
                  <a:gd name="adj" fmla="val 11872"/>
                </a:avLst>
              </a:prstGeom>
              <a:solidFill>
                <a:srgbClr val="1D4E89"/>
              </a:solidFill>
              <a:ln>
                <a:noFill/>
              </a:ln>
            </p:spPr>
            <p:txBody>
              <a:bodyPr rtlCol="0" anchor="ctr" wrap="square" lIns="45720" rIns="45720" tIns="27432" bIns="27432">
                <a:noAutofit/>
              </a:bodyPr>
              <a:lstStyle/>
              <a:p>
                <a:pPr algn="ctr"/>
                <a:r>
                  <a:rPr sz="1100" b="1" i="0">
                    <a:solidFill>
                      <a:srgbClr val="FFFFFF"/>
                    </a:solidFill>
                    <a:latin typeface="Arial"/>
                  </a:rPr>
                  <a:t>W 40</a:t>
                </a:r>
              </a:p>
            </p:txBody>
          </p:sp>
          <p:sp>
            <p:nvSpPr>
              <p:cNvPr id="90" name="Rounded Rectangle 89"/>
              <p:cNvSpPr/>
              <p:nvPr/>
            </p:nvSpPr>
            <p:spPr>
              <a:xfrm>
                <a:off x="7995947" y="1628670"/>
                <a:ext cx="1590340" cy="385086"/>
              </a:xfrm>
              <a:prstGeom prst="roundRect">
                <a:avLst>
                  <a:gd name="adj" fmla="val 11872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 wrap="square" lIns="45720" rIns="45720" tIns="27432" bIns="27432">
                <a:noAutofit/>
              </a:bodyPr>
              <a:lstStyle/>
              <a:p>
                <a:pPr algn="l"/>
                <a:r>
                  <a:rPr sz="1100" b="0" i="0">
                    <a:solidFill>
                      <a:srgbClr val="1A1A1A"/>
                    </a:solidFill>
                    <a:latin typeface="Arial"/>
                  </a:rPr>
                  <a:t>Wearables + CGM</a:t>
                </a:r>
              </a:p>
            </p:txBody>
          </p:sp>
          <p:sp>
            <p:nvSpPr>
              <p:cNvPr id="91" name="Rounded Rectangle 90"/>
              <p:cNvSpPr/>
              <p:nvPr/>
            </p:nvSpPr>
            <p:spPr>
              <a:xfrm>
                <a:off x="7450462" y="2050331"/>
                <a:ext cx="508909" cy="385086"/>
              </a:xfrm>
              <a:prstGeom prst="roundRect">
                <a:avLst>
                  <a:gd name="adj" fmla="val 11872"/>
                </a:avLst>
              </a:prstGeom>
              <a:solidFill>
                <a:srgbClr val="1D4E89"/>
              </a:solidFill>
              <a:ln>
                <a:noFill/>
              </a:ln>
            </p:spPr>
            <p:txBody>
              <a:bodyPr rtlCol="0" anchor="ctr" wrap="square" lIns="45720" rIns="45720" tIns="27432" bIns="27432">
                <a:noAutofit/>
              </a:bodyPr>
              <a:lstStyle/>
              <a:p>
                <a:pPr algn="ctr"/>
                <a:r>
                  <a:rPr sz="1100" b="1" i="0">
                    <a:solidFill>
                      <a:srgbClr val="FFFFFF"/>
                    </a:solidFill>
                    <a:latin typeface="Arial"/>
                  </a:rPr>
                  <a:t>R 5</a:t>
                </a:r>
              </a:p>
            </p:txBody>
          </p:sp>
          <p:sp>
            <p:nvSpPr>
              <p:cNvPr id="92" name="Rounded Rectangle 91"/>
              <p:cNvSpPr/>
              <p:nvPr/>
            </p:nvSpPr>
            <p:spPr>
              <a:xfrm>
                <a:off x="7995947" y="2050331"/>
                <a:ext cx="1590340" cy="385086"/>
              </a:xfrm>
              <a:prstGeom prst="roundRect">
                <a:avLst>
                  <a:gd name="adj" fmla="val 11872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 wrap="square" lIns="45720" rIns="45720" tIns="27432" bIns="27432">
                <a:noAutofit/>
              </a:bodyPr>
              <a:lstStyle/>
              <a:p>
                <a:pPr algn="l"/>
                <a:r>
                  <a:rPr sz="1100" b="0" i="0">
                    <a:solidFill>
                      <a:srgbClr val="1A1A1A"/>
                    </a:solidFill>
                    <a:latin typeface="Arial"/>
                  </a:rPr>
                  <a:t>Personal routine</a:t>
                </a:r>
              </a:p>
            </p:txBody>
          </p:sp>
          <p:sp>
            <p:nvSpPr>
              <p:cNvPr id="93" name="Rounded Rectangle 92"/>
              <p:cNvSpPr/>
              <p:nvPr/>
            </p:nvSpPr>
            <p:spPr>
              <a:xfrm>
                <a:off x="7450462" y="2471993"/>
                <a:ext cx="508909" cy="385086"/>
              </a:xfrm>
              <a:prstGeom prst="roundRect">
                <a:avLst>
                  <a:gd name="adj" fmla="val 11872"/>
                </a:avLst>
              </a:prstGeom>
              <a:solidFill>
                <a:srgbClr val="1D4E89"/>
              </a:solidFill>
              <a:ln>
                <a:noFill/>
              </a:ln>
            </p:spPr>
            <p:txBody>
              <a:bodyPr rtlCol="0" anchor="ctr" wrap="square" lIns="45720" rIns="45720" tIns="27432" bIns="27432">
                <a:noAutofit/>
              </a:bodyPr>
              <a:lstStyle/>
              <a:p>
                <a:pPr algn="ctr"/>
                <a:r>
                  <a:rPr sz="1100" b="1" i="0">
                    <a:solidFill>
                      <a:srgbClr val="FFFFFF"/>
                    </a:solidFill>
                    <a:latin typeface="Arial"/>
                  </a:rPr>
                  <a:t>T 13</a:t>
                </a:r>
              </a:p>
            </p:txBody>
          </p:sp>
          <p:sp>
            <p:nvSpPr>
              <p:cNvPr id="94" name="Rounded Rectangle 93"/>
              <p:cNvSpPr/>
              <p:nvPr/>
            </p:nvSpPr>
            <p:spPr>
              <a:xfrm>
                <a:off x="7995947" y="2471993"/>
                <a:ext cx="1590340" cy="385086"/>
              </a:xfrm>
              <a:prstGeom prst="roundRect">
                <a:avLst>
                  <a:gd name="adj" fmla="val 11872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 wrap="square" lIns="45720" rIns="45720" tIns="27432" bIns="27432">
                <a:noAutofit/>
              </a:bodyPr>
              <a:lstStyle/>
              <a:p>
                <a:pPr algn="l"/>
                <a:r>
                  <a:rPr sz="1100" b="0" i="0">
                    <a:solidFill>
                      <a:srgbClr val="1A1A1A"/>
                    </a:solidFill>
                    <a:latin typeface="Arial"/>
                  </a:rPr>
                  <a:t>Twin state</a:t>
                </a:r>
              </a:p>
            </p:txBody>
          </p:sp>
        </p:grpSp>
        <p:sp>
          <p:nvSpPr>
            <p:cNvPr id="95" name="ig:flow"/>
            <p:cNvSpPr/>
            <p:nvPr/>
          </p:nvSpPr>
          <p:spPr>
            <a:xfrm>
              <a:off x="7395598" y="2985094"/>
              <a:ext cx="2245553" cy="613134"/>
            </a:xfrm>
            <a:prstGeom prst="roundRect">
              <a:avLst>
                <a:gd name="adj" fmla="val 7456"/>
              </a:avLst>
            </a:prstGeom>
            <a:solidFill>
              <a:srgbClr val="FFFFFF"/>
            </a:solidFill>
            <a:ln w="9525">
              <a:solidFill>
                <a:srgbClr val="466E9E"/>
              </a:solidFill>
            </a:ln>
          </p:spPr>
          <p:txBody>
            <a:bodyPr rtlCol="0" anchor="ctr"/>
            <a:lstStyle/>
            <a:p/>
          </p:txBody>
        </p:sp>
        <p:pic>
          <p:nvPicPr>
            <p:cNvPr id="96" name="Picture 95" descr="ic_fa6_FaTree_1A1A1A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441318" y="3101590"/>
              <a:ext cx="380143" cy="380143"/>
            </a:xfrm>
            <a:prstGeom prst="rect">
              <a:avLst/>
            </a:prstGeom>
          </p:spPr>
        </p:pic>
        <p:sp>
          <p:nvSpPr>
            <p:cNvPr id="97" name="TextBox 96"/>
            <p:cNvSpPr txBox="1"/>
            <p:nvPr/>
          </p:nvSpPr>
          <p:spPr>
            <a:xfrm>
              <a:off x="7839750" y="2985094"/>
              <a:ext cx="1783114" cy="613134"/>
            </a:xfrm>
            <a:prstGeom prst="rect">
              <a:avLst/>
            </a:prstGeom>
            <a:noFill/>
          </p:spPr>
          <p:txBody>
            <a:bodyPr wrap="square" lIns="36576" rIns="36576" tIns="27432" bIns="27432" anchor="ctr">
              <a:noAutofit/>
            </a:bodyPr>
            <a:lstStyle/>
            <a:p>
              <a:pPr algn="l"/>
              <a:r>
                <a:rPr sz="900" b="1" i="0">
                  <a:solidFill>
                    <a:srgbClr val="1A1A1A"/>
                  </a:solidFill>
                  <a:latin typeface="Arial"/>
                </a:rPr>
                <a:t>LightGBM classifier</a:t>
              </a:r>
              <a:r>
                <a:rPr sz="900" b="0" i="0">
                  <a:solidFill>
                    <a:srgbClr val="1A1A1A"/>
                  </a:solidFill>
                  <a:latin typeface="Arial"/>
                </a:rPr>
                <a:t>: P(spike above 180 in next 2 h)</a:t>
              </a:r>
            </a:p>
          </p:txBody>
        </p:sp>
        <p:sp>
          <p:nvSpPr>
            <p:cNvPr id="98" name="Rounded Rectangle 97"/>
            <p:cNvSpPr/>
            <p:nvPr/>
          </p:nvSpPr>
          <p:spPr>
            <a:xfrm>
              <a:off x="7395598" y="3671381"/>
              <a:ext cx="2245553" cy="613134"/>
            </a:xfrm>
            <a:prstGeom prst="roundRect">
              <a:avLst>
                <a:gd name="adj" fmla="val 7456"/>
              </a:avLst>
            </a:prstGeom>
            <a:solidFill>
              <a:srgbClr val="FFFFFF"/>
            </a:solidFill>
            <a:ln w="9525">
              <a:solidFill>
                <a:srgbClr val="466E9E"/>
              </a:solidFill>
            </a:ln>
          </p:spPr>
          <p:txBody>
            <a:bodyPr rtlCol="0" anchor="ctr"/>
            <a:lstStyle/>
            <a:p/>
          </p:txBody>
        </p:sp>
        <p:pic>
          <p:nvPicPr>
            <p:cNvPr id="99" name="Picture 98" descr="ic_fa6_FaChartLine_1A1A1A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7441318" y="3787876"/>
              <a:ext cx="380143" cy="380143"/>
            </a:xfrm>
            <a:prstGeom prst="rect">
              <a:avLst/>
            </a:prstGeom>
          </p:spPr>
        </p:pic>
        <p:sp>
          <p:nvSpPr>
            <p:cNvPr id="100" name="TextBox 99"/>
            <p:cNvSpPr txBox="1"/>
            <p:nvPr/>
          </p:nvSpPr>
          <p:spPr>
            <a:xfrm>
              <a:off x="7839750" y="3671381"/>
              <a:ext cx="1783114" cy="613134"/>
            </a:xfrm>
            <a:prstGeom prst="rect">
              <a:avLst/>
            </a:prstGeom>
            <a:noFill/>
          </p:spPr>
          <p:txBody>
            <a:bodyPr wrap="square" lIns="36576" rIns="36576" tIns="27432" bIns="27432" anchor="ctr">
              <a:noAutofit/>
            </a:bodyPr>
            <a:lstStyle/>
            <a:p>
              <a:pPr algn="l"/>
              <a:r>
                <a:rPr sz="900" b="1" i="0">
                  <a:solidFill>
                    <a:srgbClr val="1A1A1A"/>
                  </a:solidFill>
                  <a:latin typeface="Arial"/>
                </a:rPr>
                <a:t>4 LightGBM forecasters</a:t>
              </a:r>
              <a:r>
                <a:rPr sz="900" b="0" i="0">
                  <a:solidFill>
                    <a:srgbClr val="1A1A1A"/>
                  </a:solidFill>
                  <a:latin typeface="Arial"/>
                </a:rPr>
                <a:t>: +30, +60, +90, +120 min</a:t>
              </a:r>
            </a:p>
          </p:txBody>
        </p:sp>
        <p:sp>
          <p:nvSpPr>
            <p:cNvPr id="101" name="Rounded Rectangle 100"/>
            <p:cNvSpPr/>
            <p:nvPr/>
          </p:nvSpPr>
          <p:spPr>
            <a:xfrm>
              <a:off x="7395598" y="4357667"/>
              <a:ext cx="2245553" cy="613134"/>
            </a:xfrm>
            <a:prstGeom prst="roundRect">
              <a:avLst>
                <a:gd name="adj" fmla="val 7456"/>
              </a:avLst>
            </a:prstGeom>
            <a:solidFill>
              <a:srgbClr val="FFFFFF"/>
            </a:solidFill>
            <a:ln w="9525">
              <a:solidFill>
                <a:srgbClr val="466E9E"/>
              </a:solidFill>
            </a:ln>
          </p:spPr>
          <p:txBody>
            <a:bodyPr rtlCol="0" anchor="ctr"/>
            <a:lstStyle/>
            <a:p/>
          </p:txBody>
        </p:sp>
        <p:pic>
          <p:nvPicPr>
            <p:cNvPr id="102" name="Picture 101" descr="ic_fa6_FaMagnifyingGlassChart_1A1A1A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441318" y="4474163"/>
              <a:ext cx="380143" cy="380143"/>
            </a:xfrm>
            <a:prstGeom prst="rect">
              <a:avLst/>
            </a:prstGeom>
          </p:spPr>
        </p:pic>
        <p:sp>
          <p:nvSpPr>
            <p:cNvPr id="103" name="TextBox 102"/>
            <p:cNvSpPr txBox="1"/>
            <p:nvPr/>
          </p:nvSpPr>
          <p:spPr>
            <a:xfrm>
              <a:off x="7839750" y="4357667"/>
              <a:ext cx="1783114" cy="613134"/>
            </a:xfrm>
            <a:prstGeom prst="rect">
              <a:avLst/>
            </a:prstGeom>
            <a:noFill/>
          </p:spPr>
          <p:txBody>
            <a:bodyPr wrap="square" lIns="36576" rIns="36576" tIns="27432" bIns="27432" anchor="ctr">
              <a:noAutofit/>
            </a:bodyPr>
            <a:lstStyle/>
            <a:p>
              <a:pPr algn="l"/>
              <a:r>
                <a:rPr sz="900" b="1" i="0">
                  <a:solidFill>
                    <a:srgbClr val="1A1A1A"/>
                  </a:solidFill>
                  <a:latin typeface="Arial"/>
                </a:rPr>
                <a:t>SHAP</a:t>
              </a:r>
              <a:r>
                <a:rPr sz="900" b="0" i="0">
                  <a:solidFill>
                    <a:srgbClr val="1A1A1A"/>
                  </a:solidFill>
                  <a:latin typeface="Arial"/>
                </a:rPr>
                <a:t>: top drivers per alert</a:t>
              </a:r>
            </a:p>
          </p:txBody>
        </p:sp>
        <p:sp>
          <p:nvSpPr>
            <p:cNvPr id="104" name="Rounded Rectangle 103"/>
            <p:cNvSpPr/>
            <p:nvPr/>
          </p:nvSpPr>
          <p:spPr>
            <a:xfrm>
              <a:off x="7395598" y="5043954"/>
              <a:ext cx="2245553" cy="613134"/>
            </a:xfrm>
            <a:prstGeom prst="roundRect">
              <a:avLst>
                <a:gd name="adj" fmla="val 7456"/>
              </a:avLst>
            </a:prstGeom>
            <a:solidFill>
              <a:srgbClr val="FFFFFF"/>
            </a:solidFill>
            <a:ln w="9525">
              <a:solidFill>
                <a:srgbClr val="466E9E"/>
              </a:solidFill>
            </a:ln>
          </p:spPr>
          <p:txBody>
            <a:bodyPr rtlCol="0" anchor="ctr"/>
            <a:lstStyle/>
            <a:p/>
          </p:txBody>
        </p:sp>
        <p:pic>
          <p:nvPicPr>
            <p:cNvPr id="105" name="Picture 104" descr="ic_fa6_FaBell_1A1A1A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441318" y="5160449"/>
              <a:ext cx="380143" cy="380143"/>
            </a:xfrm>
            <a:prstGeom prst="rect">
              <a:avLst/>
            </a:prstGeom>
          </p:spPr>
        </p:pic>
        <p:sp>
          <p:nvSpPr>
            <p:cNvPr id="106" name="TextBox 105"/>
            <p:cNvSpPr txBox="1"/>
            <p:nvPr/>
          </p:nvSpPr>
          <p:spPr>
            <a:xfrm>
              <a:off x="7839750" y="5043954"/>
              <a:ext cx="1783114" cy="613134"/>
            </a:xfrm>
            <a:prstGeom prst="rect">
              <a:avLst/>
            </a:prstGeom>
            <a:noFill/>
          </p:spPr>
          <p:txBody>
            <a:bodyPr wrap="square" lIns="36576" rIns="36576" tIns="27432" bIns="27432" anchor="ctr">
              <a:noAutofit/>
            </a:bodyPr>
            <a:lstStyle/>
            <a:p>
              <a:pPr algn="l"/>
              <a:r>
                <a:rPr sz="900" b="1" i="0">
                  <a:solidFill>
                    <a:srgbClr val="1A1A1A"/>
                  </a:solidFill>
                  <a:latin typeface="Arial"/>
                </a:rPr>
                <a:t>Alert policy</a:t>
              </a:r>
              <a:r>
                <a:rPr sz="900" b="0" i="0">
                  <a:solidFill>
                    <a:srgbClr val="1A1A1A"/>
                  </a:solidFill>
                  <a:latin typeface="Arial"/>
                </a:rPr>
                <a:t>: threshold set on validation, at most 1 per hour</a:t>
              </a:r>
            </a:p>
          </p:txBody>
        </p:sp>
        <p:cxnSp>
          <p:nvCxnSpPr>
            <p:cNvPr id="107" name="Connector 106"/>
            <p:cNvCxnSpPr>
              <a:stCxn id="95" idx="2"/>
              <a:endCxn id="98" idx="0"/>
            </p:cNvCxnSpPr>
            <p:nvPr/>
          </p:nvCxnSpPr>
          <p:spPr>
            <a:xfrm>
              <a:off x="8518374" y="3598228"/>
              <a:ext cx="0" cy="73153"/>
            </a:xfrm>
            <a:prstGeom prst="line">
              <a:avLst/>
            </a:prstGeom>
            <a:ln w="19050">
              <a:solidFill>
                <a:srgbClr val="1D4E8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or 107"/>
            <p:cNvCxnSpPr>
              <a:stCxn id="98" idx="2"/>
              <a:endCxn id="101" idx="0"/>
            </p:cNvCxnSpPr>
            <p:nvPr/>
          </p:nvCxnSpPr>
          <p:spPr>
            <a:xfrm>
              <a:off x="8518374" y="4284515"/>
              <a:ext cx="0" cy="73152"/>
            </a:xfrm>
            <a:prstGeom prst="line">
              <a:avLst/>
            </a:prstGeom>
            <a:ln w="19050">
              <a:solidFill>
                <a:srgbClr val="1D4E8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or 108"/>
            <p:cNvCxnSpPr>
              <a:stCxn id="101" idx="2"/>
              <a:endCxn id="104" idx="0"/>
            </p:cNvCxnSpPr>
            <p:nvPr/>
          </p:nvCxnSpPr>
          <p:spPr>
            <a:xfrm>
              <a:off x="8518374" y="4970801"/>
              <a:ext cx="0" cy="73153"/>
            </a:xfrm>
            <a:prstGeom prst="line">
              <a:avLst/>
            </a:prstGeom>
            <a:ln w="19050">
              <a:solidFill>
                <a:srgbClr val="1D4E8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Group 109"/>
          <p:cNvGrpSpPr/>
          <p:nvPr/>
        </p:nvGrpSpPr>
        <p:grpSpPr>
          <a:xfrm>
            <a:off x="10006912" y="621792"/>
            <a:ext cx="2111631" cy="5090160"/>
            <a:chOff x="10006912" y="621792"/>
            <a:chExt cx="2111631" cy="5090160"/>
          </a:xfrm>
        </p:grpSpPr>
        <p:sp>
          <p:nvSpPr>
            <p:cNvPr id="111" name="frame:5 Doctor and patient"/>
            <p:cNvSpPr/>
            <p:nvPr/>
          </p:nvSpPr>
          <p:spPr>
            <a:xfrm>
              <a:off x="10006912" y="758952"/>
              <a:ext cx="2111631" cy="4953000"/>
            </a:xfrm>
            <a:prstGeom prst="roundRect">
              <a:avLst>
                <a:gd name="adj" fmla="val 2165"/>
              </a:avLst>
            </a:prstGeom>
            <a:solidFill>
              <a:srgbClr val="F1F4F8"/>
            </a:solidFill>
            <a:ln w="15875">
              <a:solidFill>
                <a:srgbClr val="466E9E"/>
              </a:solidFill>
              <a:prstDash val="sysDot"/>
            </a:ln>
          </p:spPr>
          <p:txBody>
            <a:bodyPr rtlCol="0" anchor="ctr"/>
            <a:lstStyle/>
            <a:p/>
          </p:txBody>
        </p:sp>
        <p:sp>
          <p:nvSpPr>
            <p:cNvPr id="112" name="Rounded Rectangle 111"/>
            <p:cNvSpPr/>
            <p:nvPr/>
          </p:nvSpPr>
          <p:spPr>
            <a:xfrm>
              <a:off x="10006912" y="621792"/>
              <a:ext cx="1711063" cy="274320"/>
            </a:xfrm>
            <a:prstGeom prst="roundRect">
              <a:avLst>
                <a:gd name="adj" fmla="val 13333"/>
              </a:avLst>
            </a:prstGeom>
            <a:solidFill>
              <a:srgbClr val="1D4E89"/>
            </a:solidFill>
            <a:ln>
              <a:noFill/>
            </a:ln>
          </p:spPr>
          <p:txBody>
            <a:bodyPr rtlCol="0" anchor="ctr"/>
            <a:lstStyle/>
            <a:p/>
          </p:txBody>
        </p:sp>
        <p:sp>
          <p:nvSpPr>
            <p:cNvPr id="113" name="TextBox 112"/>
            <p:cNvSpPr txBox="1"/>
            <p:nvPr/>
          </p:nvSpPr>
          <p:spPr>
            <a:xfrm>
              <a:off x="10070920" y="621792"/>
              <a:ext cx="1619623" cy="274320"/>
            </a:xfrm>
            <a:prstGeom prst="rect">
              <a:avLst/>
            </a:prstGeom>
            <a:noFill/>
          </p:spPr>
          <p:txBody>
            <a:bodyPr wrap="square" lIns="9144" rIns="9144" tIns="9144" bIns="9144" anchor="ctr">
              <a:noAutofit/>
            </a:bodyPr>
            <a:lstStyle/>
            <a:p>
              <a:pPr algn="l"/>
              <a:r>
                <a:rPr sz="1200" b="1" i="0">
                  <a:solidFill>
                    <a:srgbClr val="FFFFFF"/>
                  </a:solidFill>
                  <a:latin typeface="Arial"/>
                </a:rPr>
                <a:t>5 Doctor and patient</a:t>
              </a:r>
            </a:p>
          </p:txBody>
        </p:sp>
        <p:sp>
          <p:nvSpPr>
            <p:cNvPr id="114" name="ig:phone"/>
            <p:cNvSpPr/>
            <p:nvPr/>
          </p:nvSpPr>
          <p:spPr>
            <a:xfrm>
              <a:off x="10134928" y="932688"/>
              <a:ext cx="1000952" cy="2752779"/>
            </a:xfrm>
            <a:prstGeom prst="roundRect">
              <a:avLst>
                <a:gd name="adj" fmla="val 12000"/>
              </a:avLst>
            </a:prstGeom>
            <a:solidFill>
              <a:srgbClr val="1E1E24"/>
            </a:solidFill>
            <a:ln>
              <a:noFill/>
            </a:ln>
          </p:spPr>
          <p:txBody>
            <a:bodyPr rtlCol="0" anchor="ctr"/>
            <a:lstStyle/>
            <a:p/>
          </p:txBody>
        </p:sp>
        <p:sp>
          <p:nvSpPr>
            <p:cNvPr id="115" name="Rounded Rectangle 114"/>
            <p:cNvSpPr/>
            <p:nvPr/>
          </p:nvSpPr>
          <p:spPr>
            <a:xfrm>
              <a:off x="10184975" y="1042799"/>
              <a:ext cx="900857" cy="2532557"/>
            </a:xfrm>
            <a:prstGeom prst="roundRect">
              <a:avLst>
                <a:gd name="adj" fmla="val 8888"/>
              </a:avLst>
            </a:prstGeom>
            <a:solidFill>
              <a:srgbClr val="F4F5F8"/>
            </a:solidFill>
            <a:ln>
              <a:noFill/>
            </a:ln>
          </p:spPr>
          <p:txBody>
            <a:bodyPr rtlCol="0" anchor="ctr"/>
            <a:lstStyle/>
            <a:p/>
          </p:txBody>
        </p:sp>
        <p:sp>
          <p:nvSpPr>
            <p:cNvPr id="116" name="Rounded Rectangle 115"/>
            <p:cNvSpPr/>
            <p:nvPr/>
          </p:nvSpPr>
          <p:spPr>
            <a:xfrm>
              <a:off x="10515289" y="973980"/>
              <a:ext cx="240228" cy="49550"/>
            </a:xfrm>
            <a:prstGeom prst="roundRect">
              <a:avLst>
                <a:gd name="adj" fmla="val 36908"/>
              </a:avLst>
            </a:prstGeom>
            <a:solidFill>
              <a:srgbClr val="1E1E24"/>
            </a:solidFill>
            <a:ln>
              <a:noFill/>
            </a:ln>
          </p:spPr>
          <p:txBody>
            <a:bodyPr rtlCol="0" anchor="ctr"/>
            <a:lstStyle/>
            <a:p/>
          </p:txBody>
        </p:sp>
        <p:sp>
          <p:nvSpPr>
            <p:cNvPr id="117" name="Rounded Rectangle 116"/>
            <p:cNvSpPr/>
            <p:nvPr/>
          </p:nvSpPr>
          <p:spPr>
            <a:xfrm>
              <a:off x="10184975" y="1115951"/>
              <a:ext cx="900857" cy="278581"/>
            </a:xfrm>
            <a:prstGeom prst="roundRect">
              <a:avLst>
                <a:gd name="adj" fmla="val 6564"/>
              </a:avLst>
            </a:prstGeom>
            <a:solidFill>
              <a:srgbClr val="1D4E89"/>
            </a:solidFill>
            <a:ln>
              <a:noFill/>
            </a:ln>
          </p:spPr>
          <p:txBody>
            <a:bodyPr rtlCol="0" anchor="ctr" wrap="square" lIns="27432" rIns="27432" tIns="27432" bIns="27432">
              <a:noAutofit/>
            </a:bodyPr>
            <a:lstStyle/>
            <a:p>
              <a:pPr algn="ctr"/>
              <a:r>
                <a:rPr sz="900" b="1" i="0">
                  <a:solidFill>
                    <a:srgbClr val="FFFFFF"/>
                  </a:solidFill>
                  <a:latin typeface="Arial"/>
                </a:rPr>
                <a:t>Patient nudge</a:t>
              </a:r>
            </a:p>
          </p:txBody>
        </p:sp>
        <p:sp>
          <p:nvSpPr>
            <p:cNvPr id="118" name="Rounded Rectangle 117"/>
            <p:cNvSpPr/>
            <p:nvPr/>
          </p:nvSpPr>
          <p:spPr>
            <a:xfrm>
              <a:off x="10239839" y="1449396"/>
              <a:ext cx="791129" cy="653789"/>
            </a:xfrm>
            <a:prstGeom prst="roundRect">
              <a:avLst>
                <a:gd name="adj" fmla="val 5594"/>
              </a:avLst>
            </a:prstGeom>
            <a:solidFill>
              <a:srgbClr val="FFFFFF"/>
            </a:solidFill>
            <a:ln w="6350">
              <a:solidFill>
                <a:srgbClr val="DADDE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l"/>
              <a:r>
                <a:rPr sz="900" b="1" i="0">
                  <a:solidFill>
                    <a:srgbClr val="1A1A1A"/>
                  </a:solidFill>
                  <a:latin typeface="Arial"/>
                </a:rPr>
                <a:t>Spike likely after lunch</a:t>
              </a:r>
            </a:p>
          </p:txBody>
        </p:sp>
        <p:sp>
          <p:nvSpPr>
            <p:cNvPr id="119" name="Rounded Rectangle 118"/>
            <p:cNvSpPr/>
            <p:nvPr/>
          </p:nvSpPr>
          <p:spPr>
            <a:xfrm>
              <a:off x="10239839" y="2148906"/>
              <a:ext cx="791129" cy="653789"/>
            </a:xfrm>
            <a:prstGeom prst="roundRect">
              <a:avLst>
                <a:gd name="adj" fmla="val 5594"/>
              </a:avLst>
            </a:prstGeom>
            <a:solidFill>
              <a:srgbClr val="FFFFFF"/>
            </a:solidFill>
            <a:ln w="6350">
              <a:solidFill>
                <a:srgbClr val="DADDE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l"/>
              <a:r>
                <a:rPr sz="900" b="0" i="0">
                  <a:solidFill>
                    <a:srgbClr val="1A1A1A"/>
                  </a:solidFill>
                  <a:latin typeface="Arial"/>
                </a:rPr>
                <a:t>Try bajra roti instead of rice</a:t>
              </a:r>
            </a:p>
          </p:txBody>
        </p:sp>
        <p:sp>
          <p:nvSpPr>
            <p:cNvPr id="120" name="Rounded Rectangle 119"/>
            <p:cNvSpPr/>
            <p:nvPr/>
          </p:nvSpPr>
          <p:spPr>
            <a:xfrm>
              <a:off x="10239839" y="2848415"/>
              <a:ext cx="791129" cy="653789"/>
            </a:xfrm>
            <a:prstGeom prst="roundRect">
              <a:avLst>
                <a:gd name="adj" fmla="val 5594"/>
              </a:avLst>
            </a:prstGeom>
            <a:solidFill>
              <a:srgbClr val="FFFFFF"/>
            </a:solidFill>
            <a:ln w="6350">
              <a:solidFill>
                <a:srgbClr val="DADDE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l"/>
              <a:r>
                <a:rPr sz="900" b="0" i="0">
                  <a:solidFill>
                    <a:srgbClr val="1A1A1A"/>
                  </a:solidFill>
                  <a:latin typeface="Arial"/>
                </a:rPr>
                <a:t>Walk 20 min after eating</a:t>
              </a:r>
            </a:p>
          </p:txBody>
        </p:sp>
        <p:sp>
          <p:nvSpPr>
            <p:cNvPr id="121" name="Rounded Rectangle 120"/>
            <p:cNvSpPr/>
            <p:nvPr/>
          </p:nvSpPr>
          <p:spPr>
            <a:xfrm>
              <a:off x="11190743" y="932688"/>
              <a:ext cx="854648" cy="2752779"/>
            </a:xfrm>
            <a:prstGeom prst="roundRect">
              <a:avLst>
                <a:gd name="adj" fmla="val 5349"/>
              </a:avLst>
            </a:prstGeom>
            <a:solidFill>
              <a:srgbClr val="FFFFFF"/>
            </a:solidFill>
            <a:ln w="9525">
              <a:solidFill>
                <a:srgbClr val="466E9E"/>
              </a:solidFill>
              <a:prstDash val="sysDot"/>
            </a:ln>
          </p:spPr>
          <p:txBody>
            <a:bodyPr rtlCol="0" anchor="t" wrap="square" lIns="45720" rIns="45720" tIns="27432" bIns="27432">
              <a:noAutofit/>
            </a:bodyPr>
            <a:lstStyle/>
            <a:p>
              <a:pPr algn="l"/>
              <a:r>
                <a:rPr sz="900" b="1" i="0">
                  <a:solidFill>
                    <a:srgbClr val="1A1A1A"/>
                  </a:solidFill>
                  <a:latin typeface="Arial"/>
                </a:rPr>
                <a:t>Doctor console</a:t>
              </a:r>
            </a:p>
            <a:p>
              <a:pPr algn="l" marL="137160" indent="-137160">
                <a:buClr>
                  <a:srgbClr val="1A1A1A"/>
                </a:buClr>
                <a:buFont typeface="Arial"/>
                <a:buChar char="•"/>
              </a:pPr>
              <a:r>
                <a:rPr sz="900" b="0" i="0">
                  <a:solidFill>
                    <a:srgbClr val="1A1A1A"/>
                  </a:solidFill>
                  <a:latin typeface="Arial"/>
                </a:rPr>
                <a:t>Risk card and alert</a:t>
              </a:r>
            </a:p>
            <a:p>
              <a:pPr algn="l" marL="137160" indent="-137160">
                <a:buClr>
                  <a:srgbClr val="1A1A1A"/>
                </a:buClr>
                <a:buFont typeface="Arial"/>
                <a:buChar char="•"/>
              </a:pPr>
              <a:r>
                <a:rPr sz="900" b="0" i="0">
                  <a:solidFill>
                    <a:srgbClr val="1A1A1A"/>
                  </a:solidFill>
                  <a:latin typeface="Arial"/>
                </a:rPr>
                <a:t>CGM plus 2-h forecast</a:t>
              </a:r>
            </a:p>
            <a:p>
              <a:pPr algn="l" marL="137160" indent="-137160">
                <a:buClr>
                  <a:srgbClr val="1A1A1A"/>
                </a:buClr>
                <a:buFont typeface="Arial"/>
                <a:buChar char="•"/>
              </a:pPr>
              <a:r>
                <a:rPr sz="900" b="0" i="0">
                  <a:solidFill>
                    <a:srgbClr val="1A1A1A"/>
                  </a:solidFill>
                  <a:latin typeface="Arial"/>
                </a:rPr>
                <a:t>Why panel (SHAP)</a:t>
              </a:r>
            </a:p>
            <a:p>
              <a:pPr algn="l" marL="137160" indent="-137160">
                <a:buClr>
                  <a:srgbClr val="1A1A1A"/>
                </a:buClr>
                <a:buFont typeface="Arial"/>
                <a:buChar char="•"/>
              </a:pPr>
              <a:r>
                <a:rPr sz="900" b="0" i="0">
                  <a:solidFill>
                    <a:srgbClr val="1A1A1A"/>
                  </a:solidFill>
                  <a:latin typeface="Arial"/>
                </a:rPr>
                <a:t>What-if simulator</a:t>
              </a:r>
            </a:p>
            <a:p>
              <a:pPr algn="l" marL="137160" indent="-137160">
                <a:buClr>
                  <a:srgbClr val="1A1A1A"/>
                </a:buClr>
                <a:buFont typeface="Arial"/>
                <a:buChar char="•"/>
              </a:pPr>
              <a:r>
                <a:rPr sz="900" b="0" i="0">
                  <a:solidFill>
                    <a:srgbClr val="1A1A1A"/>
                  </a:solidFill>
                  <a:latin typeface="Arial"/>
                </a:rPr>
                <a:t>Weekly AGP, TIR</a:t>
              </a:r>
            </a:p>
            <a:p>
              <a:pPr algn="l" marL="137160" indent="-137160">
                <a:buClr>
                  <a:srgbClr val="1A1A1A"/>
                </a:buClr>
                <a:buFont typeface="Arial"/>
                <a:buChar char="•"/>
              </a:pPr>
              <a:r>
                <a:rPr sz="900" b="0" i="0">
                  <a:solidFill>
                    <a:srgbClr val="1A1A1A"/>
                  </a:solidFill>
                  <a:latin typeface="Arial"/>
                </a:rPr>
                <a:t>FHIR record view</a:t>
              </a:r>
            </a:p>
          </p:txBody>
        </p:sp>
        <p:sp>
          <p:nvSpPr>
            <p:cNvPr id="122" name="Rounded Rectangle 121"/>
            <p:cNvSpPr/>
            <p:nvPr/>
          </p:nvSpPr>
          <p:spPr>
            <a:xfrm>
              <a:off x="10061776" y="3758619"/>
              <a:ext cx="786131" cy="602343"/>
            </a:xfrm>
            <a:prstGeom prst="roundRect">
              <a:avLst>
                <a:gd name="adj" fmla="val 7590"/>
              </a:avLst>
            </a:prstGeom>
            <a:solidFill>
              <a:srgbClr val="112F5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/>
              <a:r>
                <a:rPr sz="1100" b="1" i="0">
                  <a:solidFill>
                    <a:srgbClr val="FFFFFF"/>
                  </a:solidFill>
                  <a:latin typeface="Arial"/>
                </a:rPr>
                <a:t>95 min</a:t>
              </a:r>
            </a:p>
          </p:txBody>
        </p:sp>
        <p:sp>
          <p:nvSpPr>
            <p:cNvPr id="123" name="Rounded Rectangle 122"/>
            <p:cNvSpPr/>
            <p:nvPr/>
          </p:nvSpPr>
          <p:spPr>
            <a:xfrm>
              <a:off x="10884483" y="3758619"/>
              <a:ext cx="1179196" cy="602343"/>
            </a:xfrm>
            <a:prstGeom prst="roundRect">
              <a:avLst>
                <a:gd name="adj" fmla="val 7590"/>
              </a:avLst>
            </a:prstGeom>
            <a:solidFill>
              <a:srgbClr val="E2E8F0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l"/>
              <a:r>
                <a:rPr sz="1100" b="0" i="0">
                  <a:solidFill>
                    <a:srgbClr val="1A1A1A"/>
                  </a:solidFill>
                  <a:latin typeface="Arial"/>
                </a:rPr>
                <a:t>median warning lead</a:t>
              </a:r>
            </a:p>
          </p:txBody>
        </p:sp>
        <p:sp>
          <p:nvSpPr>
            <p:cNvPr id="124" name="Rounded Rectangle 123"/>
            <p:cNvSpPr/>
            <p:nvPr/>
          </p:nvSpPr>
          <p:spPr>
            <a:xfrm>
              <a:off x="10061776" y="4406682"/>
              <a:ext cx="786131" cy="602343"/>
            </a:xfrm>
            <a:prstGeom prst="roundRect">
              <a:avLst>
                <a:gd name="adj" fmla="val 7590"/>
              </a:avLst>
            </a:prstGeom>
            <a:solidFill>
              <a:srgbClr val="112F5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/>
              <a:r>
                <a:rPr sz="1100" b="1" i="0">
                  <a:solidFill>
                    <a:srgbClr val="FFFFFF"/>
                  </a:solidFill>
                  <a:latin typeface="Arial"/>
                </a:rPr>
                <a:t>85%</a:t>
              </a:r>
            </a:p>
          </p:txBody>
        </p:sp>
        <p:sp>
          <p:nvSpPr>
            <p:cNvPr id="125" name="Rounded Rectangle 124"/>
            <p:cNvSpPr/>
            <p:nvPr/>
          </p:nvSpPr>
          <p:spPr>
            <a:xfrm>
              <a:off x="10884483" y="4406682"/>
              <a:ext cx="1179196" cy="602343"/>
            </a:xfrm>
            <a:prstGeom prst="roundRect">
              <a:avLst>
                <a:gd name="adj" fmla="val 7590"/>
              </a:avLst>
            </a:prstGeom>
            <a:solidFill>
              <a:srgbClr val="E2E8F0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l"/>
              <a:r>
                <a:rPr sz="1100" b="0" i="0">
                  <a:solidFill>
                    <a:srgbClr val="1A1A1A"/>
                  </a:solidFill>
                  <a:latin typeface="Arial"/>
                </a:rPr>
                <a:t>spikes warned 30+ min ahead</a:t>
              </a:r>
            </a:p>
          </p:txBody>
        </p:sp>
        <p:sp>
          <p:nvSpPr>
            <p:cNvPr id="126" name="Rounded Rectangle 125"/>
            <p:cNvSpPr/>
            <p:nvPr/>
          </p:nvSpPr>
          <p:spPr>
            <a:xfrm>
              <a:off x="10061776" y="5054745"/>
              <a:ext cx="786131" cy="602343"/>
            </a:xfrm>
            <a:prstGeom prst="roundRect">
              <a:avLst>
                <a:gd name="adj" fmla="val 7590"/>
              </a:avLst>
            </a:prstGeom>
            <a:solidFill>
              <a:srgbClr val="112F5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/>
              <a:r>
                <a:rPr sz="1100" b="1" i="0">
                  <a:solidFill>
                    <a:srgbClr val="FFFFFF"/>
                  </a:solidFill>
                  <a:latin typeface="Arial"/>
                </a:rPr>
                <a:t>0.82</a:t>
              </a:r>
            </a:p>
          </p:txBody>
        </p:sp>
        <p:sp>
          <p:nvSpPr>
            <p:cNvPr id="127" name="Rounded Rectangle 126"/>
            <p:cNvSpPr/>
            <p:nvPr/>
          </p:nvSpPr>
          <p:spPr>
            <a:xfrm>
              <a:off x="10884483" y="5054745"/>
              <a:ext cx="1179196" cy="602343"/>
            </a:xfrm>
            <a:prstGeom prst="roundRect">
              <a:avLst>
                <a:gd name="adj" fmla="val 7590"/>
              </a:avLst>
            </a:prstGeom>
            <a:solidFill>
              <a:srgbClr val="E2E8F0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l"/>
              <a:r>
                <a:rPr sz="1100" b="0" i="0">
                  <a:solidFill>
                    <a:srgbClr val="1A1A1A"/>
                  </a:solidFill>
                  <a:latin typeface="Arial"/>
                </a:rPr>
                <a:t>false alerts per day</a:t>
              </a: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2103567" y="3166872"/>
            <a:ext cx="310896" cy="0"/>
            <a:chOff x="2103567" y="3166872"/>
            <a:chExt cx="310896" cy="0"/>
          </a:xfrm>
        </p:grpSpPr>
        <p:cxnSp>
          <p:nvCxnSpPr>
            <p:cNvPr id="129" name="Connector 128"/>
            <p:cNvCxnSpPr/>
            <p:nvPr/>
          </p:nvCxnSpPr>
          <p:spPr>
            <a:xfrm>
              <a:off x="2103567" y="3166872"/>
              <a:ext cx="310896" cy="0"/>
            </a:xfrm>
            <a:prstGeom prst="line">
              <a:avLst/>
            </a:prstGeom>
            <a:ln w="25400">
              <a:solidFill>
                <a:srgbClr val="173D6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" name="Group 129"/>
          <p:cNvGrpSpPr/>
          <p:nvPr/>
        </p:nvGrpSpPr>
        <p:grpSpPr>
          <a:xfrm>
            <a:off x="3957578" y="3166872"/>
            <a:ext cx="310896" cy="0"/>
            <a:chOff x="3957578" y="3166872"/>
            <a:chExt cx="310896" cy="0"/>
          </a:xfrm>
        </p:grpSpPr>
        <p:cxnSp>
          <p:nvCxnSpPr>
            <p:cNvPr id="131" name="Connector 130"/>
            <p:cNvCxnSpPr/>
            <p:nvPr/>
          </p:nvCxnSpPr>
          <p:spPr>
            <a:xfrm>
              <a:off x="3957578" y="3166872"/>
              <a:ext cx="310896" cy="0"/>
            </a:xfrm>
            <a:prstGeom prst="line">
              <a:avLst/>
            </a:prstGeom>
            <a:ln w="25400">
              <a:solidFill>
                <a:srgbClr val="173D6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/>
          <p:cNvGrpSpPr/>
          <p:nvPr/>
        </p:nvGrpSpPr>
        <p:grpSpPr>
          <a:xfrm>
            <a:off x="7029838" y="3166872"/>
            <a:ext cx="310896" cy="0"/>
            <a:chOff x="7029838" y="3166872"/>
            <a:chExt cx="310896" cy="0"/>
          </a:xfrm>
        </p:grpSpPr>
        <p:cxnSp>
          <p:nvCxnSpPr>
            <p:cNvPr id="133" name="Connector 132"/>
            <p:cNvCxnSpPr/>
            <p:nvPr/>
          </p:nvCxnSpPr>
          <p:spPr>
            <a:xfrm>
              <a:off x="7029838" y="3166872"/>
              <a:ext cx="310896" cy="0"/>
            </a:xfrm>
            <a:prstGeom prst="line">
              <a:avLst/>
            </a:prstGeom>
            <a:ln w="25400">
              <a:solidFill>
                <a:srgbClr val="173D6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696016" y="3166872"/>
            <a:ext cx="310896" cy="0"/>
            <a:chOff x="9696016" y="3166872"/>
            <a:chExt cx="310896" cy="0"/>
          </a:xfrm>
        </p:grpSpPr>
        <p:cxnSp>
          <p:nvCxnSpPr>
            <p:cNvPr id="135" name="Connector 134"/>
            <p:cNvCxnSpPr/>
            <p:nvPr/>
          </p:nvCxnSpPr>
          <p:spPr>
            <a:xfrm>
              <a:off x="9696016" y="3166872"/>
              <a:ext cx="310896" cy="0"/>
            </a:xfrm>
            <a:prstGeom prst="line">
              <a:avLst/>
            </a:prstGeom>
            <a:ln w="25400">
              <a:solidFill>
                <a:srgbClr val="173D6B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Group 135"/>
          <p:cNvGrpSpPr/>
          <p:nvPr/>
        </p:nvGrpSpPr>
        <p:grpSpPr>
          <a:xfrm>
            <a:off x="73152" y="5785104"/>
            <a:ext cx="12045391" cy="1018032"/>
            <a:chOff x="73152" y="5785104"/>
            <a:chExt cx="12045391" cy="1018032"/>
          </a:xfrm>
        </p:grpSpPr>
        <p:sp>
          <p:nvSpPr>
            <p:cNvPr id="137" name="frame:plain"/>
            <p:cNvSpPr/>
            <p:nvPr/>
          </p:nvSpPr>
          <p:spPr>
            <a:xfrm>
              <a:off x="73152" y="5785104"/>
              <a:ext cx="12045391" cy="1018032"/>
            </a:xfrm>
            <a:prstGeom prst="roundRect">
              <a:avLst>
                <a:gd name="adj" fmla="val 4491"/>
              </a:avLst>
            </a:prstGeom>
            <a:solidFill>
              <a:srgbClr val="E2E8F0"/>
            </a:solidFill>
            <a:ln w="15875">
              <a:solidFill>
                <a:srgbClr val="466E9E"/>
              </a:solidFill>
              <a:prstDash val="sysDot"/>
            </a:ln>
          </p:spPr>
          <p:txBody>
            <a:bodyPr rtlCol="0" anchor="ctr"/>
            <a:lstStyle/>
            <a:p/>
          </p:txBody>
        </p:sp>
        <p:sp>
          <p:nvSpPr>
            <p:cNvPr id="138" name="TextBox 137"/>
            <p:cNvSpPr txBox="1"/>
            <p:nvPr/>
          </p:nvSpPr>
          <p:spPr>
            <a:xfrm>
              <a:off x="128016" y="5839968"/>
              <a:ext cx="11935663" cy="202565"/>
            </a:xfrm>
            <a:prstGeom prst="rect">
              <a:avLst/>
            </a:prstGeom>
            <a:noFill/>
          </p:spPr>
          <p:txBody>
            <a:bodyPr wrap="square" lIns="18288" rIns="18288" tIns="18288" bIns="18288" anchor="ctr">
              <a:noAutofit/>
            </a:bodyPr>
            <a:lstStyle/>
            <a:p>
              <a:pPr algn="l"/>
              <a:r>
                <a:rPr sz="1100" b="1" i="0" u="sng">
                  <a:solidFill>
                    <a:srgbClr val="1D4E89"/>
                  </a:solidFill>
                  <a:latin typeface="Arial"/>
                </a:rPr>
                <a:t>Governance, evaluation and stack</a:t>
              </a:r>
            </a:p>
          </p:txBody>
        </p:sp>
        <p:sp>
          <p:nvSpPr>
            <p:cNvPr id="139" name="Rounded Rectangle 138"/>
            <p:cNvSpPr/>
            <p:nvPr/>
          </p:nvSpPr>
          <p:spPr>
            <a:xfrm>
              <a:off x="128016" y="6059424"/>
              <a:ext cx="1943557" cy="688848"/>
            </a:xfrm>
            <a:prstGeom prst="roundRect">
              <a:avLst>
                <a:gd name="adj" fmla="val 6637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l"/>
              <a:r>
                <a:rPr sz="900" b="1" i="0">
                  <a:solidFill>
                    <a:srgbClr val="1A1A1A"/>
                  </a:solidFill>
                  <a:latin typeface="Arial"/>
                </a:rPr>
                <a:t>Data</a:t>
              </a:r>
              <a:r>
                <a:rPr sz="900" b="0" i="0">
                  <a:solidFill>
                    <a:srgbClr val="1A1A1A"/>
                  </a:solidFill>
                  <a:latin typeface="Arial"/>
                </a:rPr>
                <a:t>: synthetic only, no real patient data (DPDP Act, HIPAA sandbox)</a:t>
              </a:r>
            </a:p>
          </p:txBody>
        </p:sp>
        <p:sp>
          <p:nvSpPr>
            <p:cNvPr id="140" name="Rounded Rectangle 139"/>
            <p:cNvSpPr/>
            <p:nvPr/>
          </p:nvSpPr>
          <p:spPr>
            <a:xfrm>
              <a:off x="2126437" y="6059424"/>
              <a:ext cx="1943557" cy="688848"/>
            </a:xfrm>
            <a:prstGeom prst="roundRect">
              <a:avLst>
                <a:gd name="adj" fmla="val 6637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l"/>
              <a:r>
                <a:rPr sz="900" b="1" i="0">
                  <a:solidFill>
                    <a:srgbClr val="1A1A1A"/>
                  </a:solidFill>
                  <a:latin typeface="Arial"/>
                </a:rPr>
                <a:t>Split</a:t>
              </a:r>
              <a:r>
                <a:rPr sz="900" b="0" i="0">
                  <a:solidFill>
                    <a:srgbClr val="1A1A1A"/>
                  </a:solidFill>
                  <a:latin typeface="Arial"/>
                </a:rPr>
                <a:t>: 84 / 12 / 24 patients, week 1 calibrates, week 2 evaluates</a:t>
              </a:r>
            </a:p>
          </p:txBody>
        </p:sp>
        <p:sp>
          <p:nvSpPr>
            <p:cNvPr id="141" name="Rounded Rectangle 140"/>
            <p:cNvSpPr/>
            <p:nvPr/>
          </p:nvSpPr>
          <p:spPr>
            <a:xfrm>
              <a:off x="4124858" y="6059424"/>
              <a:ext cx="1943557" cy="688848"/>
            </a:xfrm>
            <a:prstGeom prst="roundRect">
              <a:avLst>
                <a:gd name="adj" fmla="val 6637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l"/>
              <a:r>
                <a:rPr sz="900" b="1" i="0">
                  <a:solidFill>
                    <a:srgbClr val="1A1A1A"/>
                  </a:solidFill>
                  <a:latin typeface="Arial"/>
                </a:rPr>
                <a:t>Checks</a:t>
              </a:r>
              <a:r>
                <a:rPr sz="900" b="0" i="0">
                  <a:solidFill>
                    <a:srgbClr val="1A1A1A"/>
                  </a:solidFill>
                  <a:latin typeface="Arial"/>
                </a:rPr>
                <a:t>: ablation, episode lead time, Clarke grid, subgroup AUROC</a:t>
              </a:r>
            </a:p>
          </p:txBody>
        </p:sp>
        <p:sp>
          <p:nvSpPr>
            <p:cNvPr id="142" name="Rounded Rectangle 141"/>
            <p:cNvSpPr/>
            <p:nvPr/>
          </p:nvSpPr>
          <p:spPr>
            <a:xfrm>
              <a:off x="6123280" y="6059424"/>
              <a:ext cx="1943557" cy="688848"/>
            </a:xfrm>
            <a:prstGeom prst="roundRect">
              <a:avLst>
                <a:gd name="adj" fmla="val 6637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l"/>
              <a:r>
                <a:rPr sz="900" b="1" i="0">
                  <a:solidFill>
                    <a:srgbClr val="1A1A1A"/>
                  </a:solidFill>
                  <a:latin typeface="Arial"/>
                </a:rPr>
                <a:t>Stack</a:t>
              </a:r>
              <a:r>
                <a:rPr sz="900" b="0" i="0">
                  <a:solidFill>
                    <a:srgbClr val="1A1A1A"/>
                  </a:solidFill>
                  <a:latin typeface="Arial"/>
                </a:rPr>
                <a:t>: Python 3, NumPy, pandas, LightGBM, Streamlit, Plotly</a:t>
              </a:r>
            </a:p>
          </p:txBody>
        </p:sp>
        <p:sp>
          <p:nvSpPr>
            <p:cNvPr id="143" name="Rounded Rectangle 142"/>
            <p:cNvSpPr/>
            <p:nvPr/>
          </p:nvSpPr>
          <p:spPr>
            <a:xfrm>
              <a:off x="8121701" y="6059424"/>
              <a:ext cx="1943557" cy="688848"/>
            </a:xfrm>
            <a:prstGeom prst="roundRect">
              <a:avLst>
                <a:gd name="adj" fmla="val 6637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l"/>
              <a:r>
                <a:rPr sz="900" b="1" i="0">
                  <a:solidFill>
                    <a:srgbClr val="1A1A1A"/>
                  </a:solidFill>
                  <a:latin typeface="Arial"/>
                </a:rPr>
                <a:t>Standards</a:t>
              </a:r>
              <a:r>
                <a:rPr sz="900" b="0" i="0">
                  <a:solidFill>
                    <a:srgbClr val="1A1A1A"/>
                  </a:solidFill>
                  <a:latin typeface="Arial"/>
                </a:rPr>
                <a:t>: HL7 FHIR R4, LOINC, ICD-10, RxNorm, ABDM ready</a:t>
              </a:r>
            </a:p>
          </p:txBody>
        </p:sp>
        <p:sp>
          <p:nvSpPr>
            <p:cNvPr id="144" name="Rounded Rectangle 143"/>
            <p:cNvSpPr/>
            <p:nvPr/>
          </p:nvSpPr>
          <p:spPr>
            <a:xfrm>
              <a:off x="10120122" y="6059424"/>
              <a:ext cx="1943557" cy="688848"/>
            </a:xfrm>
            <a:prstGeom prst="roundRect">
              <a:avLst>
                <a:gd name="adj" fmla="val 6637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l"/>
              <a:r>
                <a:rPr sz="900" b="1" i="0">
                  <a:solidFill>
                    <a:srgbClr val="1A1A1A"/>
                  </a:solidFill>
                  <a:latin typeface="Arial"/>
                </a:rPr>
                <a:t>Licence</a:t>
              </a:r>
              <a:r>
                <a:rPr sz="900" b="0" i="0">
                  <a:solidFill>
                    <a:srgbClr val="1A1A1A"/>
                  </a:solidFill>
                  <a:latin typeface="Arial"/>
                </a:rPr>
                <a:t>: MIT open source; research prototype, not a medical device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